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629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ackground"/>
          <p:cNvSpPr/>
          <p:nvPr/>
        </p:nvSpPr>
        <p:spPr>
          <a:xfrm>
            <a:off x="0" y="0"/>
            <a:ext cx="12191695" cy="66294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z01_canvas"/>
          <p:cNvSpPr/>
          <p:nvPr/>
        </p:nvSpPr>
        <p:spPr>
          <a:xfrm>
            <a:off x="493776" y="914400"/>
            <a:ext cx="11192256" cy="5285232"/>
          </a:xfrm>
          <a:prstGeom prst="roundRect">
            <a:avLst/>
          </a:prstGeom>
          <a:solidFill>
            <a:srgbClr val="FFFFFF"/>
          </a:solidFill>
          <a:ln>
            <a:solidFill>
              <a:srgbClr val="DDE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itle"/>
          <p:cNvSpPr txBox="1"/>
          <p:nvPr/>
        </p:nvSpPr>
        <p:spPr>
          <a:xfrm>
            <a:off x="585216" y="310896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</a:rPr>
              <a:t>MDPR Design Components Pipeline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585216" y="621792"/>
            <a:ext cx="795527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</a:rPr>
              <a:t>LLM hints semantic intent only. Deterministic rules own design decisions and editable rendering.</a:t>
            </a:r>
          </a:p>
        </p:txBody>
      </p:sp>
      <p:sp>
        <p:nvSpPr>
          <p:cNvPr id="6" name="section_input"/>
          <p:cNvSpPr txBox="1"/>
          <p:nvPr/>
        </p:nvSpPr>
        <p:spPr>
          <a:xfrm>
            <a:off x="786384" y="118872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4748B"/>
                </a:solidFill>
              </a:rPr>
              <a:t>INPUT AND STRUCTURE</a:t>
            </a:r>
          </a:p>
        </p:txBody>
      </p:sp>
      <p:sp>
        <p:nvSpPr>
          <p:cNvPr id="7" name="section_rule"/>
          <p:cNvSpPr txBox="1"/>
          <p:nvPr/>
        </p:nvSpPr>
        <p:spPr>
          <a:xfrm>
            <a:off x="4572000" y="1188720"/>
            <a:ext cx="281635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15803D"/>
                </a:solidFill>
              </a:rPr>
              <a:t>RULE-BASED DETERMINISTIC BOUNDARY</a:t>
            </a:r>
          </a:p>
        </p:txBody>
      </p:sp>
      <p:sp>
        <p:nvSpPr>
          <p:cNvPr id="8" name="section_output"/>
          <p:cNvSpPr txBox="1"/>
          <p:nvPr/>
        </p:nvSpPr>
        <p:spPr>
          <a:xfrm>
            <a:off x="9729216" y="1188720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4748B"/>
                </a:solidFill>
              </a:rPr>
              <a:t>OUTPUTS</a:t>
            </a:r>
          </a:p>
        </p:txBody>
      </p:sp>
      <p:sp>
        <p:nvSpPr>
          <p:cNvPr id="9" name="markdown_card"/>
          <p:cNvSpPr/>
          <p:nvPr/>
        </p:nvSpPr>
        <p:spPr>
          <a:xfrm>
            <a:off x="786384" y="1554480"/>
            <a:ext cx="1664208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markdown_dot"/>
          <p:cNvSpPr/>
          <p:nvPr/>
        </p:nvSpPr>
        <p:spPr>
          <a:xfrm>
            <a:off x="932688" y="1719072"/>
            <a:ext cx="164592" cy="164592"/>
          </a:xfrm>
          <a:prstGeom prst="ellipse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markdown_title"/>
          <p:cNvSpPr txBox="1"/>
          <p:nvPr/>
        </p:nvSpPr>
        <p:spPr>
          <a:xfrm>
            <a:off x="1170432" y="1673352"/>
            <a:ext cx="113385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</a:rPr>
              <a:t>Markdown</a:t>
            </a:r>
          </a:p>
        </p:txBody>
      </p:sp>
      <p:sp>
        <p:nvSpPr>
          <p:cNvPr id="12" name="markdown_line_0"/>
          <p:cNvSpPr txBox="1"/>
          <p:nvPr/>
        </p:nvSpPr>
        <p:spPr>
          <a:xfrm>
            <a:off x="987552" y="1956816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26071"/>
                </a:solidFill>
              </a:rPr>
              <a:t>headings and lists</a:t>
            </a:r>
          </a:p>
        </p:txBody>
      </p:sp>
      <p:sp>
        <p:nvSpPr>
          <p:cNvPr id="13" name="markdown_line_1"/>
          <p:cNvSpPr txBox="1"/>
          <p:nvPr/>
        </p:nvSpPr>
        <p:spPr>
          <a:xfrm>
            <a:off x="987552" y="2121408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26071"/>
                </a:solidFill>
              </a:rPr>
              <a:t>tables, code, images</a:t>
            </a:r>
          </a:p>
        </p:txBody>
      </p:sp>
      <p:sp>
        <p:nvSpPr>
          <p:cNvPr id="14" name="splitter_card"/>
          <p:cNvSpPr/>
          <p:nvPr/>
        </p:nvSpPr>
        <p:spPr>
          <a:xfrm>
            <a:off x="2816352" y="1554480"/>
            <a:ext cx="1874519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splitter_dot"/>
          <p:cNvSpPr/>
          <p:nvPr/>
        </p:nvSpPr>
        <p:spPr>
          <a:xfrm>
            <a:off x="2962656" y="1719072"/>
            <a:ext cx="164592" cy="164592"/>
          </a:xfrm>
          <a:prstGeom prst="ellipse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splitter_title"/>
          <p:cNvSpPr txBox="1"/>
          <p:nvPr/>
        </p:nvSpPr>
        <p:spPr>
          <a:xfrm>
            <a:off x="3200400" y="1673352"/>
            <a:ext cx="134416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</a:rPr>
              <a:t>MDPR Splitter</a:t>
            </a:r>
          </a:p>
        </p:txBody>
      </p:sp>
      <p:sp>
        <p:nvSpPr>
          <p:cNvPr id="17" name="splitter_line_0"/>
          <p:cNvSpPr txBox="1"/>
          <p:nvPr/>
        </p:nvSpPr>
        <p:spPr>
          <a:xfrm>
            <a:off x="3017520" y="1956816"/>
            <a:ext cx="1490472" cy="1463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26071"/>
                </a:solidFill>
              </a:rPr>
              <a:t>slides and elements</a:t>
            </a:r>
          </a:p>
        </p:txBody>
      </p:sp>
      <p:sp>
        <p:nvSpPr>
          <p:cNvPr id="18" name="splitter_line_1"/>
          <p:cNvSpPr txBox="1"/>
          <p:nvPr/>
        </p:nvSpPr>
        <p:spPr>
          <a:xfrm>
            <a:off x="3017520" y="2121408"/>
            <a:ext cx="1490472" cy="1463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26071"/>
                </a:solidFill>
              </a:rPr>
              <a:t>semantic structure</a:t>
            </a:r>
          </a:p>
        </p:txBody>
      </p:sp>
      <p:sp>
        <p:nvSpPr>
          <p:cNvPr id="19" name="splitter_line_2"/>
          <p:cNvSpPr txBox="1"/>
          <p:nvPr/>
        </p:nvSpPr>
        <p:spPr>
          <a:xfrm>
            <a:off x="3017520" y="2286000"/>
            <a:ext cx="1490472" cy="1463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26071"/>
                </a:solidFill>
              </a:rPr>
              <a:t>no visual choices</a:t>
            </a:r>
          </a:p>
        </p:txBody>
      </p:sp>
      <p:sp>
        <p:nvSpPr>
          <p:cNvPr id="20" name="ir_card"/>
          <p:cNvSpPr/>
          <p:nvPr/>
        </p:nvSpPr>
        <p:spPr>
          <a:xfrm>
            <a:off x="5047488" y="1554480"/>
            <a:ext cx="1847088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ir_dot"/>
          <p:cNvSpPr/>
          <p:nvPr/>
        </p:nvSpPr>
        <p:spPr>
          <a:xfrm>
            <a:off x="5193792" y="1719072"/>
            <a:ext cx="164592" cy="164592"/>
          </a:xfrm>
          <a:prstGeom prst="ellipse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ir_title"/>
          <p:cNvSpPr txBox="1"/>
          <p:nvPr/>
        </p:nvSpPr>
        <p:spPr>
          <a:xfrm>
            <a:off x="5431536" y="1673352"/>
            <a:ext cx="131673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</a:rPr>
              <a:t>Slide Element IR</a:t>
            </a:r>
          </a:p>
        </p:txBody>
      </p:sp>
      <p:sp>
        <p:nvSpPr>
          <p:cNvPr id="23" name="ir_line_0"/>
          <p:cNvSpPr txBox="1"/>
          <p:nvPr/>
        </p:nvSpPr>
        <p:spPr>
          <a:xfrm>
            <a:off x="5248655" y="1956816"/>
            <a:ext cx="146304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26071"/>
                </a:solidFill>
              </a:rPr>
              <a:t>content-only contract</a:t>
            </a:r>
          </a:p>
        </p:txBody>
      </p:sp>
      <p:sp>
        <p:nvSpPr>
          <p:cNvPr id="24" name="ir_line_1"/>
          <p:cNvSpPr txBox="1"/>
          <p:nvPr/>
        </p:nvSpPr>
        <p:spPr>
          <a:xfrm>
            <a:off x="5248655" y="2121408"/>
            <a:ext cx="146304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26071"/>
                </a:solidFill>
              </a:rPr>
              <a:t>for downstream rules</a:t>
            </a:r>
          </a:p>
        </p:txBody>
      </p:sp>
      <p:cxnSp>
        <p:nvCxnSpPr>
          <p:cNvPr id="25" name="arrow_markdown_splitter"/>
          <p:cNvCxnSpPr/>
          <p:nvPr/>
        </p:nvCxnSpPr>
        <p:spPr>
          <a:xfrm>
            <a:off x="2450592" y="2057400"/>
            <a:ext cx="347472" cy="0"/>
          </a:xfrm>
          <a:prstGeom prst="line">
            <a:avLst/>
          </a:prstGeom>
          <a:ln w="2286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arrow_splitter_ir"/>
          <p:cNvCxnSpPr/>
          <p:nvPr/>
        </p:nvCxnSpPr>
        <p:spPr>
          <a:xfrm>
            <a:off x="4700016" y="2057400"/>
            <a:ext cx="310896" cy="0"/>
          </a:xfrm>
          <a:prstGeom prst="line">
            <a:avLst/>
          </a:prstGeom>
          <a:ln w="2286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llm_card"/>
          <p:cNvSpPr/>
          <p:nvPr/>
        </p:nvSpPr>
        <p:spPr>
          <a:xfrm>
            <a:off x="2615184" y="3127248"/>
            <a:ext cx="2852928" cy="105156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llm_title"/>
          <p:cNvSpPr txBox="1"/>
          <p:nvPr/>
        </p:nvSpPr>
        <p:spPr>
          <a:xfrm>
            <a:off x="2852928" y="3337560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</a:rPr>
              <a:t>LLM Assistant</a:t>
            </a:r>
          </a:p>
        </p:txBody>
      </p:sp>
      <p:sp>
        <p:nvSpPr>
          <p:cNvPr id="29" name="llm_body"/>
          <p:cNvSpPr txBox="1"/>
          <p:nvPr/>
        </p:nvSpPr>
        <p:spPr>
          <a:xfrm>
            <a:off x="2852928" y="3621024"/>
            <a:ext cx="21396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26071"/>
                </a:solidFill>
              </a:rPr>
              <a:t>Intent, grouping, and importance candidates.</a:t>
            </a:r>
          </a:p>
        </p:txBody>
      </p:sp>
      <p:sp>
        <p:nvSpPr>
          <p:cNvPr id="30" name="llm_badge"/>
          <p:cNvSpPr/>
          <p:nvPr/>
        </p:nvSpPr>
        <p:spPr>
          <a:xfrm>
            <a:off x="4462272" y="3273552"/>
            <a:ext cx="713232" cy="219456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llm_badge_text"/>
          <p:cNvSpPr txBox="1"/>
          <p:nvPr/>
        </p:nvSpPr>
        <p:spPr>
          <a:xfrm>
            <a:off x="4608576" y="3328416"/>
            <a:ext cx="438912" cy="109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hints</a:t>
            </a:r>
          </a:p>
        </p:txBody>
      </p:sp>
      <p:sp>
        <p:nvSpPr>
          <p:cNvPr id="32" name="llm_boundary"/>
          <p:cNvSpPr txBox="1"/>
          <p:nvPr/>
        </p:nvSpPr>
        <p:spPr>
          <a:xfrm>
            <a:off x="2852928" y="3895344"/>
            <a:ext cx="2286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4748B"/>
                </a:solidFill>
              </a:rPr>
              <a:t>No coordinates, colors, variants, or z-order.</a:t>
            </a:r>
          </a:p>
        </p:txBody>
      </p:sp>
      <p:cxnSp>
        <p:nvCxnSpPr>
          <p:cNvPr id="33" name="hint_ir_llm"/>
          <p:cNvCxnSpPr/>
          <p:nvPr/>
        </p:nvCxnSpPr>
        <p:spPr>
          <a:xfrm flipH="1">
            <a:off x="5029200" y="2615184"/>
            <a:ext cx="786384" cy="0"/>
          </a:xfrm>
          <a:prstGeom prst="line">
            <a:avLst/>
          </a:prstGeom>
          <a:ln w="2286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hint_llm_rules"/>
          <p:cNvCxnSpPr/>
          <p:nvPr/>
        </p:nvCxnSpPr>
        <p:spPr>
          <a:xfrm>
            <a:off x="5468112" y="3657600"/>
            <a:ext cx="585216" cy="0"/>
          </a:xfrm>
          <a:prstGeom prst="line">
            <a:avLst/>
          </a:prstGeom>
          <a:ln w="2286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ule_boundary"/>
          <p:cNvSpPr/>
          <p:nvPr/>
        </p:nvSpPr>
        <p:spPr>
          <a:xfrm>
            <a:off x="6309360" y="1481328"/>
            <a:ext cx="3328416" cy="3054096"/>
          </a:xfrm>
          <a:prstGeom prst="roundRect">
            <a:avLst/>
          </a:prstGeom>
          <a:solidFill>
            <a:srgbClr val="EEF7F1"/>
          </a:solidFill>
          <a:ln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ule_boundary_title"/>
          <p:cNvSpPr txBox="1"/>
          <p:nvPr/>
        </p:nvSpPr>
        <p:spPr>
          <a:xfrm>
            <a:off x="6583680" y="1783080"/>
            <a:ext cx="270662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15803D"/>
                </a:solidFill>
              </a:rPr>
              <a:t>Final design decisions happen here</a:t>
            </a:r>
          </a:p>
        </p:txBody>
      </p:sp>
      <p:sp>
        <p:nvSpPr>
          <p:cNvPr id="37" name="features_card"/>
          <p:cNvSpPr/>
          <p:nvPr/>
        </p:nvSpPr>
        <p:spPr>
          <a:xfrm>
            <a:off x="6565392" y="2139696"/>
            <a:ext cx="1389888" cy="713232"/>
          </a:xfrm>
          <a:prstGeom prst="roundRect">
            <a:avLst/>
          </a:prstGeom>
          <a:solidFill>
            <a:srgbClr val="F8FAFC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eatures_dot"/>
          <p:cNvSpPr/>
          <p:nvPr/>
        </p:nvSpPr>
        <p:spPr>
          <a:xfrm>
            <a:off x="6711696" y="2304288"/>
            <a:ext cx="164592" cy="164592"/>
          </a:xfrm>
          <a:prstGeom prst="ellipse">
            <a:avLst/>
          </a:prstGeom>
          <a:solidFill>
            <a:srgbClr val="86EFAC"/>
          </a:solidFill>
          <a:ln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eatures_title"/>
          <p:cNvSpPr txBox="1"/>
          <p:nvPr/>
        </p:nvSpPr>
        <p:spPr>
          <a:xfrm>
            <a:off x="6949440" y="2258568"/>
            <a:ext cx="85953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</a:rPr>
              <a:t>Features</a:t>
            </a:r>
          </a:p>
        </p:txBody>
      </p:sp>
      <p:sp>
        <p:nvSpPr>
          <p:cNvPr id="40" name="features_line_0"/>
          <p:cNvSpPr txBox="1"/>
          <p:nvPr/>
        </p:nvSpPr>
        <p:spPr>
          <a:xfrm>
            <a:off x="6766559" y="2542032"/>
            <a:ext cx="1005840" cy="109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26071"/>
                </a:solidFill>
              </a:rPr>
              <a:t>density and mix</a:t>
            </a:r>
          </a:p>
        </p:txBody>
      </p:sp>
      <p:sp>
        <p:nvSpPr>
          <p:cNvPr id="41" name="features_line_1"/>
          <p:cNvSpPr txBox="1"/>
          <p:nvPr/>
        </p:nvSpPr>
        <p:spPr>
          <a:xfrm>
            <a:off x="6766559" y="2651760"/>
            <a:ext cx="1005840" cy="109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26071"/>
                </a:solidFill>
              </a:rPr>
              <a:t>size risk</a:t>
            </a:r>
          </a:p>
        </p:txBody>
      </p:sp>
      <p:sp>
        <p:nvSpPr>
          <p:cNvPr id="42" name="rules_card"/>
          <p:cNvSpPr/>
          <p:nvPr/>
        </p:nvSpPr>
        <p:spPr>
          <a:xfrm>
            <a:off x="8138160" y="2139696"/>
            <a:ext cx="1261872" cy="713232"/>
          </a:xfrm>
          <a:prstGeom prst="roundRect">
            <a:avLst/>
          </a:prstGeom>
          <a:solidFill>
            <a:srgbClr val="F8FAFC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ules_dot"/>
          <p:cNvSpPr/>
          <p:nvPr/>
        </p:nvSpPr>
        <p:spPr>
          <a:xfrm>
            <a:off x="8284464" y="2304288"/>
            <a:ext cx="164592" cy="164592"/>
          </a:xfrm>
          <a:prstGeom prst="ellipse">
            <a:avLst/>
          </a:prstGeom>
          <a:solidFill>
            <a:srgbClr val="86EFAC"/>
          </a:solidFill>
          <a:ln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ules_title"/>
          <p:cNvSpPr txBox="1"/>
          <p:nvPr/>
        </p:nvSpPr>
        <p:spPr>
          <a:xfrm>
            <a:off x="8522208" y="2258568"/>
            <a:ext cx="73151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</a:rPr>
              <a:t>Rules</a:t>
            </a:r>
          </a:p>
        </p:txBody>
      </p:sp>
      <p:sp>
        <p:nvSpPr>
          <p:cNvPr id="45" name="rules_line_0"/>
          <p:cNvSpPr txBox="1"/>
          <p:nvPr/>
        </p:nvSpPr>
        <p:spPr>
          <a:xfrm>
            <a:off x="8339328" y="2542032"/>
            <a:ext cx="877824" cy="109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26071"/>
                </a:solidFill>
              </a:rPr>
              <a:t>profile, recipe</a:t>
            </a:r>
          </a:p>
        </p:txBody>
      </p:sp>
      <p:sp>
        <p:nvSpPr>
          <p:cNvPr id="46" name="rules_line_1"/>
          <p:cNvSpPr txBox="1"/>
          <p:nvPr/>
        </p:nvSpPr>
        <p:spPr>
          <a:xfrm>
            <a:off x="8339328" y="2651760"/>
            <a:ext cx="877824" cy="109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26071"/>
                </a:solidFill>
              </a:rPr>
              <a:t>variant</a:t>
            </a:r>
          </a:p>
        </p:txBody>
      </p:sp>
      <p:sp>
        <p:nvSpPr>
          <p:cNvPr id="47" name="compose_card"/>
          <p:cNvSpPr/>
          <p:nvPr/>
        </p:nvSpPr>
        <p:spPr>
          <a:xfrm>
            <a:off x="6565392" y="3291840"/>
            <a:ext cx="1389888" cy="713232"/>
          </a:xfrm>
          <a:prstGeom prst="roundRect">
            <a:avLst/>
          </a:prstGeom>
          <a:solidFill>
            <a:srgbClr val="F8FAFC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compose_dot"/>
          <p:cNvSpPr/>
          <p:nvPr/>
        </p:nvSpPr>
        <p:spPr>
          <a:xfrm>
            <a:off x="6711696" y="3456432"/>
            <a:ext cx="164592" cy="164592"/>
          </a:xfrm>
          <a:prstGeom prst="ellipse">
            <a:avLst/>
          </a:prstGeom>
          <a:solidFill>
            <a:srgbClr val="86EFAC"/>
          </a:solidFill>
          <a:ln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compose_title"/>
          <p:cNvSpPr txBox="1"/>
          <p:nvPr/>
        </p:nvSpPr>
        <p:spPr>
          <a:xfrm>
            <a:off x="6949440" y="3410712"/>
            <a:ext cx="85953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</a:rPr>
              <a:t>Compose</a:t>
            </a:r>
          </a:p>
        </p:txBody>
      </p:sp>
      <p:sp>
        <p:nvSpPr>
          <p:cNvPr id="50" name="compose_line_0"/>
          <p:cNvSpPr txBox="1"/>
          <p:nvPr/>
        </p:nvSpPr>
        <p:spPr>
          <a:xfrm>
            <a:off x="6766559" y="3694176"/>
            <a:ext cx="1005840" cy="109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26071"/>
                </a:solidFill>
              </a:rPr>
              <a:t>regions, boxes</a:t>
            </a:r>
          </a:p>
        </p:txBody>
      </p:sp>
      <p:sp>
        <p:nvSpPr>
          <p:cNvPr id="51" name="compose_line_1"/>
          <p:cNvSpPr txBox="1"/>
          <p:nvPr/>
        </p:nvSpPr>
        <p:spPr>
          <a:xfrm>
            <a:off x="6766559" y="3803904"/>
            <a:ext cx="1005840" cy="109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26071"/>
                </a:solidFill>
              </a:rPr>
              <a:t>fit, overflow</a:t>
            </a:r>
          </a:p>
        </p:txBody>
      </p:sp>
      <p:sp>
        <p:nvSpPr>
          <p:cNvPr id="52" name="decorate_card"/>
          <p:cNvSpPr/>
          <p:nvPr/>
        </p:nvSpPr>
        <p:spPr>
          <a:xfrm>
            <a:off x="8138160" y="3291840"/>
            <a:ext cx="1261872" cy="713232"/>
          </a:xfrm>
          <a:prstGeom prst="roundRect">
            <a:avLst/>
          </a:prstGeom>
          <a:solidFill>
            <a:srgbClr val="F8FAFC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decorate_dot"/>
          <p:cNvSpPr/>
          <p:nvPr/>
        </p:nvSpPr>
        <p:spPr>
          <a:xfrm>
            <a:off x="8284464" y="3456432"/>
            <a:ext cx="164592" cy="164592"/>
          </a:xfrm>
          <a:prstGeom prst="ellipse">
            <a:avLst/>
          </a:prstGeom>
          <a:solidFill>
            <a:srgbClr val="86EFAC"/>
          </a:solidFill>
          <a:ln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decorate_title"/>
          <p:cNvSpPr txBox="1"/>
          <p:nvPr/>
        </p:nvSpPr>
        <p:spPr>
          <a:xfrm>
            <a:off x="8522208" y="3410712"/>
            <a:ext cx="73151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</a:rPr>
              <a:t>Decorate</a:t>
            </a:r>
          </a:p>
        </p:txBody>
      </p:sp>
      <p:sp>
        <p:nvSpPr>
          <p:cNvPr id="55" name="decorate_line_0"/>
          <p:cNvSpPr txBox="1"/>
          <p:nvPr/>
        </p:nvSpPr>
        <p:spPr>
          <a:xfrm>
            <a:off x="8339328" y="3694176"/>
            <a:ext cx="877824" cy="109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26071"/>
                </a:solidFill>
              </a:rPr>
              <a:t>type, radius</a:t>
            </a:r>
          </a:p>
        </p:txBody>
      </p:sp>
      <p:sp>
        <p:nvSpPr>
          <p:cNvPr id="56" name="decorate_line_1"/>
          <p:cNvSpPr txBox="1"/>
          <p:nvPr/>
        </p:nvSpPr>
        <p:spPr>
          <a:xfrm>
            <a:off x="8339328" y="3803904"/>
            <a:ext cx="877824" cy="109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26071"/>
                </a:solidFill>
              </a:rPr>
              <a:t>shadow, effects</a:t>
            </a:r>
          </a:p>
        </p:txBody>
      </p:sp>
      <p:cxnSp>
        <p:nvCxnSpPr>
          <p:cNvPr id="57" name="arrow_ir_rule"/>
          <p:cNvCxnSpPr/>
          <p:nvPr/>
        </p:nvCxnSpPr>
        <p:spPr>
          <a:xfrm>
            <a:off x="6894576" y="2057400"/>
            <a:ext cx="310896" cy="0"/>
          </a:xfrm>
          <a:prstGeom prst="line">
            <a:avLst/>
          </a:prstGeom>
          <a:ln w="2286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rule_arrow_1"/>
          <p:cNvCxnSpPr/>
          <p:nvPr/>
        </p:nvCxnSpPr>
        <p:spPr>
          <a:xfrm>
            <a:off x="7955279" y="2487168"/>
            <a:ext cx="164592" cy="0"/>
          </a:xfrm>
          <a:prstGeom prst="line">
            <a:avLst/>
          </a:prstGeom>
          <a:ln w="2286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rule_arrow_2"/>
          <p:cNvCxnSpPr/>
          <p:nvPr/>
        </p:nvCxnSpPr>
        <p:spPr>
          <a:xfrm>
            <a:off x="8759952" y="2852928"/>
            <a:ext cx="0" cy="0"/>
          </a:xfrm>
          <a:prstGeom prst="line">
            <a:avLst/>
          </a:prstGeom>
          <a:ln w="2286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lint_pill"/>
          <p:cNvSpPr/>
          <p:nvPr/>
        </p:nvSpPr>
        <p:spPr>
          <a:xfrm>
            <a:off x="6748272" y="4187952"/>
            <a:ext cx="2322576" cy="237744"/>
          </a:xfrm>
          <a:prstGeom prst="roundRect">
            <a:avLst/>
          </a:prstGeom>
          <a:solidFill>
            <a:srgbClr val="DCFCE7"/>
          </a:solidFill>
          <a:ln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lint_text"/>
          <p:cNvSpPr txBox="1"/>
          <p:nvPr/>
        </p:nvSpPr>
        <p:spPr>
          <a:xfrm>
            <a:off x="7077456" y="4261104"/>
            <a:ext cx="1664208" cy="91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166534"/>
                </a:solidFill>
              </a:rPr>
              <a:t>Coherence lint: one visual language</a:t>
            </a:r>
          </a:p>
        </p:txBody>
      </p:sp>
      <p:sp>
        <p:nvSpPr>
          <p:cNvPr id="62" name="styled_ir_card"/>
          <p:cNvSpPr/>
          <p:nvPr/>
        </p:nvSpPr>
        <p:spPr>
          <a:xfrm>
            <a:off x="9985248" y="1792224"/>
            <a:ext cx="1481328" cy="841248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styled_ir_dot"/>
          <p:cNvSpPr/>
          <p:nvPr/>
        </p:nvSpPr>
        <p:spPr>
          <a:xfrm>
            <a:off x="10131552" y="1956816"/>
            <a:ext cx="164592" cy="164592"/>
          </a:xfrm>
          <a:prstGeom prst="ellipse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styled_ir_title"/>
          <p:cNvSpPr txBox="1"/>
          <p:nvPr/>
        </p:nvSpPr>
        <p:spPr>
          <a:xfrm>
            <a:off x="10369296" y="1911095"/>
            <a:ext cx="95097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</a:rPr>
              <a:t>Styled Deck IR</a:t>
            </a:r>
          </a:p>
        </p:txBody>
      </p:sp>
      <p:sp>
        <p:nvSpPr>
          <p:cNvPr id="65" name="styled_ir_line_0"/>
          <p:cNvSpPr txBox="1"/>
          <p:nvPr/>
        </p:nvSpPr>
        <p:spPr>
          <a:xfrm>
            <a:off x="10186416" y="2194560"/>
            <a:ext cx="1097280" cy="1463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26071"/>
                </a:solidFill>
              </a:rPr>
              <a:t>renderer-neutral</a:t>
            </a:r>
          </a:p>
        </p:txBody>
      </p:sp>
      <p:sp>
        <p:nvSpPr>
          <p:cNvPr id="66" name="styled_ir_line_1"/>
          <p:cNvSpPr txBox="1"/>
          <p:nvPr/>
        </p:nvSpPr>
        <p:spPr>
          <a:xfrm>
            <a:off x="10186416" y="2359152"/>
            <a:ext cx="1097280" cy="1463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26071"/>
                </a:solidFill>
              </a:rPr>
              <a:t>visual contract</a:t>
            </a:r>
          </a:p>
        </p:txBody>
      </p:sp>
      <p:sp>
        <p:nvSpPr>
          <p:cNvPr id="67" name="renderers_card"/>
          <p:cNvSpPr/>
          <p:nvPr/>
        </p:nvSpPr>
        <p:spPr>
          <a:xfrm>
            <a:off x="9985248" y="3182112"/>
            <a:ext cx="1481328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nderers_dot"/>
          <p:cNvSpPr/>
          <p:nvPr/>
        </p:nvSpPr>
        <p:spPr>
          <a:xfrm>
            <a:off x="10131552" y="3346704"/>
            <a:ext cx="164592" cy="164592"/>
          </a:xfrm>
          <a:prstGeom prst="ellipse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nderers_title"/>
          <p:cNvSpPr txBox="1"/>
          <p:nvPr/>
        </p:nvSpPr>
        <p:spPr>
          <a:xfrm>
            <a:off x="10369296" y="3300984"/>
            <a:ext cx="95097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</a:rPr>
              <a:t>Renderers</a:t>
            </a:r>
          </a:p>
        </p:txBody>
      </p:sp>
      <p:sp>
        <p:nvSpPr>
          <p:cNvPr id="70" name="renderers_line_0"/>
          <p:cNvSpPr txBox="1"/>
          <p:nvPr/>
        </p:nvSpPr>
        <p:spPr>
          <a:xfrm>
            <a:off x="10186416" y="3584448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26071"/>
                </a:solidFill>
              </a:rPr>
              <a:t>editable PPTX</a:t>
            </a:r>
          </a:p>
        </p:txBody>
      </p:sp>
      <p:sp>
        <p:nvSpPr>
          <p:cNvPr id="71" name="renderers_line_1"/>
          <p:cNvSpPr txBox="1"/>
          <p:nvPr/>
        </p:nvSpPr>
        <p:spPr>
          <a:xfrm>
            <a:off x="10186416" y="3749039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26071"/>
                </a:solidFill>
              </a:rPr>
              <a:t>HTML and PDF</a:t>
            </a:r>
          </a:p>
        </p:txBody>
      </p:sp>
      <p:sp>
        <p:nvSpPr>
          <p:cNvPr id="72" name="renderers_line_2"/>
          <p:cNvSpPr txBox="1"/>
          <p:nvPr/>
        </p:nvSpPr>
        <p:spPr>
          <a:xfrm>
            <a:off x="10186416" y="3913632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26071"/>
                </a:solidFill>
              </a:rPr>
              <a:t>visual validation</a:t>
            </a:r>
          </a:p>
        </p:txBody>
      </p:sp>
      <p:cxnSp>
        <p:nvCxnSpPr>
          <p:cNvPr id="73" name="arrow_rule_output"/>
          <p:cNvCxnSpPr/>
          <p:nvPr/>
        </p:nvCxnSpPr>
        <p:spPr>
          <a:xfrm>
            <a:off x="9637776" y="2359152"/>
            <a:ext cx="329183" cy="0"/>
          </a:xfrm>
          <a:prstGeom prst="line">
            <a:avLst/>
          </a:prstGeom>
          <a:ln w="2286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arrow_ir_renderers"/>
          <p:cNvCxnSpPr/>
          <p:nvPr/>
        </p:nvCxnSpPr>
        <p:spPr>
          <a:xfrm>
            <a:off x="10735056" y="2633472"/>
            <a:ext cx="0" cy="0"/>
          </a:xfrm>
          <a:prstGeom prst="line">
            <a:avLst/>
          </a:prstGeom>
          <a:ln w="2286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sponsibility"/>
          <p:cNvSpPr/>
          <p:nvPr/>
        </p:nvSpPr>
        <p:spPr>
          <a:xfrm>
            <a:off x="804672" y="5102352"/>
            <a:ext cx="10497312" cy="658368"/>
          </a:xfrm>
          <a:prstGeom prst="roundRect">
            <a:avLst/>
          </a:prstGeom>
          <a:solidFill>
            <a:srgbClr val="F8FAFC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sponsibility_title"/>
          <p:cNvSpPr txBox="1"/>
          <p:nvPr/>
        </p:nvSpPr>
        <p:spPr>
          <a:xfrm>
            <a:off x="1024128" y="5303520"/>
            <a:ext cx="142646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</a:rPr>
              <a:t>Responsibility split</a:t>
            </a:r>
          </a:p>
        </p:txBody>
      </p:sp>
      <p:sp>
        <p:nvSpPr>
          <p:cNvPr id="77" name="responsibility_body"/>
          <p:cNvSpPr txBox="1"/>
          <p:nvPr/>
        </p:nvSpPr>
        <p:spPr>
          <a:xfrm>
            <a:off x="2505456" y="5303520"/>
            <a:ext cx="6309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26071"/>
                </a:solidFill>
              </a:rPr>
              <a:t>LLM: semantic hints only. Rules: selection, composition, decoration, coherence, readability. Renderers: editable objects and output verification.</a:t>
            </a:r>
          </a:p>
        </p:txBody>
      </p:sp>
      <p:sp>
        <p:nvSpPr>
          <p:cNvPr id="78" name="font_badge"/>
          <p:cNvSpPr/>
          <p:nvPr/>
        </p:nvSpPr>
        <p:spPr>
          <a:xfrm>
            <a:off x="9802368" y="5285232"/>
            <a:ext cx="1170432" cy="237744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ont_badge_text"/>
          <p:cNvSpPr txBox="1"/>
          <p:nvPr/>
        </p:nvSpPr>
        <p:spPr>
          <a:xfrm>
            <a:off x="9966960" y="5358384"/>
            <a:ext cx="859536" cy="91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font size &gt;= 8pt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