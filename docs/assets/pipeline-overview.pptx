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629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ackground"/>
          <p:cNvSpPr/>
          <p:nvPr/>
        </p:nvSpPr>
        <p:spPr>
          <a:xfrm>
            <a:off x="0" y="0"/>
            <a:ext cx="12191695" cy="66294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01_canvas"/>
          <p:cNvSpPr/>
          <p:nvPr/>
        </p:nvSpPr>
        <p:spPr>
          <a:xfrm>
            <a:off x="420624" y="749808"/>
            <a:ext cx="11356848" cy="5413248"/>
          </a:xfrm>
          <a:prstGeom prst="roundRect">
            <a:avLst/>
          </a:prstGeom>
          <a:solidFill>
            <a:srgbClr val="FFFFFF"/>
          </a:solidFill>
          <a:ln>
            <a:solidFill>
              <a:srgbClr val="DDE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566928" y="256032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</a:rPr>
              <a:t>MDPR Design Components Pipeline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576072" y="585216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475569"/>
                </a:solidFill>
              </a:rPr>
              <a:t>LLM hints semantic intent only. Deterministic rules own design decisions and editable rendering.</a:t>
            </a:r>
          </a:p>
        </p:txBody>
      </p:sp>
      <p:sp>
        <p:nvSpPr>
          <p:cNvPr id="6" name="section_input"/>
          <p:cNvSpPr txBox="1"/>
          <p:nvPr/>
        </p:nvSpPr>
        <p:spPr>
          <a:xfrm>
            <a:off x="713232" y="102412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INPUT AND STRUCTURE</a:t>
            </a:r>
          </a:p>
        </p:txBody>
      </p:sp>
      <p:sp>
        <p:nvSpPr>
          <p:cNvPr id="7" name="section_rule"/>
          <p:cNvSpPr txBox="1"/>
          <p:nvPr/>
        </p:nvSpPr>
        <p:spPr>
          <a:xfrm>
            <a:off x="4590288" y="102412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15803D"/>
                </a:solidFill>
              </a:rPr>
              <a:t>RULE-BASED DETERMINISTIC BOUNDARY</a:t>
            </a:r>
          </a:p>
        </p:txBody>
      </p:sp>
      <p:sp>
        <p:nvSpPr>
          <p:cNvPr id="8" name="section_output"/>
          <p:cNvSpPr txBox="1"/>
          <p:nvPr/>
        </p:nvSpPr>
        <p:spPr>
          <a:xfrm>
            <a:off x="9857232" y="102412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OUTPUTS</a:t>
            </a:r>
          </a:p>
        </p:txBody>
      </p:sp>
      <p:sp>
        <p:nvSpPr>
          <p:cNvPr id="9" name="markdown_card"/>
          <p:cNvSpPr/>
          <p:nvPr/>
        </p:nvSpPr>
        <p:spPr>
          <a:xfrm>
            <a:off x="749808" y="1389888"/>
            <a:ext cx="150876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markdown_dot"/>
          <p:cNvSpPr/>
          <p:nvPr/>
        </p:nvSpPr>
        <p:spPr>
          <a:xfrm>
            <a:off x="896112" y="1554480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markdown_title"/>
          <p:cNvSpPr txBox="1"/>
          <p:nvPr/>
        </p:nvSpPr>
        <p:spPr>
          <a:xfrm>
            <a:off x="1133856" y="1517904"/>
            <a:ext cx="978407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12" name="markdown_line_0"/>
          <p:cNvSpPr txBox="1"/>
          <p:nvPr/>
        </p:nvSpPr>
        <p:spPr>
          <a:xfrm>
            <a:off x="950976" y="1865376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headings, lists,</a:t>
            </a:r>
          </a:p>
        </p:txBody>
      </p:sp>
      <p:sp>
        <p:nvSpPr>
          <p:cNvPr id="13" name="markdown_line_1"/>
          <p:cNvSpPr txBox="1"/>
          <p:nvPr/>
        </p:nvSpPr>
        <p:spPr>
          <a:xfrm>
            <a:off x="950976" y="2057400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tables, code,</a:t>
            </a:r>
          </a:p>
        </p:txBody>
      </p:sp>
      <p:sp>
        <p:nvSpPr>
          <p:cNvPr id="14" name="markdown_line_2"/>
          <p:cNvSpPr txBox="1"/>
          <p:nvPr/>
        </p:nvSpPr>
        <p:spPr>
          <a:xfrm>
            <a:off x="950976" y="2249424"/>
            <a:ext cx="112471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images</a:t>
            </a:r>
          </a:p>
        </p:txBody>
      </p:sp>
      <p:sp>
        <p:nvSpPr>
          <p:cNvPr id="15" name="splitter_card"/>
          <p:cNvSpPr/>
          <p:nvPr/>
        </p:nvSpPr>
        <p:spPr>
          <a:xfrm>
            <a:off x="2615184" y="1389888"/>
            <a:ext cx="1664208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plitter_dot"/>
          <p:cNvSpPr/>
          <p:nvPr/>
        </p:nvSpPr>
        <p:spPr>
          <a:xfrm>
            <a:off x="2761488" y="1554480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plitter_title"/>
          <p:cNvSpPr txBox="1"/>
          <p:nvPr/>
        </p:nvSpPr>
        <p:spPr>
          <a:xfrm>
            <a:off x="2999232" y="151790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MDPR Splitter</a:t>
            </a:r>
          </a:p>
        </p:txBody>
      </p:sp>
      <p:sp>
        <p:nvSpPr>
          <p:cNvPr id="18" name="splitter_line_0"/>
          <p:cNvSpPr txBox="1"/>
          <p:nvPr/>
        </p:nvSpPr>
        <p:spPr>
          <a:xfrm>
            <a:off x="2816352" y="1865376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slides, elements,</a:t>
            </a:r>
          </a:p>
        </p:txBody>
      </p:sp>
      <p:sp>
        <p:nvSpPr>
          <p:cNvPr id="19" name="splitter_line_1"/>
          <p:cNvSpPr txBox="1"/>
          <p:nvPr/>
        </p:nvSpPr>
        <p:spPr>
          <a:xfrm>
            <a:off x="2816352" y="205740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semantic structure,</a:t>
            </a:r>
          </a:p>
        </p:txBody>
      </p:sp>
      <p:sp>
        <p:nvSpPr>
          <p:cNvPr id="20" name="splitter_line_2"/>
          <p:cNvSpPr txBox="1"/>
          <p:nvPr/>
        </p:nvSpPr>
        <p:spPr>
          <a:xfrm>
            <a:off x="2816352" y="2249424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no visual choices</a:t>
            </a:r>
          </a:p>
        </p:txBody>
      </p:sp>
      <p:sp>
        <p:nvSpPr>
          <p:cNvPr id="21" name="ir_card"/>
          <p:cNvSpPr/>
          <p:nvPr/>
        </p:nvSpPr>
        <p:spPr>
          <a:xfrm>
            <a:off x="4626864" y="1389888"/>
            <a:ext cx="1700784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r_dot"/>
          <p:cNvSpPr/>
          <p:nvPr/>
        </p:nvSpPr>
        <p:spPr>
          <a:xfrm>
            <a:off x="4773168" y="1554480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r_title"/>
          <p:cNvSpPr txBox="1"/>
          <p:nvPr/>
        </p:nvSpPr>
        <p:spPr>
          <a:xfrm>
            <a:off x="5010912" y="151790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Slide Element IR</a:t>
            </a:r>
          </a:p>
        </p:txBody>
      </p:sp>
      <p:sp>
        <p:nvSpPr>
          <p:cNvPr id="24" name="ir_line_0"/>
          <p:cNvSpPr txBox="1"/>
          <p:nvPr/>
        </p:nvSpPr>
        <p:spPr>
          <a:xfrm>
            <a:off x="4828031" y="1865376"/>
            <a:ext cx="13167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content-only</a:t>
            </a:r>
          </a:p>
        </p:txBody>
      </p:sp>
      <p:sp>
        <p:nvSpPr>
          <p:cNvPr id="25" name="ir_line_1"/>
          <p:cNvSpPr txBox="1"/>
          <p:nvPr/>
        </p:nvSpPr>
        <p:spPr>
          <a:xfrm>
            <a:off x="4828031" y="2057400"/>
            <a:ext cx="1316736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contract for rules</a:t>
            </a:r>
          </a:p>
        </p:txBody>
      </p:sp>
      <p:cxnSp>
        <p:nvCxnSpPr>
          <p:cNvPr id="26" name="arrow_markdown_splitter"/>
          <p:cNvCxnSpPr/>
          <p:nvPr/>
        </p:nvCxnSpPr>
        <p:spPr>
          <a:xfrm>
            <a:off x="2267712" y="1847088"/>
            <a:ext cx="329184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rrow_splitter_ir"/>
          <p:cNvCxnSpPr/>
          <p:nvPr/>
        </p:nvCxnSpPr>
        <p:spPr>
          <a:xfrm>
            <a:off x="4297680" y="1847088"/>
            <a:ext cx="310896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lm_card"/>
          <p:cNvSpPr/>
          <p:nvPr/>
        </p:nvSpPr>
        <p:spPr>
          <a:xfrm>
            <a:off x="2487168" y="2852928"/>
            <a:ext cx="2670048" cy="1042415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lm_title"/>
          <p:cNvSpPr txBox="1"/>
          <p:nvPr/>
        </p:nvSpPr>
        <p:spPr>
          <a:xfrm>
            <a:off x="2724912" y="305409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11827"/>
                </a:solidFill>
              </a:rPr>
              <a:t>LLM Assistant</a:t>
            </a:r>
          </a:p>
        </p:txBody>
      </p:sp>
      <p:sp>
        <p:nvSpPr>
          <p:cNvPr id="30" name="llm_body"/>
          <p:cNvSpPr txBox="1"/>
          <p:nvPr/>
        </p:nvSpPr>
        <p:spPr>
          <a:xfrm>
            <a:off x="2724912" y="3346704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Intent, grouping, and importance candidates.</a:t>
            </a:r>
          </a:p>
        </p:txBody>
      </p:sp>
      <p:sp>
        <p:nvSpPr>
          <p:cNvPr id="31" name="llm_badge"/>
          <p:cNvSpPr/>
          <p:nvPr/>
        </p:nvSpPr>
        <p:spPr>
          <a:xfrm>
            <a:off x="4169663" y="2999232"/>
            <a:ext cx="713232" cy="219456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lm_badge_text"/>
          <p:cNvSpPr txBox="1"/>
          <p:nvPr/>
        </p:nvSpPr>
        <p:spPr>
          <a:xfrm>
            <a:off x="4315968" y="3054096"/>
            <a:ext cx="438912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FFFFFF"/>
                </a:solidFill>
              </a:rPr>
              <a:t>hints</a:t>
            </a:r>
          </a:p>
        </p:txBody>
      </p:sp>
      <p:sp>
        <p:nvSpPr>
          <p:cNvPr id="33" name="llm_boundary"/>
          <p:cNvSpPr txBox="1"/>
          <p:nvPr/>
        </p:nvSpPr>
        <p:spPr>
          <a:xfrm>
            <a:off x="2724912" y="3685032"/>
            <a:ext cx="2057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4748B"/>
                </a:solidFill>
              </a:rPr>
              <a:t>No coordinates, colors, variants, or z-order.</a:t>
            </a:r>
          </a:p>
        </p:txBody>
      </p:sp>
      <p:cxnSp>
        <p:nvCxnSpPr>
          <p:cNvPr id="34" name="hint_ir_llm"/>
          <p:cNvCxnSpPr/>
          <p:nvPr/>
        </p:nvCxnSpPr>
        <p:spPr>
          <a:xfrm flipH="1">
            <a:off x="4754880" y="2359152"/>
            <a:ext cx="713232" cy="0"/>
          </a:xfrm>
          <a:prstGeom prst="line">
            <a:avLst/>
          </a:prstGeom>
          <a:ln w="2286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hint_llm_rules"/>
          <p:cNvCxnSpPr/>
          <p:nvPr/>
        </p:nvCxnSpPr>
        <p:spPr>
          <a:xfrm>
            <a:off x="5157216" y="3383280"/>
            <a:ext cx="640080" cy="0"/>
          </a:xfrm>
          <a:prstGeom prst="line">
            <a:avLst/>
          </a:prstGeom>
          <a:ln w="2286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ule_boundary"/>
          <p:cNvSpPr/>
          <p:nvPr/>
        </p:nvSpPr>
        <p:spPr>
          <a:xfrm>
            <a:off x="6254496" y="1335024"/>
            <a:ext cx="3182112" cy="2999232"/>
          </a:xfrm>
          <a:prstGeom prst="roundRect">
            <a:avLst/>
          </a:prstGeom>
          <a:solidFill>
            <a:srgbClr val="EEF7F1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ule_boundary_title"/>
          <p:cNvSpPr txBox="1"/>
          <p:nvPr/>
        </p:nvSpPr>
        <p:spPr>
          <a:xfrm>
            <a:off x="6510528" y="1609344"/>
            <a:ext cx="24871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15803D"/>
                </a:solidFill>
              </a:rPr>
              <a:t>Final design decisions happen here</a:t>
            </a:r>
          </a:p>
        </p:txBody>
      </p:sp>
      <p:sp>
        <p:nvSpPr>
          <p:cNvPr id="38" name="features_card"/>
          <p:cNvSpPr/>
          <p:nvPr/>
        </p:nvSpPr>
        <p:spPr>
          <a:xfrm>
            <a:off x="6473952" y="1883664"/>
            <a:ext cx="1316736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eatures_dot"/>
          <p:cNvSpPr/>
          <p:nvPr/>
        </p:nvSpPr>
        <p:spPr>
          <a:xfrm>
            <a:off x="6620256" y="2048256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eatures_title"/>
          <p:cNvSpPr txBox="1"/>
          <p:nvPr/>
        </p:nvSpPr>
        <p:spPr>
          <a:xfrm>
            <a:off x="6858000" y="2011680"/>
            <a:ext cx="7863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Features</a:t>
            </a:r>
          </a:p>
        </p:txBody>
      </p:sp>
      <p:sp>
        <p:nvSpPr>
          <p:cNvPr id="41" name="features_line_0"/>
          <p:cNvSpPr txBox="1"/>
          <p:nvPr/>
        </p:nvSpPr>
        <p:spPr>
          <a:xfrm>
            <a:off x="6675120" y="2359152"/>
            <a:ext cx="93268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density, mix</a:t>
            </a:r>
          </a:p>
        </p:txBody>
      </p:sp>
      <p:sp>
        <p:nvSpPr>
          <p:cNvPr id="42" name="features_line_1"/>
          <p:cNvSpPr txBox="1"/>
          <p:nvPr/>
        </p:nvSpPr>
        <p:spPr>
          <a:xfrm>
            <a:off x="6675120" y="2551176"/>
            <a:ext cx="93268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size risk</a:t>
            </a:r>
          </a:p>
        </p:txBody>
      </p:sp>
      <p:sp>
        <p:nvSpPr>
          <p:cNvPr id="43" name="rules_card"/>
          <p:cNvSpPr/>
          <p:nvPr/>
        </p:nvSpPr>
        <p:spPr>
          <a:xfrm>
            <a:off x="7918704" y="1883664"/>
            <a:ext cx="1316736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ules_dot"/>
          <p:cNvSpPr/>
          <p:nvPr/>
        </p:nvSpPr>
        <p:spPr>
          <a:xfrm>
            <a:off x="8065008" y="2048256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ules_title"/>
          <p:cNvSpPr txBox="1"/>
          <p:nvPr/>
        </p:nvSpPr>
        <p:spPr>
          <a:xfrm>
            <a:off x="8302752" y="2011680"/>
            <a:ext cx="7863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Rules</a:t>
            </a:r>
          </a:p>
        </p:txBody>
      </p:sp>
      <p:sp>
        <p:nvSpPr>
          <p:cNvPr id="46" name="rules_line_0"/>
          <p:cNvSpPr txBox="1"/>
          <p:nvPr/>
        </p:nvSpPr>
        <p:spPr>
          <a:xfrm>
            <a:off x="8119872" y="2359152"/>
            <a:ext cx="93268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profile, recipe</a:t>
            </a:r>
          </a:p>
        </p:txBody>
      </p:sp>
      <p:sp>
        <p:nvSpPr>
          <p:cNvPr id="47" name="rules_line_1"/>
          <p:cNvSpPr txBox="1"/>
          <p:nvPr/>
        </p:nvSpPr>
        <p:spPr>
          <a:xfrm>
            <a:off x="8119872" y="2551176"/>
            <a:ext cx="93268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variant</a:t>
            </a:r>
          </a:p>
        </p:txBody>
      </p:sp>
      <p:sp>
        <p:nvSpPr>
          <p:cNvPr id="48" name="compose_card"/>
          <p:cNvSpPr/>
          <p:nvPr/>
        </p:nvSpPr>
        <p:spPr>
          <a:xfrm>
            <a:off x="6473952" y="2999232"/>
            <a:ext cx="1316736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ompose_dot"/>
          <p:cNvSpPr/>
          <p:nvPr/>
        </p:nvSpPr>
        <p:spPr>
          <a:xfrm>
            <a:off x="6620256" y="3163824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ompose_title"/>
          <p:cNvSpPr txBox="1"/>
          <p:nvPr/>
        </p:nvSpPr>
        <p:spPr>
          <a:xfrm>
            <a:off x="6858000" y="3127248"/>
            <a:ext cx="7863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Compose</a:t>
            </a:r>
          </a:p>
        </p:txBody>
      </p:sp>
      <p:sp>
        <p:nvSpPr>
          <p:cNvPr id="51" name="compose_line_0"/>
          <p:cNvSpPr txBox="1"/>
          <p:nvPr/>
        </p:nvSpPr>
        <p:spPr>
          <a:xfrm>
            <a:off x="6675120" y="3474720"/>
            <a:ext cx="93268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regions, boxes</a:t>
            </a:r>
          </a:p>
        </p:txBody>
      </p:sp>
      <p:sp>
        <p:nvSpPr>
          <p:cNvPr id="52" name="compose_line_1"/>
          <p:cNvSpPr txBox="1"/>
          <p:nvPr/>
        </p:nvSpPr>
        <p:spPr>
          <a:xfrm>
            <a:off x="6675120" y="3666744"/>
            <a:ext cx="93268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fit, overflow</a:t>
            </a:r>
          </a:p>
        </p:txBody>
      </p:sp>
      <p:sp>
        <p:nvSpPr>
          <p:cNvPr id="53" name="decorate_card"/>
          <p:cNvSpPr/>
          <p:nvPr/>
        </p:nvSpPr>
        <p:spPr>
          <a:xfrm>
            <a:off x="7918704" y="2999232"/>
            <a:ext cx="1316736" cy="658368"/>
          </a:xfrm>
          <a:prstGeom prst="roundRect">
            <a:avLst/>
          </a:prstGeom>
          <a:solidFill>
            <a:srgbClr val="F8FAFC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ecorate_dot"/>
          <p:cNvSpPr/>
          <p:nvPr/>
        </p:nvSpPr>
        <p:spPr>
          <a:xfrm>
            <a:off x="8065008" y="3163824"/>
            <a:ext cx="164592" cy="164592"/>
          </a:xfrm>
          <a:prstGeom prst="ellipse">
            <a:avLst/>
          </a:prstGeom>
          <a:solidFill>
            <a:srgbClr val="86EFAC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ecorate_title"/>
          <p:cNvSpPr txBox="1"/>
          <p:nvPr/>
        </p:nvSpPr>
        <p:spPr>
          <a:xfrm>
            <a:off x="8302752" y="3127248"/>
            <a:ext cx="7863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Decorate</a:t>
            </a:r>
          </a:p>
        </p:txBody>
      </p:sp>
      <p:sp>
        <p:nvSpPr>
          <p:cNvPr id="56" name="decorate_line_0"/>
          <p:cNvSpPr txBox="1"/>
          <p:nvPr/>
        </p:nvSpPr>
        <p:spPr>
          <a:xfrm>
            <a:off x="8119872" y="3474720"/>
            <a:ext cx="93268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type, radius</a:t>
            </a:r>
          </a:p>
        </p:txBody>
      </p:sp>
      <p:sp>
        <p:nvSpPr>
          <p:cNvPr id="57" name="decorate_line_1"/>
          <p:cNvSpPr txBox="1"/>
          <p:nvPr/>
        </p:nvSpPr>
        <p:spPr>
          <a:xfrm>
            <a:off x="8119872" y="3666744"/>
            <a:ext cx="93268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shadow, effects</a:t>
            </a:r>
          </a:p>
        </p:txBody>
      </p:sp>
      <p:cxnSp>
        <p:nvCxnSpPr>
          <p:cNvPr id="58" name="arrow_ir_rule"/>
          <p:cNvCxnSpPr/>
          <p:nvPr/>
        </p:nvCxnSpPr>
        <p:spPr>
          <a:xfrm>
            <a:off x="6327648" y="1847088"/>
            <a:ext cx="256032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rule_arrow_1"/>
          <p:cNvCxnSpPr/>
          <p:nvPr/>
        </p:nvCxnSpPr>
        <p:spPr>
          <a:xfrm>
            <a:off x="7790688" y="2212848"/>
            <a:ext cx="128016" cy="0"/>
          </a:xfrm>
          <a:prstGeom prst="line">
            <a:avLst/>
          </a:prstGeom>
          <a:ln w="228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rule_arrow_2"/>
          <p:cNvCxnSpPr/>
          <p:nvPr/>
        </p:nvCxnSpPr>
        <p:spPr>
          <a:xfrm>
            <a:off x="8577072" y="2542032"/>
            <a:ext cx="0" cy="0"/>
          </a:xfrm>
          <a:prstGeom prst="line">
            <a:avLst/>
          </a:prstGeom>
          <a:ln w="2286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lint_pill"/>
          <p:cNvSpPr/>
          <p:nvPr/>
        </p:nvSpPr>
        <p:spPr>
          <a:xfrm>
            <a:off x="6656832" y="3895344"/>
            <a:ext cx="2340864" cy="237744"/>
          </a:xfrm>
          <a:prstGeom prst="roundRect">
            <a:avLst/>
          </a:prstGeom>
          <a:solidFill>
            <a:srgbClr val="DCFCE7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lint_text"/>
          <p:cNvSpPr txBox="1"/>
          <p:nvPr/>
        </p:nvSpPr>
        <p:spPr>
          <a:xfrm>
            <a:off x="7004304" y="3968496"/>
            <a:ext cx="164592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166534"/>
                </a:solidFill>
              </a:rPr>
              <a:t>Coherence lint: one visual language</a:t>
            </a:r>
          </a:p>
        </p:txBody>
      </p:sp>
      <p:sp>
        <p:nvSpPr>
          <p:cNvPr id="63" name="styled_ir_card"/>
          <p:cNvSpPr/>
          <p:nvPr/>
        </p:nvSpPr>
        <p:spPr>
          <a:xfrm>
            <a:off x="9857232" y="1682496"/>
            <a:ext cx="1499616" cy="8229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styled_ir_dot"/>
          <p:cNvSpPr/>
          <p:nvPr/>
        </p:nvSpPr>
        <p:spPr>
          <a:xfrm>
            <a:off x="10003536" y="1847088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styled_ir_title"/>
          <p:cNvSpPr txBox="1"/>
          <p:nvPr/>
        </p:nvSpPr>
        <p:spPr>
          <a:xfrm>
            <a:off x="10241280" y="1810512"/>
            <a:ext cx="9692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Styled Deck IR</a:t>
            </a:r>
          </a:p>
        </p:txBody>
      </p:sp>
      <p:sp>
        <p:nvSpPr>
          <p:cNvPr id="66" name="styled_ir_line_0"/>
          <p:cNvSpPr txBox="1"/>
          <p:nvPr/>
        </p:nvSpPr>
        <p:spPr>
          <a:xfrm>
            <a:off x="10058400" y="2157984"/>
            <a:ext cx="11155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renderer-neutral</a:t>
            </a:r>
          </a:p>
        </p:txBody>
      </p:sp>
      <p:sp>
        <p:nvSpPr>
          <p:cNvPr id="67" name="styled_ir_line_1"/>
          <p:cNvSpPr txBox="1"/>
          <p:nvPr/>
        </p:nvSpPr>
        <p:spPr>
          <a:xfrm>
            <a:off x="10058400" y="2350008"/>
            <a:ext cx="11155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visual contract</a:t>
            </a:r>
          </a:p>
        </p:txBody>
      </p:sp>
      <p:sp>
        <p:nvSpPr>
          <p:cNvPr id="68" name="renderers_card"/>
          <p:cNvSpPr/>
          <p:nvPr/>
        </p:nvSpPr>
        <p:spPr>
          <a:xfrm>
            <a:off x="9857232" y="2980944"/>
            <a:ext cx="1499616" cy="987552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nderers_dot"/>
          <p:cNvSpPr/>
          <p:nvPr/>
        </p:nvSpPr>
        <p:spPr>
          <a:xfrm>
            <a:off x="10003536" y="3145536"/>
            <a:ext cx="164592" cy="164592"/>
          </a:xfrm>
          <a:prstGeom prst="ellipse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nderers_title"/>
          <p:cNvSpPr txBox="1"/>
          <p:nvPr/>
        </p:nvSpPr>
        <p:spPr>
          <a:xfrm>
            <a:off x="10241280" y="3108960"/>
            <a:ext cx="9692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Renderers</a:t>
            </a:r>
          </a:p>
        </p:txBody>
      </p:sp>
      <p:sp>
        <p:nvSpPr>
          <p:cNvPr id="71" name="renderers_line_0"/>
          <p:cNvSpPr txBox="1"/>
          <p:nvPr/>
        </p:nvSpPr>
        <p:spPr>
          <a:xfrm>
            <a:off x="10058400" y="3456432"/>
            <a:ext cx="11155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editable PPTX</a:t>
            </a:r>
          </a:p>
        </p:txBody>
      </p:sp>
      <p:sp>
        <p:nvSpPr>
          <p:cNvPr id="72" name="renderers_line_1"/>
          <p:cNvSpPr txBox="1"/>
          <p:nvPr/>
        </p:nvSpPr>
        <p:spPr>
          <a:xfrm>
            <a:off x="10058400" y="3648456"/>
            <a:ext cx="11155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HTML and PDF</a:t>
            </a:r>
          </a:p>
        </p:txBody>
      </p:sp>
      <p:sp>
        <p:nvSpPr>
          <p:cNvPr id="73" name="renderers_line_2"/>
          <p:cNvSpPr txBox="1"/>
          <p:nvPr/>
        </p:nvSpPr>
        <p:spPr>
          <a:xfrm>
            <a:off x="10058400" y="3840480"/>
            <a:ext cx="111556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visual validation</a:t>
            </a:r>
          </a:p>
        </p:txBody>
      </p:sp>
      <p:cxnSp>
        <p:nvCxnSpPr>
          <p:cNvPr id="74" name="arrow_rule_output"/>
          <p:cNvCxnSpPr/>
          <p:nvPr/>
        </p:nvCxnSpPr>
        <p:spPr>
          <a:xfrm>
            <a:off x="9436608" y="2231136"/>
            <a:ext cx="384048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arrow_ir_renderers"/>
          <p:cNvCxnSpPr/>
          <p:nvPr/>
        </p:nvCxnSpPr>
        <p:spPr>
          <a:xfrm>
            <a:off x="10479024" y="2505456"/>
            <a:ext cx="0" cy="0"/>
          </a:xfrm>
          <a:prstGeom prst="line">
            <a:avLst/>
          </a:prstGeom>
          <a:ln w="2286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sponsibility"/>
          <p:cNvSpPr/>
          <p:nvPr/>
        </p:nvSpPr>
        <p:spPr>
          <a:xfrm>
            <a:off x="768096" y="4901184"/>
            <a:ext cx="10607040" cy="694944"/>
          </a:xfrm>
          <a:prstGeom prst="roundRect">
            <a:avLst/>
          </a:prstGeom>
          <a:solidFill>
            <a:srgbClr val="F8FAFC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sponsibility_title"/>
          <p:cNvSpPr txBox="1"/>
          <p:nvPr/>
        </p:nvSpPr>
        <p:spPr>
          <a:xfrm>
            <a:off x="1005840" y="510235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</a:rPr>
              <a:t>Responsibility split</a:t>
            </a:r>
          </a:p>
        </p:txBody>
      </p:sp>
      <p:sp>
        <p:nvSpPr>
          <p:cNvPr id="78" name="responsibility_body"/>
          <p:cNvSpPr txBox="1"/>
          <p:nvPr/>
        </p:nvSpPr>
        <p:spPr>
          <a:xfrm>
            <a:off x="2487168" y="5084064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526071"/>
                </a:solidFill>
              </a:rPr>
              <a:t>LLM: semantic hints only. Rules: selection, composition, decoration, coherence, readability. Renderers: editable objects and output verification.</a:t>
            </a:r>
          </a:p>
        </p:txBody>
      </p:sp>
      <p:sp>
        <p:nvSpPr>
          <p:cNvPr id="79" name="font_badge"/>
          <p:cNvSpPr/>
          <p:nvPr/>
        </p:nvSpPr>
        <p:spPr>
          <a:xfrm>
            <a:off x="9747504" y="5065776"/>
            <a:ext cx="1207008" cy="237744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ont_badge_text"/>
          <p:cNvSpPr txBox="1"/>
          <p:nvPr/>
        </p:nvSpPr>
        <p:spPr>
          <a:xfrm>
            <a:off x="9912096" y="5138928"/>
            <a:ext cx="896112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FFFFFF"/>
                </a:solidFill>
              </a:rPr>
              <a:t>font size &gt;= 8pt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