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629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ackground"/>
          <p:cNvSpPr/>
          <p:nvPr/>
        </p:nvSpPr>
        <p:spPr>
          <a:xfrm>
            <a:off x="0" y="0"/>
            <a:ext cx="12191695" cy="66294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z01_canvas"/>
          <p:cNvSpPr/>
          <p:nvPr/>
        </p:nvSpPr>
        <p:spPr>
          <a:xfrm>
            <a:off x="493776" y="914400"/>
            <a:ext cx="11192256" cy="5285232"/>
          </a:xfrm>
          <a:prstGeom prst="roundRect">
            <a:avLst/>
          </a:prstGeom>
          <a:solidFill>
            <a:srgbClr val="FFFFFF"/>
          </a:solidFill>
          <a:ln>
            <a:solidFill>
              <a:srgbClr val="DDE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itle"/>
          <p:cNvSpPr txBox="1"/>
          <p:nvPr/>
        </p:nvSpPr>
        <p:spPr>
          <a:xfrm>
            <a:off x="585216" y="310896"/>
            <a:ext cx="6126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0F172A"/>
                </a:solidFill>
              </a:rPr>
              <a:t>MDPR Design Components Pipeline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585216" y="640080"/>
            <a:ext cx="80924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</a:rPr>
              <a:t>Content is split by MDPR. LLM reasoning supplies hints. Deterministic rules own layout, styling, z-order, and editable rendering.</a:t>
            </a:r>
          </a:p>
        </p:txBody>
      </p:sp>
      <p:sp>
        <p:nvSpPr>
          <p:cNvPr id="6" name="zone_content_panel"/>
          <p:cNvSpPr/>
          <p:nvPr/>
        </p:nvSpPr>
        <p:spPr>
          <a:xfrm>
            <a:off x="749808" y="1115568"/>
            <a:ext cx="2331720" cy="3493008"/>
          </a:xfrm>
          <a:prstGeom prst="roundRect">
            <a:avLst/>
          </a:prstGeom>
          <a:solidFill>
            <a:srgbClr val="F8FAFC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zone_content_title"/>
          <p:cNvSpPr txBox="1"/>
          <p:nvPr/>
        </p:nvSpPr>
        <p:spPr>
          <a:xfrm>
            <a:off x="914400" y="1280160"/>
            <a:ext cx="200253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334155"/>
                </a:solidFill>
              </a:rPr>
              <a:t>1. Content Contract</a:t>
            </a:r>
          </a:p>
        </p:txBody>
      </p:sp>
      <p:sp>
        <p:nvSpPr>
          <p:cNvPr id="8" name="zone_content_subtitle"/>
          <p:cNvSpPr txBox="1"/>
          <p:nvPr/>
        </p:nvSpPr>
        <p:spPr>
          <a:xfrm>
            <a:off x="914400" y="1508760"/>
            <a:ext cx="200253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</a:rPr>
              <a:t>MDPR creates semantic structure only</a:t>
            </a:r>
          </a:p>
        </p:txBody>
      </p:sp>
      <p:sp>
        <p:nvSpPr>
          <p:cNvPr id="9" name="zone_reasoning_panel"/>
          <p:cNvSpPr/>
          <p:nvPr/>
        </p:nvSpPr>
        <p:spPr>
          <a:xfrm>
            <a:off x="3273552" y="1115568"/>
            <a:ext cx="2340864" cy="3493008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zone_reasoning_title"/>
          <p:cNvSpPr txBox="1"/>
          <p:nvPr/>
        </p:nvSpPr>
        <p:spPr>
          <a:xfrm>
            <a:off x="3438144" y="128016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D4ED8"/>
                </a:solidFill>
              </a:rPr>
              <a:t>2. LLM Reasoning</a:t>
            </a:r>
          </a:p>
        </p:txBody>
      </p:sp>
      <p:sp>
        <p:nvSpPr>
          <p:cNvPr id="11" name="zone_reasoning_subtitle"/>
          <p:cNvSpPr txBox="1"/>
          <p:nvPr/>
        </p:nvSpPr>
        <p:spPr>
          <a:xfrm>
            <a:off x="3438144" y="1508760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</a:rPr>
              <a:t>optional intent and grouping hints</a:t>
            </a:r>
          </a:p>
        </p:txBody>
      </p:sp>
      <p:sp>
        <p:nvSpPr>
          <p:cNvPr id="12" name="zone_rules_panel"/>
          <p:cNvSpPr/>
          <p:nvPr/>
        </p:nvSpPr>
        <p:spPr>
          <a:xfrm>
            <a:off x="5815584" y="1115568"/>
            <a:ext cx="3310128" cy="3493008"/>
          </a:xfrm>
          <a:prstGeom prst="roundRect">
            <a:avLst/>
          </a:prstGeom>
          <a:solidFill>
            <a:srgbClr val="EEF7F1"/>
          </a:solidFill>
          <a:ln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zone_rules_title"/>
          <p:cNvSpPr txBox="1"/>
          <p:nvPr/>
        </p:nvSpPr>
        <p:spPr>
          <a:xfrm>
            <a:off x="5980176" y="1280160"/>
            <a:ext cx="29809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5803D"/>
                </a:solidFill>
              </a:rPr>
              <a:t>3. Deterministic Design</a:t>
            </a:r>
          </a:p>
        </p:txBody>
      </p:sp>
      <p:sp>
        <p:nvSpPr>
          <p:cNvPr id="14" name="zone_rules_subtitle"/>
          <p:cNvSpPr txBox="1"/>
          <p:nvPr/>
        </p:nvSpPr>
        <p:spPr>
          <a:xfrm>
            <a:off x="5980176" y="1508760"/>
            <a:ext cx="298094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</a:rPr>
              <a:t>final visual choices happen here</a:t>
            </a:r>
          </a:p>
        </p:txBody>
      </p:sp>
      <p:sp>
        <p:nvSpPr>
          <p:cNvPr id="15" name="zone_outputs_panel"/>
          <p:cNvSpPr/>
          <p:nvPr/>
        </p:nvSpPr>
        <p:spPr>
          <a:xfrm>
            <a:off x="9326880" y="1115568"/>
            <a:ext cx="2048256" cy="3493008"/>
          </a:xfrm>
          <a:prstGeom prst="roundRect">
            <a:avLst/>
          </a:prstGeom>
          <a:solidFill>
            <a:srgbClr val="F8FAFC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zone_outputs_title"/>
          <p:cNvSpPr txBox="1"/>
          <p:nvPr/>
        </p:nvSpPr>
        <p:spPr>
          <a:xfrm>
            <a:off x="9491472" y="1280160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334155"/>
                </a:solidFill>
              </a:rPr>
              <a:t>4. Editable Outputs</a:t>
            </a:r>
          </a:p>
        </p:txBody>
      </p:sp>
      <p:sp>
        <p:nvSpPr>
          <p:cNvPr id="17" name="zone_outputs_subtitle"/>
          <p:cNvSpPr txBox="1"/>
          <p:nvPr/>
        </p:nvSpPr>
        <p:spPr>
          <a:xfrm>
            <a:off x="9491472" y="1508760"/>
            <a:ext cx="171907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</a:rPr>
              <a:t>PPTX, HTML, PDF, and checks</a:t>
            </a:r>
          </a:p>
        </p:txBody>
      </p:sp>
      <p:sp>
        <p:nvSpPr>
          <p:cNvPr id="18" name="start_flag"/>
          <p:cNvSpPr/>
          <p:nvPr/>
        </p:nvSpPr>
        <p:spPr>
          <a:xfrm>
            <a:off x="960120" y="1627632"/>
            <a:ext cx="676656" cy="237744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start_flag_text"/>
          <p:cNvSpPr txBox="1"/>
          <p:nvPr/>
        </p:nvSpPr>
        <p:spPr>
          <a:xfrm>
            <a:off x="1097280" y="1700784"/>
            <a:ext cx="402336" cy="91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20" name="markdown_card"/>
          <p:cNvSpPr/>
          <p:nvPr/>
        </p:nvSpPr>
        <p:spPr>
          <a:xfrm>
            <a:off x="932688" y="1975104"/>
            <a:ext cx="1810512" cy="841248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markdown_dot"/>
          <p:cNvSpPr/>
          <p:nvPr/>
        </p:nvSpPr>
        <p:spPr>
          <a:xfrm>
            <a:off x="1078992" y="2139696"/>
            <a:ext cx="164592" cy="164592"/>
          </a:xfrm>
          <a:prstGeom prst="ellipse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markdown_title"/>
          <p:cNvSpPr txBox="1"/>
          <p:nvPr/>
        </p:nvSpPr>
        <p:spPr>
          <a:xfrm>
            <a:off x="1316736" y="2093976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</a:rPr>
              <a:t>Markdown</a:t>
            </a:r>
          </a:p>
        </p:txBody>
      </p:sp>
      <p:sp>
        <p:nvSpPr>
          <p:cNvPr id="23" name="markdown_line_0"/>
          <p:cNvSpPr txBox="1"/>
          <p:nvPr/>
        </p:nvSpPr>
        <p:spPr>
          <a:xfrm>
            <a:off x="1133856" y="2377440"/>
            <a:ext cx="1426464" cy="1463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26071"/>
                </a:solidFill>
              </a:rPr>
              <a:t>text, tables, code</a:t>
            </a:r>
          </a:p>
        </p:txBody>
      </p:sp>
      <p:sp>
        <p:nvSpPr>
          <p:cNvPr id="24" name="markdown_line_1"/>
          <p:cNvSpPr txBox="1"/>
          <p:nvPr/>
        </p:nvSpPr>
        <p:spPr>
          <a:xfrm>
            <a:off x="1133856" y="2542032"/>
            <a:ext cx="1426464" cy="1463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26071"/>
                </a:solidFill>
              </a:rPr>
              <a:t>images and notes</a:t>
            </a:r>
          </a:p>
        </p:txBody>
      </p:sp>
      <p:sp>
        <p:nvSpPr>
          <p:cNvPr id="25" name="splitter_card"/>
          <p:cNvSpPr/>
          <p:nvPr/>
        </p:nvSpPr>
        <p:spPr>
          <a:xfrm>
            <a:off x="932688" y="3127248"/>
            <a:ext cx="1810512" cy="932688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splitter_dot"/>
          <p:cNvSpPr/>
          <p:nvPr/>
        </p:nvSpPr>
        <p:spPr>
          <a:xfrm>
            <a:off x="1078992" y="3291840"/>
            <a:ext cx="164592" cy="164592"/>
          </a:xfrm>
          <a:prstGeom prst="ellipse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splitter_title"/>
          <p:cNvSpPr txBox="1"/>
          <p:nvPr/>
        </p:nvSpPr>
        <p:spPr>
          <a:xfrm>
            <a:off x="1316736" y="3246120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</a:rPr>
              <a:t>MDPR Splitter</a:t>
            </a:r>
          </a:p>
        </p:txBody>
      </p:sp>
      <p:sp>
        <p:nvSpPr>
          <p:cNvPr id="28" name="splitter_line_0"/>
          <p:cNvSpPr txBox="1"/>
          <p:nvPr/>
        </p:nvSpPr>
        <p:spPr>
          <a:xfrm>
            <a:off x="1133856" y="3529584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26071"/>
                </a:solidFill>
              </a:rPr>
              <a:t>slide and object split</a:t>
            </a:r>
          </a:p>
        </p:txBody>
      </p:sp>
      <p:sp>
        <p:nvSpPr>
          <p:cNvPr id="29" name="splitter_line_1"/>
          <p:cNvSpPr txBox="1"/>
          <p:nvPr/>
        </p:nvSpPr>
        <p:spPr>
          <a:xfrm>
            <a:off x="1133856" y="3694176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26071"/>
                </a:solidFill>
              </a:rPr>
              <a:t>no visual choices</a:t>
            </a:r>
          </a:p>
        </p:txBody>
      </p:sp>
      <p:cxnSp>
        <p:nvCxnSpPr>
          <p:cNvPr id="30" name="main_start_markdown"/>
          <p:cNvCxnSpPr/>
          <p:nvPr/>
        </p:nvCxnSpPr>
        <p:spPr>
          <a:xfrm>
            <a:off x="1280160" y="1865376"/>
            <a:ext cx="0" cy="109728"/>
          </a:xfrm>
          <a:prstGeom prst="line">
            <a:avLst/>
          </a:prstGeom>
          <a:ln w="3048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main_markdown_splitter"/>
          <p:cNvCxnSpPr/>
          <p:nvPr/>
        </p:nvCxnSpPr>
        <p:spPr>
          <a:xfrm>
            <a:off x="1847088" y="2816352"/>
            <a:ext cx="0" cy="310896"/>
          </a:xfrm>
          <a:prstGeom prst="line">
            <a:avLst/>
          </a:prstGeom>
          <a:ln w="381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ir_core"/>
          <p:cNvSpPr/>
          <p:nvPr/>
        </p:nvSpPr>
        <p:spPr>
          <a:xfrm>
            <a:off x="3529584" y="1627632"/>
            <a:ext cx="1792224" cy="859536"/>
          </a:xfrm>
          <a:prstGeom prst="roundRect">
            <a:avLst/>
          </a:prstGeom>
          <a:solidFill>
            <a:srgbClr val="FFFF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ir_core_title"/>
          <p:cNvSpPr txBox="1"/>
          <p:nvPr/>
        </p:nvSpPr>
        <p:spPr>
          <a:xfrm>
            <a:off x="3730752" y="1810512"/>
            <a:ext cx="12252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</a:rPr>
              <a:t>Slide Element IR</a:t>
            </a:r>
          </a:p>
        </p:txBody>
      </p:sp>
      <p:sp>
        <p:nvSpPr>
          <p:cNvPr id="34" name="ir_core_body"/>
          <p:cNvSpPr txBox="1"/>
          <p:nvPr/>
        </p:nvSpPr>
        <p:spPr>
          <a:xfrm>
            <a:off x="3730752" y="2084831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26071"/>
                </a:solidFill>
              </a:rPr>
              <a:t>content-only object contract</a:t>
            </a:r>
          </a:p>
        </p:txBody>
      </p:sp>
      <p:sp>
        <p:nvSpPr>
          <p:cNvPr id="35" name="reasoning_card"/>
          <p:cNvSpPr/>
          <p:nvPr/>
        </p:nvSpPr>
        <p:spPr>
          <a:xfrm>
            <a:off x="3511296" y="2743200"/>
            <a:ext cx="1828800" cy="1298448"/>
          </a:xfrm>
          <a:prstGeom prst="roundRect">
            <a:avLst/>
          </a:prstGeom>
          <a:solidFill>
            <a:srgbClr val="FFFF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asoning_title"/>
          <p:cNvSpPr txBox="1"/>
          <p:nvPr/>
        </p:nvSpPr>
        <p:spPr>
          <a:xfrm>
            <a:off x="3712463" y="2907792"/>
            <a:ext cx="129844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</a:rPr>
              <a:t>Reasoning Result</a:t>
            </a:r>
          </a:p>
        </p:txBody>
      </p:sp>
      <p:sp>
        <p:nvSpPr>
          <p:cNvPr id="37" name="reasoning_body"/>
          <p:cNvSpPr txBox="1"/>
          <p:nvPr/>
        </p:nvSpPr>
        <p:spPr>
          <a:xfrm>
            <a:off x="3712463" y="3218688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26071"/>
                </a:solidFill>
              </a:rPr>
              <a:t>intent, grouping, importance</a:t>
            </a:r>
          </a:p>
        </p:txBody>
      </p:sp>
      <p:sp>
        <p:nvSpPr>
          <p:cNvPr id="38" name="reasoning_badge"/>
          <p:cNvSpPr/>
          <p:nvPr/>
        </p:nvSpPr>
        <p:spPr>
          <a:xfrm>
            <a:off x="3712463" y="3547872"/>
            <a:ext cx="1353312" cy="219456"/>
          </a:xfrm>
          <a:prstGeom prst="roundRect">
            <a:avLst/>
          </a:prstGeom>
          <a:solidFill>
            <a:srgbClr val="DBEAFE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asoning_badge_text"/>
          <p:cNvSpPr txBox="1"/>
          <p:nvPr/>
        </p:nvSpPr>
        <p:spPr>
          <a:xfrm>
            <a:off x="3877056" y="3621024"/>
            <a:ext cx="987552" cy="91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1D4ED8"/>
                </a:solidFill>
              </a:rPr>
              <a:t>hints only</a:t>
            </a:r>
          </a:p>
        </p:txBody>
      </p:sp>
      <p:sp>
        <p:nvSpPr>
          <p:cNvPr id="40" name="reasoning_guardrail"/>
          <p:cNvSpPr txBox="1"/>
          <p:nvPr/>
        </p:nvSpPr>
        <p:spPr>
          <a:xfrm>
            <a:off x="3712463" y="384048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4748B"/>
                </a:solidFill>
              </a:rPr>
              <a:t>no coordinates or styles</a:t>
            </a:r>
          </a:p>
        </p:txBody>
      </p:sp>
      <p:cxnSp>
        <p:nvCxnSpPr>
          <p:cNvPr id="41" name="main_splitter_ir"/>
          <p:cNvCxnSpPr/>
          <p:nvPr/>
        </p:nvCxnSpPr>
        <p:spPr>
          <a:xfrm flipV="1">
            <a:off x="2743200" y="2066543"/>
            <a:ext cx="786384" cy="1517905"/>
          </a:xfrm>
          <a:prstGeom prst="line">
            <a:avLst/>
          </a:prstGeom>
          <a:ln w="431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hint_ir_reasoning"/>
          <p:cNvCxnSpPr/>
          <p:nvPr/>
        </p:nvCxnSpPr>
        <p:spPr>
          <a:xfrm>
            <a:off x="4443984" y="2487168"/>
            <a:ext cx="0" cy="256032"/>
          </a:xfrm>
          <a:prstGeom prst="line">
            <a:avLst/>
          </a:prstGeom>
          <a:ln w="254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ule_engine"/>
          <p:cNvSpPr/>
          <p:nvPr/>
        </p:nvSpPr>
        <p:spPr>
          <a:xfrm>
            <a:off x="6089904" y="1609344"/>
            <a:ext cx="2670048" cy="676656"/>
          </a:xfrm>
          <a:prstGeom prst="roundRect">
            <a:avLst/>
          </a:prstGeom>
          <a:solidFill>
            <a:srgbClr val="DCFCE7"/>
          </a:solidFill>
          <a:ln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ule_engine_title"/>
          <p:cNvSpPr txBox="1"/>
          <p:nvPr/>
        </p:nvSpPr>
        <p:spPr>
          <a:xfrm>
            <a:off x="6309360" y="1773936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4532D"/>
                </a:solidFill>
              </a:rPr>
              <a:t>Rule Engine Boundary</a:t>
            </a:r>
          </a:p>
        </p:txBody>
      </p:sp>
      <p:sp>
        <p:nvSpPr>
          <p:cNvPr id="45" name="rule_engine_body"/>
          <p:cNvSpPr txBox="1"/>
          <p:nvPr/>
        </p:nvSpPr>
        <p:spPr>
          <a:xfrm>
            <a:off x="6309360" y="2057400"/>
            <a:ext cx="2029968" cy="109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166534"/>
                </a:solidFill>
              </a:rPr>
              <a:t>recipes, variants, coordinates, z-order</a:t>
            </a:r>
          </a:p>
        </p:txBody>
      </p:sp>
      <p:sp>
        <p:nvSpPr>
          <p:cNvPr id="46" name="features_card"/>
          <p:cNvSpPr/>
          <p:nvPr/>
        </p:nvSpPr>
        <p:spPr>
          <a:xfrm>
            <a:off x="6089904" y="2596896"/>
            <a:ext cx="1243584" cy="713232"/>
          </a:xfrm>
          <a:prstGeom prst="roundRect">
            <a:avLst/>
          </a:prstGeom>
          <a:solidFill>
            <a:srgbClr val="F8FAFC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eatures_dot"/>
          <p:cNvSpPr/>
          <p:nvPr/>
        </p:nvSpPr>
        <p:spPr>
          <a:xfrm>
            <a:off x="6236208" y="2761488"/>
            <a:ext cx="164592" cy="164592"/>
          </a:xfrm>
          <a:prstGeom prst="ellipse">
            <a:avLst/>
          </a:prstGeom>
          <a:solidFill>
            <a:srgbClr val="86EFAC"/>
          </a:solidFill>
          <a:ln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eatures_title"/>
          <p:cNvSpPr txBox="1"/>
          <p:nvPr/>
        </p:nvSpPr>
        <p:spPr>
          <a:xfrm>
            <a:off x="6473952" y="2715768"/>
            <a:ext cx="7132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</a:rPr>
              <a:t>Features</a:t>
            </a:r>
          </a:p>
        </p:txBody>
      </p:sp>
      <p:sp>
        <p:nvSpPr>
          <p:cNvPr id="49" name="features_line_0"/>
          <p:cNvSpPr txBox="1"/>
          <p:nvPr/>
        </p:nvSpPr>
        <p:spPr>
          <a:xfrm>
            <a:off x="6291072" y="2999232"/>
            <a:ext cx="859536" cy="109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26071"/>
                </a:solidFill>
              </a:rPr>
              <a:t>density, mix</a:t>
            </a:r>
          </a:p>
        </p:txBody>
      </p:sp>
      <p:sp>
        <p:nvSpPr>
          <p:cNvPr id="50" name="features_line_1"/>
          <p:cNvSpPr txBox="1"/>
          <p:nvPr/>
        </p:nvSpPr>
        <p:spPr>
          <a:xfrm>
            <a:off x="6291072" y="3108960"/>
            <a:ext cx="859536" cy="109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26071"/>
                </a:solidFill>
              </a:rPr>
              <a:t>size risk</a:t>
            </a:r>
          </a:p>
        </p:txBody>
      </p:sp>
      <p:sp>
        <p:nvSpPr>
          <p:cNvPr id="51" name="recipes_card"/>
          <p:cNvSpPr/>
          <p:nvPr/>
        </p:nvSpPr>
        <p:spPr>
          <a:xfrm>
            <a:off x="7571231" y="2596896"/>
            <a:ext cx="1243584" cy="713232"/>
          </a:xfrm>
          <a:prstGeom prst="roundRect">
            <a:avLst/>
          </a:prstGeom>
          <a:solidFill>
            <a:srgbClr val="F8FAFC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ipes_dot"/>
          <p:cNvSpPr/>
          <p:nvPr/>
        </p:nvSpPr>
        <p:spPr>
          <a:xfrm>
            <a:off x="7717536" y="2761488"/>
            <a:ext cx="164592" cy="164592"/>
          </a:xfrm>
          <a:prstGeom prst="ellipse">
            <a:avLst/>
          </a:prstGeom>
          <a:solidFill>
            <a:srgbClr val="86EFAC"/>
          </a:solidFill>
          <a:ln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ipes_title"/>
          <p:cNvSpPr txBox="1"/>
          <p:nvPr/>
        </p:nvSpPr>
        <p:spPr>
          <a:xfrm>
            <a:off x="7955279" y="2715768"/>
            <a:ext cx="7132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</a:rPr>
              <a:t>Recipes</a:t>
            </a:r>
          </a:p>
        </p:txBody>
      </p:sp>
      <p:sp>
        <p:nvSpPr>
          <p:cNvPr id="54" name="recipes_line_0"/>
          <p:cNvSpPr txBox="1"/>
          <p:nvPr/>
        </p:nvSpPr>
        <p:spPr>
          <a:xfrm>
            <a:off x="7772400" y="2999232"/>
            <a:ext cx="859536" cy="109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26071"/>
                </a:solidFill>
              </a:rPr>
              <a:t>profile match</a:t>
            </a:r>
          </a:p>
        </p:txBody>
      </p:sp>
      <p:sp>
        <p:nvSpPr>
          <p:cNvPr id="55" name="recipes_line_1"/>
          <p:cNvSpPr txBox="1"/>
          <p:nvPr/>
        </p:nvSpPr>
        <p:spPr>
          <a:xfrm>
            <a:off x="7772400" y="3108960"/>
            <a:ext cx="859536" cy="109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26071"/>
                </a:solidFill>
              </a:rPr>
              <a:t>component variant</a:t>
            </a:r>
          </a:p>
        </p:txBody>
      </p:sp>
      <p:sp>
        <p:nvSpPr>
          <p:cNvPr id="56" name="compose_card"/>
          <p:cNvSpPr/>
          <p:nvPr/>
        </p:nvSpPr>
        <p:spPr>
          <a:xfrm>
            <a:off x="6089904" y="3566160"/>
            <a:ext cx="1243584" cy="713232"/>
          </a:xfrm>
          <a:prstGeom prst="roundRect">
            <a:avLst/>
          </a:prstGeom>
          <a:solidFill>
            <a:srgbClr val="F8FAFC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compose_dot"/>
          <p:cNvSpPr/>
          <p:nvPr/>
        </p:nvSpPr>
        <p:spPr>
          <a:xfrm>
            <a:off x="6236208" y="3730752"/>
            <a:ext cx="164592" cy="164592"/>
          </a:xfrm>
          <a:prstGeom prst="ellipse">
            <a:avLst/>
          </a:prstGeom>
          <a:solidFill>
            <a:srgbClr val="86EFAC"/>
          </a:solidFill>
          <a:ln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compose_title"/>
          <p:cNvSpPr txBox="1"/>
          <p:nvPr/>
        </p:nvSpPr>
        <p:spPr>
          <a:xfrm>
            <a:off x="6473952" y="3685032"/>
            <a:ext cx="7132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</a:rPr>
              <a:t>Compose</a:t>
            </a:r>
          </a:p>
        </p:txBody>
      </p:sp>
      <p:sp>
        <p:nvSpPr>
          <p:cNvPr id="59" name="compose_line_0"/>
          <p:cNvSpPr txBox="1"/>
          <p:nvPr/>
        </p:nvSpPr>
        <p:spPr>
          <a:xfrm>
            <a:off x="6291072" y="3968496"/>
            <a:ext cx="859536" cy="109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26071"/>
                </a:solidFill>
              </a:rPr>
              <a:t>regions, fit</a:t>
            </a:r>
          </a:p>
        </p:txBody>
      </p:sp>
      <p:sp>
        <p:nvSpPr>
          <p:cNvPr id="60" name="compose_line_1"/>
          <p:cNvSpPr txBox="1"/>
          <p:nvPr/>
        </p:nvSpPr>
        <p:spPr>
          <a:xfrm>
            <a:off x="6291072" y="4078224"/>
            <a:ext cx="859536" cy="109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26071"/>
                </a:solidFill>
              </a:rPr>
              <a:t>overflow policy</a:t>
            </a:r>
          </a:p>
        </p:txBody>
      </p:sp>
      <p:sp>
        <p:nvSpPr>
          <p:cNvPr id="61" name="decorate_card"/>
          <p:cNvSpPr/>
          <p:nvPr/>
        </p:nvSpPr>
        <p:spPr>
          <a:xfrm>
            <a:off x="7571231" y="3566160"/>
            <a:ext cx="1243584" cy="713232"/>
          </a:xfrm>
          <a:prstGeom prst="roundRect">
            <a:avLst/>
          </a:prstGeom>
          <a:solidFill>
            <a:srgbClr val="F8FAFC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decorate_dot"/>
          <p:cNvSpPr/>
          <p:nvPr/>
        </p:nvSpPr>
        <p:spPr>
          <a:xfrm>
            <a:off x="7717536" y="3730752"/>
            <a:ext cx="164592" cy="164592"/>
          </a:xfrm>
          <a:prstGeom prst="ellipse">
            <a:avLst/>
          </a:prstGeom>
          <a:solidFill>
            <a:srgbClr val="86EFAC"/>
          </a:solidFill>
          <a:ln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decorate_title"/>
          <p:cNvSpPr txBox="1"/>
          <p:nvPr/>
        </p:nvSpPr>
        <p:spPr>
          <a:xfrm>
            <a:off x="7955279" y="3685032"/>
            <a:ext cx="7132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</a:rPr>
              <a:t>Decorate</a:t>
            </a:r>
          </a:p>
        </p:txBody>
      </p:sp>
      <p:sp>
        <p:nvSpPr>
          <p:cNvPr id="64" name="decorate_line_0"/>
          <p:cNvSpPr txBox="1"/>
          <p:nvPr/>
        </p:nvSpPr>
        <p:spPr>
          <a:xfrm>
            <a:off x="7772400" y="3968496"/>
            <a:ext cx="859536" cy="109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26071"/>
                </a:solidFill>
              </a:rPr>
              <a:t>type, radius</a:t>
            </a:r>
          </a:p>
        </p:txBody>
      </p:sp>
      <p:sp>
        <p:nvSpPr>
          <p:cNvPr id="65" name="decorate_line_1"/>
          <p:cNvSpPr txBox="1"/>
          <p:nvPr/>
        </p:nvSpPr>
        <p:spPr>
          <a:xfrm>
            <a:off x="7772400" y="4078224"/>
            <a:ext cx="859536" cy="109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26071"/>
                </a:solidFill>
              </a:rPr>
              <a:t>shadow, effects</a:t>
            </a:r>
          </a:p>
        </p:txBody>
      </p:sp>
      <p:cxnSp>
        <p:nvCxnSpPr>
          <p:cNvPr id="66" name="main_ir_rules"/>
          <p:cNvCxnSpPr/>
          <p:nvPr/>
        </p:nvCxnSpPr>
        <p:spPr>
          <a:xfrm>
            <a:off x="5321808" y="1993392"/>
            <a:ext cx="768096" cy="0"/>
          </a:xfrm>
          <a:prstGeom prst="line">
            <a:avLst/>
          </a:prstGeom>
          <a:ln w="5334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hint_reasoning_rules"/>
          <p:cNvCxnSpPr/>
          <p:nvPr/>
        </p:nvCxnSpPr>
        <p:spPr>
          <a:xfrm flipV="1">
            <a:off x="5340096" y="2962656"/>
            <a:ext cx="749808" cy="384048"/>
          </a:xfrm>
          <a:prstGeom prst="line">
            <a:avLst/>
          </a:prstGeom>
          <a:ln w="2794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rule_features_recipes"/>
          <p:cNvCxnSpPr/>
          <p:nvPr/>
        </p:nvCxnSpPr>
        <p:spPr>
          <a:xfrm>
            <a:off x="7333488" y="2953512"/>
            <a:ext cx="237743" cy="0"/>
          </a:xfrm>
          <a:prstGeom prst="line">
            <a:avLst/>
          </a:prstGeom>
          <a:ln w="2159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rule_features_compose"/>
          <p:cNvCxnSpPr/>
          <p:nvPr/>
        </p:nvCxnSpPr>
        <p:spPr>
          <a:xfrm>
            <a:off x="6711696" y="3310128"/>
            <a:ext cx="0" cy="256032"/>
          </a:xfrm>
          <a:prstGeom prst="line">
            <a:avLst/>
          </a:prstGeom>
          <a:ln w="1778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rule_recipes_decorate"/>
          <p:cNvCxnSpPr/>
          <p:nvPr/>
        </p:nvCxnSpPr>
        <p:spPr>
          <a:xfrm>
            <a:off x="8193024" y="3310128"/>
            <a:ext cx="0" cy="256032"/>
          </a:xfrm>
          <a:prstGeom prst="line">
            <a:avLst/>
          </a:prstGeom>
          <a:ln w="1778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rule_compose_decorate"/>
          <p:cNvCxnSpPr/>
          <p:nvPr/>
        </p:nvCxnSpPr>
        <p:spPr>
          <a:xfrm>
            <a:off x="7333488" y="3922776"/>
            <a:ext cx="237743" cy="0"/>
          </a:xfrm>
          <a:prstGeom prst="line">
            <a:avLst/>
          </a:prstGeom>
          <a:ln w="2159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styled_ir_card"/>
          <p:cNvSpPr/>
          <p:nvPr/>
        </p:nvSpPr>
        <p:spPr>
          <a:xfrm>
            <a:off x="9528048" y="1664208"/>
            <a:ext cx="1517904" cy="841248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styled_ir_dot"/>
          <p:cNvSpPr/>
          <p:nvPr/>
        </p:nvSpPr>
        <p:spPr>
          <a:xfrm>
            <a:off x="9674352" y="1828800"/>
            <a:ext cx="164592" cy="164592"/>
          </a:xfrm>
          <a:prstGeom prst="ellipse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styled_ir_title"/>
          <p:cNvSpPr txBox="1"/>
          <p:nvPr/>
        </p:nvSpPr>
        <p:spPr>
          <a:xfrm>
            <a:off x="9912096" y="1783080"/>
            <a:ext cx="98755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</a:rPr>
              <a:t>Styled Deck IR</a:t>
            </a:r>
          </a:p>
        </p:txBody>
      </p:sp>
      <p:sp>
        <p:nvSpPr>
          <p:cNvPr id="75" name="styled_ir_line_0"/>
          <p:cNvSpPr txBox="1"/>
          <p:nvPr/>
        </p:nvSpPr>
        <p:spPr>
          <a:xfrm>
            <a:off x="9729216" y="2066544"/>
            <a:ext cx="1133856" cy="1463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26071"/>
                </a:solidFill>
              </a:rPr>
              <a:t>renderer-neutral</a:t>
            </a:r>
          </a:p>
        </p:txBody>
      </p:sp>
      <p:sp>
        <p:nvSpPr>
          <p:cNvPr id="76" name="styled_ir_line_1"/>
          <p:cNvSpPr txBox="1"/>
          <p:nvPr/>
        </p:nvSpPr>
        <p:spPr>
          <a:xfrm>
            <a:off x="9729216" y="2231136"/>
            <a:ext cx="1133856" cy="1463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26071"/>
                </a:solidFill>
              </a:rPr>
              <a:t>visual contract</a:t>
            </a:r>
          </a:p>
        </p:txBody>
      </p:sp>
      <p:sp>
        <p:nvSpPr>
          <p:cNvPr id="77" name="renderers_card"/>
          <p:cNvSpPr/>
          <p:nvPr/>
        </p:nvSpPr>
        <p:spPr>
          <a:xfrm>
            <a:off x="9528048" y="2816352"/>
            <a:ext cx="1517904" cy="85953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nderers_dot"/>
          <p:cNvSpPr/>
          <p:nvPr/>
        </p:nvSpPr>
        <p:spPr>
          <a:xfrm>
            <a:off x="9674352" y="2980944"/>
            <a:ext cx="164592" cy="164592"/>
          </a:xfrm>
          <a:prstGeom prst="ellipse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nderers_title"/>
          <p:cNvSpPr txBox="1"/>
          <p:nvPr/>
        </p:nvSpPr>
        <p:spPr>
          <a:xfrm>
            <a:off x="9912096" y="2935224"/>
            <a:ext cx="98755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</a:rPr>
              <a:t>Renderers</a:t>
            </a:r>
          </a:p>
        </p:txBody>
      </p:sp>
      <p:sp>
        <p:nvSpPr>
          <p:cNvPr id="80" name="renderers_line_0"/>
          <p:cNvSpPr txBox="1"/>
          <p:nvPr/>
        </p:nvSpPr>
        <p:spPr>
          <a:xfrm>
            <a:off x="9729216" y="321868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26071"/>
                </a:solidFill>
              </a:rPr>
              <a:t>editable PPTX</a:t>
            </a:r>
          </a:p>
        </p:txBody>
      </p:sp>
      <p:sp>
        <p:nvSpPr>
          <p:cNvPr id="81" name="renderers_line_1"/>
          <p:cNvSpPr txBox="1"/>
          <p:nvPr/>
        </p:nvSpPr>
        <p:spPr>
          <a:xfrm>
            <a:off x="9729216" y="3383280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26071"/>
                </a:solidFill>
              </a:rPr>
              <a:t>HTML and PDF</a:t>
            </a:r>
          </a:p>
        </p:txBody>
      </p:sp>
      <p:sp>
        <p:nvSpPr>
          <p:cNvPr id="82" name="visual_check"/>
          <p:cNvSpPr/>
          <p:nvPr/>
        </p:nvSpPr>
        <p:spPr>
          <a:xfrm>
            <a:off x="9528048" y="3968496"/>
            <a:ext cx="1517904" cy="384048"/>
          </a:xfrm>
          <a:prstGeom prst="roundRect">
            <a:avLst/>
          </a:prstGeom>
          <a:solidFill>
            <a:srgbClr val="FEF3C7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visual_check_title"/>
          <p:cNvSpPr txBox="1"/>
          <p:nvPr/>
        </p:nvSpPr>
        <p:spPr>
          <a:xfrm>
            <a:off x="9710928" y="4105656"/>
            <a:ext cx="1078992" cy="109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92400E"/>
                </a:solidFill>
              </a:rPr>
              <a:t>visual validation</a:t>
            </a:r>
          </a:p>
        </p:txBody>
      </p:sp>
      <p:cxnSp>
        <p:nvCxnSpPr>
          <p:cNvPr id="84" name="main_rules_styled_ir"/>
          <p:cNvCxnSpPr/>
          <p:nvPr/>
        </p:nvCxnSpPr>
        <p:spPr>
          <a:xfrm>
            <a:off x="8759952" y="1993392"/>
            <a:ext cx="768096" cy="0"/>
          </a:xfrm>
          <a:prstGeom prst="line">
            <a:avLst/>
          </a:prstGeom>
          <a:ln w="5334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main_styled_renderers"/>
          <p:cNvCxnSpPr/>
          <p:nvPr/>
        </p:nvCxnSpPr>
        <p:spPr>
          <a:xfrm>
            <a:off x="10287000" y="2505456"/>
            <a:ext cx="0" cy="310896"/>
          </a:xfrm>
          <a:prstGeom prst="line">
            <a:avLst/>
          </a:prstGeom>
          <a:ln w="304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validation_loop"/>
          <p:cNvCxnSpPr/>
          <p:nvPr/>
        </p:nvCxnSpPr>
        <p:spPr>
          <a:xfrm>
            <a:off x="10287000" y="3675887"/>
            <a:ext cx="0" cy="292609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coherence_band"/>
          <p:cNvSpPr/>
          <p:nvPr/>
        </p:nvSpPr>
        <p:spPr>
          <a:xfrm>
            <a:off x="804672" y="5084064"/>
            <a:ext cx="10552176" cy="694944"/>
          </a:xfrm>
          <a:prstGeom prst="roundRect">
            <a:avLst/>
          </a:prstGeom>
          <a:solidFill>
            <a:srgbClr val="F8FAFC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coherence_title"/>
          <p:cNvSpPr txBox="1"/>
          <p:nvPr/>
        </p:nvSpPr>
        <p:spPr>
          <a:xfrm>
            <a:off x="1042415" y="5285232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</a:rPr>
              <a:t>Coherence checks</a:t>
            </a:r>
          </a:p>
        </p:txBody>
      </p:sp>
      <p:sp>
        <p:nvSpPr>
          <p:cNvPr id="89" name="coherence_body"/>
          <p:cNvSpPr txBox="1"/>
          <p:nvPr/>
        </p:nvSpPr>
        <p:spPr>
          <a:xfrm>
            <a:off x="2633472" y="5285232"/>
            <a:ext cx="6309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26071"/>
                </a:solidFill>
              </a:rPr>
              <a:t>One visual language across mixed objects: hierarchy-scaled type, bounded text, consistent spacing, aligned starts, and readable minimum sizes.</a:t>
            </a:r>
          </a:p>
        </p:txBody>
      </p:sp>
      <p:sp>
        <p:nvSpPr>
          <p:cNvPr id="90" name="font_badge"/>
          <p:cNvSpPr/>
          <p:nvPr/>
        </p:nvSpPr>
        <p:spPr>
          <a:xfrm>
            <a:off x="9582912" y="5266944"/>
            <a:ext cx="1298448" cy="256032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ont_badge_text"/>
          <p:cNvSpPr txBox="1"/>
          <p:nvPr/>
        </p:nvSpPr>
        <p:spPr>
          <a:xfrm>
            <a:off x="9747504" y="5349240"/>
            <a:ext cx="987552" cy="91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font scale by role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