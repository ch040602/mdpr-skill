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4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5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Corpus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Sources</c:v>
                  </c:pt>
                  <c:pt idx="1">
                    <c:v>Headings</c:v>
                  </c:pt>
                  <c:pt idx="2">
                    <c:v>Tables</c:v>
                  </c:pt>
                  <c:pt idx="3">
                    <c:v>Code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96</c:v>
                </c:pt>
                <c:pt idx="2">
                  <c:v>18</c:v>
                </c:pt>
                <c:pt idx="3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Useful</c:v>
                </c:pt>
              </c:strCache>
            </c:strRef>
          </c:tx>
          <c:spPr>
            <a:solidFill>
              <a:srgbClr val="9E0F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Sources</c:v>
                  </c:pt>
                  <c:pt idx="1">
                    <c:v>Headings</c:v>
                  </c:pt>
                  <c:pt idx="2">
                    <c:v>Tables</c:v>
                  </c:pt>
                  <c:pt idx="3">
                    <c:v>Code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72</c:v>
                </c:pt>
                <c:pt idx="2">
                  <c:v>12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1E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Headings</c:v>
                  </c:pt>
                  <c:pt idx="1">
                    <c:v>Tables</c:v>
                  </c:pt>
                  <c:pt idx="2">
                    <c:v>Code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1E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Headings</c:v>
                  </c:pt>
                  <c:pt idx="1">
                    <c:v>Tables</c:v>
                  </c:pt>
                  <c:pt idx="2">
                    <c:v>Code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0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1E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Headings</c:v>
                  </c:pt>
                  <c:pt idx="1">
                    <c:v>Tables</c:v>
                  </c:pt>
                  <c:pt idx="2">
                    <c:v>Code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1E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Headings</c:v>
                  </c:pt>
                  <c:pt idx="1">
                    <c:v>Tables</c:v>
                  </c:pt>
                  <c:pt idx="2">
                    <c:v>Code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1E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4.xml"/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5.xml"/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mdpr:external-markdown-visual-evaluation-93e81d:title:__title:external-markdown-visual-evaluation-93e81d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External Markdown Visual Evaluation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C1EFDB">
              <a:alpha val="9000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0" name="mdpr:1-3-f84387:title:__title:1-3-f84387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1" name="mdpr:1-3-f84387:toc-item-1:toc-item-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Runtime Boundary</a:t>
            </a:r>
            <a:endParaRPr lang="en-US" sz="1800" dirty="0"/>
          </a:p>
        </p:txBody>
      </p:sp>
      <p:sp>
        <p:nvSpPr>
          <p:cNvPr id="22" name="mdpr:1-3-f84387:toc-item-2:toc-item-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Unified Pipeline</a:t>
            </a:r>
            <a:endParaRPr lang="en-US" sz="1800" dirty="0"/>
          </a:p>
        </p:txBody>
      </p:sp>
      <p:sp>
        <p:nvSpPr>
          <p:cNvPr id="23" name="mdpr:1-3-f84387:toc-item-3:toc-item-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Teaser Rubric</a:t>
            </a:r>
            <a:endParaRPr lang="en-US" sz="1800" dirty="0"/>
          </a:p>
        </p:txBody>
      </p:sp>
      <p:sp>
        <p:nvSpPr>
          <p:cNvPr id="24" name="mdpr:1-3-f84387:toc-item-4:toc-item-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Iteration Plan</a:t>
            </a:r>
            <a:endParaRPr lang="en-US" sz="1800" dirty="0"/>
          </a:p>
        </p:txBody>
      </p:sp>
      <p:sp>
        <p:nvSpPr>
          <p:cNvPr id="25" name="mdpr:1-3-f84387:toc-item-5:toc-item-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Feedback Applied</a:t>
            </a:r>
            <a:endParaRPr lang="en-US" sz="1800" dirty="0"/>
          </a:p>
        </p:txBody>
      </p:sp>
      <p:sp>
        <p:nvSpPr>
          <p:cNvPr id="26" name="mdpr:1-3-f84387:toc-item-6:toc-item-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Evidence Mix</a:t>
            </a:r>
            <a:endParaRPr lang="en-US" sz="1800" dirty="0"/>
          </a:p>
        </p:txBody>
      </p:sp>
      <p:sp>
        <p:nvSpPr>
          <p:cNvPr id="27" name="mdpr:1-3-f84387:toc-item-7:toc-item-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Project Pipeline Source</a:t>
            </a:r>
            <a:endParaRPr lang="en-US" sz="1800" dirty="0"/>
          </a:p>
        </p:txBody>
      </p:sp>
      <p:sp>
        <p:nvSpPr>
          <p:cNvPr id="28" name="mdpr:1-3-f84387:toc-item-8:toc-item-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Local Pipeline Notes</a:t>
            </a:r>
            <a:endParaRPr lang="en-US" sz="1800" dirty="0"/>
          </a:p>
        </p:txBody>
      </p:sp>
      <p:sp>
        <p:nvSpPr>
          <p:cNvPr id="29" name="mdpr:1-3-f84387:toc-item-9:toc-item-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01. React</a:t>
            </a:r>
            <a:endParaRPr lang="en-US" sz="1800" dirty="0"/>
          </a:p>
        </p:txBody>
      </p:sp>
      <p:sp>
        <p:nvSpPr>
          <p:cNvPr id="30" name="mdpr:1-3-f84387:toc-item-10:toc-item-1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02. Vite</a:t>
            </a:r>
            <a:endParaRPr lang="en-US" sz="1800" dirty="0"/>
          </a:p>
        </p:txBody>
      </p:sp>
      <p:sp>
        <p:nvSpPr>
          <p:cNvPr id="31" name="mdpr:1-3-f84387:toc-item-11:toc-item-1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03. Vue</a:t>
            </a:r>
            <a:endParaRPr lang="en-US" sz="1800" dirty="0"/>
          </a:p>
        </p:txBody>
      </p:sp>
      <p:sp>
        <p:nvSpPr>
          <p:cNvPr id="32" name="mdpr:1-3-f84387:toc-item-12:toc-item-1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04. Svelte</a:t>
            </a:r>
            <a:endParaRPr lang="en-US" sz="1800" dirty="0"/>
          </a:p>
        </p:txBody>
      </p:sp>
      <p:sp>
        <p:nvSpPr>
          <p:cNvPr id="33" name="mdpr:1-3-f84387:toc-item-13:toc-item-1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05. TypeScript</a:t>
            </a:r>
            <a:endParaRPr lang="en-US" sz="1800" dirty="0"/>
          </a:p>
        </p:txBody>
      </p:sp>
      <p:sp>
        <p:nvSpPr>
          <p:cNvPr id="34" name="mdpr:1-3-f84387:toc-item-14:toc-item-1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06. Node.js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C1EFDB">
              <a:alpha val="9000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0" name="mdpr:2-3-29a5f5:title:__title:2-3-29a5f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2/3)</a:t>
            </a:r>
            <a:endParaRPr lang="en-US" sz="3800" dirty="0"/>
          </a:p>
        </p:txBody>
      </p:sp>
      <p:sp>
        <p:nvSpPr>
          <p:cNvPr id="21" name="mdpr:2-3-29a5f5:toc-item-1:toc-item-15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07. Express</a:t>
            </a:r>
            <a:endParaRPr lang="en-US" sz="1800" dirty="0"/>
          </a:p>
        </p:txBody>
      </p:sp>
      <p:sp>
        <p:nvSpPr>
          <p:cNvPr id="22" name="mdpr:2-3-29a5f5:toc-item-2:toc-item-16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08. FastAPI</a:t>
            </a:r>
            <a:endParaRPr lang="en-US" sz="1800" dirty="0"/>
          </a:p>
        </p:txBody>
      </p:sp>
      <p:sp>
        <p:nvSpPr>
          <p:cNvPr id="23" name="mdpr:2-3-29a5f5:toc-item-3:toc-item-17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09. OpenAI Python API library</a:t>
            </a:r>
            <a:endParaRPr lang="en-US" sz="1800" dirty="0"/>
          </a:p>
        </p:txBody>
      </p:sp>
      <p:sp>
        <p:nvSpPr>
          <p:cNvPr id="24" name="mdpr:2-3-29a5f5:toc-item-4:toc-item-18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10. LangChain</a:t>
            </a:r>
            <a:endParaRPr lang="en-US" sz="1800" dirty="0"/>
          </a:p>
        </p:txBody>
      </p:sp>
      <p:sp>
        <p:nvSpPr>
          <p:cNvPr id="25" name="mdpr:2-3-29a5f5:toc-item-5:toc-item-19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11. Playwright</a:t>
            </a:r>
            <a:endParaRPr lang="en-US" sz="1800" dirty="0"/>
          </a:p>
        </p:txBody>
      </p:sp>
      <p:sp>
        <p:nvSpPr>
          <p:cNvPr id="26" name="mdpr:2-3-29a5f5:toc-item-6:toc-item-20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12. Tailwind CSS</a:t>
            </a:r>
            <a:endParaRPr lang="en-US" sz="1800" dirty="0"/>
          </a:p>
        </p:txBody>
      </p:sp>
      <p:sp>
        <p:nvSpPr>
          <p:cNvPr id="27" name="mdpr:2-3-29a5f5:toc-item-7:toc-item-21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13. Kubernetes (K8s)</a:t>
            </a:r>
            <a:endParaRPr lang="en-US" sz="1800" dirty="0"/>
          </a:p>
        </p:txBody>
      </p:sp>
      <p:sp>
        <p:nvSpPr>
          <p:cNvPr id="28" name="mdpr:2-3-29a5f5:toc-item-8:toc-item-22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14. Rust</a:t>
            </a:r>
            <a:endParaRPr lang="en-US" sz="1800" dirty="0"/>
          </a:p>
        </p:txBody>
      </p:sp>
      <p:sp>
        <p:nvSpPr>
          <p:cNvPr id="29" name="mdpr:2-3-29a5f5:toc-item-9:toc-item-23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15. PyTorch</a:t>
            </a:r>
            <a:endParaRPr lang="en-US" sz="1800" dirty="0"/>
          </a:p>
        </p:txBody>
      </p:sp>
      <p:sp>
        <p:nvSpPr>
          <p:cNvPr id="30" name="mdpr:2-3-29a5f5:toc-item-10:toc-item-24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16. TensorFlow</a:t>
            </a:r>
            <a:endParaRPr lang="en-US" sz="1800" dirty="0"/>
          </a:p>
        </p:txBody>
      </p:sp>
      <p:sp>
        <p:nvSpPr>
          <p:cNvPr id="31" name="mdpr:2-3-29a5f5:toc-item-11:toc-item-25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17. pandas: A Powerful Python Data Analysis Toolkit</a:t>
            </a:r>
            <a:endParaRPr lang="en-US" sz="1800" dirty="0"/>
          </a:p>
        </p:txBody>
      </p:sp>
      <p:sp>
        <p:nvSpPr>
          <p:cNvPr id="32" name="mdpr:2-3-29a5f5:toc-item-12:toc-item-26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18. NumPy</a:t>
            </a:r>
            <a:endParaRPr lang="en-US" sz="1800" dirty="0"/>
          </a:p>
        </p:txBody>
      </p:sp>
      <p:sp>
        <p:nvSpPr>
          <p:cNvPr id="33" name="mdpr:2-3-29a5f5:toc-item-13:toc-item-27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19. Transformers</a:t>
            </a:r>
            <a:endParaRPr lang="en-US" sz="1800" dirty="0"/>
          </a:p>
        </p:txBody>
      </p:sp>
      <p:sp>
        <p:nvSpPr>
          <p:cNvPr id="34" name="mdpr:2-3-29a5f5:toc-item-14:toc-item-28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20. D3: Data-Driven Documents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205740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330952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58568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343400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mdpr:3-3-cf407f:title:__title:3-3-cf407f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3/3)</a:t>
            </a:r>
            <a:endParaRPr lang="en-US" sz="3800" dirty="0"/>
          </a:p>
        </p:txBody>
      </p:sp>
      <p:sp>
        <p:nvSpPr>
          <p:cNvPr id="9" name="mdpr:3-3-cf407f:toc-item-1:toc-item-29"/>
          <p:cNvSpPr txBox="1"/>
          <p:nvPr/>
        </p:nvSpPr>
        <p:spPr>
          <a:xfrm>
            <a:off x="1042416" y="2350008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21. Apache ECharts</a:t>
            </a:r>
            <a:endParaRPr lang="en-US" sz="2200" dirty="0"/>
          </a:p>
        </p:txBody>
      </p:sp>
      <p:sp>
        <p:nvSpPr>
          <p:cNvPr id="10" name="mdpr:3-3-cf407f:toc-item-2:toc-item-30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22. Plotly.py</a:t>
            </a:r>
            <a:endParaRPr lang="en-US" sz="2200" dirty="0"/>
          </a:p>
        </p:txBody>
      </p:sp>
      <p:sp>
        <p:nvSpPr>
          <p:cNvPr id="11" name="mdpr:3-3-cf407f:toc-item-3:toc-item-31"/>
          <p:cNvSpPr txBox="1"/>
          <p:nvPr/>
        </p:nvSpPr>
        <p:spPr>
          <a:xfrm>
            <a:off x="1042416" y="4434840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23. The System Design Primer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mdpr:runtime-boundary-926c24:title:__title:runtime-boundary-926c2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5" name="Image 3" descr="verified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runtime-boundary-926c24:item-1:block-4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Parses Markdown, keeps graphs whole, selects layouts, applies theme colors, renders PPTX, and validates overflow.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8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runtime-boundary-926c24:item-2:block-4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Collects evidence and may add review notes, but does not choose final coordinates, colors, typography, or object geometry.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2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runtime-boundary-926c24:item-3:block-4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 target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generated slides against research/product teaser expectations: clear focal message, hierarchy, restrained contrast, and bounded text.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unified-pipeline-c90f83:title:__title:unified-pipeline-c90f8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Unified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2354580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2354580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2887127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849612" y="4368455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48016" y="5317236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4002024" y="5317236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514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Downloaded Markdown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6072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6072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0664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0664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071506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Parser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2064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2064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6656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6656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817498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Splitter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32064" y="3250692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2064" y="3250692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6656" y="3648639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6656" y="3648639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817498" y="3378708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Planner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2064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2064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6656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96656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817498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Renderer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86072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86072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50664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50664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071506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PNG Visual QA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325514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Improvement Notes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teaser-rubric-6df303:title:__title:teaser-rubric-6df30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Rubric</a:t>
            </a:r>
            <a:endParaRPr lang="en-US" sz="3400" dirty="0"/>
          </a:p>
        </p:txBody>
      </p:sp>
      <p:graphicFrame>
        <p:nvGraphicFramePr>
          <p:cNvPr id="8" name="mdpr:teaser-rubric-6df303:table:block-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Criterion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Failure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Focal message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One readable headline and primary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dominant title or all-text wall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Hierarchy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title &gt;= section &gt;= body; proof objects carry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tiny title or random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Coherence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same-rule layouts across every source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per-source manual styling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Boundaries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and shapes stay inside slide and parent boxes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overflow or clipped rows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Teaser quality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resembles a paper/product teaser in density and polish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blank, generic, or palette-only output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mdpr:iteration-plan-6b2cac:title:__title:iteration-plan-6b2ca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Iteration Plan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5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iteration-plan-6b2cac:item-1:block-10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pass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iteration 4 of 4.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8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iteration-plan-6b2cac:item-2:block-10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 passes use the same MDPR parser, layout planner, PPTX renderer, and visual validation path.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2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iteration-plan-6b2cac:item-3:block-10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corpus is one combined deck, not a set of hand-tuned per-file decks.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mdpr:feedback-applied-bf2aec:title:__title:feedback-applied-bf2ae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Feedback Applied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5" name="Image 3" descr="chart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feedback-applied-bf2aec:item-1:block-12"/>
          <p:cNvSpPr txBox="1"/>
          <p:nvPr/>
        </p:nvSpPr>
        <p:spPr>
          <a:xfrm>
            <a:off x="1699321" y="199644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Convert long imported paragraphs into bounded executive bullets before MDPR layout.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8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feedback-applied-bf2aec:item-2:block-12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Keep source identity as section context, not as large decorative badges.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21" name="Image 5" descr="cod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feedback-applied-bf2aec:item-3:block-12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Preserve tables, code fences, and pipeline syntax so MDPR can choose the right object family.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evidence-mix-73439a:title:__title:evidence-mix-73439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Mix</a:t>
            </a:r>
            <a:endParaRPr lang="en-US" sz="3400" dirty="0"/>
          </a:p>
        </p:txBody>
      </p:sp>
      <p:sp>
        <p:nvSpPr>
          <p:cNvPr id="7" name="mdpr:evidence-mix-73439a:body:block-15"/>
          <p:cNvSpPr txBox="1"/>
          <p:nvPr/>
        </p:nvSpPr>
        <p:spPr>
          <a:xfrm>
            <a:off x="914400" y="2365248"/>
            <a:ext cx="3675888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 chart is generated from corpus-level structure rather than a custom drawing path.</a:t>
            </a:r>
            <a:endParaRPr lang="en-US" sz="2200" dirty="0"/>
          </a:p>
        </p:txBody>
      </p:sp>
      <p:sp>
        <p:nvSpPr>
          <p:cNvPr id="8" name="mdpr:evidence-mix-73439a:body:block-15"/>
          <p:cNvSpPr txBox="1"/>
          <p:nvPr/>
        </p:nvSpPr>
        <p:spPr>
          <a:xfrm>
            <a:off x="914400" y="3797808"/>
            <a:ext cx="367588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This adds a teaser-style proof object without per-source tuning.</a:t>
            </a:r>
            <a:endParaRPr lang="en-US" sz="2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project-pipeline-source-16042d:title:__title:project-pipeline-source-16042d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Pipeline Source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intake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tags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Deterministic MDPR rules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PPTX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Rendered PNG validation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2-44f8e0:title:__title:1-2-44f8e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Pipeline Notes</a:t>
            </a:r>
            <a:endParaRPr lang="en-US" sz="3400" dirty="0"/>
          </a:p>
        </p:txBody>
      </p:sp>
      <p:sp>
        <p:nvSpPr>
          <p:cNvPr id="6" name="mdpr:1-2-44f8e0:left:block-20-chunk-1"/>
          <p:cNvSpPr txBox="1"/>
          <p:nvPr/>
        </p:nvSpPr>
        <p:spPr>
          <a:xfrm>
            <a:off x="896112" y="2697480"/>
            <a:ext cx="4791456" cy="21031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MDPR owns the presentation runtime. The LLM is optional and only provides short semantic tags when needed; it does not reason through layout, choose coordinates, colors, variants,</a:t>
            </a:r>
            <a:endParaRPr lang="en-US" sz="2200" dirty="0"/>
          </a:p>
        </p:txBody>
      </p:sp>
      <p:sp>
        <p:nvSpPr>
          <p:cNvPr id="7" name="mdpr:1-2-44f8e0:right:block-20-chunk-1"/>
          <p:cNvSpPr txBox="1"/>
          <p:nvPr/>
        </p:nvSpPr>
        <p:spPr>
          <a:xfrm>
            <a:off x="6473952" y="2865120"/>
            <a:ext cx="4791456" cy="176784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Optional agent tags are hints only. Deterministic rules own layout, style, z-order, theme colors, proof objects, icon slots, and renderer-specific output.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2-f62f73:title:__title:2-2-f62f7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Pipeline Notes (Cont. 2/2)</a:t>
            </a:r>
            <a:endParaRPr lang="en-US" sz="3400" dirty="0"/>
          </a:p>
        </p:txBody>
      </p:sp>
      <p:sp>
        <p:nvSpPr>
          <p:cNvPr id="6" name="mdpr:2-2-f62f73:left:block-20-chunk-2"/>
          <p:cNvSpPr txBox="1"/>
          <p:nvPr/>
        </p:nvSpPr>
        <p:spPr>
          <a:xfrm>
            <a:off x="896112" y="2697480"/>
            <a:ext cx="4791456" cy="21031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 generated pipeline overview uses this file as its content source. The image generator reads the pipeline-image block below, applies the project layout rules, builds a one-slide</a:t>
            </a:r>
            <a:endParaRPr lang="en-US" sz="2200" dirty="0"/>
          </a:p>
        </p:txBody>
      </p:sp>
      <p:sp>
        <p:nvSpPr>
          <p:cNvPr id="7" name="mdpr:2-2-f62f73:right:block-2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 selected theme is sage-editorial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 warm editorial palette that combines flow colors, section accents, validation contrast, and quiet support surfaces. Point elements such as v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mdpr:01-react-a0c594:title:__title:01-react-a0c59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React</a:t>
            </a:r>
            <a:endParaRPr lang="en-US" sz="3400" dirty="0"/>
          </a:p>
        </p:txBody>
      </p:sp>
      <p:sp>
        <p:nvSpPr>
          <p:cNvPr id="8" name="mdpr:01-react-a0c594:key-message:block-22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is evaluated as a Markdown-to-PPTX coherence source.</a:t>
            </a:r>
            <a:endParaRPr lang="en-US" sz="2200" dirty="0"/>
          </a:p>
        </p:txBody>
      </p:sp>
      <p:sp>
        <p:nvSpPr>
          <p:cNvPr id="9" name="mdpr:01-react-a0c594:body:block-23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headings, 0 table-like lines, 1 fenced code blocks.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Design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Preserve hierarchy while avoiding repeated card-only continuation slides.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02-vite-05c8f4:title:__title:02-vite-05c8f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Vite</a:t>
            </a:r>
            <a:endParaRPr lang="en-US" sz="3400" dirty="0"/>
          </a:p>
        </p:txBody>
      </p:sp>
      <p:sp>
        <p:nvSpPr>
          <p:cNvPr id="7" name="mdpr:02-vite-05c8f4:body:block-2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vite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Proof use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Numeric structure is shown as a chart beside explanatory text.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03-vue-e84c83:title:__title:03-vue-e84c8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Vue</a:t>
            </a:r>
            <a:endParaRPr lang="en-US" sz="3400" dirty="0"/>
          </a:p>
        </p:txBody>
      </p:sp>
      <p:sp>
        <p:nvSpPr>
          <p:cNvPr id="6" name="mdpr:03-vue-e84c83:left:block-28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Before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Imported Markdown often becomes a repeated list-card continuation.</a:t>
            </a:r>
            <a:endParaRPr lang="en-US" sz="2200" dirty="0"/>
          </a:p>
        </p:txBody>
      </p:sp>
      <p:sp>
        <p:nvSpPr>
          <p:cNvPr id="7" name="mdpr:03-vue-e84c83:right:block-2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After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same source is routed through comparison, table, chart, or diagram layouts when the structure supports it.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04-svelte-c9b5bb:title:__title:04-svelte-c9b5b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Svelte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76213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885707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695201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9996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9996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2542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intake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49574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9574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9490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9490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32036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Svelte structure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59068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9068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8984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8984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1530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layout choice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68562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8562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8478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8478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51024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visual QA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05-typescript-9966fc:title:__title:05-typescript-9966f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TypeScript</a:t>
            </a:r>
            <a:endParaRPr lang="en-US" sz="3400" dirty="0"/>
          </a:p>
        </p:txBody>
      </p:sp>
      <p:graphicFrame>
        <p:nvGraphicFramePr>
          <p:cNvPr id="19" name="mdpr:05-typescript-9966fc:table:block-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Headings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section planning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table-aware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 fences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code-focus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74bc53:title:__title:1-3-74bc5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</a:t>
            </a:r>
            <a:endParaRPr lang="en-US" sz="3400" dirty="0"/>
          </a:p>
        </p:txBody>
      </p:sp>
      <p:sp>
        <p:nvSpPr>
          <p:cNvPr id="6" name="mdpr:1-3-74bc53:left:block-34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node from https://raw.githubusercontent.com/nodejs/node/main/README.md</a:t>
            </a:r>
            <a:endParaRPr lang="en-US" sz="2200" dirty="0"/>
          </a:p>
        </p:txBody>
      </p:sp>
      <p:sp>
        <p:nvSpPr>
          <p:cNvPr id="7" name="mdpr:1-3-74bc53:right:block-34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17 headings, 0 table-like lines, 3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5bd9a1:title:__title:2-3-5bd9a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 (Cont. 2/3)</a:t>
            </a:r>
            <a:endParaRPr lang="en-US" sz="3400" dirty="0"/>
          </a:p>
        </p:txBody>
      </p:sp>
      <p:sp>
        <p:nvSpPr>
          <p:cNvPr id="6" name="mdpr:2-3-5bd9a1:left:block-34-chunk-2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Current and LTS releases</a:t>
            </a:r>
            <a:endParaRPr lang="en-US" sz="2200" dirty="0"/>
          </a:p>
        </p:txBody>
      </p:sp>
      <p:sp>
        <p:nvSpPr>
          <p:cNvPr id="7" name="mdpr:2-3-5bd9a1:right:block-34-chunk-2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Contributing to Node.js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2890c7:title:__title:3-3-2890c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 (Cont. 3/3)</a:t>
            </a:r>
            <a:endParaRPr lang="en-US" sz="3400" dirty="0"/>
          </a:p>
        </p:txBody>
      </p:sp>
      <p:sp>
        <p:nvSpPr>
          <p:cNvPr id="6" name="mdpr:3-3-2890c7:left:block-34-chunk-3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Current project team members</a:t>
            </a:r>
            <a:endParaRPr lang="en-US" sz="2200" dirty="0"/>
          </a:p>
        </p:txBody>
      </p:sp>
      <p:sp>
        <p:nvSpPr>
          <p:cNvPr id="7" name="mdpr:3-3-2890c7:right:block-34-chunk-3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TSC (Technical Steering Committee)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mdpr:07-express-ac9c5f:title:__title:07-express-ac9c5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Express</a:t>
            </a:r>
            <a:endParaRPr lang="en-US" sz="3400" dirty="0"/>
          </a:p>
        </p:txBody>
      </p:sp>
      <p:sp>
        <p:nvSpPr>
          <p:cNvPr id="8" name="mdpr:07-express-ac9c5f:key-message:block-38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Express is evaluated as a Markdown-to-PPTX coherence source.</a:t>
            </a:r>
            <a:endParaRPr lang="en-US" sz="2200" dirty="0"/>
          </a:p>
        </p:txBody>
      </p:sp>
      <p:sp>
        <p:nvSpPr>
          <p:cNvPr id="9" name="mdpr:07-express-ac9c5f:body:block-39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14 headings, 0 table-like lines, 11 fenced code blocks.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Design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Preserve hierarchy while avoiding repeated card-only continuation slides.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08-fastapi-57d33a:title:__title:08-fastapi-57d33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FastAPI</a:t>
            </a:r>
            <a:endParaRPr lang="en-US" sz="3400" dirty="0"/>
          </a:p>
        </p:txBody>
      </p:sp>
      <p:sp>
        <p:nvSpPr>
          <p:cNvPr id="7" name="mdpr:08-fastapi-57d33a:body:block-42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fastapi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Proof use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Numeric structure is shown as a chart beside explanatory text.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09-openai-python-api-library-31884d:title:__title:09-openai-python-api-library-31884d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09. OpenAI Python API library</a:t>
            </a:r>
            <a:endParaRPr lang="en-US" sz="3400" dirty="0"/>
          </a:p>
        </p:txBody>
      </p:sp>
      <p:sp>
        <p:nvSpPr>
          <p:cNvPr id="6" name="mdpr:09-openai-python-api-library-31884d:left:block-4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Before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Imported Markdown often becomes a repeated list-card continuation.</a:t>
            </a:r>
            <a:endParaRPr lang="en-US" sz="2200" dirty="0"/>
          </a:p>
        </p:txBody>
      </p:sp>
      <p:sp>
        <p:nvSpPr>
          <p:cNvPr id="7" name="mdpr:09-openai-python-api-library-31884d:right:block-44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After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same source is routed through comparison, table, chart, or diagram layouts when the structure supports it.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10-langchain-0b84d0:title:__title:10-langchain-0b84d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LangChain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76213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885707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695201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9996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9996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2542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intake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49574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9574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9490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9490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32036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 structure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59068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9068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8984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8984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1530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layout choice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68562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8562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8478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8478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51024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visual QA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11-playwright-1b89b9:title:__title:11-playwright-1b89b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 Playwright</a:t>
            </a:r>
            <a:endParaRPr lang="en-US" sz="3400" dirty="0"/>
          </a:p>
        </p:txBody>
      </p:sp>
      <p:graphicFrame>
        <p:nvGraphicFramePr>
          <p:cNvPr id="27" name="mdpr:11-playwright-1b89b9:table:block-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Headings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section planning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table-aware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 fences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code-focus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2-c29a1a:title:__title:1-2-c29a1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 Tailwind CSS</a:t>
            </a:r>
            <a:endParaRPr lang="en-US" sz="3400" dirty="0"/>
          </a:p>
        </p:txBody>
      </p:sp>
      <p:sp>
        <p:nvSpPr>
          <p:cNvPr id="6" name="mdpr:1-2-c29a1a:left:block-5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tailwindcss from https://raw.githubusercontent.com/tailwindlabs/tailwindcss/main/README.md</a:t>
            </a:r>
            <a:endParaRPr lang="en-US" sz="2200" dirty="0"/>
          </a:p>
        </p:txBody>
      </p:sp>
      <p:sp>
        <p:nvSpPr>
          <p:cNvPr id="7" name="mdpr:1-2-c29a1a:right:block-5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 headings, 0 table-like lines, 0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2-2a92df:title:__title:2-2-2a92d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 Tailwind CSS (Cont. 2/2)</a:t>
            </a:r>
            <a:endParaRPr lang="en-US" sz="3400" dirty="0"/>
          </a:p>
        </p:txBody>
      </p:sp>
      <p:sp>
        <p:nvSpPr>
          <p:cNvPr id="6" name="mdpr:2-2-2a92df:left:block-50-chunk-2"/>
          <p:cNvSpPr txBox="1"/>
          <p:nvPr/>
        </p:nvSpPr>
        <p:spPr>
          <a:xfrm>
            <a:off x="89611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 utility-first CSS framework for rapidly building custom user interfaces.</a:t>
            </a:r>
            <a:endParaRPr lang="en-US" sz="2200" dirty="0"/>
          </a:p>
        </p:txBody>
      </p:sp>
      <p:sp>
        <p:nvSpPr>
          <p:cNvPr id="7" name="mdpr:2-2-2a92df:right:block-5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If you're interested in contributing to Tailwind CSS, please read our contributing docs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submitting a pull request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mdpr:13-kubernetes-k8s-93b4cb:title:__title:13-kubernetes-k8s-93b4c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 Kubernetes (K8s)</a:t>
            </a:r>
            <a:endParaRPr lang="en-US" sz="3400" dirty="0"/>
          </a:p>
        </p:txBody>
      </p:sp>
      <p:sp>
        <p:nvSpPr>
          <p:cNvPr id="8" name="mdpr:13-kubernetes-k8s-93b4cb:key-message:block-52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Kubernetes (K8s) is evaluated as a Markdown-to-PPTX coherence source.</a:t>
            </a:r>
            <a:endParaRPr lang="en-US" sz="2200" dirty="0"/>
          </a:p>
        </p:txBody>
      </p:sp>
      <p:sp>
        <p:nvSpPr>
          <p:cNvPr id="9" name="mdpr:13-kubernetes-k8s-93b4cb:body:block-53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headings, 0 table-like lines, 2 fenced code blocks.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Design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Preserve hierarchy while avoiding repeated card-only continuation slides.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14-rust-6ee7ef:title:__title:14-rust-6ee7e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 Rust</a:t>
            </a:r>
            <a:endParaRPr lang="en-US" sz="3400" dirty="0"/>
          </a:p>
        </p:txBody>
      </p:sp>
      <p:sp>
        <p:nvSpPr>
          <p:cNvPr id="7" name="mdpr:14-rust-6ee7ef:body:block-5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rust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Proof use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Numeric structure is shown as a chart beside explanatory text.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5-pytorch-a1d0b9:title:__title:15-pytorch-a1d0b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 PyTorch</a:t>
            </a:r>
            <a:endParaRPr lang="en-US" sz="3400" dirty="0"/>
          </a:p>
        </p:txBody>
      </p:sp>
      <p:sp>
        <p:nvSpPr>
          <p:cNvPr id="6" name="mdpr:15-pytorch-a1d0b9:left:block-58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Before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Imported Markdown often becomes a repeated list-card continuation.</a:t>
            </a:r>
            <a:endParaRPr lang="en-US" sz="2200" dirty="0"/>
          </a:p>
        </p:txBody>
      </p:sp>
      <p:sp>
        <p:nvSpPr>
          <p:cNvPr id="7" name="mdpr:15-pytorch-a1d0b9:right:block-5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After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same source is routed through comparison, table, chart, or diagram layouts when the structure supports it.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16-tensorflow-defe30:title:__title:16-tensorflow-defe3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 TensorFlow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76213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885707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695201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9996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9996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2542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intake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49574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9574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9490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9490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32036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TensorFlow structure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59068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9068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8984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8984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1530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layout choice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68562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8562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8478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8478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51024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visual QA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17-pandas-a-powerful-python-data-analysis-toolki-240d76:title:__title:17-pandas-a-powerful-python-data-analysis-toolki-240d7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 pandas: A Powerful Python Data Analysis Toolkit</a:t>
            </a:r>
            <a:endParaRPr lang="en-US" sz="3400" dirty="0"/>
          </a:p>
        </p:txBody>
      </p:sp>
      <p:graphicFrame>
        <p:nvGraphicFramePr>
          <p:cNvPr id="34" name="mdpr:17-pandas-a-powerful-python-data-analysis-toolki-240d76:table:block-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Headings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section planning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table-aware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 fences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code-focus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c2aaa0:title:__title:1-3-c2aaa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NumPy</a:t>
            </a:r>
            <a:endParaRPr lang="en-US" sz="3400" dirty="0"/>
          </a:p>
        </p:txBody>
      </p:sp>
      <p:sp>
        <p:nvSpPr>
          <p:cNvPr id="6" name="mdpr:1-3-c2aaa0:left:block-64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numpy from https://raw.githubusercontent.com/numpy/numpy/main/README.md</a:t>
            </a:r>
            <a:endParaRPr lang="en-US" sz="2200" dirty="0"/>
          </a:p>
        </p:txBody>
      </p:sp>
      <p:sp>
        <p:nvSpPr>
          <p:cNvPr id="7" name="mdpr:1-3-c2aaa0:right:block-64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0 headings, 0 table-like lines, 0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b4e971:title:__title:2-3-b4e97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NumPy (Cont. 2/3)</a:t>
            </a:r>
            <a:endParaRPr lang="en-US" sz="3400" dirty="0"/>
          </a:p>
        </p:txBody>
      </p:sp>
      <p:sp>
        <p:nvSpPr>
          <p:cNvPr id="6" name="mdpr:2-3-b4e971:left:block-64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**Website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https://numpy.org</a:t>
            </a:r>
            <a:endParaRPr lang="en-US" sz="2200" dirty="0"/>
          </a:p>
        </p:txBody>
      </p:sp>
      <p:sp>
        <p:nvSpPr>
          <p:cNvPr id="7" name="mdpr:2-3-b4e971:right:block-64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**Documentation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https://numpy.org/doc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524046:title:__title:3-3-52404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NumPy (Cont. 3/3)</a:t>
            </a:r>
            <a:endParaRPr lang="en-US" sz="3400" dirty="0"/>
          </a:p>
        </p:txBody>
      </p:sp>
      <p:sp>
        <p:nvSpPr>
          <p:cNvPr id="6" name="mdpr:3-3-524046:left:block-64-chunk-3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**Mailing list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https://mail.python.org/mailman/listinfo/numpy-discussion</a:t>
            </a:r>
            <a:endParaRPr lang="en-US" sz="2200" dirty="0"/>
          </a:p>
        </p:txBody>
      </p:sp>
      <p:sp>
        <p:nvSpPr>
          <p:cNvPr id="7" name="mdpr:3-3-524046:right:block-64-chunk-3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**Source code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https://github.com/numpy/numpy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mdpr:19-transformers-d71336:title:__title:19-transformers-d7133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 Transformers</a:t>
            </a:r>
            <a:endParaRPr lang="en-US" sz="3400" dirty="0"/>
          </a:p>
        </p:txBody>
      </p:sp>
      <p:sp>
        <p:nvSpPr>
          <p:cNvPr id="8" name="mdpr:19-transformers-d71336:key-message:block-66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Transformers is evaluated as a Markdown-to-PPTX coherence source.</a:t>
            </a:r>
            <a:endParaRPr lang="en-US" sz="2200" dirty="0"/>
          </a:p>
        </p:txBody>
      </p:sp>
      <p:sp>
        <p:nvSpPr>
          <p:cNvPr id="9" name="mdpr:19-transformers-d71336:body:block-67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13 headings, 0 table-like lines, 10 fenced code blocks.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Design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Preserve hierarchy while avoiding repeated card-only continuation slides.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20-d3-data-driven-documents-2860cc:title:__title:20-d3-data-driven-documents-2860c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20. D3: Data-Driven Documents</a:t>
            </a:r>
            <a:endParaRPr lang="en-US" sz="3400" dirty="0"/>
          </a:p>
        </p:txBody>
      </p:sp>
      <p:sp>
        <p:nvSpPr>
          <p:cNvPr id="7" name="mdpr:20-d3-data-driven-documents-2860cc:body:block-70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d3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Proof use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Numeric structure is shown as a chart beside explanatory text.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1-apache-echarts-0b6936:title:__title:21-apache-echarts-0b693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21. Apache ECharts</a:t>
            </a:r>
            <a:endParaRPr lang="en-US" sz="3400" dirty="0"/>
          </a:p>
        </p:txBody>
      </p:sp>
      <p:sp>
        <p:nvSpPr>
          <p:cNvPr id="6" name="mdpr:21-apache-echarts-0b6936:left:block-7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Before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Imported Markdown often becomes a repeated list-card continuation.</a:t>
            </a:r>
            <a:endParaRPr lang="en-US" sz="2200" dirty="0"/>
          </a:p>
        </p:txBody>
      </p:sp>
      <p:sp>
        <p:nvSpPr>
          <p:cNvPr id="7" name="mdpr:21-apache-echarts-0b6936:right:block-7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After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same source is routed through comparison, table, chart, or diagram layouts when the structure supports it.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22-plotly-py-adbd2e:title:__title:22-plotly-py-adbd2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22. Plotly.py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76213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885707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695201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9996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9996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2542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intake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49574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9574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9490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9490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32036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Plotly.py structure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59068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9068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8984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8984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1530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layout choice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68562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8562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8478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8478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51024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visual QA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23-the-system-design-primer-8b55bb:title:__title:23-the-system-design-primer-8b55b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23. The System Design Primer</a:t>
            </a:r>
            <a:endParaRPr lang="en-US" sz="3400" dirty="0"/>
          </a:p>
        </p:txBody>
      </p:sp>
      <p:graphicFrame>
        <p:nvGraphicFramePr>
          <p:cNvPr id="42" name="mdpr:23-the-system-design-primer-8b55bb:table:block-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Headings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section planning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table-aware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 fences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code-focus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9FAFB"/>
      </a:lt1>
      <a:dk2>
        <a:srgbClr val="374151"/>
      </a:dk2>
      <a:lt2>
        <a:srgbClr val="FCFCFD"/>
      </a:lt2>
      <a:accent1>
        <a:srgbClr val="0F766E"/>
      </a:accent1>
      <a:accent2>
        <a:srgbClr val="9E0F62"/>
      </a:accent2>
      <a:accent3>
        <a:srgbClr val="9E4C0F"/>
      </a:accent3>
      <a:accent4>
        <a:srgbClr val="15984D"/>
      </a:accent4>
      <a:accent5>
        <a:srgbClr val="156198"/>
      </a:accent5>
      <a:accent6>
        <a:srgbClr val="096760"/>
      </a:accent6>
      <a:hlink>
        <a:srgbClr val="0F766E"/>
      </a:hlink>
      <a:folHlink>
        <a:srgbClr val="9E0F6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 Markdown Visual Evaluation</dc:title>
  <dc:subject>Generated from Markdown through Presentation IR and Layout IR</dc:subject>
  <dc:creator>mdpresent</dc:creator>
  <cp:lastModifiedBy>mdpresent</cp:lastModifiedBy>
  <cp:revision>1</cp:revision>
  <dcterms:created xsi:type="dcterms:W3CDTF">2026-06-25T11:51:27Z</dcterms:created>
  <dcterms:modified xsi:type="dcterms:W3CDTF">2026-06-25T11:51:27Z</dcterms:modified>
</cp:coreProperties>
</file>