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2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3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charts/chart4.xml" ContentType="application/vnd.openxmlformats-officedocument.drawingml.chart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charts/chart5.xml" ContentType="application/vnd.openxmlformats-officedocument.drawingml.chart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Corpus</c:v>
                </c:pt>
              </c:strCache>
            </c:strRef>
          </c:tx>
          <c:spPr>
            <a:solidFill>
              <a:srgbClr val="0F76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Sources</c:v>
                  </c:pt>
                  <c:pt idx="1">
                    <c:v>Headings</c:v>
                  </c:pt>
                  <c:pt idx="2">
                    <c:v>Tables</c:v>
                  </c:pt>
                  <c:pt idx="3">
                    <c:v>Code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24</c:v>
                </c:pt>
                <c:pt idx="1">
                  <c:v>96</c:v>
                </c:pt>
                <c:pt idx="2">
                  <c:v>18</c:v>
                </c:pt>
                <c:pt idx="3">
                  <c:v>21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Useful</c:v>
                </c:pt>
              </c:strCache>
            </c:strRef>
          </c:tx>
          <c:spPr>
            <a:solidFill>
              <a:srgbClr val="9E0F6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Sources</c:v>
                  </c:pt>
                  <c:pt idx="1">
                    <c:v>Headings</c:v>
                  </c:pt>
                  <c:pt idx="2">
                    <c:v>Tables</c:v>
                  </c:pt>
                  <c:pt idx="3">
                    <c:v>Code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20</c:v>
                </c:pt>
                <c:pt idx="1">
                  <c:v>72</c:v>
                </c:pt>
                <c:pt idx="2">
                  <c:v>12</c:v>
                </c:pt>
                <c:pt idx="3">
                  <c:v>14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8181B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C6CCC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7534E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7534E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Source</c:v>
                </c:pt>
              </c:strCache>
            </c:strRef>
          </c:tx>
          <c:spPr>
            <a:solidFill>
              <a:srgbClr val="0F76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Headings</c:v>
                  </c:pt>
                  <c:pt idx="1">
                    <c:v>Tables</c:v>
                  </c:pt>
                  <c:pt idx="2">
                    <c:v>Code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</c:v>
                </c:pt>
                <c:pt idx="1">
                  <c:v>5</c:v>
                </c:pt>
                <c:pt idx="2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8181B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C6CCC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7534E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Source</c:v>
                </c:pt>
              </c:strCache>
            </c:strRef>
          </c:tx>
          <c:spPr>
            <a:solidFill>
              <a:srgbClr val="0F76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Headings</c:v>
                  </c:pt>
                  <c:pt idx="1">
                    <c:v>Tables</c:v>
                  </c:pt>
                  <c:pt idx="2">
                    <c:v>Code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28</c:v>
                </c:pt>
                <c:pt idx="1">
                  <c:v>0</c:v>
                </c:pt>
                <c:pt idx="2">
                  <c:v>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8181B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C6CCC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7534E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Source</c:v>
                </c:pt>
              </c:strCache>
            </c:strRef>
          </c:tx>
          <c:spPr>
            <a:solidFill>
              <a:srgbClr val="0F76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Headings</c:v>
                  </c:pt>
                  <c:pt idx="1">
                    <c:v>Tables</c:v>
                  </c:pt>
                  <c:pt idx="2">
                    <c:v>Code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8181B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C6CCC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7534E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Source</c:v>
                </c:pt>
              </c:strCache>
            </c:strRef>
          </c:tx>
          <c:spPr>
            <a:solidFill>
              <a:srgbClr val="0F76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Headings</c:v>
                  </c:pt>
                  <c:pt idx="1">
                    <c:v>Tables</c:v>
                  </c:pt>
                  <c:pt idx="2">
                    <c:v>Code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8181B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C6CCC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7534E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image" Target="../media/image-5-7.png"/><Relationship Id="rId8" Type="http://schemas.openxmlformats.org/officeDocument/2006/relationships/image" Target="../media/image-5-8.svg"/><Relationship Id="rId9" Type="http://schemas.openxmlformats.org/officeDocument/2006/relationships/image" Target="../media/image-5-9.png"/><Relationship Id="rId10" Type="http://schemas.openxmlformats.org/officeDocument/2006/relationships/image" Target="../media/image-5-10.svg"/><Relationship Id="rId11" Type="http://schemas.openxmlformats.org/officeDocument/2006/relationships/image" Target="../media/image-5-11.png"/><Relationship Id="rId12" Type="http://schemas.openxmlformats.org/officeDocument/2006/relationships/image" Target="../media/image-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image" Target="../media/image-8-7.png"/><Relationship Id="rId8" Type="http://schemas.openxmlformats.org/officeDocument/2006/relationships/image" Target="../media/image-8-8.svg"/><Relationship Id="rId9" Type="http://schemas.openxmlformats.org/officeDocument/2006/relationships/image" Target="../media/image-8-9.png"/><Relationship Id="rId10" Type="http://schemas.openxmlformats.org/officeDocument/2006/relationships/image" Target="../media/image-8-10.svg"/><Relationship Id="rId11" Type="http://schemas.openxmlformats.org/officeDocument/2006/relationships/image" Target="../media/image-8-11.png"/><Relationship Id="rId12" Type="http://schemas.openxmlformats.org/officeDocument/2006/relationships/image" Target="../media/image-8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image" Target="../media/image-9-3.png"/><Relationship Id="rId4" Type="http://schemas.openxmlformats.org/officeDocument/2006/relationships/image" Target="../media/image-9-4.svg"/><Relationship Id="rId5" Type="http://schemas.openxmlformats.org/officeDocument/2006/relationships/image" Target="../media/image-9-5.png"/><Relationship Id="rId6" Type="http://schemas.openxmlformats.org/officeDocument/2006/relationships/image" Target="../media/image-9-6.svg"/><Relationship Id="rId7" Type="http://schemas.openxmlformats.org/officeDocument/2006/relationships/image" Target="../media/image-9-7.png"/><Relationship Id="rId8" Type="http://schemas.openxmlformats.org/officeDocument/2006/relationships/image" Target="../media/image-9-8.svg"/><Relationship Id="rId9" Type="http://schemas.openxmlformats.org/officeDocument/2006/relationships/image" Target="../media/image-9-9.png"/><Relationship Id="rId10" Type="http://schemas.openxmlformats.org/officeDocument/2006/relationships/image" Target="../media/image-9-10.svg"/><Relationship Id="rId11" Type="http://schemas.openxmlformats.org/officeDocument/2006/relationships/image" Target="../media/image-9-11.png"/><Relationship Id="rId12" Type="http://schemas.openxmlformats.org/officeDocument/2006/relationships/image" Target="../media/image-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1.xml"/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image" Target="../media/image-12-5.png"/><Relationship Id="rId6" Type="http://schemas.openxmlformats.org/officeDocument/2006/relationships/image" Target="../media/image-12-6.svg"/><Relationship Id="rId7" Type="http://schemas.openxmlformats.org/officeDocument/2006/relationships/image" Target="../media/image-12-7.png"/><Relationship Id="rId8" Type="http://schemas.openxmlformats.org/officeDocument/2006/relationships/image" Target="../media/image-12-8.svg"/><Relationship Id="rId9" Type="http://schemas.openxmlformats.org/officeDocument/2006/relationships/image" Target="../media/image-12-9.png"/><Relationship Id="rId10" Type="http://schemas.openxmlformats.org/officeDocument/2006/relationships/image" Target="../media/image-12-10.svg"/><Relationship Id="rId11" Type="http://schemas.openxmlformats.org/officeDocument/2006/relationships/image" Target="../media/image-12-11.png"/><Relationship Id="rId12" Type="http://schemas.openxmlformats.org/officeDocument/2006/relationships/image" Target="../media/image-12-12.svg"/><Relationship Id="rId13" Type="http://schemas.openxmlformats.org/officeDocument/2006/relationships/image" Target="../media/image-12-13.png"/><Relationship Id="rId14" Type="http://schemas.openxmlformats.org/officeDocument/2006/relationships/image" Target="../media/image-12-14.svg"/><Relationship Id="rId15" Type="http://schemas.openxmlformats.org/officeDocument/2006/relationships/image" Target="../media/image-12-15.png"/><Relationship Id="rId16" Type="http://schemas.openxmlformats.org/officeDocument/2006/relationships/image" Target="../media/image-1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2.xml"/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image" Target="../media/image-18-3.png"/><Relationship Id="rId4" Type="http://schemas.openxmlformats.org/officeDocument/2006/relationships/image" Target="../media/image-18-4.svg"/><Relationship Id="rId5" Type="http://schemas.openxmlformats.org/officeDocument/2006/relationships/image" Target="../media/image-18-5.png"/><Relationship Id="rId6" Type="http://schemas.openxmlformats.org/officeDocument/2006/relationships/image" Target="../media/image-18-6.svg"/><Relationship Id="rId7" Type="http://schemas.openxmlformats.org/officeDocument/2006/relationships/image" Target="../media/image-18-7.png"/><Relationship Id="rId8" Type="http://schemas.openxmlformats.org/officeDocument/2006/relationships/image" Target="../media/image-18-8.svg"/><Relationship Id="rId9" Type="http://schemas.openxmlformats.org/officeDocument/2006/relationships/image" Target="../media/image-18-9.png"/><Relationship Id="rId10" Type="http://schemas.openxmlformats.org/officeDocument/2006/relationships/image" Target="../media/image-18-10.svg"/><Relationship Id="rId11" Type="http://schemas.openxmlformats.org/officeDocument/2006/relationships/image" Target="../media/image-18-11.png"/><Relationship Id="rId12" Type="http://schemas.openxmlformats.org/officeDocument/2006/relationships/image" Target="../media/image-18-12.svg"/><Relationship Id="rId13" Type="http://schemas.openxmlformats.org/officeDocument/2006/relationships/image" Target="../media/image-18-13.png"/><Relationship Id="rId14" Type="http://schemas.openxmlformats.org/officeDocument/2006/relationships/image" Target="../media/image-18-14.svg"/><Relationship Id="rId15" Type="http://schemas.openxmlformats.org/officeDocument/2006/relationships/image" Target="../media/image-18-15.png"/><Relationship Id="rId16" Type="http://schemas.openxmlformats.org/officeDocument/2006/relationships/image" Target="../media/image-1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3.xml"/><Relationship Id="rId1" Type="http://schemas.openxmlformats.org/officeDocument/2006/relationships/image" Target="../media/image-21-1.png"/><Relationship Id="rId2" Type="http://schemas.openxmlformats.org/officeDocument/2006/relationships/image" Target="../media/image-21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svg"/><Relationship Id="rId3" Type="http://schemas.openxmlformats.org/officeDocument/2006/relationships/image" Target="../media/image-25-3.png"/><Relationship Id="rId4" Type="http://schemas.openxmlformats.org/officeDocument/2006/relationships/image" Target="../media/image-25-4.svg"/><Relationship Id="rId5" Type="http://schemas.openxmlformats.org/officeDocument/2006/relationships/image" Target="../media/image-25-5.png"/><Relationship Id="rId6" Type="http://schemas.openxmlformats.org/officeDocument/2006/relationships/image" Target="../media/image-25-6.svg"/><Relationship Id="rId7" Type="http://schemas.openxmlformats.org/officeDocument/2006/relationships/image" Target="../media/image-25-7.png"/><Relationship Id="rId8" Type="http://schemas.openxmlformats.org/officeDocument/2006/relationships/image" Target="../media/image-25-8.svg"/><Relationship Id="rId9" Type="http://schemas.openxmlformats.org/officeDocument/2006/relationships/image" Target="../media/image-25-9.png"/><Relationship Id="rId10" Type="http://schemas.openxmlformats.org/officeDocument/2006/relationships/image" Target="../media/image-25-10.svg"/><Relationship Id="rId11" Type="http://schemas.openxmlformats.org/officeDocument/2006/relationships/image" Target="../media/image-25-11.png"/><Relationship Id="rId12" Type="http://schemas.openxmlformats.org/officeDocument/2006/relationships/image" Target="../media/image-25-12.svg"/><Relationship Id="rId13" Type="http://schemas.openxmlformats.org/officeDocument/2006/relationships/image" Target="../media/image-25-13.png"/><Relationship Id="rId14" Type="http://schemas.openxmlformats.org/officeDocument/2006/relationships/image" Target="../media/image-25-14.svg"/><Relationship Id="rId15" Type="http://schemas.openxmlformats.org/officeDocument/2006/relationships/image" Target="../media/image-25-15.png"/><Relationship Id="rId16" Type="http://schemas.openxmlformats.org/officeDocument/2006/relationships/image" Target="../media/image-25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4.xml"/><Relationship Id="rId1" Type="http://schemas.openxmlformats.org/officeDocument/2006/relationships/image" Target="../media/image-27-1.png"/><Relationship Id="rId2" Type="http://schemas.openxmlformats.org/officeDocument/2006/relationships/image" Target="../media/image-27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svg"/><Relationship Id="rId3" Type="http://schemas.openxmlformats.org/officeDocument/2006/relationships/image" Target="../media/image-31-3.png"/><Relationship Id="rId4" Type="http://schemas.openxmlformats.org/officeDocument/2006/relationships/image" Target="../media/image-31-4.svg"/><Relationship Id="rId5" Type="http://schemas.openxmlformats.org/officeDocument/2006/relationships/image" Target="../media/image-31-5.png"/><Relationship Id="rId6" Type="http://schemas.openxmlformats.org/officeDocument/2006/relationships/image" Target="../media/image-31-6.svg"/><Relationship Id="rId7" Type="http://schemas.openxmlformats.org/officeDocument/2006/relationships/image" Target="../media/image-31-7.png"/><Relationship Id="rId8" Type="http://schemas.openxmlformats.org/officeDocument/2006/relationships/image" Target="../media/image-31-8.svg"/><Relationship Id="rId9" Type="http://schemas.openxmlformats.org/officeDocument/2006/relationships/image" Target="../media/image-31-9.png"/><Relationship Id="rId10" Type="http://schemas.openxmlformats.org/officeDocument/2006/relationships/image" Target="../media/image-31-10.svg"/><Relationship Id="rId11" Type="http://schemas.openxmlformats.org/officeDocument/2006/relationships/image" Target="../media/image-31-11.png"/><Relationship Id="rId12" Type="http://schemas.openxmlformats.org/officeDocument/2006/relationships/image" Target="../media/image-31-12.svg"/><Relationship Id="rId13" Type="http://schemas.openxmlformats.org/officeDocument/2006/relationships/image" Target="../media/image-31-13.png"/><Relationship Id="rId14" Type="http://schemas.openxmlformats.org/officeDocument/2006/relationships/image" Target="../media/image-31-14.svg"/><Relationship Id="rId15" Type="http://schemas.openxmlformats.org/officeDocument/2006/relationships/image" Target="../media/image-31-15.png"/><Relationship Id="rId16" Type="http://schemas.openxmlformats.org/officeDocument/2006/relationships/image" Target="../media/image-31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svg"/><Relationship Id="rId3" Type="http://schemas.openxmlformats.org/officeDocument/2006/relationships/image" Target="../media/image-32-3.png"/><Relationship Id="rId4" Type="http://schemas.openxmlformats.org/officeDocument/2006/relationships/image" Target="../media/image-32-4.svg"/><Relationship Id="rId5" Type="http://schemas.openxmlformats.org/officeDocument/2006/relationships/image" Target="../media/image-32-5.png"/><Relationship Id="rId6" Type="http://schemas.openxmlformats.org/officeDocument/2006/relationships/image" Target="../media/image-32-6.svg"/><Relationship Id="rId7" Type="http://schemas.openxmlformats.org/officeDocument/2006/relationships/image" Target="../media/image-32-7.png"/><Relationship Id="rId8" Type="http://schemas.openxmlformats.org/officeDocument/2006/relationships/image" Target="../media/image-32-8.svg"/><Relationship Id="rId9" Type="http://schemas.openxmlformats.org/officeDocument/2006/relationships/image" Target="../media/image-32-9.png"/><Relationship Id="rId10" Type="http://schemas.openxmlformats.org/officeDocument/2006/relationships/image" Target="../media/image-32-10.svg"/><Relationship Id="rId11" Type="http://schemas.openxmlformats.org/officeDocument/2006/relationships/image" Target="../media/image-32-11.png"/><Relationship Id="rId12" Type="http://schemas.openxmlformats.org/officeDocument/2006/relationships/image" Target="../media/image-32-12.svg"/><Relationship Id="rId13" Type="http://schemas.openxmlformats.org/officeDocument/2006/relationships/image" Target="../media/image-32-13.png"/><Relationship Id="rId14" Type="http://schemas.openxmlformats.org/officeDocument/2006/relationships/image" Target="../media/image-32-14.svg"/><Relationship Id="rId15" Type="http://schemas.openxmlformats.org/officeDocument/2006/relationships/image" Target="../media/image-32-15.png"/><Relationship Id="rId16" Type="http://schemas.openxmlformats.org/officeDocument/2006/relationships/image" Target="../media/image-3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5.xml"/><Relationship Id="rId1" Type="http://schemas.openxmlformats.org/officeDocument/2006/relationships/image" Target="../media/image-35-1.png"/><Relationship Id="rId2" Type="http://schemas.openxmlformats.org/officeDocument/2006/relationships/image" Target="../media/image-35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0" y="5806440"/>
            <a:ext cx="12191695" cy="1051560"/>
          </a:xfrm>
          <a:prstGeom prst="rect">
            <a:avLst/>
          </a:prstGeom>
          <a:solidFill>
            <a:srgbClr val="9E0F62">
              <a:alpha val="92000"/>
            </a:srgbClr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5559552"/>
            <a:ext cx="3749040" cy="731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External Markdown Visual Evaluation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6382512"/>
            <a:ext cx="2011680" cy="4572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080760" y="1389888"/>
            <a:ext cx="22860" cy="4846320"/>
          </a:xfrm>
          <a:prstGeom prst="rect">
            <a:avLst/>
          </a:prstGeom>
          <a:solidFill>
            <a:srgbClr val="C6CCC9">
              <a:alpha val="9000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389888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2103120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2816352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3529584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4242816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4956048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5669280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72784" y="1389888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72784" y="2103120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72784" y="2816352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72784" y="3529584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72784" y="4242816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72784" y="4956048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72784" y="5669280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</a:t>
            </a:r>
            <a:endParaRPr lang="en-US" sz="3800" dirty="0"/>
          </a:p>
        </p:txBody>
      </p:sp>
      <p:sp>
        <p:nvSpPr>
          <p:cNvPr id="26" name="Text 24"/>
          <p:cNvSpPr txBox="1"/>
          <p:nvPr/>
        </p:nvSpPr>
        <p:spPr>
          <a:xfrm>
            <a:off x="1042416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Runtime Boundary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1042416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Unified Pipeline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1042416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Teaser Rubric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1042416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Iteration Plan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1042416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Feedback Applied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1042416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Evidence Mix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1042416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Project Pipeline Source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6492240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Local Pipeline Notes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6492240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01. React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6492240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02. Vite</a:t>
            </a:r>
            <a:endParaRPr lang="en-US" sz="1800" dirty="0"/>
          </a:p>
        </p:txBody>
      </p:sp>
      <p:sp>
        <p:nvSpPr>
          <p:cNvPr id="36" name="Text 34"/>
          <p:cNvSpPr txBox="1"/>
          <p:nvPr/>
        </p:nvSpPr>
        <p:spPr>
          <a:xfrm>
            <a:off x="6492240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03. Vue</a:t>
            </a:r>
            <a:endParaRPr lang="en-US" sz="1800" dirty="0"/>
          </a:p>
        </p:txBody>
      </p:sp>
      <p:sp>
        <p:nvSpPr>
          <p:cNvPr id="37" name="Text 35"/>
          <p:cNvSpPr txBox="1"/>
          <p:nvPr/>
        </p:nvSpPr>
        <p:spPr>
          <a:xfrm>
            <a:off x="6492240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04. Svelte</a:t>
            </a:r>
            <a:endParaRPr lang="en-US" sz="1800" dirty="0"/>
          </a:p>
        </p:txBody>
      </p:sp>
      <p:sp>
        <p:nvSpPr>
          <p:cNvPr id="38" name="Text 36"/>
          <p:cNvSpPr txBox="1"/>
          <p:nvPr/>
        </p:nvSpPr>
        <p:spPr>
          <a:xfrm>
            <a:off x="6492240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05. TypeScript</a:t>
            </a:r>
            <a:endParaRPr lang="en-US" sz="1800" dirty="0"/>
          </a:p>
        </p:txBody>
      </p:sp>
      <p:sp>
        <p:nvSpPr>
          <p:cNvPr id="39" name="Text 37"/>
          <p:cNvSpPr txBox="1"/>
          <p:nvPr/>
        </p:nvSpPr>
        <p:spPr>
          <a:xfrm>
            <a:off x="6492240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06. Node.js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6382512"/>
            <a:ext cx="2011680" cy="4572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080760" y="1389888"/>
            <a:ext cx="22860" cy="4846320"/>
          </a:xfrm>
          <a:prstGeom prst="rect">
            <a:avLst/>
          </a:prstGeom>
          <a:solidFill>
            <a:srgbClr val="C6CCC9">
              <a:alpha val="9000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389888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2103120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2816352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3529584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4242816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4956048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5669280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72784" y="1389888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72784" y="2103120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72784" y="2816352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72784" y="3529584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72784" y="4242816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72784" y="4956048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72784" y="5669280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 (Cont. 2/3)</a:t>
            </a:r>
            <a:endParaRPr lang="en-US" sz="3800" dirty="0"/>
          </a:p>
        </p:txBody>
      </p:sp>
      <p:sp>
        <p:nvSpPr>
          <p:cNvPr id="26" name="Text 24"/>
          <p:cNvSpPr txBox="1"/>
          <p:nvPr/>
        </p:nvSpPr>
        <p:spPr>
          <a:xfrm>
            <a:off x="1042416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07. Express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1042416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08. FastAPI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1042416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09. OpenAI Python API library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1042416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10. LangChain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1042416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11. Playwright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1042416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12. Tailwind CSS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1042416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13. Kubernetes (K8s)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6492240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14. Rust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6492240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15. PyTorch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6492240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16. TensorFlow</a:t>
            </a:r>
            <a:endParaRPr lang="en-US" sz="1800" dirty="0"/>
          </a:p>
        </p:txBody>
      </p:sp>
      <p:sp>
        <p:nvSpPr>
          <p:cNvPr id="36" name="Text 34"/>
          <p:cNvSpPr txBox="1"/>
          <p:nvPr/>
        </p:nvSpPr>
        <p:spPr>
          <a:xfrm>
            <a:off x="6492240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17. pandas: A Powerful Python Data Analysis Toolkit</a:t>
            </a:r>
            <a:endParaRPr lang="en-US" sz="1800" dirty="0"/>
          </a:p>
        </p:txBody>
      </p:sp>
      <p:sp>
        <p:nvSpPr>
          <p:cNvPr id="37" name="Text 35"/>
          <p:cNvSpPr txBox="1"/>
          <p:nvPr/>
        </p:nvSpPr>
        <p:spPr>
          <a:xfrm>
            <a:off x="6492240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18. NumPy</a:t>
            </a:r>
            <a:endParaRPr lang="en-US" sz="1800" dirty="0"/>
          </a:p>
        </p:txBody>
      </p:sp>
      <p:sp>
        <p:nvSpPr>
          <p:cNvPr id="38" name="Text 36"/>
          <p:cNvSpPr txBox="1"/>
          <p:nvPr/>
        </p:nvSpPr>
        <p:spPr>
          <a:xfrm>
            <a:off x="6492240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19. Transformers</a:t>
            </a:r>
            <a:endParaRPr lang="en-US" sz="1800" dirty="0"/>
          </a:p>
        </p:txBody>
      </p:sp>
      <p:sp>
        <p:nvSpPr>
          <p:cNvPr id="39" name="Text 37"/>
          <p:cNvSpPr txBox="1"/>
          <p:nvPr/>
        </p:nvSpPr>
        <p:spPr>
          <a:xfrm>
            <a:off x="6492240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20. D3: Data-Driven Documents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2057400"/>
            <a:ext cx="10515600" cy="457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5330952"/>
            <a:ext cx="2011680" cy="4572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2258568"/>
            <a:ext cx="73152" cy="84124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3300984"/>
            <a:ext cx="73152" cy="84124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4343400"/>
            <a:ext cx="73152" cy="84124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 (Cont. 3/3)</a:t>
            </a:r>
            <a:endParaRPr lang="en-US" sz="3800" dirty="0"/>
          </a:p>
        </p:txBody>
      </p:sp>
      <p:sp>
        <p:nvSpPr>
          <p:cNvPr id="14" name="Text 12"/>
          <p:cNvSpPr txBox="1"/>
          <p:nvPr/>
        </p:nvSpPr>
        <p:spPr>
          <a:xfrm>
            <a:off x="1042416" y="2350008"/>
            <a:ext cx="10094976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21. Apache ECharts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1042416" y="3392424"/>
            <a:ext cx="10094976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22. Plotly.py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1042416" y="4434840"/>
            <a:ext cx="10094976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23. The System Design Primer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9E0F62">
              <a:alpha val="80000"/>
            </a:srgbClr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Runtime Boundary</a:t>
            </a:r>
            <a:endParaRPr lang="en-US" sz="3400" dirty="0"/>
          </a:p>
        </p:txBody>
      </p:sp>
      <p:sp>
        <p:nvSpPr>
          <p:cNvPr id="19" name="Shape 14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0" name="Image 3" descr="verified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Parses Markdown, keeps graphs whole, selects layouts, applies theme colors, renders PPTX, and validates overflow.</a:t>
            </a:r>
            <a:endParaRPr lang="en-US" sz="2200" dirty="0"/>
          </a:p>
        </p:txBody>
      </p:sp>
      <p:sp>
        <p:nvSpPr>
          <p:cNvPr id="22" name="Shape 16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3" name="Image 4" descr="chart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mdpr-skill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Collects evidence and may add review notes, but does not choose final coordinates, colors, typography, or object geometry.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6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Evaluation target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Compare generated slides against research/product teaser expectations: clear focal message, hierarchy, restrained contrast, and bounded text.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Unified Pipeline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4002024" y="2354580"/>
            <a:ext cx="457200" cy="0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7748016" y="2354580"/>
            <a:ext cx="457200" cy="0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9849612" y="2887127"/>
            <a:ext cx="0" cy="416235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9849612" y="4368455"/>
            <a:ext cx="0" cy="416235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748016" y="5317236"/>
            <a:ext cx="457200" cy="0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headEnd type="triangle"/>
          </a:ln>
        </p:spPr>
      </p:sp>
      <p:sp>
        <p:nvSpPr>
          <p:cNvPr id="14" name="Shape 12"/>
          <p:cNvSpPr/>
          <p:nvPr/>
        </p:nvSpPr>
        <p:spPr>
          <a:xfrm>
            <a:off x="4002024" y="5317236"/>
            <a:ext cx="457200" cy="0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headEnd type="triangle"/>
          </a:ln>
        </p:spPr>
      </p:sp>
      <p:sp>
        <p:nvSpPr>
          <p:cNvPr id="15" name="Shape 13"/>
          <p:cNvSpPr/>
          <p:nvPr/>
        </p:nvSpPr>
        <p:spPr>
          <a:xfrm>
            <a:off x="640080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BF8F3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0080" y="1769364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4672" y="2167311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04672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4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325514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Downloaded Markdown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4386072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BF8F3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386072" y="1769364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50664" y="2167311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50664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4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5071506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Parser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8132064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BF8F3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132064" y="1769364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296656" y="2167311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96656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4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8817498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Slide Splitter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132064" y="3250692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BF8F3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132064" y="3250692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96656" y="3648639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296656" y="3648639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4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8817498" y="3378708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Planner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8132064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BF8F3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8132064" y="4732020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296656" y="5129967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296656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4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8817498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PPTX Renderer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4386072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BF8F3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4386072" y="4732020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550664" y="5129967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4550664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4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5071506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PNG Visual QA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640080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BF8F3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640080" y="4732020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04672" y="5129967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804672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4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</a:t>
            </a:r>
            <a:endParaRPr lang="en-US" sz="1500" dirty="0"/>
          </a:p>
        </p:txBody>
      </p:sp>
      <p:sp>
        <p:nvSpPr>
          <p:cNvPr id="49" name="Text 47"/>
          <p:cNvSpPr txBox="1"/>
          <p:nvPr/>
        </p:nvSpPr>
        <p:spPr>
          <a:xfrm>
            <a:off x="1325514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Improvement Notes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Rubric</a:t>
            </a:r>
            <a:endParaRPr lang="en-US" sz="3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7543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Criterion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Requirement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Failure 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Focal message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One readable headline and primary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dominant title or all-text wall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Hierarchy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3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title &gt;= section &gt;= body; proof objects carry emphasis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3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tiny title or random accents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3">
                        <a:alpha val="80000"/>
                      </a:srgbClr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Coherence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same-rule layouts across every source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per-source manual styling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Boundaries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3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and shapes stay inside slide and parent boxes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3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overflow or clipped rows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3">
                        <a:alpha val="80000"/>
                      </a:srgbClr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Teaser quality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resembles a paper/product teaser in density and polish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blank, generic, or palette-only output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9E0F62">
              <a:alpha val="80000"/>
            </a:srgbClr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Iteration Plan</a:t>
            </a:r>
            <a:endParaRPr lang="en-US" sz="3400" dirty="0"/>
          </a:p>
        </p:txBody>
      </p:sp>
      <p:sp>
        <p:nvSpPr>
          <p:cNvPr id="19" name="Shape 14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0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pass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iteration 4 of 4.</a:t>
            </a:r>
            <a:endParaRPr lang="en-US" sz="2200" dirty="0"/>
          </a:p>
        </p:txBody>
      </p:sp>
      <p:sp>
        <p:nvSpPr>
          <p:cNvPr id="22" name="Shape 16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3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99321" y="3322320"/>
            <a:ext cx="9255191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All passes use the same MDPR parser, layout planner, PPTX renderer, and visual validation path.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6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699321" y="4639056"/>
            <a:ext cx="9255191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corpus is one combined deck, not a set of hand-tuned per-file decks.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9E0F62">
              <a:alpha val="80000"/>
            </a:srgbClr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Feedback Applied</a:t>
            </a:r>
            <a:endParaRPr lang="en-US" sz="3400" dirty="0"/>
          </a:p>
        </p:txBody>
      </p:sp>
      <p:sp>
        <p:nvSpPr>
          <p:cNvPr id="19" name="Shape 14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0" name="Image 3" descr="chart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99321" y="1996440"/>
            <a:ext cx="9255191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Convert long imported paragraphs into bounded executive bullets before MDPR layout.</a:t>
            </a:r>
            <a:endParaRPr lang="en-US" sz="2200" dirty="0"/>
          </a:p>
        </p:txBody>
      </p:sp>
      <p:sp>
        <p:nvSpPr>
          <p:cNvPr id="22" name="Shape 16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3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99321" y="3322320"/>
            <a:ext cx="9255191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Keep source identity as section context, not as large decorative badges.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6" name="Image 5" descr="cod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699321" y="4639056"/>
            <a:ext cx="9255191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Preserve tables, code fences, and pipeline syntax so MDPR can choose the right object family.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4956048" y="1426464"/>
            <a:ext cx="6199632" cy="440740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Mix</a:t>
            </a:r>
            <a:endParaRPr lang="en-US" sz="3400" dirty="0"/>
          </a:p>
        </p:txBody>
      </p:sp>
      <p:sp>
        <p:nvSpPr>
          <p:cNvPr id="12" name="Text 9"/>
          <p:cNvSpPr txBox="1"/>
          <p:nvPr/>
        </p:nvSpPr>
        <p:spPr>
          <a:xfrm>
            <a:off x="914400" y="2365248"/>
            <a:ext cx="3675888" cy="14325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The chart is generated from corpus-level structure rather than a custom drawing path.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914400" y="3797808"/>
            <a:ext cx="3675888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This adds a teaser-style proof object without per-source tuning.</a:t>
            </a:r>
            <a:endParaRPr lang="en-US" sz="22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Project Pipeline Source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headEnd type="triangle"/>
          </a:ln>
        </p:spPr>
      </p:sp>
      <p:sp>
        <p:nvSpPr>
          <p:cNvPr id="13" name="Shape 11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BF8F3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4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intake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BF8F3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4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tags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BF8F3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4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Deterministic MDPR rules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BF8F3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4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PPTX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BF8F3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4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Rendered PNG validation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20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Local Pipeline Notes</a:t>
            </a:r>
            <a:endParaRPr lang="en-US" sz="3400" dirty="0"/>
          </a:p>
        </p:txBody>
      </p:sp>
      <p:sp>
        <p:nvSpPr>
          <p:cNvPr id="21" name="Shape 15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2" name="Image 4" descr="spark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owns the presentation runtime. The LLM is optional and only provides short semantic tags when needed; it does not reason through layout, choose coordinates, colors, variants,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5" name="Image 5" descr="palett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Optional agent tags are hints only. Deterministic rules own layout, style, z-order, theme colors, proof objects, icon slots, and renderer-specific output.</a:t>
            </a:r>
            <a:endParaRPr lang="en-US" sz="2200" dirty="0"/>
          </a:p>
        </p:txBody>
      </p:sp>
      <p:sp>
        <p:nvSpPr>
          <p:cNvPr id="27" name="Shape 19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8" name="Image 6" descr="flow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generated pipeline overview uses this file as its content source. The image generator reads the pipeline-image block below, applies the project layout rules, builds a one-slide</a:t>
            </a:r>
            <a:endParaRPr lang="en-US" sz="2200" dirty="0"/>
          </a:p>
        </p:txBody>
      </p:sp>
      <p:sp>
        <p:nvSpPr>
          <p:cNvPr id="30" name="Shape 21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31" name="Image 7" descr="palett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selected theme is sage-editorial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 warm editorial palette that combines flow colors, section accents, validation contrast, and quiet support surfaces. Point elements such as v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4400" y="1417320"/>
            <a:ext cx="10241280" cy="132588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 React</a:t>
            </a:r>
            <a:endParaRPr lang="en-US" sz="3400" dirty="0"/>
          </a:p>
        </p:txBody>
      </p:sp>
      <p:sp>
        <p:nvSpPr>
          <p:cNvPr id="13" name="Text 10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React is evaluated as a Markdown-to-PPTX coherence source.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9 headings, 0 table-like lines, 1 fenced code blocks.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Design target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Preserve hierarchy while avoiding repeated card-only continuation slides.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4956048" y="1426464"/>
            <a:ext cx="6199632" cy="440740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 Vite</a:t>
            </a:r>
            <a:endParaRPr lang="en-US" sz="3400" dirty="0"/>
          </a:p>
        </p:txBody>
      </p:sp>
      <p:sp>
        <p:nvSpPr>
          <p:cNvPr id="12" name="Text 9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vite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Proof use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Numeric structure is shown as a chart beside explanatory text.</a:t>
            </a:r>
            <a:endParaRPr lang="en-US" sz="220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 Vue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Before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Imported Markdown often becomes a repeated list-card continuation.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After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 same source is routed through comparison, table, chart, or diagram layouts when the structure supports it.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 Svelte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3076213" y="3835908"/>
            <a:ext cx="435826" cy="0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5885707" y="3835908"/>
            <a:ext cx="435826" cy="0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8695201" y="3835908"/>
            <a:ext cx="435826" cy="0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40080" y="3232404"/>
            <a:ext cx="2498598" cy="1207008"/>
          </a:xfrm>
          <a:prstGeom prst="roundRect">
            <a:avLst>
              <a:gd name="adj" fmla="val 4545"/>
            </a:avLst>
          </a:prstGeom>
          <a:solidFill>
            <a:srgbClr val="FBF8F3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0080" y="3232404"/>
            <a:ext cx="2498598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9996" y="3642787"/>
            <a:ext cx="386243" cy="386243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89996" y="3642787"/>
            <a:ext cx="386243" cy="38624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4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322542" y="3360420"/>
            <a:ext cx="1651544" cy="95097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7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intake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3449574" y="3232404"/>
            <a:ext cx="2498598" cy="1207008"/>
          </a:xfrm>
          <a:prstGeom prst="roundRect">
            <a:avLst>
              <a:gd name="adj" fmla="val 4545"/>
            </a:avLst>
          </a:prstGeom>
          <a:solidFill>
            <a:srgbClr val="FBF8F3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449574" y="3232404"/>
            <a:ext cx="2498598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599490" y="3642787"/>
            <a:ext cx="386243" cy="386243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599490" y="3642787"/>
            <a:ext cx="386243" cy="38624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4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4132036" y="3360420"/>
            <a:ext cx="1651544" cy="95097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7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Svelte structure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259068" y="3232404"/>
            <a:ext cx="2498598" cy="1207008"/>
          </a:xfrm>
          <a:prstGeom prst="roundRect">
            <a:avLst>
              <a:gd name="adj" fmla="val 4545"/>
            </a:avLst>
          </a:prstGeom>
          <a:solidFill>
            <a:srgbClr val="FBF8F3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259068" y="3232404"/>
            <a:ext cx="2498598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8984" y="3642787"/>
            <a:ext cx="386243" cy="386243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08984" y="3642787"/>
            <a:ext cx="386243" cy="38624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4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6941530" y="3360420"/>
            <a:ext cx="1651544" cy="95097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7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layout choice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9068562" y="3232404"/>
            <a:ext cx="2498598" cy="1207008"/>
          </a:xfrm>
          <a:prstGeom prst="roundRect">
            <a:avLst>
              <a:gd name="adj" fmla="val 4545"/>
            </a:avLst>
          </a:prstGeom>
          <a:solidFill>
            <a:srgbClr val="FBF8F3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9068562" y="3232404"/>
            <a:ext cx="2498598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218478" y="3642787"/>
            <a:ext cx="386243" cy="386243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218478" y="3642787"/>
            <a:ext cx="386243" cy="38624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4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9751024" y="3360420"/>
            <a:ext cx="1651544" cy="95097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7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PPTX visual QA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05. TypeScript</a:t>
            </a:r>
            <a:endParaRPr lang="en-US" sz="34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Value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Use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Headings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section planning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3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3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table-aware 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3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Code fences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code-focus 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20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06. Node.js</a:t>
            </a:r>
            <a:endParaRPr lang="en-US" sz="3400" dirty="0"/>
          </a:p>
        </p:txBody>
      </p:sp>
      <p:sp>
        <p:nvSpPr>
          <p:cNvPr id="21" name="Shape 15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2" name="Image 4" descr="github icon from simple-icons (CC0-1.0 with brand guidelines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node from https://raw.githubusercontent.com/nodejs/node/main/README.md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5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17 headings, 0 table-like lines, 3 fenced code blocks.</a:t>
            </a:r>
            <a:endParaRPr lang="en-US" sz="2200" dirty="0"/>
          </a:p>
        </p:txBody>
      </p:sp>
      <p:sp>
        <p:nvSpPr>
          <p:cNvPr id="27" name="Shape 19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8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1689354" y="4495800"/>
            <a:ext cx="396163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and LTS releases</a:t>
            </a:r>
            <a:endParaRPr lang="en-US" sz="2200" dirty="0"/>
          </a:p>
        </p:txBody>
      </p:sp>
      <p:sp>
        <p:nvSpPr>
          <p:cNvPr id="30" name="Shape 21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31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7175754" y="4495800"/>
            <a:ext cx="396163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Contributing to Node.js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06. Node.js (Cont. 2/2)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3535680"/>
            <a:ext cx="47914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Current project team members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473952" y="3368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TSC (Technical Steering Committee)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4400" y="1417320"/>
            <a:ext cx="10241280" cy="132588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07. Express</a:t>
            </a:r>
            <a:endParaRPr lang="en-US" sz="3400" dirty="0"/>
          </a:p>
        </p:txBody>
      </p:sp>
      <p:sp>
        <p:nvSpPr>
          <p:cNvPr id="13" name="Text 10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Express is evaluated as a Markdown-to-PPTX coherence source.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14 headings, 0 table-like lines, 11 fenced code blocks.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Design target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Preserve hierarchy while avoiding repeated card-only continuation slides.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4956048" y="1426464"/>
            <a:ext cx="6199632" cy="440740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08. FastAPI</a:t>
            </a:r>
            <a:endParaRPr lang="en-US" sz="3400" dirty="0"/>
          </a:p>
        </p:txBody>
      </p:sp>
      <p:sp>
        <p:nvSpPr>
          <p:cNvPr id="12" name="Text 9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fastapi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Proof use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Numeric structure is shown as a chart beside explanatory text.</a:t>
            </a:r>
            <a:endParaRPr lang="en-US" sz="220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09. OpenAI Python API library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Before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Imported Markdown often becomes a repeated list-card continuation.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After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 same source is routed through comparison, table, chart, or diagram layouts when the structure supports it.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10. LangChain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3076213" y="3835908"/>
            <a:ext cx="435826" cy="0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5885707" y="3835908"/>
            <a:ext cx="435826" cy="0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8695201" y="3835908"/>
            <a:ext cx="435826" cy="0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40080" y="3232404"/>
            <a:ext cx="2498598" cy="1207008"/>
          </a:xfrm>
          <a:prstGeom prst="roundRect">
            <a:avLst>
              <a:gd name="adj" fmla="val 4545"/>
            </a:avLst>
          </a:prstGeom>
          <a:solidFill>
            <a:srgbClr val="FBF8F3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0080" y="3232404"/>
            <a:ext cx="2498598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9996" y="3642787"/>
            <a:ext cx="386243" cy="386243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89996" y="3642787"/>
            <a:ext cx="386243" cy="38624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4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322542" y="3360420"/>
            <a:ext cx="1651544" cy="95097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7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intake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3449574" y="3232404"/>
            <a:ext cx="2498598" cy="1207008"/>
          </a:xfrm>
          <a:prstGeom prst="roundRect">
            <a:avLst>
              <a:gd name="adj" fmla="val 4545"/>
            </a:avLst>
          </a:prstGeom>
          <a:solidFill>
            <a:srgbClr val="FBF8F3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449574" y="3232404"/>
            <a:ext cx="2498598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599490" y="3642787"/>
            <a:ext cx="386243" cy="386243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599490" y="3642787"/>
            <a:ext cx="386243" cy="38624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4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4132036" y="3360420"/>
            <a:ext cx="1651544" cy="95097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7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LangChain structure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259068" y="3232404"/>
            <a:ext cx="2498598" cy="1207008"/>
          </a:xfrm>
          <a:prstGeom prst="roundRect">
            <a:avLst>
              <a:gd name="adj" fmla="val 4545"/>
            </a:avLst>
          </a:prstGeom>
          <a:solidFill>
            <a:srgbClr val="FBF8F3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259068" y="3232404"/>
            <a:ext cx="2498598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8984" y="3642787"/>
            <a:ext cx="386243" cy="386243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08984" y="3642787"/>
            <a:ext cx="386243" cy="38624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4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6941530" y="3360420"/>
            <a:ext cx="1651544" cy="95097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7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layout choice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9068562" y="3232404"/>
            <a:ext cx="2498598" cy="1207008"/>
          </a:xfrm>
          <a:prstGeom prst="roundRect">
            <a:avLst>
              <a:gd name="adj" fmla="val 4545"/>
            </a:avLst>
          </a:prstGeom>
          <a:solidFill>
            <a:srgbClr val="FBF8F3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9068562" y="3232404"/>
            <a:ext cx="2498598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218478" y="3642787"/>
            <a:ext cx="386243" cy="386243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218478" y="3642787"/>
            <a:ext cx="386243" cy="38624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4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9751024" y="3360420"/>
            <a:ext cx="1651544" cy="95097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7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PPTX visual QA</a:t>
            </a:r>
            <a:endParaRPr lang="en-US" sz="17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11. Playwright</a:t>
            </a:r>
            <a:endParaRPr lang="en-US" sz="34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Value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Use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Headings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section planning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3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3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table-aware 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3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Code fences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code-focus 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20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12. Tailwind CSS</a:t>
            </a:r>
            <a:endParaRPr lang="en-US" sz="3400" dirty="0"/>
          </a:p>
        </p:txBody>
      </p:sp>
      <p:sp>
        <p:nvSpPr>
          <p:cNvPr id="21" name="Shape 15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2" name="Image 4" descr="github icon from simple-icons (CC0-1.0 with brand guidelines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tailwindcss from https://raw.githubusercontent.com/tailwindlabs/tailwindcss/main/README.md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5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3 headings, 0 table-like lines, 0 fenced code blocks.</a:t>
            </a:r>
            <a:endParaRPr lang="en-US" sz="2200" dirty="0"/>
          </a:p>
        </p:txBody>
      </p:sp>
      <p:sp>
        <p:nvSpPr>
          <p:cNvPr id="27" name="Shape 19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8" name="Image 6" descr="cloud icon from svgrepo (open-license catalog pattern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1689354" y="3992880"/>
            <a:ext cx="3961638" cy="14325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 utility-first CSS framework for rapidly building custom user interfaces.</a:t>
            </a:r>
            <a:endParaRPr lang="en-US" sz="2200" dirty="0"/>
          </a:p>
        </p:txBody>
      </p:sp>
      <p:sp>
        <p:nvSpPr>
          <p:cNvPr id="30" name="Shape 21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31" name="Image 7" descr="github icon from simple-icons (CC0-1.0 with brand guidelines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If you're interested in contributing to Tailwind CSS, please read our contributing docs </a:t>
            </a:r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before submitting a pull request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</a:t>
            </a:r>
            <a:endParaRPr lang="en-US" sz="2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4400" y="1417320"/>
            <a:ext cx="10241280" cy="132588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13. Kubernetes (K8s)</a:t>
            </a:r>
            <a:endParaRPr lang="en-US" sz="3400" dirty="0"/>
          </a:p>
        </p:txBody>
      </p:sp>
      <p:sp>
        <p:nvSpPr>
          <p:cNvPr id="13" name="Text 10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Kubernetes (K8s) is evaluated as a Markdown-to-PPTX coherence source.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8 headings, 0 table-like lines, 2 fenced code blocks.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Design target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Preserve hierarchy while avoiding repeated card-only continuation slides.</a:t>
            </a:r>
            <a:endParaRPr lang="en-US" sz="2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4956048" y="1426464"/>
            <a:ext cx="6199632" cy="440740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14. Rust</a:t>
            </a:r>
            <a:endParaRPr lang="en-US" sz="3400" dirty="0"/>
          </a:p>
        </p:txBody>
      </p:sp>
      <p:sp>
        <p:nvSpPr>
          <p:cNvPr id="12" name="Text 9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rust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Proof use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Numeric structure is shown as a chart beside explanatory text.</a:t>
            </a:r>
            <a:endParaRPr lang="en-US" sz="220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15. PyTorch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Before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Imported Markdown often becomes a repeated list-card continuation.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After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 same source is routed through comparison, table, chart, or diagram layouts when the structure supports it.</a:t>
            </a:r>
            <a:endParaRPr lang="en-US" sz="2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16. TensorFlow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3076213" y="3835908"/>
            <a:ext cx="435826" cy="0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5885707" y="3835908"/>
            <a:ext cx="435826" cy="0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8695201" y="3835908"/>
            <a:ext cx="435826" cy="0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40080" y="3232404"/>
            <a:ext cx="2498598" cy="1207008"/>
          </a:xfrm>
          <a:prstGeom prst="roundRect">
            <a:avLst>
              <a:gd name="adj" fmla="val 4545"/>
            </a:avLst>
          </a:prstGeom>
          <a:solidFill>
            <a:srgbClr val="FBF8F3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0080" y="3232404"/>
            <a:ext cx="2498598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9996" y="3642787"/>
            <a:ext cx="386243" cy="386243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89996" y="3642787"/>
            <a:ext cx="386243" cy="38624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4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322542" y="3360420"/>
            <a:ext cx="1651544" cy="95097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7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intake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3449574" y="3232404"/>
            <a:ext cx="2498598" cy="1207008"/>
          </a:xfrm>
          <a:prstGeom prst="roundRect">
            <a:avLst>
              <a:gd name="adj" fmla="val 4545"/>
            </a:avLst>
          </a:prstGeom>
          <a:solidFill>
            <a:srgbClr val="FBF8F3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449574" y="3232404"/>
            <a:ext cx="2498598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599490" y="3642787"/>
            <a:ext cx="386243" cy="386243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599490" y="3642787"/>
            <a:ext cx="386243" cy="38624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4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4132036" y="3360420"/>
            <a:ext cx="1651544" cy="95097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7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TensorFlow structure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259068" y="3232404"/>
            <a:ext cx="2498598" cy="1207008"/>
          </a:xfrm>
          <a:prstGeom prst="roundRect">
            <a:avLst>
              <a:gd name="adj" fmla="val 4545"/>
            </a:avLst>
          </a:prstGeom>
          <a:solidFill>
            <a:srgbClr val="FBF8F3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259068" y="3232404"/>
            <a:ext cx="2498598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8984" y="3642787"/>
            <a:ext cx="386243" cy="386243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08984" y="3642787"/>
            <a:ext cx="386243" cy="38624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4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6941530" y="3360420"/>
            <a:ext cx="1651544" cy="95097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7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layout choice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9068562" y="3232404"/>
            <a:ext cx="2498598" cy="1207008"/>
          </a:xfrm>
          <a:prstGeom prst="roundRect">
            <a:avLst>
              <a:gd name="adj" fmla="val 4545"/>
            </a:avLst>
          </a:prstGeom>
          <a:solidFill>
            <a:srgbClr val="FBF8F3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9068562" y="3232404"/>
            <a:ext cx="2498598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218478" y="3642787"/>
            <a:ext cx="386243" cy="386243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218478" y="3642787"/>
            <a:ext cx="386243" cy="38624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4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9751024" y="3360420"/>
            <a:ext cx="1651544" cy="95097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7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PPTX visual QA</a:t>
            </a:r>
            <a:endParaRPr lang="en-US" sz="17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17. pandas: A Powerful Python Data Analysis Toolkit</a:t>
            </a:r>
            <a:endParaRPr lang="en-US" sz="34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Value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Use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Headings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section planning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3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3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table-aware 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3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Code fences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code-focus 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20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18. NumPy</a:t>
            </a:r>
            <a:endParaRPr lang="en-US" sz="3400" dirty="0"/>
          </a:p>
        </p:txBody>
      </p:sp>
      <p:sp>
        <p:nvSpPr>
          <p:cNvPr id="21" name="Shape 15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2" name="Image 4" descr="github icon from simple-icons (CC0-1.0 with brand guidelines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numpy from https://raw.githubusercontent.com/numpy/numpy/main/README.md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5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0 headings, 0 table-like lines, 0 fenced code blocks.</a:t>
            </a:r>
            <a:endParaRPr lang="en-US" sz="2200" dirty="0"/>
          </a:p>
        </p:txBody>
      </p:sp>
      <p:sp>
        <p:nvSpPr>
          <p:cNvPr id="27" name="Shape 19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8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**Website</a:t>
            </a:r>
            <a:endParaRPr lang="en-US" sz="2200" dirty="0"/>
          </a:p>
        </p:txBody>
      </p:sp>
      <p:sp>
        <p:nvSpPr>
          <p:cNvPr id="30" name="Shape 21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31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7376922" y="4495800"/>
            <a:ext cx="3760470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* https://numpy.org</a:t>
            </a:r>
            <a:endParaRPr lang="en-US" sz="2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20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18. NumPy (Cont. 2/3)</a:t>
            </a:r>
            <a:endParaRPr lang="en-US" sz="3400" dirty="0"/>
          </a:p>
        </p:txBody>
      </p:sp>
      <p:sp>
        <p:nvSpPr>
          <p:cNvPr id="21" name="Shape 15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2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**Documentation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5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7376922" y="2209800"/>
            <a:ext cx="3760470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* https://numpy.org/doc</a:t>
            </a:r>
            <a:endParaRPr lang="en-US" sz="2200" dirty="0"/>
          </a:p>
        </p:txBody>
      </p:sp>
      <p:sp>
        <p:nvSpPr>
          <p:cNvPr id="27" name="Shape 19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8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**Mailing list</a:t>
            </a:r>
            <a:endParaRPr lang="en-US" sz="2200" dirty="0"/>
          </a:p>
        </p:txBody>
      </p:sp>
      <p:sp>
        <p:nvSpPr>
          <p:cNvPr id="30" name="Shape 21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31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7376922" y="3992880"/>
            <a:ext cx="3760470" cy="14325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* https://mail.python.org/mailman/listinfo/numpy-discussion</a:t>
            </a:r>
            <a:endParaRPr lang="en-US" sz="2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18. NumPy (Cont. 3/3)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**Source code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675120" y="3368040"/>
            <a:ext cx="4590288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- * https://github.com/numpy/numpy</a:t>
            </a:r>
            <a:endParaRPr lang="en-US" sz="2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4400" y="1417320"/>
            <a:ext cx="10241280" cy="132588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19. Transformers</a:t>
            </a:r>
            <a:endParaRPr lang="en-US" sz="3400" dirty="0"/>
          </a:p>
        </p:txBody>
      </p:sp>
      <p:sp>
        <p:nvSpPr>
          <p:cNvPr id="13" name="Text 10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Transformers is evaluated as a Markdown-to-PPTX coherence source.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13 headings, 0 table-like lines, 10 fenced code blocks.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Design target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Preserve hierarchy while avoiding repeated card-only continuation slides.</a:t>
            </a:r>
            <a:endParaRPr lang="en-US" sz="2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4956048" y="1426464"/>
            <a:ext cx="6199632" cy="440740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20. D3: Data-Driven Documents</a:t>
            </a:r>
            <a:endParaRPr lang="en-US" sz="3400" dirty="0"/>
          </a:p>
        </p:txBody>
      </p:sp>
      <p:sp>
        <p:nvSpPr>
          <p:cNvPr id="12" name="Text 9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d3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Proof use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Numeric structure is shown as a chart beside explanatory text.</a:t>
            </a:r>
            <a:endParaRPr lang="en-US" sz="220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21. Apache ECharts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Before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Imported Markdown often becomes a repeated list-card continuation.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After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 same source is routed through comparison, table, chart, or diagram layouts when the structure supports it.</a:t>
            </a:r>
            <a:endParaRPr lang="en-US" sz="2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22. Plotly.py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3076213" y="3835908"/>
            <a:ext cx="435826" cy="0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5885707" y="3835908"/>
            <a:ext cx="435826" cy="0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8695201" y="3835908"/>
            <a:ext cx="435826" cy="0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40080" y="3232404"/>
            <a:ext cx="2498598" cy="1207008"/>
          </a:xfrm>
          <a:prstGeom prst="roundRect">
            <a:avLst>
              <a:gd name="adj" fmla="val 4545"/>
            </a:avLst>
          </a:prstGeom>
          <a:solidFill>
            <a:srgbClr val="FBF8F3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0080" y="3232404"/>
            <a:ext cx="2498598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9996" y="3642787"/>
            <a:ext cx="386243" cy="386243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89996" y="3642787"/>
            <a:ext cx="386243" cy="38624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4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322542" y="3360420"/>
            <a:ext cx="1651544" cy="95097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7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intake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3449574" y="3232404"/>
            <a:ext cx="2498598" cy="1207008"/>
          </a:xfrm>
          <a:prstGeom prst="roundRect">
            <a:avLst>
              <a:gd name="adj" fmla="val 4545"/>
            </a:avLst>
          </a:prstGeom>
          <a:solidFill>
            <a:srgbClr val="FBF8F3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449574" y="3232404"/>
            <a:ext cx="2498598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599490" y="3642787"/>
            <a:ext cx="386243" cy="386243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599490" y="3642787"/>
            <a:ext cx="386243" cy="38624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4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4132036" y="3360420"/>
            <a:ext cx="1651544" cy="95097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7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Plotly.py structure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259068" y="3232404"/>
            <a:ext cx="2498598" cy="1207008"/>
          </a:xfrm>
          <a:prstGeom prst="roundRect">
            <a:avLst>
              <a:gd name="adj" fmla="val 4545"/>
            </a:avLst>
          </a:prstGeom>
          <a:solidFill>
            <a:srgbClr val="FBF8F3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259068" y="3232404"/>
            <a:ext cx="2498598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8984" y="3642787"/>
            <a:ext cx="386243" cy="386243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08984" y="3642787"/>
            <a:ext cx="386243" cy="38624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4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6941530" y="3360420"/>
            <a:ext cx="1651544" cy="95097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7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layout choice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9068562" y="3232404"/>
            <a:ext cx="2498598" cy="1207008"/>
          </a:xfrm>
          <a:prstGeom prst="roundRect">
            <a:avLst>
              <a:gd name="adj" fmla="val 4545"/>
            </a:avLst>
          </a:prstGeom>
          <a:solidFill>
            <a:srgbClr val="FBF8F3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9068562" y="3232404"/>
            <a:ext cx="2498598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218478" y="3642787"/>
            <a:ext cx="386243" cy="386243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218478" y="3642787"/>
            <a:ext cx="386243" cy="38624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4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9751024" y="3360420"/>
            <a:ext cx="1651544" cy="95097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7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PPTX visual QA</a:t>
            </a:r>
            <a:endParaRPr lang="en-US" sz="17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23. The System Design Primer</a:t>
            </a:r>
            <a:endParaRPr lang="en-US" sz="34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Value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Use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Headings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112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section planning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3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132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3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table-aware 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3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Code fences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code-focus 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8181B"/>
      </a:dk1>
      <a:lt1>
        <a:srgbClr val="F8F4EF"/>
      </a:lt1>
      <a:dk2>
        <a:srgbClr val="57534E"/>
      </a:dk2>
      <a:lt2>
        <a:srgbClr val="FBF8F3"/>
      </a:lt2>
      <a:accent1>
        <a:srgbClr val="0F766E"/>
      </a:accent1>
      <a:accent2>
        <a:srgbClr val="9E0F62"/>
      </a:accent2>
      <a:accent3>
        <a:srgbClr val="9E4C0F"/>
      </a:accent3>
      <a:accent4>
        <a:srgbClr val="15984D"/>
      </a:accent4>
      <a:accent5>
        <a:srgbClr val="156198"/>
      </a:accent5>
      <a:accent6>
        <a:srgbClr val="096760"/>
      </a:accent6>
      <a:hlink>
        <a:srgbClr val="0F766E"/>
      </a:hlink>
      <a:folHlink>
        <a:srgbClr val="9E0F62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External Markdown Visual Evaluation</dc:title>
  <dc:subject>Generated from Markdown through Presentation IR and Layout IR</dc:subject>
  <dc:creator>mdpresent</dc:creator>
  <cp:lastModifiedBy>mdpresent</cp:lastModifiedBy>
  <cp:revision>1</cp:revision>
  <dcterms:created xsi:type="dcterms:W3CDTF">2026-06-20T16:14:33Z</dcterms:created>
  <dcterms:modified xsi:type="dcterms:W3CDTF">2026-06-20T16:14:33Z</dcterms:modified>
</cp:coreProperties>
</file>