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Corpus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Sources</c:v>
                  </c:pt>
                  <c:pt idx="1">
                    <c:v>Headings</c:v>
                  </c:pt>
                  <c:pt idx="2">
                    <c:v>Tables</c:v>
                  </c:pt>
                  <c:pt idx="3">
                    <c:v>Code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</c:v>
                </c:pt>
                <c:pt idx="1">
                  <c:v>96</c:v>
                </c:pt>
                <c:pt idx="2">
                  <c:v>18</c:v>
                </c:pt>
                <c:pt idx="3">
                  <c:v>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Useful</c:v>
                </c:pt>
              </c:strCache>
            </c:strRef>
          </c:tx>
          <c:spPr>
            <a:solidFill>
              <a:srgbClr val="9E0F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Sources</c:v>
                  </c:pt>
                  <c:pt idx="1">
                    <c:v>Headings</c:v>
                  </c:pt>
                  <c:pt idx="2">
                    <c:v>Tables</c:v>
                  </c:pt>
                  <c:pt idx="3">
                    <c:v>Code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72</c:v>
                </c:pt>
                <c:pt idx="2">
                  <c:v>12</c:v>
                </c:pt>
                <c:pt idx="3">
                  <c:v>14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8181B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C6CCC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7534E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7534E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sv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sv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sv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image" Target="../media/image-21-9.png"/><Relationship Id="rId10" Type="http://schemas.openxmlformats.org/officeDocument/2006/relationships/image" Target="../media/image-21-10.sv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sv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sv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svg"/><Relationship Id="rId13" Type="http://schemas.openxmlformats.org/officeDocument/2006/relationships/image" Target="../media/image-23-13.png"/><Relationship Id="rId14" Type="http://schemas.openxmlformats.org/officeDocument/2006/relationships/image" Target="../media/image-23-14.svg"/><Relationship Id="rId15" Type="http://schemas.openxmlformats.org/officeDocument/2006/relationships/image" Target="../media/image-23-15.png"/><Relationship Id="rId16" Type="http://schemas.openxmlformats.org/officeDocument/2006/relationships/image" Target="../media/image-23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image" Target="../media/image-25-9.png"/><Relationship Id="rId10" Type="http://schemas.openxmlformats.org/officeDocument/2006/relationships/image" Target="../media/image-25-10.sv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sv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sv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image" Target="../media/image-27-9.png"/><Relationship Id="rId10" Type="http://schemas.openxmlformats.org/officeDocument/2006/relationships/image" Target="../media/image-27-10.sv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sv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sv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5806440"/>
            <a:ext cx="12191695" cy="1051560"/>
          </a:xfrm>
          <a:prstGeom prst="rect">
            <a:avLst/>
          </a:prstGeom>
          <a:solidFill>
            <a:srgbClr val="9E0F62">
              <a:alpha val="92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5559552"/>
            <a:ext cx="3749040" cy="731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External Markdown Visual Evaluation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6382512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1389888"/>
            <a:ext cx="22860" cy="4846320"/>
          </a:xfrm>
          <a:prstGeom prst="rect">
            <a:avLst/>
          </a:prstGeom>
          <a:solidFill>
            <a:srgbClr val="C6CCC9">
              <a:alpha val="9000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38988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210312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2816352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3529584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242816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95604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566928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389888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2784" y="2103120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2784" y="2816352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72784" y="3529584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72784" y="4242816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72784" y="4956048"/>
            <a:ext cx="73152" cy="5669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5669280"/>
            <a:ext cx="73152" cy="5669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800" dirty="0"/>
          </a:p>
        </p:txBody>
      </p:sp>
      <p:sp>
        <p:nvSpPr>
          <p:cNvPr id="26" name="Text 24"/>
          <p:cNvSpPr txBox="1"/>
          <p:nvPr/>
        </p:nvSpPr>
        <p:spPr>
          <a:xfrm>
            <a:off x="1042416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Runtime Boundary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1042416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Unified Pipeline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042416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Teaser Rubric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1042416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Iteration Plan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Feedback Applied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1042416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Evidence Mix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1042416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01. React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6492240" y="148132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02. Vite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492240" y="219456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03. Vue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6492240" y="2907792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04. Svelte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3621024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05. TypeScript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492240" y="4334256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06. Node.js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5047488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 07. Express</a:t>
            </a:r>
            <a:endParaRPr lang="en-US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6492240" y="5760720"/>
            <a:ext cx="4645152" cy="38404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 08. FastAPI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78608"/>
            <a:ext cx="10515600" cy="45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4809744"/>
            <a:ext cx="2011680" cy="4572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779776"/>
            <a:ext cx="73152" cy="8412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822192"/>
            <a:ext cx="73152" cy="84124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 (Cont. 2/2)</a:t>
            </a:r>
            <a:endParaRPr lang="en-US" sz="3800" dirty="0"/>
          </a:p>
        </p:txBody>
      </p:sp>
      <p:sp>
        <p:nvSpPr>
          <p:cNvPr id="13" name="Text 11"/>
          <p:cNvSpPr txBox="1"/>
          <p:nvPr/>
        </p:nvSpPr>
        <p:spPr>
          <a:xfrm>
            <a:off x="1042416" y="2871216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09. OpenAI Python API library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042416" y="3913632"/>
            <a:ext cx="10094976" cy="65836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10. LangChain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Runtime Boundary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verified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Parses Markdown, keeps graphs whole, selects layouts, applies theme colors, renders PPTX, and validates overflow.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mdpr-skill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Collects evidence and may add review notes, but does not choose final coordinates, colors, typography, or object geometry.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Evaluation target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Compare generated slides against research/product teaser expectations: clear focal message, hierarchy, restrained contrast, and bounded text.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Unified Pipeline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002024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748016" y="2354580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849612" y="2887127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9849612" y="4368455"/>
            <a:ext cx="0" cy="416235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748016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4" name="Shape 12"/>
          <p:cNvSpPr/>
          <p:nvPr/>
        </p:nvSpPr>
        <p:spPr>
          <a:xfrm>
            <a:off x="4002024" y="5317236"/>
            <a:ext cx="457200" cy="0"/>
          </a:xfrm>
          <a:prstGeom prst="line">
            <a:avLst/>
          </a:prstGeom>
          <a:noFill/>
          <a:ln w="12700">
            <a:solidFill>
              <a:srgbClr val="9E4C0F"/>
            </a:solidFill>
            <a:prstDash val="solid"/>
            <a:head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514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Downloaded Markdown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386072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86072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50664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50664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71506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Parser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1769364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1769364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2167311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2167311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1897380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Slide Splitter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132064" y="3250692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2064" y="3250692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96656" y="3648639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96656" y="3648639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817498" y="3378708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Planner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132064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132064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96656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296656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817498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PPTX Renderer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386072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386072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50664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550664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071506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PNG Visual QA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40080" y="4732020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BF8F3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40080" y="4732020"/>
            <a:ext cx="3435096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4672" y="5129967"/>
            <a:ext cx="374538" cy="37453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4672" y="5129967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8F4E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325514" y="4860036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Improvement Notes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526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14400" y="1417320"/>
            <a:ext cx="10241280" cy="452628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Teaser Rubric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17320"/>
          <a:ext cx="10241280" cy="452628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7543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Criterion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Requirement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Failure Signal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Focal message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One readable headline and primary object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dominant title or all-text wall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Hierarchy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title &gt;= section &gt;= body; proof objects carry emphasis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tiny title or random accents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Coherence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same-rule layouts across every source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per-source manual styling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Boundaries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and shapes stay inside slide and parent boxes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overflow or clipped rows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8F3">
                        <a:alpha val="80000"/>
                      </a:srgbClr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Teaser quality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resembles a paper/product teaser in density and polish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8181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blank, generic, or palette-only output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CC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Iteration Plan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pass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iteration 3 of 4.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All passes use the same MDPR parser, layout planner, PPTX renderer, and visual validation path.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The corpus is one combined deck, not a set of hand-tuned per-file decks.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Feedback Applied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chart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9644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Convert long imported paragraphs into bounded executive bullets before MDPR layout.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322320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Keep source identity as section context, not as large decorative badges.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cod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39056"/>
            <a:ext cx="9255191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Preserve tables, code fences, and pipeline syntax so MDPR can choose the right object family.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956048" y="1426464"/>
            <a:ext cx="6199632" cy="440740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Mix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2365248"/>
            <a:ext cx="3675888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The chart is generated from corpus-level structure rather than a custom drawing path.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797808"/>
            <a:ext cx="367588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This adds a teaser-style proof object without per-source tuning.</a:t>
            </a:r>
            <a:endParaRPr lang="en-US" sz="22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react from https://raw.githubusercontent.com/facebook/react/main/README.md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9 headings, 0 table-like lines, 1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Use Quick Start to get a taste of React.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Add React to an Existing Project to use as little or as much React as you need.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01. React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200400"/>
            <a:ext cx="4791456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Create a New React App if you're looking for a powerful JavaScript toolchain.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Adding Interactivity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vite from https://raw.githubusercontent.com/vitejs/vite/main/README.md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 headings, 5 table-like lines, 0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server icon from svgrepo (open-license catalog pattern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Instant Server Start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Universal Plugin Interface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02. Vite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032760"/>
            <a:ext cx="4791456" cy="143256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dev server that provides rich feature enhancements over native ES modules, for example extremely fast Hot Module Replacement (HMR).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865120"/>
            <a:ext cx="4791456" cy="176784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 build command that bundles your code with Rolldown, pre-configured to output highly optimized static assets for production.</a:t>
            </a:r>
            <a:endParaRPr lang="en-US" sz="2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vue from https://raw.githubusercontent.com/vuejs/core/main/README.md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8 headings, 0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Vue.js is an MIT-licensed open source project with its ongoing development made possible entirely by the support of these awesome backers. If you'd like to join them, please consider sponsoring Vue's developmen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03. Vue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For questions and support please use the official forum or community chat. The issue list of this repo is </a:t>
            </a:r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exclusively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for bug reports and feature requests.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2697480"/>
            <a:ext cx="4791456" cy="21031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Please make sure to respect issue requirements and use the new issue helper when opening an issue. Issues not conforming to the guidelines may be closed immediately.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9E0F62">
              <a:alpha val="80000"/>
            </a:srgbClr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914400" y="186537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14400" y="3191256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14400" y="4507992"/>
            <a:ext cx="10241280" cy="1024128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04. Svelte</a:t>
            </a:r>
            <a:endParaRPr lang="en-US" sz="3400" dirty="0"/>
          </a:p>
        </p:txBody>
      </p:sp>
      <p:sp>
        <p:nvSpPr>
          <p:cNvPr id="19" name="Shape 14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0" name="Image 3" descr="github icon from simple-icons (CC0-1.0 with brand guidelines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svelte from https://raw.githubusercontent.com/sveltejs/svelte/main/README.md</a:t>
            </a:r>
            <a:endParaRPr lang="en-US" sz="2200" dirty="0"/>
          </a:p>
        </p:txBody>
      </p:sp>
      <p:sp>
        <p:nvSpPr>
          <p:cNvPr id="22" name="Shape 16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3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6 headings, 0 table-like lines, 0 fenced code blocks.</a:t>
            </a:r>
            <a:endParaRPr lang="en-US" sz="2200" dirty="0"/>
          </a:p>
        </p:txBody>
      </p:sp>
      <p:sp>
        <p:nvSpPr>
          <p:cNvPr id="25" name="Shape 18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6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699321" y="4806696"/>
            <a:ext cx="9255191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Becoming a backer on Open Collective.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typescript from https://raw.githubusercontent.com/microsoft/TypeScript/main/README.md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5 headings, 0 table-like lines, 2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tab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Crashes that were introduced in 5.9 or 6.0 that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also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repro in 7.0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have a portable fix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and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don't incur other behavioral changes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cloud icon from svgrepo (open-license catalog pattern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160520"/>
            <a:ext cx="3961638" cy="109728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Language service crashes that substantially impact mainline usage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05. TypeScript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Serious regressions from 5.9 (these must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seriously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impact a 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large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proportion of users)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Submit bugs and help us verify fixes as they are checked in.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node from https://raw.githubusercontent.com/nodejs/node/main/README.md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17 headings, 0 table-like lines, 3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and LTS releases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Contributing to Node.js</a:t>
            </a:r>
            <a:endParaRPr lang="en-US" sz="2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06. Node.js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Current project team members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TSC (Technical Steering Committee)</a:t>
            </a:r>
            <a:endParaRPr lang="en-US" sz="2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express from https://raw.githubusercontent.com/expressjs/express/master/Readme.md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14 headings, 0 table-like lines, 11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project team members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github icon from simple-icons (CC0-1.0 with brand guidelines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495800"/>
            <a:ext cx="3961638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TC (Technical Committee)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07. Express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Focus on high performance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3535680"/>
            <a:ext cx="4791456" cy="4267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Super-high test coverage</a:t>
            </a:r>
            <a:endParaRPr lang="en-US" sz="2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fastapi from https://raw.githubusercontent.com/fastapi/fastapi/master/README.md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28 headings, 0 table-like lines, 12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verified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Very high performance, on par with NodeJS and Go (thanks to Starlette and Pydantic). One of the fastest Python frameworks available.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cod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Fast to code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Increase the speed to develop features by about 200% to 300%. *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08. FastAPI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Fewer bugs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Reduce about 40% of human (developer) induced errors. *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Intuitive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Great editor support. Completion everywhere. Less time debugging.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openai-python from https://raw.githubusercontent.com/openai/openai-python/main/README.md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48 headings, 10 table-like lines, 42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Serializing back into JSON, model.to_json()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4328160"/>
            <a:ext cx="3961638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Converting to a dictionary, model.to_dict()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09. OpenAI Python API library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3368040"/>
            <a:ext cx="4791456" cy="7620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Additional advanced functionality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azure</a:t>
            </a:r>
            <a:pPr algn="l" indent="0" marL="0">
              <a:lnSpc>
                <a:spcPct val="120000"/>
              </a:lnSpc>
              <a:buNone/>
            </a:pPr>
            <a:r>
              <a:rPr lang="en-US" sz="2200" i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endpoint (or the AZURE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OPENAI_ENDPOINT environment variable)</a:t>
            </a:r>
            <a:endParaRPr lang="en-US" sz="2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9E0F62"/>
          </a:solidFill>
          <a:ln w="12700">
            <a:solidFill>
              <a:srgbClr val="9E0F62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229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6309360" y="1463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229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309360" y="3749040"/>
            <a:ext cx="5029200" cy="1920240"/>
          </a:xfrm>
          <a:prstGeom prst="rect">
            <a:avLst/>
          </a:prstGeom>
          <a:solidFill>
            <a:srgbClr val="FBF8F3">
              <a:alpha val="0"/>
            </a:srgbClr>
          </a:solidFill>
          <a:ln w="12700">
            <a:solidFill>
              <a:srgbClr val="C6CCC9">
                <a:alpha val="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8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</a:t>
            </a:r>
            <a:endParaRPr lang="en-US" sz="3400" dirty="0"/>
          </a:p>
        </p:txBody>
      </p:sp>
      <p:sp>
        <p:nvSpPr>
          <p:cNvPr id="21" name="Shape 15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2" name="Image 4" descr="github icon from simple-icons (CC0-1.0 with brand guidelines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Source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langchain from https://raw.githubusercontent.com/langchain-ai/langchain/master/README.md</a:t>
            </a:r>
            <a:endParaRPr lang="en-US" sz="2200" dirty="0"/>
          </a:p>
        </p:txBody>
      </p:sp>
      <p:sp>
        <p:nvSpPr>
          <p:cNvPr id="24" name="Shape 17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5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Structure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4 headings, 0 table-like lines, 2 fenced code blocks.</a:t>
            </a:r>
            <a:endParaRPr lang="en-US" sz="2200" dirty="0"/>
          </a:p>
        </p:txBody>
      </p:sp>
      <p:sp>
        <p:nvSpPr>
          <p:cNvPr id="27" name="Shape 19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28" name="Image 6" descr="spark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Deep Agents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Build agents that can plan, use subagents, and leverage file systems for complex tasks</a:t>
            </a:r>
            <a:endParaRPr lang="en-US" sz="2200" dirty="0"/>
          </a:p>
        </p:txBody>
      </p:sp>
      <p:sp>
        <p:nvSpPr>
          <p:cNvPr id="30" name="Shape 21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8F4EF"/>
          </a:solidFill>
          <a:ln w="12700">
            <a:solidFill>
              <a:srgbClr val="C6CCC9"/>
            </a:solidFill>
            <a:prstDash val="solid"/>
          </a:ln>
        </p:spPr>
      </p:sp>
      <p:pic>
        <p:nvPicPr>
          <p:cNvPr id="31" name="Image 7" descr="chart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LangGraph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Build agents that can reliably handle complex tasks with our low-level agent orchestration framework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618927" y="31089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766E"/>
                </a:solidFill>
              </a:rPr>
              <a:t>ISSUE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658368" y="658368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5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6199632"/>
            <a:ext cx="10874959" cy="0"/>
          </a:xfrm>
          <a:prstGeom prst="line">
            <a:avLst/>
          </a:prstGeom>
          <a:noFill/>
          <a:ln w="12700">
            <a:solidFill>
              <a:srgbClr val="18181B">
                <a:alpha val="3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932688"/>
            <a:ext cx="0" cy="4992624"/>
          </a:xfrm>
          <a:prstGeom prst="line">
            <a:avLst/>
          </a:prstGeom>
          <a:noFill/>
          <a:ln w="12700">
            <a:solidFill>
              <a:srgbClr val="0F766E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749808"/>
            <a:ext cx="109728" cy="5358384"/>
          </a:xfrm>
          <a:prstGeom prst="rect">
            <a:avLst/>
          </a:prstGeom>
          <a:solidFill>
            <a:srgbClr val="0F766E">
              <a:alpha val="90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207008"/>
            <a:ext cx="1325880" cy="54864"/>
          </a:xfrm>
          <a:prstGeom prst="rect">
            <a:avLst/>
          </a:prstGeom>
          <a:solidFill>
            <a:srgbClr val="9E4C0F"/>
          </a:solidFill>
          <a:ln w="12700">
            <a:solidFill>
              <a:srgbClr val="9E4C0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10. LangChain (Cont. 2/2)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Integrations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Chat &amp; embedding models, tools &amp; toolkits, and more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LangSmith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8181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Agent evals, observability, and debugging for LLM apps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8181B"/>
      </a:dk1>
      <a:lt1>
        <a:srgbClr val="F8F4EF"/>
      </a:lt1>
      <a:dk2>
        <a:srgbClr val="57534E"/>
      </a:dk2>
      <a:lt2>
        <a:srgbClr val="FBF8F3"/>
      </a:lt2>
      <a:accent1>
        <a:srgbClr val="0F766E"/>
      </a:accent1>
      <a:accent2>
        <a:srgbClr val="9E0F62"/>
      </a:accent2>
      <a:accent3>
        <a:srgbClr val="9E4C0F"/>
      </a:accent3>
      <a:accent4>
        <a:srgbClr val="15984D"/>
      </a:accent4>
      <a:accent5>
        <a:srgbClr val="156198"/>
      </a:accent5>
      <a:accent6>
        <a:srgbClr val="096760"/>
      </a:accent6>
      <a:hlink>
        <a:srgbClr val="0F766E"/>
      </a:hlink>
      <a:folHlink>
        <a:srgbClr val="9E0F6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External Markdown Visual Evaluation</dc:title>
  <dc:subject>Generated from Markdown through Presentation IR and Layout IR</dc:subject>
  <dc:creator>mdpresent</dc:creator>
  <cp:lastModifiedBy>mdpresent</cp:lastModifiedBy>
  <cp:revision>1</cp:revision>
  <dcterms:created xsi:type="dcterms:W3CDTF">2026-06-20T16:14:21Z</dcterms:created>
  <dcterms:modified xsi:type="dcterms:W3CDTF">2026-06-20T16:14:21Z</dcterms:modified>
</cp:coreProperties>
</file>