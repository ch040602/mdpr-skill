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image" Target="../media/image-38-3.png"/><Relationship Id="rId4" Type="http://schemas.openxmlformats.org/officeDocument/2006/relationships/image" Target="../media/image-3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svg"/><Relationship Id="rId3" Type="http://schemas.openxmlformats.org/officeDocument/2006/relationships/image" Target="../media/image-43-3.png"/><Relationship Id="rId4" Type="http://schemas.openxmlformats.org/officeDocument/2006/relationships/image" Target="../media/image-4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svg"/><Relationship Id="rId3" Type="http://schemas.openxmlformats.org/officeDocument/2006/relationships/image" Target="../media/image-48-3.png"/><Relationship Id="rId4" Type="http://schemas.openxmlformats.org/officeDocument/2006/relationships/image" Target="../media/image-4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svg"/><Relationship Id="rId3" Type="http://schemas.openxmlformats.org/officeDocument/2006/relationships/image" Target="../media/image-51-3.png"/><Relationship Id="rId4" Type="http://schemas.openxmlformats.org/officeDocument/2006/relationships/image" Target="../media/image-5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svg"/><Relationship Id="rId3" Type="http://schemas.openxmlformats.org/officeDocument/2006/relationships/image" Target="../media/image-54-3.png"/><Relationship Id="rId4" Type="http://schemas.openxmlformats.org/officeDocument/2006/relationships/image" Target="../media/image-5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svg"/><Relationship Id="rId3" Type="http://schemas.openxmlformats.org/officeDocument/2006/relationships/image" Target="../media/image-57-3.png"/><Relationship Id="rId4" Type="http://schemas.openxmlformats.org/officeDocument/2006/relationships/image" Target="../media/image-5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svg"/><Relationship Id="rId3" Type="http://schemas.openxmlformats.org/officeDocument/2006/relationships/image" Target="../media/image-60-3.png"/><Relationship Id="rId4" Type="http://schemas.openxmlformats.org/officeDocument/2006/relationships/image" Target="../media/image-6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svg"/><Relationship Id="rId3" Type="http://schemas.openxmlformats.org/officeDocument/2006/relationships/image" Target="../media/image-61-3.png"/><Relationship Id="rId4" Type="http://schemas.openxmlformats.org/officeDocument/2006/relationships/image" Target="../media/image-61-4.svg"/><Relationship Id="rId5" Type="http://schemas.openxmlformats.org/officeDocument/2006/relationships/image" Target="../media/image-61-5.png"/><Relationship Id="rId6" Type="http://schemas.openxmlformats.org/officeDocument/2006/relationships/image" Target="../media/image-61-6.svg"/><Relationship Id="rId7" Type="http://schemas.openxmlformats.org/officeDocument/2006/relationships/image" Target="../media/image-61-7.png"/><Relationship Id="rId8" Type="http://schemas.openxmlformats.org/officeDocument/2006/relationships/image" Target="../media/image-61-8.svg"/><Relationship Id="rId9" Type="http://schemas.openxmlformats.org/officeDocument/2006/relationships/image" Target="../media/image-61-9.png"/><Relationship Id="rId10" Type="http://schemas.openxmlformats.org/officeDocument/2006/relationships/image" Target="../media/image-61-10.svg"/><Relationship Id="rId11" Type="http://schemas.openxmlformats.org/officeDocument/2006/relationships/image" Target="../media/image-61-11.png"/><Relationship Id="rId12" Type="http://schemas.openxmlformats.org/officeDocument/2006/relationships/image" Target="../media/image-6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svg"/><Relationship Id="rId3" Type="http://schemas.openxmlformats.org/officeDocument/2006/relationships/image" Target="../media/image-64-3.png"/><Relationship Id="rId4" Type="http://schemas.openxmlformats.org/officeDocument/2006/relationships/image" Target="../media/image-6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svg"/><Relationship Id="rId3" Type="http://schemas.openxmlformats.org/officeDocument/2006/relationships/image" Target="../media/image-69-3.png"/><Relationship Id="rId4" Type="http://schemas.openxmlformats.org/officeDocument/2006/relationships/image" Target="../media/image-6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mdpr:external-markdown-visual-evaluation-93e81d:title:__title:external-markdown-visual-evaluation-93e81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2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01. React</a:t>
            </a:r>
            <a:endParaRPr lang="en-US" sz="1800" dirty="0"/>
          </a:p>
        </p:txBody>
      </p:sp>
      <p:sp>
        <p:nvSpPr>
          <p:cNvPr id="2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02. Vite</a:t>
            </a:r>
            <a:endParaRPr lang="en-US" sz="1800" dirty="0"/>
          </a:p>
        </p:txBody>
      </p:sp>
      <p:sp>
        <p:nvSpPr>
          <p:cNvPr id="2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03. Vue</a:t>
            </a:r>
            <a:endParaRPr lang="en-US" sz="1800" dirty="0"/>
          </a:p>
        </p:txBody>
      </p:sp>
      <p:sp>
        <p:nvSpPr>
          <p:cNvPr id="2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04. Svelte</a:t>
            </a:r>
            <a:endParaRPr lang="en-US" sz="1800" dirty="0"/>
          </a:p>
        </p:txBody>
      </p:sp>
      <p:sp>
        <p:nvSpPr>
          <p:cNvPr id="2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05. TypeScript</a:t>
            </a:r>
            <a:endParaRPr lang="en-US" sz="1800" dirty="0"/>
          </a:p>
        </p:txBody>
      </p:sp>
      <p:sp>
        <p:nvSpPr>
          <p:cNvPr id="3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06. Node.js</a:t>
            </a:r>
            <a:endParaRPr lang="en-US" sz="1800" dirty="0"/>
          </a:p>
        </p:txBody>
      </p:sp>
      <p:sp>
        <p:nvSpPr>
          <p:cNvPr id="3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07. Express</a:t>
            </a:r>
            <a:endParaRPr lang="en-US" sz="1800" dirty="0"/>
          </a:p>
        </p:txBody>
      </p:sp>
      <p:sp>
        <p:nvSpPr>
          <p:cNvPr id="3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08. FastAPI</a:t>
            </a:r>
            <a:endParaRPr lang="en-US" sz="1800" dirty="0"/>
          </a:p>
        </p:txBody>
      </p:sp>
      <p:sp>
        <p:nvSpPr>
          <p:cNvPr id="3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09. OpenAI Python API library</a:t>
            </a:r>
            <a:endParaRPr lang="en-US" sz="1800" dirty="0"/>
          </a:p>
        </p:txBody>
      </p:sp>
      <p:sp>
        <p:nvSpPr>
          <p:cNvPr id="3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10. LangChain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20" name="mdpr:2-2-7bfb60:toc-item-1:toc-item-15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11. Playwright</a:t>
            </a:r>
            <a:endParaRPr lang="en-US" sz="1800" dirty="0"/>
          </a:p>
        </p:txBody>
      </p:sp>
      <p:sp>
        <p:nvSpPr>
          <p:cNvPr id="21" name="mdpr:2-2-7bfb60:toc-item-2:toc-item-16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12. Tailwind CSS</a:t>
            </a:r>
            <a:endParaRPr lang="en-US" sz="1800" dirty="0"/>
          </a:p>
        </p:txBody>
      </p:sp>
      <p:sp>
        <p:nvSpPr>
          <p:cNvPr id="22" name="mdpr:2-2-7bfb60:toc-item-3:toc-item-17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13. Kubernetes (K8s)</a:t>
            </a:r>
            <a:endParaRPr lang="en-US" sz="1800" dirty="0"/>
          </a:p>
        </p:txBody>
      </p:sp>
      <p:sp>
        <p:nvSpPr>
          <p:cNvPr id="23" name="mdpr:2-2-7bfb60:toc-item-4:toc-item-18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14. Rust</a:t>
            </a:r>
            <a:endParaRPr lang="en-US" sz="1800" dirty="0"/>
          </a:p>
        </p:txBody>
      </p:sp>
      <p:sp>
        <p:nvSpPr>
          <p:cNvPr id="24" name="mdpr:2-2-7bfb60:toc-item-5:toc-item-19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15. PyTorch</a:t>
            </a:r>
            <a:endParaRPr lang="en-US" sz="1800" dirty="0"/>
          </a:p>
        </p:txBody>
      </p:sp>
      <p:sp>
        <p:nvSpPr>
          <p:cNvPr id="25" name="mdpr:2-2-7bfb60:toc-item-6:toc-item-20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16. TensorFlow</a:t>
            </a:r>
            <a:endParaRPr lang="en-US" sz="1800" dirty="0"/>
          </a:p>
        </p:txBody>
      </p:sp>
      <p:sp>
        <p:nvSpPr>
          <p:cNvPr id="26" name="mdpr:2-2-7bfb60:toc-item-7:toc-item-21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17. pandas: A Powerful Python Data Analysis Toolkit</a:t>
            </a:r>
            <a:endParaRPr lang="en-US" sz="1800" dirty="0"/>
          </a:p>
        </p:txBody>
      </p:sp>
      <p:sp>
        <p:nvSpPr>
          <p:cNvPr id="27" name="mdpr:2-2-7bfb60:toc-item-8:toc-item-22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18. NumPy</a:t>
            </a:r>
            <a:endParaRPr lang="en-US" sz="1800" dirty="0"/>
          </a:p>
        </p:txBody>
      </p:sp>
      <p:sp>
        <p:nvSpPr>
          <p:cNvPr id="28" name="mdpr:2-2-7bfb60:toc-item-9:toc-item-23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19. Transformers</a:t>
            </a:r>
            <a:endParaRPr lang="en-US" sz="1800" dirty="0"/>
          </a:p>
        </p:txBody>
      </p:sp>
      <p:sp>
        <p:nvSpPr>
          <p:cNvPr id="29" name="mdpr:2-2-7bfb60:toc-item-10:toc-item-24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20. D3: Data-Driven Documents</a:t>
            </a:r>
            <a:endParaRPr lang="en-US" sz="1800" dirty="0"/>
          </a:p>
        </p:txBody>
      </p:sp>
      <p:sp>
        <p:nvSpPr>
          <p:cNvPr id="30" name="mdpr:2-2-7bfb60:toc-item-11:toc-item-25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21. Apache ECharts</a:t>
            </a:r>
            <a:endParaRPr lang="en-US" sz="1800" dirty="0"/>
          </a:p>
        </p:txBody>
      </p:sp>
      <p:sp>
        <p:nvSpPr>
          <p:cNvPr id="31" name="mdpr:2-2-7bfb60:toc-item-12:toc-item-26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22. Plotly.py</a:t>
            </a:r>
            <a:endParaRPr lang="en-US" sz="1800" dirty="0"/>
          </a:p>
        </p:txBody>
      </p:sp>
      <p:sp>
        <p:nvSpPr>
          <p:cNvPr id="32" name="mdpr:2-2-7bfb60:toc-item-13:toc-item-27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23. The System Design Primer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runtime-boundary-926c24:title:__title:runtime-boundary-926c2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runtime-boundary-926c24:item-1:block-4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runtime-boundary-926c24:item-2:block-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runtime-boundary-926c24:item-3:block-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unified-pipeline-c90f83:title:__title:unified-pipeline-c90f8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teaser-rubric-6df303:title:__title:teaser-rubric-6df30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mdpr:teaser-rubric-6df303:table:block-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iteration-plan-6b2cac:title:__title:iteration-plan-6b2ca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iteration-plan-6b2cac:item-1:block-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1 of 4.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iteration-plan-6b2cac:item-2:block-10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iteration-plan-6b2cac:item-3:block-10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3f7fc9:title:__title:1-3-3f7f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6" name="mdpr:1-3-3f7fc9:left:block-1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7" name="mdpr:1-3-3f7fc9:right:block-1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10bcd:title:__title:2-3-b10b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2/3)</a:t>
            </a:r>
            <a:endParaRPr lang="en-US" sz="3400" dirty="0"/>
          </a:p>
        </p:txBody>
      </p:sp>
      <p:sp>
        <p:nvSpPr>
          <p:cNvPr id="6" name="mdpr:2-3-b10bcd:left:block-12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Use Quick Start to get a taste of React.</a:t>
            </a:r>
            <a:endParaRPr lang="en-US" sz="2200" dirty="0"/>
          </a:p>
        </p:txBody>
      </p:sp>
      <p:sp>
        <p:nvSpPr>
          <p:cNvPr id="7" name="mdpr:2-3-b10bcd:right:block-12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 React to an Existing Project to use as little or as much React as you need.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0a31b9:title:__title:3-3-0a31b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0a31b9:item-1:block-12-chunk-3"/>
          <p:cNvSpPr txBox="1"/>
          <p:nvPr/>
        </p:nvSpPr>
        <p:spPr>
          <a:xfrm>
            <a:off x="1699321" y="331317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 a New React App if you're looking for a powerful JavaScript toolchain.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f8377a:title:__title:1-3-f8377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6" name="mdpr:1-3-f8377a:left:block-1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7" name="mdpr:1-3-f8377a:right:block-1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7bc88:title:__title:2-3-a7bc8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2/3)</a:t>
            </a:r>
            <a:endParaRPr lang="en-US" sz="3400" dirty="0"/>
          </a:p>
        </p:txBody>
      </p:sp>
      <p:sp>
        <p:nvSpPr>
          <p:cNvPr id="6" name="mdpr:2-3-a7bc88:left:block-14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Instant Server Start</a:t>
            </a:r>
            <a:endParaRPr lang="en-US" sz="2200" dirty="0"/>
          </a:p>
        </p:txBody>
      </p:sp>
      <p:sp>
        <p:nvSpPr>
          <p:cNvPr id="7" name="mdpr:2-3-a7bc88:right:block-14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Universal Plugin Interface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f505d1:title:__title:3-3-f505d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server icon from svgrepo (open-license catalog pattern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f505d1:item-1:block-14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dev server that provides rich feature enhancements over native ES modules, for example extremely fast Hot Module Replacement (HMR).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c9bc8:title:__title:1-3-cc9b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</a:t>
            </a:r>
            <a:endParaRPr lang="en-US" sz="3400" dirty="0"/>
          </a:p>
        </p:txBody>
      </p:sp>
      <p:sp>
        <p:nvSpPr>
          <p:cNvPr id="6" name="mdpr:1-3-cc9bc8:left:block-1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7" name="mdpr:1-3-cc9bc8:right:block-1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6e6fdd:title:__title:2-3-6e6fd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2/3)</a:t>
            </a:r>
            <a:endParaRPr lang="en-US" sz="3400" dirty="0"/>
          </a:p>
        </p:txBody>
      </p:sp>
      <p:sp>
        <p:nvSpPr>
          <p:cNvPr id="6" name="mdpr:2-3-6e6fdd:left:block-16-chunk-2"/>
          <p:cNvSpPr txBox="1"/>
          <p:nvPr/>
        </p:nvSpPr>
        <p:spPr>
          <a:xfrm>
            <a:off x="89611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  <p:sp>
        <p:nvSpPr>
          <p:cNvPr id="7" name="mdpr:2-3-6e6fdd:right:block-1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4980e:title:__title:3-3-54980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4980e:item-1:block-16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04-svelte-c9b5bb:title:__title:04-svelte-c9b5b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04-svelte-c9b5bb:item-1:block-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04-svelte-c9b5bb:item-2:block-18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04-svelte-c9b5bb:item-3:block-18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97b98:title:__title:1-3-297b9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6" name="mdpr:1-3-297b98:left:block-2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7" name="mdpr:1-3-297b98:right:block-2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16fcee:title:__title:2-3-16fce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2/3)</a:t>
            </a:r>
            <a:endParaRPr lang="en-US" sz="3400" dirty="0"/>
          </a:p>
        </p:txBody>
      </p:sp>
      <p:sp>
        <p:nvSpPr>
          <p:cNvPr id="6" name="mdpr:2-3-16fcee:left:block-2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  <p:sp>
        <p:nvSpPr>
          <p:cNvPr id="7" name="mdpr:2-3-16fcee:right:block-20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Language service crashes that substantially impact mainline usage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629e35:title:__title:3-3-629e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629e35:item-1:block-20-chunk-3"/>
          <p:cNvSpPr txBox="1"/>
          <p:nvPr/>
        </p:nvSpPr>
        <p:spPr>
          <a:xfrm>
            <a:off x="1699321" y="330403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4bc53:title:__title:1-3-74bc5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6" name="mdpr:1-3-74bc53:left:block-2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7" name="mdpr:1-3-74bc53:right:block-2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5bd9a1:title:__title:2-3-5bd9a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2/3)</a:t>
            </a:r>
            <a:endParaRPr lang="en-US" sz="3400" dirty="0"/>
          </a:p>
        </p:txBody>
      </p:sp>
      <p:sp>
        <p:nvSpPr>
          <p:cNvPr id="6" name="mdpr:2-3-5bd9a1:left:block-22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and LTS releases</a:t>
            </a:r>
            <a:endParaRPr lang="en-US" sz="2200" dirty="0"/>
          </a:p>
        </p:txBody>
      </p:sp>
      <p:sp>
        <p:nvSpPr>
          <p:cNvPr id="7" name="mdpr:2-3-5bd9a1:right:block-22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2890c7:title:__title:3-3-2890c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2890c7:item-1:block-22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27833:title:__title:1-3-22783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6" name="mdpr:1-3-227833:left:block-2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7" name="mdpr:1-3-227833:right:block-2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0d8c3f:title:__title:2-3-0d8c3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2/3)</a:t>
            </a:r>
            <a:endParaRPr lang="en-US" sz="3400" dirty="0"/>
          </a:p>
        </p:txBody>
      </p:sp>
      <p:sp>
        <p:nvSpPr>
          <p:cNvPr id="6" name="mdpr:2-3-0d8c3f:left:block-24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7" name="mdpr:2-3-0d8c3f:right:block-24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TC (Technical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f3f9d7:title:__title:3-3-f3f9d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f3f9d7:item-1:block-24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Focus on high performance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fad9c:title:__title:1-3-6fad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6" name="mdpr:1-3-6fad9c:left:block-2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7" name="mdpr:1-3-6fad9c:right:block-2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8c7ef:title:__title:2-3-a8c7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2/3)</a:t>
            </a:r>
            <a:endParaRPr lang="en-US" sz="3400" dirty="0"/>
          </a:p>
        </p:txBody>
      </p:sp>
      <p:sp>
        <p:nvSpPr>
          <p:cNvPr id="6" name="mdpr:2-3-a8c7ef:left:block-2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  <p:sp>
        <p:nvSpPr>
          <p:cNvPr id="7" name="mdpr:2-3-a8c7ef:right:block-2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923ae1:title:__title:3-3-923ae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923ae1:item-1:block-26-chunk-3"/>
          <p:cNvSpPr txBox="1"/>
          <p:nvPr/>
        </p:nvSpPr>
        <p:spPr>
          <a:xfrm>
            <a:off x="1699321" y="330403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6b656:title:__title:1-3-86b65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6" name="mdpr:1-3-86b656:left:block-2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7" name="mdpr:1-3-86b656:right:block-2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50 headings, 10 table-like lines, 45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482ae7:title:__title:2-3-482a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2/3)</a:t>
            </a:r>
            <a:endParaRPr lang="en-US" sz="3400" dirty="0"/>
          </a:p>
        </p:txBody>
      </p:sp>
      <p:sp>
        <p:nvSpPr>
          <p:cNvPr id="6" name="mdpr:2-3-482ae7:left:block-28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Serializing back into JSON, model.to_json()</a:t>
            </a:r>
            <a:endParaRPr lang="en-US" sz="2200" dirty="0"/>
          </a:p>
        </p:txBody>
      </p:sp>
      <p:sp>
        <p:nvSpPr>
          <p:cNvPr id="7" name="mdpr:2-3-482ae7:right:block-28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Converting to a dictionary, model.to_dict()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5b1a5:title:__title:3-3-55b1a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5b1a5:item-1:block-28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Additional advanced functionality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00edb:title:__title:1-3-600ed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6" name="mdpr:1-3-600edb:left:block-3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7" name="mdpr:1-3-600edb:right:block-3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f775b:title:__title:2-3-8f775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2/3)</a:t>
            </a:r>
            <a:endParaRPr lang="en-US" sz="3400" dirty="0"/>
          </a:p>
        </p:txBody>
      </p:sp>
      <p:sp>
        <p:nvSpPr>
          <p:cNvPr id="6" name="mdpr:2-3-8f775b:left:block-3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  <p:sp>
        <p:nvSpPr>
          <p:cNvPr id="7" name="mdpr:2-3-8f775b:right:block-3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217b14:title:__title:3-3-217b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217b14:item-1:block-30-chunk-3"/>
          <p:cNvSpPr txBox="1"/>
          <p:nvPr/>
        </p:nvSpPr>
        <p:spPr>
          <a:xfrm>
            <a:off x="1699321" y="3471672"/>
            <a:ext cx="9255191" cy="44500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550c59:title:__title:1-3-550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</a:t>
            </a:r>
            <a:endParaRPr lang="en-US" sz="3400" dirty="0"/>
          </a:p>
        </p:txBody>
      </p:sp>
      <p:sp>
        <p:nvSpPr>
          <p:cNvPr id="6" name="mdpr:1-3-550c59:left:block-3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playwright from https://raw.githubusercontent.com/microsoft/playwright/main/README.md</a:t>
            </a:r>
            <a:endParaRPr lang="en-US" sz="2200" dirty="0"/>
          </a:p>
        </p:txBody>
      </p:sp>
      <p:sp>
        <p:nvSpPr>
          <p:cNvPr id="7" name="mdpr:1-3-550c59:right:block-3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22 headings, 12 table-like lines, 22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9f36df:title:__title:2-3-9f36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 (Cont. 2/3)</a:t>
            </a:r>
            <a:endParaRPr lang="en-US" sz="3400" dirty="0"/>
          </a:p>
        </p:txBody>
      </p:sp>
      <p:sp>
        <p:nvSpPr>
          <p:cNvPr id="6" name="mdpr:2-3-9f36df:left:block-32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 "todos" [level=1]</a:t>
            </a:r>
            <a:endParaRPr lang="en-US" sz="2200" dirty="0"/>
          </a:p>
        </p:txBody>
      </p:sp>
      <p:sp>
        <p:nvSpPr>
          <p:cNvPr id="7" name="mdpr:2-3-9f36df:right:block-32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textbox "What needs to be done?" [ref=e5]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a4e198:title:__title:3-3-a4e19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verified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a4e198:item-1:block-32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checkbox "Toggle Todo" [ref=e10]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c29a1a:title:__title:1-2-c29a1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6" name="mdpr:1-2-c29a1a:left:block-3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7" name="mdpr:1-2-c29a1a:right:block-3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2a92df:title:__title:2-2-2a92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 (Cont. 2/2)</a:t>
            </a:r>
            <a:endParaRPr lang="en-US" sz="3400" dirty="0"/>
          </a:p>
        </p:txBody>
      </p:sp>
      <p:sp>
        <p:nvSpPr>
          <p:cNvPr id="6" name="mdpr:2-2-2a92df:left:block-34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utility-first CSS framework for rapidly building custom user interfaces.</a:t>
            </a:r>
            <a:endParaRPr lang="en-US" sz="2200" dirty="0"/>
          </a:p>
        </p:txBody>
      </p:sp>
      <p:sp>
        <p:nvSpPr>
          <p:cNvPr id="7" name="mdpr:2-2-2a92df:right:block-34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8576f:title:__title:1-3-48576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6" name="mdpr:1-3-48576f:left:block-3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kubernetes from https://raw.githubusercontent.com/kubernetes/kubernetes/master/README.md</a:t>
            </a:r>
            <a:endParaRPr lang="en-US" sz="2200" dirty="0"/>
          </a:p>
        </p:txBody>
      </p:sp>
      <p:sp>
        <p:nvSpPr>
          <p:cNvPr id="7" name="mdpr:1-3-48576f:right:block-3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ab500:title:__title:2-3-2ab50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2/3)</a:t>
            </a:r>
            <a:endParaRPr lang="en-US" sz="3400" dirty="0"/>
          </a:p>
        </p:txBody>
      </p:sp>
      <p:sp>
        <p:nvSpPr>
          <p:cNvPr id="6" name="mdpr:2-3-2ab500:left:block-36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Kubernetes, also known as K8s, is an open source system for managing [containerized applications] across multiple hosts. It provides basic mechanisms for the deployment, maintenance, and scaling of applications</a:t>
            </a:r>
            <a:endParaRPr lang="en-US" sz="2200" dirty="0"/>
          </a:p>
        </p:txBody>
      </p:sp>
      <p:sp>
        <p:nvSpPr>
          <p:cNvPr id="7" name="mdpr:2-3-2ab500:right:block-36-chunk-2"/>
          <p:cNvSpPr txBox="1"/>
          <p:nvPr/>
        </p:nvSpPr>
        <p:spPr>
          <a:xfrm>
            <a:off x="647395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builds upon a decade and a half of experience at Google running production workloads at scale using a system called [Borg], combined with best-of-breed ideas and practices from the community.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3a8232:title:__title:3-3-3a823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cloud icon from svgrepo (open-license catalog pattern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3a8232:item-1:block-36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 is hosted by the Cloud Native Computing Foundation ([CNCF]). If your company wants to help shape the evolution of technologies that are container-packaged, dynamically scheduled, and microservices-or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3b0843:title:__title:1-2-3b084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6" name="mdpr:1-2-3b0843:left:block-3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 from https://raw.githubusercontent.com/rust-lang/rust/master/README.md</a:t>
            </a:r>
            <a:endParaRPr lang="en-US" sz="2200" dirty="0"/>
          </a:p>
        </p:txBody>
      </p:sp>
      <p:sp>
        <p:nvSpPr>
          <p:cNvPr id="7" name="mdpr:1-2-3b0843:right:block-3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7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95ac5f:title:__title:2-2-95ac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 (Cont. 2/2)</a:t>
            </a:r>
            <a:endParaRPr lang="en-US" sz="3400" dirty="0"/>
          </a:p>
        </p:txBody>
      </p:sp>
      <p:sp>
        <p:nvSpPr>
          <p:cNvPr id="6" name="mdpr:2-2-95ac5f:left:block-3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Performance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 and memory-efficient, suitable for critical services, embedded devices, and easily integrated with other languages.</a:t>
            </a:r>
            <a:endParaRPr lang="en-US" sz="2200" dirty="0"/>
          </a:p>
        </p:txBody>
      </p:sp>
      <p:sp>
        <p:nvSpPr>
          <p:cNvPr id="7" name="mdpr:2-2-95ac5f:right:block-3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Reliability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Our rich type system and ownership model ensure memory and thread safety, reducing bugs at compile-time.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6b2be:title:__title:1-3-46b2b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</a:t>
            </a:r>
            <a:endParaRPr lang="en-US" sz="3400" dirty="0"/>
          </a:p>
        </p:txBody>
      </p:sp>
      <p:sp>
        <p:nvSpPr>
          <p:cNvPr id="6" name="mdpr:1-3-46b2be:left:block-4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pytorch from https://raw.githubusercontent.com/pytorch/pytorch/main/README.md</a:t>
            </a:r>
            <a:endParaRPr lang="en-US" sz="2200" dirty="0"/>
          </a:p>
        </p:txBody>
      </p:sp>
      <p:sp>
        <p:nvSpPr>
          <p:cNvPr id="7" name="mdpr:1-3-46b2be:right:block-4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33 headings, 8 table-like lines, 22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92ea30:title:__title:2-3-92ea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2/3)</a:t>
            </a:r>
            <a:endParaRPr lang="en-US" sz="3400" dirty="0"/>
          </a:p>
        </p:txBody>
      </p:sp>
      <p:sp>
        <p:nvSpPr>
          <p:cNvPr id="6" name="mdpr:2-3-92ea30:left:block-40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Tensor computation (like NumPy) with strong GPU acceleration</a:t>
            </a:r>
            <a:endParaRPr lang="en-US" sz="2200" dirty="0"/>
          </a:p>
        </p:txBody>
      </p:sp>
      <p:sp>
        <p:nvSpPr>
          <p:cNvPr id="7" name="mdpr:2-3-92ea30:right:block-40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neural networks built on a tape-based autograd system</a:t>
            </a:r>
            <a:endParaRPr lang="en-US" sz="2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fea2e:title:__title:3-3-5fea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fea2e:item-1:block-40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GPU-Ready Tensor Library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5bb95:title:__title:1-3-05bb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6" name="mdpr:1-3-05bb95:left:block-4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tensorflow from https://raw.githubusercontent.com/tensorflow/tensorflow/master/README.md</a:t>
            </a:r>
            <a:endParaRPr lang="en-US" sz="2200" dirty="0"/>
          </a:p>
        </p:txBody>
      </p:sp>
      <p:sp>
        <p:nvSpPr>
          <p:cNvPr id="7" name="mdpr:1-3-05bb95:right:block-4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4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7ecb29:title:__title:2-3-7ecb2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2/3)</a:t>
            </a:r>
            <a:endParaRPr lang="en-US" sz="3400" dirty="0"/>
          </a:p>
        </p:txBody>
      </p:sp>
      <p:sp>
        <p:nvSpPr>
          <p:cNvPr id="6" name="mdpr:2-3-7ecb29:left:block-42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Clone the TensorFlow repository and switch to the appropriate branch for</a:t>
            </a:r>
            <a:endParaRPr lang="en-US" sz="2200" dirty="0"/>
          </a:p>
        </p:txBody>
      </p:sp>
      <p:sp>
        <p:nvSpPr>
          <p:cNvPr id="7" name="mdpr:2-3-7ecb29:right:block-42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Apply the desired changes (i.e., cherry-pick them) and resolve any code</a:t>
            </a:r>
            <a:endParaRPr lang="en-US" sz="2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4e9ba4:title:__title:3-3-4e9b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flow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4e9ba4:item-1:block-42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 TensorFlow tests and ensure they pass.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f7489:title:__title:1-3-7f748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sp>
        <p:nvSpPr>
          <p:cNvPr id="6" name="mdpr:1-3-7f7489:left:block-4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pandas from https://raw.githubusercontent.com/pandas-dev/pandas/main/README.md</a:t>
            </a:r>
            <a:endParaRPr lang="en-US" sz="2200" dirty="0"/>
          </a:p>
        </p:txBody>
      </p:sp>
      <p:sp>
        <p:nvSpPr>
          <p:cNvPr id="7" name="mdpr:1-3-7f7489:right:block-4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15 headings, 5 table-like lines, 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39aa1d:title:__title:2-3-39aa1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2/3)</a:t>
            </a:r>
            <a:endParaRPr lang="en-US" sz="3400" dirty="0"/>
          </a:p>
        </p:txBody>
      </p:sp>
      <p:sp>
        <p:nvSpPr>
          <p:cNvPr id="6" name="mdpr:2-3-39aa1d:left:block-44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Installation from sources</a:t>
            </a:r>
            <a:endParaRPr lang="en-US" sz="2200" dirty="0"/>
          </a:p>
        </p:txBody>
      </p:sp>
      <p:sp>
        <p:nvSpPr>
          <p:cNvPr id="7" name="mdpr:2-3-39aa1d:right:block-44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and Development</a:t>
            </a:r>
            <a:endParaRPr lang="en-US" sz="2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a3aac5:title:__title:3-3-a3aa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a3aac5:item-1:block-44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pandas</a:t>
            </a:r>
            <a:endParaRPr lang="en-US" sz="2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2aaa0:title:__title:1-3-c2aaa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6" name="mdpr:1-3-c2aaa0:left:block-4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7" name="mdpr:1-3-c2aaa0:right:block-4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4e971:title:__title:2-3-b4e97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2/3)</a:t>
            </a:r>
            <a:endParaRPr lang="en-US" sz="3400" dirty="0"/>
          </a:p>
        </p:txBody>
      </p:sp>
      <p:sp>
        <p:nvSpPr>
          <p:cNvPr id="6" name="mdpr:2-3-b4e971:left:block-4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Website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https://numpy.org</a:t>
            </a:r>
            <a:endParaRPr lang="en-US" sz="2200" dirty="0"/>
          </a:p>
        </p:txBody>
      </p:sp>
      <p:sp>
        <p:nvSpPr>
          <p:cNvPr id="7" name="mdpr:2-3-b4e971:right:block-4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Documentation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https://numpy.org/doc</a:t>
            </a:r>
            <a:endParaRPr lang="en-US" sz="2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24046:title:__title:3-3-52404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24046:item-1:block-46-chunk-3"/>
          <p:cNvSpPr txBox="1"/>
          <p:nvPr/>
        </p:nvSpPr>
        <p:spPr>
          <a:xfrm>
            <a:off x="1699321" y="330403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Mailing list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https://mail.python.org/mailman/listinfo/numpy-discussion</a:t>
            </a:r>
            <a:endParaRPr lang="en-US" sz="2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41336:title:__title:1-3-84133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</a:t>
            </a:r>
            <a:endParaRPr lang="en-US" sz="3400" dirty="0"/>
          </a:p>
        </p:txBody>
      </p:sp>
      <p:sp>
        <p:nvSpPr>
          <p:cNvPr id="6" name="mdpr:1-3-841336:left:block-4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huggingface-transformers from https://raw.githubusercontent.com/huggingface/transformers/main/README.md</a:t>
            </a:r>
            <a:endParaRPr lang="en-US" sz="2200" dirty="0"/>
          </a:p>
        </p:txBody>
      </p:sp>
      <p:sp>
        <p:nvSpPr>
          <p:cNvPr id="7" name="mdpr:1-3-841336:right:block-4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c849d3:title:__title:2-3-c849d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2/3)</a:t>
            </a:r>
            <a:endParaRPr lang="en-US" sz="3400" dirty="0"/>
          </a:p>
        </p:txBody>
      </p:sp>
      <p:sp>
        <p:nvSpPr>
          <p:cNvPr id="6" name="mdpr:2-3-c849d3:left:block-48-chunk-2"/>
          <p:cNvSpPr txBox="1"/>
          <p:nvPr/>
        </p:nvSpPr>
        <p:spPr>
          <a:xfrm>
            <a:off x="89611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High performance on natural language understanding &amp; generation, computer vision, audio, video, and multimodal tasks.</a:t>
            </a:r>
            <a:endParaRPr lang="en-US" sz="2200" dirty="0"/>
          </a:p>
        </p:txBody>
      </p:sp>
      <p:sp>
        <p:nvSpPr>
          <p:cNvPr id="7" name="mdpr:2-3-c849d3:right:block-48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Low barrier to entry for researchers, engineers, and developers.</a:t>
            </a:r>
            <a:endParaRPr lang="en-US" sz="2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0040cd:title:__title:3-3-0040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0040cd:item-1:block-48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Few user-facing abstractions with just three classes to learn.</a:t>
            </a:r>
            <a:endParaRPr lang="en-US" sz="2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20-d3-data-driven-documents-2860cc:title:__title:20-d3-data-driven-documents-2860c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20-d3-data-driven-documents-2860cc:item-1:block-5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 from https://raw.githubusercontent.com/d3/d3/main/README.md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20-d3-data-driven-documents-2860cc:item-2:block-5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20-d3-data-driven-documents-2860cc:item-3:block-50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(or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D3.js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is a free, open-source JavaScript library for visualizing data. Its low-level approach built on web standards offers unparalleled flexibility in authoring dynamic, data-driven graphics. Fo</a:t>
            </a:r>
            <a:endParaRPr lang="en-US" sz="2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dd8642:title:__title:1-3-dd864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6" name="mdpr:1-3-dd8642:left:block-5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echarts from https://raw.githubusercontent.com/apache/echarts/master/README.md</a:t>
            </a:r>
            <a:endParaRPr lang="en-US" sz="2200" dirty="0"/>
          </a:p>
        </p:txBody>
      </p:sp>
      <p:sp>
        <p:nvSpPr>
          <p:cNvPr id="7" name="mdpr:1-3-dd8642:right:block-5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e0e10:title:__title:2-3-2e0e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2/3)</a:t>
            </a:r>
            <a:endParaRPr lang="en-US" sz="3400" dirty="0"/>
          </a:p>
        </p:txBody>
      </p:sp>
      <p:sp>
        <p:nvSpPr>
          <p:cNvPr id="6" name="mdpr:2-3-2e0e10:left:block-52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Apache ECharts is a free, powerful charting and visualization library offering easy ways to add intuitive, interactive, and highly customizable charts to your commercial products. It is written in pure JavaScri</a:t>
            </a:r>
            <a:endParaRPr lang="en-US" sz="2200" dirty="0"/>
          </a:p>
        </p:txBody>
      </p:sp>
      <p:sp>
        <p:nvSpPr>
          <p:cNvPr id="7" name="mdpr:2-3-2e0e10:right:block-52-chunk-2"/>
          <p:cNvSpPr txBox="1"/>
          <p:nvPr/>
        </p:nvSpPr>
        <p:spPr>
          <a:xfrm>
            <a:off x="6675120" y="3200400"/>
            <a:ext cx="45902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 Download from the official website + npm install echarts --save + CDN: jsDelivr CDN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4974aa:title:__title:3-3-4974a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github icon from simple-icons (CC0-1.0 with brand guidelines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4974aa:item-1:block-52-chunk-3"/>
          <p:cNvSpPr txBox="1"/>
          <p:nvPr/>
        </p:nvSpPr>
        <p:spPr>
          <a:xfrm>
            <a:off x="1900489" y="3274284"/>
            <a:ext cx="9054023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GitHub Issues for bug report and feature requests + Email dev@echarts.apache.org for general questions + Subscribe to the mailing list to get updated with the project</a:t>
            </a:r>
            <a:endParaRPr lang="en-US" sz="2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ed487f:title:__title:1-2-ed487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6" name="mdpr:1-2-ed487f:left:block-5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plotly from https://raw.githubusercontent.com/plotly/plotly.py/master/README.md</a:t>
            </a:r>
            <a:endParaRPr lang="en-US" sz="2200" dirty="0"/>
          </a:p>
        </p:txBody>
      </p:sp>
      <p:sp>
        <p:nvSpPr>
          <p:cNvPr id="7" name="mdpr:1-2-ed487f:right:block-5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e87349:title:__title:2-2-e873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 (Cont. 2/2)</a:t>
            </a:r>
            <a:endParaRPr lang="en-US" sz="3400" dirty="0"/>
          </a:p>
        </p:txBody>
      </p:sp>
      <p:sp>
        <p:nvSpPr>
          <p:cNvPr id="6" name="mdpr:2-2-e87349:left:block-54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Online Documentation</a:t>
            </a:r>
            <a:endParaRPr lang="en-US" sz="2200" dirty="0"/>
          </a:p>
        </p:txBody>
      </p:sp>
      <p:sp>
        <p:nvSpPr>
          <p:cNvPr id="7" name="mdpr:2-2-e87349:right:block-54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plotly</a:t>
            </a:r>
            <a:endParaRPr lang="en-US" sz="2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1eec9:title:__title:1-3-01ee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sp>
        <p:nvSpPr>
          <p:cNvPr id="6" name="mdpr:1-3-01eec9:left:block-5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system-design-primer from https://raw.githubusercontent.com/donnemartin/system-design-primer/master/README.md</a:t>
            </a:r>
            <a:endParaRPr lang="en-US" sz="2200" dirty="0"/>
          </a:p>
        </p:txBody>
      </p:sp>
      <p:sp>
        <p:nvSpPr>
          <p:cNvPr id="7" name="mdpr:1-3-01eec9:right:block-5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112 headings, 132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02828:title:__title:2-3-8028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2/3)</a:t>
            </a:r>
            <a:endParaRPr lang="en-US" sz="3400" dirty="0"/>
          </a:p>
        </p:txBody>
      </p:sp>
      <p:sp>
        <p:nvSpPr>
          <p:cNvPr id="6" name="mdpr:2-3-802828:left:block-56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How to approach a system design interview question</a:t>
            </a:r>
            <a:endParaRPr lang="en-US" sz="2200" dirty="0"/>
          </a:p>
        </p:txBody>
      </p:sp>
      <p:sp>
        <p:nvSpPr>
          <p:cNvPr id="7" name="mdpr:2-3-802828:right:block-5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System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fbb4c5:title:__title:3-3-fbb4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palett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fbb4c5:item-1:block-56-chunk-3"/>
          <p:cNvSpPr txBox="1"/>
          <p:nvPr/>
        </p:nvSpPr>
        <p:spPr>
          <a:xfrm>
            <a:off x="1699321" y="3471672"/>
            <a:ext cx="9255191" cy="44500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Object-oriented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C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2026-06-25T11:50:41Z</dcterms:created>
  <dcterms:modified xsi:type="dcterms:W3CDTF">2026-06-25T11:50:41Z</dcterms:modified>
</cp:coreProperties>
</file>