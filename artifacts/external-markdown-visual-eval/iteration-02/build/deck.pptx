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image" Target="../media/image-62-5.png"/><Relationship Id="rId6" Type="http://schemas.openxmlformats.org/officeDocument/2006/relationships/image" Target="../media/image-62-6.svg"/><Relationship Id="rId7" Type="http://schemas.openxmlformats.org/officeDocument/2006/relationships/image" Target="../media/image-62-7.png"/><Relationship Id="rId8" Type="http://schemas.openxmlformats.org/officeDocument/2006/relationships/image" Target="../media/image-62-8.svg"/><Relationship Id="rId9" Type="http://schemas.openxmlformats.org/officeDocument/2006/relationships/image" Target="../media/image-62-9.png"/><Relationship Id="rId10" Type="http://schemas.openxmlformats.org/officeDocument/2006/relationships/image" Target="../media/image-62-10.svg"/><Relationship Id="rId11" Type="http://schemas.openxmlformats.org/officeDocument/2006/relationships/image" Target="../media/image-62-11.png"/><Relationship Id="rId12" Type="http://schemas.openxmlformats.org/officeDocument/2006/relationships/image" Target="../media/image-62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image" Target="../media/image-65-3.png"/><Relationship Id="rId4" Type="http://schemas.openxmlformats.org/officeDocument/2006/relationships/image" Target="../media/image-6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mdpr:external-markdown-visual-evaluation-93e81d:title:__title:external-markdown-visual-evaluation-93e81d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Markdown Visual Evaluation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1EFDB">
              <a:alpha val="9000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0" name="mdpr:1-2-0772f8:title:__title:1-2-0772f8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1" name="mdpr:1-2-0772f8:toc-item-1:toc-item-1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Runtime Boundary</a:t>
            </a:r>
            <a:endParaRPr lang="en-US" sz="1800" dirty="0"/>
          </a:p>
        </p:txBody>
      </p:sp>
      <p:sp>
        <p:nvSpPr>
          <p:cNvPr id="22" name="mdpr:1-2-0772f8:toc-item-2:toc-item-2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Unified Pipeline</a:t>
            </a:r>
            <a:endParaRPr lang="en-US" sz="1800" dirty="0"/>
          </a:p>
        </p:txBody>
      </p:sp>
      <p:sp>
        <p:nvSpPr>
          <p:cNvPr id="23" name="mdpr:1-2-0772f8:toc-item-3:toc-item-3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Teaser Rubric</a:t>
            </a:r>
            <a:endParaRPr lang="en-US" sz="1800" dirty="0"/>
          </a:p>
        </p:txBody>
      </p:sp>
      <p:sp>
        <p:nvSpPr>
          <p:cNvPr id="24" name="mdpr:1-2-0772f8:toc-item-4:toc-item-4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Iteration Plan</a:t>
            </a:r>
            <a:endParaRPr lang="en-US" sz="1800" dirty="0"/>
          </a:p>
        </p:txBody>
      </p:sp>
      <p:sp>
        <p:nvSpPr>
          <p:cNvPr id="25" name="mdpr:1-2-0772f8:toc-item-5:toc-item-5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Feedback Applied</a:t>
            </a:r>
            <a:endParaRPr lang="en-US" sz="1800" dirty="0"/>
          </a:p>
        </p:txBody>
      </p:sp>
      <p:sp>
        <p:nvSpPr>
          <p:cNvPr id="26" name="mdpr:1-2-0772f8:toc-item-6:toc-item-6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01. React</a:t>
            </a:r>
            <a:endParaRPr lang="en-US" sz="1800" dirty="0"/>
          </a:p>
        </p:txBody>
      </p:sp>
      <p:sp>
        <p:nvSpPr>
          <p:cNvPr id="27" name="mdpr:1-2-0772f8:toc-item-7:toc-item-7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02. Vite</a:t>
            </a:r>
            <a:endParaRPr lang="en-US" sz="1800" dirty="0"/>
          </a:p>
        </p:txBody>
      </p:sp>
      <p:sp>
        <p:nvSpPr>
          <p:cNvPr id="28" name="mdpr:1-2-0772f8:toc-item-8:toc-item-8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03. Vue</a:t>
            </a:r>
            <a:endParaRPr lang="en-US" sz="1800" dirty="0"/>
          </a:p>
        </p:txBody>
      </p:sp>
      <p:sp>
        <p:nvSpPr>
          <p:cNvPr id="29" name="mdpr:1-2-0772f8:toc-item-9:toc-item-9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04. Svelte</a:t>
            </a:r>
            <a:endParaRPr lang="en-US" sz="1800" dirty="0"/>
          </a:p>
        </p:txBody>
      </p:sp>
      <p:sp>
        <p:nvSpPr>
          <p:cNvPr id="30" name="mdpr:1-2-0772f8:toc-item-10:toc-item-10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05. TypeScript</a:t>
            </a:r>
            <a:endParaRPr lang="en-US" sz="1800" dirty="0"/>
          </a:p>
        </p:txBody>
      </p:sp>
      <p:sp>
        <p:nvSpPr>
          <p:cNvPr id="31" name="mdpr:1-2-0772f8:toc-item-11:toc-item-11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06. Node.js</a:t>
            </a:r>
            <a:endParaRPr lang="en-US" sz="1800" dirty="0"/>
          </a:p>
        </p:txBody>
      </p:sp>
      <p:sp>
        <p:nvSpPr>
          <p:cNvPr id="32" name="mdpr:1-2-0772f8:toc-item-12:toc-item-12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07. Express</a:t>
            </a:r>
            <a:endParaRPr lang="en-US" sz="1800" dirty="0"/>
          </a:p>
        </p:txBody>
      </p:sp>
      <p:sp>
        <p:nvSpPr>
          <p:cNvPr id="33" name="mdpr:1-2-0772f8:toc-item-13:toc-item-13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08. FastAPI</a:t>
            </a:r>
            <a:endParaRPr lang="en-US" sz="1800" dirty="0"/>
          </a:p>
        </p:txBody>
      </p:sp>
      <p:sp>
        <p:nvSpPr>
          <p:cNvPr id="34" name="mdpr:1-2-0772f8:toc-item-14:toc-item-14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09. OpenAI Python API library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1EFDB">
              <a:alpha val="9000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0" name="mdpr:2-2-7bfb60:title:__title:2-2-7bfb6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 (Cont. 2/2)</a:t>
            </a:r>
            <a:endParaRPr lang="en-US" sz="3800" dirty="0"/>
          </a:p>
        </p:txBody>
      </p:sp>
      <p:sp>
        <p:nvSpPr>
          <p:cNvPr id="21" name="mdpr:2-2-7bfb60:toc-item-1:toc-item-15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10. LangChain</a:t>
            </a:r>
            <a:endParaRPr lang="en-US" sz="1800" dirty="0"/>
          </a:p>
        </p:txBody>
      </p:sp>
      <p:sp>
        <p:nvSpPr>
          <p:cNvPr id="22" name="mdpr:2-2-7bfb60:toc-item-2:toc-item-16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11. Playwright</a:t>
            </a:r>
            <a:endParaRPr lang="en-US" sz="1800" dirty="0"/>
          </a:p>
        </p:txBody>
      </p:sp>
      <p:sp>
        <p:nvSpPr>
          <p:cNvPr id="23" name="mdpr:2-2-7bfb60:toc-item-3:toc-item-17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12. Tailwind CSS</a:t>
            </a:r>
            <a:endParaRPr lang="en-US" sz="1800" dirty="0"/>
          </a:p>
        </p:txBody>
      </p:sp>
      <p:sp>
        <p:nvSpPr>
          <p:cNvPr id="24" name="mdpr:2-2-7bfb60:toc-item-4:toc-item-18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13. Kubernetes (K8s)</a:t>
            </a:r>
            <a:endParaRPr lang="en-US" sz="1800" dirty="0"/>
          </a:p>
        </p:txBody>
      </p:sp>
      <p:sp>
        <p:nvSpPr>
          <p:cNvPr id="25" name="mdpr:2-2-7bfb60:toc-item-5:toc-item-19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14. Rust</a:t>
            </a:r>
            <a:endParaRPr lang="en-US" sz="1800" dirty="0"/>
          </a:p>
        </p:txBody>
      </p:sp>
      <p:sp>
        <p:nvSpPr>
          <p:cNvPr id="26" name="mdpr:2-2-7bfb60:toc-item-6:toc-item-20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15. PyTorch</a:t>
            </a:r>
            <a:endParaRPr lang="en-US" sz="1800" dirty="0"/>
          </a:p>
        </p:txBody>
      </p:sp>
      <p:sp>
        <p:nvSpPr>
          <p:cNvPr id="27" name="mdpr:2-2-7bfb60:toc-item-7:toc-item-21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16. TensorFlow</a:t>
            </a:r>
            <a:endParaRPr lang="en-US" sz="1800" dirty="0"/>
          </a:p>
        </p:txBody>
      </p:sp>
      <p:sp>
        <p:nvSpPr>
          <p:cNvPr id="28" name="mdpr:2-2-7bfb60:toc-item-8:toc-item-22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17. pandas: A Powerful Python Data Analysis Toolkit</a:t>
            </a:r>
            <a:endParaRPr lang="en-US" sz="1800" dirty="0"/>
          </a:p>
        </p:txBody>
      </p:sp>
      <p:sp>
        <p:nvSpPr>
          <p:cNvPr id="29" name="mdpr:2-2-7bfb60:toc-item-9:toc-item-23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18. NumPy</a:t>
            </a:r>
            <a:endParaRPr lang="en-US" sz="1800" dirty="0"/>
          </a:p>
        </p:txBody>
      </p:sp>
      <p:sp>
        <p:nvSpPr>
          <p:cNvPr id="30" name="mdpr:2-2-7bfb60:toc-item-10:toc-item-24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19. Transformers</a:t>
            </a:r>
            <a:endParaRPr lang="en-US" sz="1800" dirty="0"/>
          </a:p>
        </p:txBody>
      </p:sp>
      <p:sp>
        <p:nvSpPr>
          <p:cNvPr id="31" name="mdpr:2-2-7bfb60:toc-item-11:toc-item-25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20. D3: Data-Driven Documents</a:t>
            </a:r>
            <a:endParaRPr lang="en-US" sz="1800" dirty="0"/>
          </a:p>
        </p:txBody>
      </p:sp>
      <p:sp>
        <p:nvSpPr>
          <p:cNvPr id="32" name="mdpr:2-2-7bfb60:toc-item-12:toc-item-26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21. Apache ECharts</a:t>
            </a:r>
            <a:endParaRPr lang="en-US" sz="1800" dirty="0"/>
          </a:p>
        </p:txBody>
      </p:sp>
      <p:sp>
        <p:nvSpPr>
          <p:cNvPr id="33" name="mdpr:2-2-7bfb60:toc-item-13:toc-item-27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22. Plotly.py</a:t>
            </a:r>
            <a:endParaRPr lang="en-US" sz="1800" dirty="0"/>
          </a:p>
        </p:txBody>
      </p:sp>
      <p:sp>
        <p:nvSpPr>
          <p:cNvPr id="34" name="mdpr:2-2-7bfb60:toc-item-14:toc-item-28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23. The System Design Primer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runtime-boundary-926c24:title:__title:runtime-boundary-926c2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runtime-boundary-926c24:item-1:block-4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Parses Markdown, keeps graphs whole, selects layouts, applies theme colors, renders PPTX, and validates overflow.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runtime-boundary-926c24:item-2:block-4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Collects evidence and may add review notes, but does not choose final coordinates, colors, typography, or object geometry.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runtime-boundary-926c24:item-3:block-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target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generated slides against research/product teaser expectations: clear focal message, hierarchy, restrained contrast, and bounded text.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mdpr:unified-pipeline-c90f83:title:__title:unified-pipeline-c90f8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Unified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2887127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849612" y="4368455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48016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4002024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514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Downloaded Markdown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6072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6072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0664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0664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71506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Parser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2064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2064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6656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6656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817498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Splitter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2064" y="3250692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2064" y="3250692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656" y="3648639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6656" y="3648639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17498" y="3378708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Planner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2064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2064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6656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6656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817498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Renderer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6072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86072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50664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50664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5071506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PNG Visual QA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CFCFD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0080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4672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325514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Improvement Notes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mdpr:teaser-rubric-6df303:title:__title:teaser-rubric-6df30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Rubric</a:t>
            </a:r>
            <a:endParaRPr lang="en-US" sz="3400" dirty="0"/>
          </a:p>
        </p:txBody>
      </p:sp>
      <p:graphicFrame>
        <p:nvGraphicFramePr>
          <p:cNvPr id="7" name="mdpr:teaser-rubric-6df303:table:block-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Criterion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Failure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Focal message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 readable headline and primary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dominant title or all-text wall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Hierarchy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title &gt;= section &gt;= body; proof objects carry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tiny title or random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same-rule layouts across every source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per-source manual styling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Boundaries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and shapes stay inside slide and parent boxes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overflow or clipped rows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CFD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Teaser quality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resembles a paper/product teaser in density and polish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blank, generic, or palette-only 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E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iteration-plan-6b2cac:title:__title:iteration-plan-6b2ca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Iteration Plan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iteration-plan-6b2cac:item-1:block-10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iteration 2 of 5.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iteration-plan-6b2cac:item-2:block-10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passes use the same MDPR parser, layout planner, PPTX renderer, and visual validation path.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iteration-plan-6b2cac:item-3:block-10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corpus is one combined deck, not a set of hand-tuned per-file decks.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feedback-applied-bf2aec:title:__title:feedback-applied-bf2ae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Feedback Applied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chart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feedback-applied-bf2aec:item-1:block-12"/>
          <p:cNvSpPr txBox="1"/>
          <p:nvPr/>
        </p:nvSpPr>
        <p:spPr>
          <a:xfrm>
            <a:off x="1699321" y="199644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Convert long imported paragraphs into bounded executive bullets before MDPR layout.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feedback-applied-bf2aec:item-2:block-12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 source identity as section context, not as large decorative badges.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cod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feedback-applied-bf2aec:item-3:block-12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Preserve tables, code fences, and pipeline syntax so MDPR can choose the right object family.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3f7fc9:title:__title:1-3-3f7fc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</a:t>
            </a:r>
            <a:endParaRPr lang="en-US" sz="3400" dirty="0"/>
          </a:p>
        </p:txBody>
      </p:sp>
      <p:sp>
        <p:nvSpPr>
          <p:cNvPr id="6" name="mdpr:1-3-3f7fc9:left:block-14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react from https://raw.githubusercontent.com/facebook/react/main/README.md</a:t>
            </a:r>
            <a:endParaRPr lang="en-US" sz="2200" dirty="0"/>
          </a:p>
        </p:txBody>
      </p:sp>
      <p:sp>
        <p:nvSpPr>
          <p:cNvPr id="7" name="mdpr:1-3-3f7fc9:right:block-14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headings, 0 table-like lines, 1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b10bcd:title:__title:2-3-b10bc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 (Cont. 2/3)</a:t>
            </a:r>
            <a:endParaRPr lang="en-US" sz="3400" dirty="0"/>
          </a:p>
        </p:txBody>
      </p:sp>
      <p:sp>
        <p:nvSpPr>
          <p:cNvPr id="6" name="mdpr:2-3-b10bcd:left:block-14-chunk-2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Use Quick Start to get a taste of React.</a:t>
            </a:r>
            <a:endParaRPr lang="en-US" sz="2200" dirty="0"/>
          </a:p>
        </p:txBody>
      </p:sp>
      <p:sp>
        <p:nvSpPr>
          <p:cNvPr id="7" name="mdpr:2-3-b10bcd:right:block-14-chunk-2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 React to an Existing Project to use as little or as much React as you need.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0a31b9:title:__title:3-3-0a31b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 (Cont. 3/3)</a:t>
            </a:r>
            <a:endParaRPr lang="en-US" sz="3400" dirty="0"/>
          </a:p>
        </p:txBody>
      </p:sp>
      <p:sp>
        <p:nvSpPr>
          <p:cNvPr id="6" name="mdpr:3-3-0a31b9:left:block-14-chunk-3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Create a New React App if you're looking for a powerful JavaScript toolchain.</a:t>
            </a:r>
            <a:endParaRPr lang="en-US" sz="2200" dirty="0"/>
          </a:p>
        </p:txBody>
      </p:sp>
      <p:sp>
        <p:nvSpPr>
          <p:cNvPr id="7" name="mdpr:3-3-0a31b9:right:block-14-chunk-3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Adding Interactivity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f8377a:title:__title:1-3-f8377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</a:t>
            </a:r>
            <a:endParaRPr lang="en-US" sz="3400" dirty="0"/>
          </a:p>
        </p:txBody>
      </p:sp>
      <p:sp>
        <p:nvSpPr>
          <p:cNvPr id="6" name="mdpr:1-3-f8377a:left:block-16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vite from https://raw.githubusercontent.com/vitejs/vite/main/README.md</a:t>
            </a:r>
            <a:endParaRPr lang="en-US" sz="2200" dirty="0"/>
          </a:p>
        </p:txBody>
      </p:sp>
      <p:sp>
        <p:nvSpPr>
          <p:cNvPr id="7" name="mdpr:1-3-f8377a:right:block-16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 headings, 5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a7bc88:title:__title:2-3-a7bc8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 (Cont. 2/3)</a:t>
            </a:r>
            <a:endParaRPr lang="en-US" sz="3400" dirty="0"/>
          </a:p>
        </p:txBody>
      </p:sp>
      <p:sp>
        <p:nvSpPr>
          <p:cNvPr id="6" name="mdpr:2-3-a7bc88:left:block-16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Instant Server Start</a:t>
            </a:r>
            <a:endParaRPr lang="en-US" sz="2200" dirty="0"/>
          </a:p>
        </p:txBody>
      </p:sp>
      <p:sp>
        <p:nvSpPr>
          <p:cNvPr id="7" name="mdpr:2-3-a7bc88:right:block-16-chunk-2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Universal Plugin Interface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f505d1:title:__title:3-3-f505d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 (Cont. 3/3)</a:t>
            </a:r>
            <a:endParaRPr lang="en-US" sz="3400" dirty="0"/>
          </a:p>
        </p:txBody>
      </p:sp>
      <p:sp>
        <p:nvSpPr>
          <p:cNvPr id="6" name="mdpr:3-3-f505d1:left:block-16-chunk-3"/>
          <p:cNvSpPr txBox="1"/>
          <p:nvPr/>
        </p:nvSpPr>
        <p:spPr>
          <a:xfrm>
            <a:off x="896112" y="3032760"/>
            <a:ext cx="4791456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dev server that provides rich feature enhancements over native ES modules, for example extremely fast Hot Module Replacement (HMR).</a:t>
            </a:r>
            <a:endParaRPr lang="en-US" sz="2200" dirty="0"/>
          </a:p>
        </p:txBody>
      </p:sp>
      <p:sp>
        <p:nvSpPr>
          <p:cNvPr id="7" name="mdpr:3-3-f505d1:right:block-16-chunk-3"/>
          <p:cNvSpPr txBox="1"/>
          <p:nvPr/>
        </p:nvSpPr>
        <p:spPr>
          <a:xfrm>
            <a:off x="6473952" y="2865120"/>
            <a:ext cx="4791456" cy="17678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build command that bundles your code with Rolldown, pre-configured to output highly optimized static assets for production.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cc9bc8:title:__title:1-3-cc9bc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</a:t>
            </a:r>
            <a:endParaRPr lang="en-US" sz="3400" dirty="0"/>
          </a:p>
        </p:txBody>
      </p:sp>
      <p:sp>
        <p:nvSpPr>
          <p:cNvPr id="6" name="mdpr:1-3-cc9bc8:left:block-2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vue from https://raw.githubusercontent.com/vuejs/core/main/README.md</a:t>
            </a:r>
            <a:endParaRPr lang="en-US" sz="2200" dirty="0"/>
          </a:p>
        </p:txBody>
      </p:sp>
      <p:sp>
        <p:nvSpPr>
          <p:cNvPr id="7" name="mdpr:1-3-cc9bc8:right:block-2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6e6fdd:title:__title:2-3-6e6fd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 (Cont. 2/3)</a:t>
            </a:r>
            <a:endParaRPr lang="en-US" sz="3400" dirty="0"/>
          </a:p>
        </p:txBody>
      </p:sp>
      <p:sp>
        <p:nvSpPr>
          <p:cNvPr id="6" name="mdpr:2-3-6e6fdd:left:block-20-chunk-2"/>
          <p:cNvSpPr txBox="1"/>
          <p:nvPr/>
        </p:nvSpPr>
        <p:spPr>
          <a:xfrm>
            <a:off x="896112" y="2529840"/>
            <a:ext cx="4791456" cy="2438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Vue.js is an MIT-licensed open source project with its ongoing development made possible entirely by the support of these awesome backers. If you'd like to join them, please consider sponsoring Vue's developmen</a:t>
            </a:r>
            <a:endParaRPr lang="en-US" sz="2200" dirty="0"/>
          </a:p>
        </p:txBody>
      </p:sp>
      <p:sp>
        <p:nvSpPr>
          <p:cNvPr id="7" name="mdpr:2-3-6e6fdd:right:block-2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For questions and support please use the official forum or community chat. The issue list of this repo is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exclusively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for bug reports and feature requests.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182112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318211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318211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3-3-54980e:title:__title:3-3-54980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 (Cont. 3/3)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097280" y="345716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8" name="Image 1" descr="article icon from tabler-icons (MIT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432" y="3530316"/>
            <a:ext cx="327721" cy="327721"/>
          </a:xfrm>
          <a:prstGeom prst="rect">
            <a:avLst/>
          </a:prstGeom>
        </p:spPr>
      </p:pic>
      <p:sp>
        <p:nvSpPr>
          <p:cNvPr id="9" name="mdpr:3-3-54980e:item-1:block-20-chunk-3"/>
          <p:cNvSpPr txBox="1"/>
          <p:nvPr/>
        </p:nvSpPr>
        <p:spPr>
          <a:xfrm>
            <a:off x="1699321" y="327428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Please make sure to respect issue requirements and use the new issue helper when opening an issue. Issues not conforming to the guidelines may be closed immediately.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04-svelte-c9b5bb:title:__title:04-svelte-c9b5b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Svelte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04-svelte-c9b5bb:item-1:block-22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svelte from https://raw.githubusercontent.com/sveltejs/svelte/main/README.md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04-svelte-c9b5bb:item-2:block-22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6 headings, 0 table-like lines, 0 fenced code blocks.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04-svelte-c9b5bb:item-3:block-22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Becoming a backer on Open Collective.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297b98:title:__title:1-3-297b9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</a:t>
            </a:r>
            <a:endParaRPr lang="en-US" sz="3400" dirty="0"/>
          </a:p>
        </p:txBody>
      </p:sp>
      <p:sp>
        <p:nvSpPr>
          <p:cNvPr id="6" name="mdpr:1-3-297b98:left:block-24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typescript from https://raw.githubusercontent.com/microsoft/TypeScript/main/README.md</a:t>
            </a:r>
            <a:endParaRPr lang="en-US" sz="2200" dirty="0"/>
          </a:p>
        </p:txBody>
      </p:sp>
      <p:sp>
        <p:nvSpPr>
          <p:cNvPr id="7" name="mdpr:1-3-297b98:right:block-24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 headings, 0 table-like lines, 2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16fcee:title:__title:2-3-16fce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 (Cont. 2/3)</a:t>
            </a:r>
            <a:endParaRPr lang="en-US" sz="3400" dirty="0"/>
          </a:p>
        </p:txBody>
      </p:sp>
      <p:sp>
        <p:nvSpPr>
          <p:cNvPr id="6" name="mdpr:2-3-16fcee:left:block-24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Crashes that were introduced in 5.9 or 6.0 that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also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repro in 7.0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have a portable fix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don't incur other behavioral changes</a:t>
            </a:r>
            <a:endParaRPr lang="en-US" sz="2200" dirty="0"/>
          </a:p>
        </p:txBody>
      </p:sp>
      <p:sp>
        <p:nvSpPr>
          <p:cNvPr id="7" name="mdpr:2-3-16fcee:right:block-24-chunk-2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Language service crashes that substantially impact mainline usage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629e35:title:__title:3-3-629e3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 (Cont. 3/3)</a:t>
            </a:r>
            <a:endParaRPr lang="en-US" sz="3400" dirty="0"/>
          </a:p>
        </p:txBody>
      </p:sp>
      <p:sp>
        <p:nvSpPr>
          <p:cNvPr id="6" name="mdpr:3-3-629e35:left:block-24-chunk-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Serious regressions from 5.9 (these must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seriously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impact a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large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proportion of users)</a:t>
            </a:r>
            <a:endParaRPr lang="en-US" sz="2200" dirty="0"/>
          </a:p>
        </p:txBody>
      </p:sp>
      <p:sp>
        <p:nvSpPr>
          <p:cNvPr id="7" name="mdpr:3-3-629e35:right:block-24-chunk-3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Submit bugs and help us verify fixes as they are checked in.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74bc53:title:__title:1-3-74bc5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</a:t>
            </a:r>
            <a:endParaRPr lang="en-US" sz="3400" dirty="0"/>
          </a:p>
        </p:txBody>
      </p:sp>
      <p:sp>
        <p:nvSpPr>
          <p:cNvPr id="6" name="mdpr:1-3-74bc53:left:block-26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node from https://raw.githubusercontent.com/nodejs/node/main/README.md</a:t>
            </a:r>
            <a:endParaRPr lang="en-US" sz="2200" dirty="0"/>
          </a:p>
        </p:txBody>
      </p:sp>
      <p:sp>
        <p:nvSpPr>
          <p:cNvPr id="7" name="mdpr:1-3-74bc53:right:block-26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17 headings, 0 table-like lines, 3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5bd9a1:title:__title:2-3-5bd9a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2/3)</a:t>
            </a:r>
            <a:endParaRPr lang="en-US" sz="3400" dirty="0"/>
          </a:p>
        </p:txBody>
      </p:sp>
      <p:sp>
        <p:nvSpPr>
          <p:cNvPr id="6" name="mdpr:2-3-5bd9a1:left:block-26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and LTS releases</a:t>
            </a:r>
            <a:endParaRPr lang="en-US" sz="2200" dirty="0"/>
          </a:p>
        </p:txBody>
      </p:sp>
      <p:sp>
        <p:nvSpPr>
          <p:cNvPr id="7" name="mdpr:2-3-5bd9a1:right:block-26-chunk-2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Contributing to Node.js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2890c7:title:__title:3-3-2890c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3/3)</a:t>
            </a:r>
            <a:endParaRPr lang="en-US" sz="3400" dirty="0"/>
          </a:p>
        </p:txBody>
      </p:sp>
      <p:sp>
        <p:nvSpPr>
          <p:cNvPr id="6" name="mdpr:3-3-2890c7:left:block-26-chunk-3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project team members</a:t>
            </a:r>
            <a:endParaRPr lang="en-US" sz="2200" dirty="0"/>
          </a:p>
        </p:txBody>
      </p:sp>
      <p:sp>
        <p:nvSpPr>
          <p:cNvPr id="7" name="mdpr:3-3-2890c7:right:block-26-chunk-3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TSC (Technical Steering Committee)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227833:title:__title:1-3-22783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</a:t>
            </a:r>
            <a:endParaRPr lang="en-US" sz="3400" dirty="0"/>
          </a:p>
        </p:txBody>
      </p:sp>
      <p:sp>
        <p:nvSpPr>
          <p:cNvPr id="6" name="mdpr:1-3-227833:left:block-28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express from https://raw.githubusercontent.com/expressjs/express/master/Readme.md</a:t>
            </a:r>
            <a:endParaRPr lang="en-US" sz="2200" dirty="0"/>
          </a:p>
        </p:txBody>
      </p:sp>
      <p:sp>
        <p:nvSpPr>
          <p:cNvPr id="7" name="mdpr:1-3-227833:right:block-28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14 headings, 0 table-like lines, 11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0d8c3f:title:__title:2-3-0d8c3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 (Cont. 2/3)</a:t>
            </a:r>
            <a:endParaRPr lang="en-US" sz="3400" dirty="0"/>
          </a:p>
        </p:txBody>
      </p:sp>
      <p:sp>
        <p:nvSpPr>
          <p:cNvPr id="6" name="mdpr:2-3-0d8c3f:left:block-28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project team members</a:t>
            </a:r>
            <a:endParaRPr lang="en-US" sz="2200" dirty="0"/>
          </a:p>
        </p:txBody>
      </p:sp>
      <p:sp>
        <p:nvSpPr>
          <p:cNvPr id="7" name="mdpr:2-3-0d8c3f:right:block-28-chunk-2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TC (Technical Committee)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f3f9d7:title:__title:3-3-f3f9d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 (Cont. 3/3)</a:t>
            </a:r>
            <a:endParaRPr lang="en-US" sz="3400" dirty="0"/>
          </a:p>
        </p:txBody>
      </p:sp>
      <p:sp>
        <p:nvSpPr>
          <p:cNvPr id="6" name="mdpr:3-3-f3f9d7:left:block-28-chunk-3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Focus on high performance</a:t>
            </a:r>
            <a:endParaRPr lang="en-US" sz="2200" dirty="0"/>
          </a:p>
        </p:txBody>
      </p:sp>
      <p:sp>
        <p:nvSpPr>
          <p:cNvPr id="7" name="mdpr:3-3-f3f9d7:right:block-28-chunk-3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Super-high test coverage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6fad9c:title:__title:1-3-6fad9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</a:t>
            </a:r>
            <a:endParaRPr lang="en-US" sz="3400" dirty="0"/>
          </a:p>
        </p:txBody>
      </p:sp>
      <p:sp>
        <p:nvSpPr>
          <p:cNvPr id="6" name="mdpr:1-3-6fad9c:left:block-3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fastapi from https://raw.githubusercontent.com/fastapi/fastapi/master/README.md</a:t>
            </a:r>
            <a:endParaRPr lang="en-US" sz="2200" dirty="0"/>
          </a:p>
        </p:txBody>
      </p:sp>
      <p:sp>
        <p:nvSpPr>
          <p:cNvPr id="7" name="mdpr:1-3-6fad9c:right:block-3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28 headings, 0 table-like lines, 12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a8c7ef:title:__title:2-3-a8c7e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 (Cont. 2/3)</a:t>
            </a:r>
            <a:endParaRPr lang="en-US" sz="3400" dirty="0"/>
          </a:p>
        </p:txBody>
      </p:sp>
      <p:sp>
        <p:nvSpPr>
          <p:cNvPr id="6" name="mdpr:2-3-a8c7ef:left:block-3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Fast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Very high performance, on par with NodeJS and Go (thanks to Starlette and Pydantic). One of the fastest Python frameworks available.</a:t>
            </a:r>
            <a:endParaRPr lang="en-US" sz="2200" dirty="0"/>
          </a:p>
        </p:txBody>
      </p:sp>
      <p:sp>
        <p:nvSpPr>
          <p:cNvPr id="7" name="mdpr:2-3-a8c7ef:right:block-3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Fast to code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Increase the speed to develop features by about 200% to 300%. *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923ae1:title:__title:3-3-923ae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 (Cont. 3/3)</a:t>
            </a:r>
            <a:endParaRPr lang="en-US" sz="3400" dirty="0"/>
          </a:p>
        </p:txBody>
      </p:sp>
      <p:sp>
        <p:nvSpPr>
          <p:cNvPr id="6" name="mdpr:3-3-923ae1:left:block-30-chunk-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Fewer bugs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Reduce about 40% of human (developer) induced errors. *</a:t>
            </a:r>
            <a:endParaRPr lang="en-US" sz="2200" dirty="0"/>
          </a:p>
        </p:txBody>
      </p:sp>
      <p:sp>
        <p:nvSpPr>
          <p:cNvPr id="7" name="mdpr:3-3-923ae1:right:block-30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Intuitive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Great editor support. Completion everywhere. Less time debugging.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86b656:title:__title:1-3-86b65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</a:t>
            </a:r>
            <a:endParaRPr lang="en-US" sz="3400" dirty="0"/>
          </a:p>
        </p:txBody>
      </p:sp>
      <p:sp>
        <p:nvSpPr>
          <p:cNvPr id="6" name="mdpr:1-3-86b656:left:block-32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openai-python from https://raw.githubusercontent.com/openai/openai-python/main/README.md</a:t>
            </a:r>
            <a:endParaRPr lang="en-US" sz="2200" dirty="0"/>
          </a:p>
        </p:txBody>
      </p:sp>
      <p:sp>
        <p:nvSpPr>
          <p:cNvPr id="7" name="mdpr:1-3-86b656:right:block-32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50 headings, 10 table-like lines, 45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482ae7:title:__title:2-3-482ae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 (Cont. 2/3)</a:t>
            </a:r>
            <a:endParaRPr lang="en-US" sz="3400" dirty="0"/>
          </a:p>
        </p:txBody>
      </p:sp>
      <p:sp>
        <p:nvSpPr>
          <p:cNvPr id="6" name="mdpr:2-3-482ae7:left:block-32-chunk-2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Serializing back into JSON, model.to_json()</a:t>
            </a:r>
            <a:endParaRPr lang="en-US" sz="2200" dirty="0"/>
          </a:p>
        </p:txBody>
      </p:sp>
      <p:sp>
        <p:nvSpPr>
          <p:cNvPr id="7" name="mdpr:2-3-482ae7:right:block-32-chunk-2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Converting to a dictionary, model.to_dict()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55b1a5:title:__title:3-3-55b1a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 (Cont. 3/3)</a:t>
            </a:r>
            <a:endParaRPr lang="en-US" sz="3400" dirty="0"/>
          </a:p>
        </p:txBody>
      </p:sp>
      <p:sp>
        <p:nvSpPr>
          <p:cNvPr id="6" name="mdpr:3-3-55b1a5:left:block-32-chunk-3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Additional advanced functionality</a:t>
            </a:r>
            <a:endParaRPr lang="en-US" sz="2200" dirty="0"/>
          </a:p>
        </p:txBody>
      </p:sp>
      <p:sp>
        <p:nvSpPr>
          <p:cNvPr id="7" name="mdpr:3-3-55b1a5:right:block-32-chunk-3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azureendpoint (or the AZUREOPENAI_ENDPOINT environment variable)</a:t>
            </a:r>
            <a:endParaRPr lang="en-US" sz="2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600edb:title:__title:1-3-600ed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</a:t>
            </a:r>
            <a:endParaRPr lang="en-US" sz="3400" dirty="0"/>
          </a:p>
        </p:txBody>
      </p:sp>
      <p:sp>
        <p:nvSpPr>
          <p:cNvPr id="6" name="mdpr:1-3-600edb:left:block-36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langchain from https://raw.githubusercontent.com/langchain-ai/langchain/master/README.md</a:t>
            </a:r>
            <a:endParaRPr lang="en-US" sz="2200" dirty="0"/>
          </a:p>
        </p:txBody>
      </p:sp>
      <p:sp>
        <p:nvSpPr>
          <p:cNvPr id="7" name="mdpr:1-3-600edb:right:block-36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4 headings, 0 table-like lines, 2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8f775b:title:__title:2-3-8f775b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 (Cont. 2/3)</a:t>
            </a:r>
            <a:endParaRPr lang="en-US" sz="3400" dirty="0"/>
          </a:p>
        </p:txBody>
      </p:sp>
      <p:sp>
        <p:nvSpPr>
          <p:cNvPr id="6" name="mdpr:2-3-8f775b:left:block-3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Deep Agents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Build agents that can plan, use subagents, and leverage file systems for complex tasks</a:t>
            </a:r>
            <a:endParaRPr lang="en-US" sz="2200" dirty="0"/>
          </a:p>
        </p:txBody>
      </p:sp>
      <p:sp>
        <p:nvSpPr>
          <p:cNvPr id="7" name="mdpr:2-3-8f775b:right:block-3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LangGraph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Build agents that can reliably handle complex tasks with our low-level agent orchestration framework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217b14:title:__title:3-3-217b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 (Cont. 3/3)</a:t>
            </a:r>
            <a:endParaRPr lang="en-US" sz="3400" dirty="0"/>
          </a:p>
        </p:txBody>
      </p:sp>
      <p:sp>
        <p:nvSpPr>
          <p:cNvPr id="6" name="mdpr:3-3-217b14:left:block-36-chunk-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Integrations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Chat &amp; embedding models, tools &amp; toolkits, and more</a:t>
            </a:r>
            <a:endParaRPr lang="en-US" sz="2200" dirty="0"/>
          </a:p>
        </p:txBody>
      </p:sp>
      <p:sp>
        <p:nvSpPr>
          <p:cNvPr id="7" name="mdpr:3-3-217b14:right:block-36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LangSmith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Agent evals, observability, and debugging for LLM apps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550c59:title:__title:1-3-550c5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Playwright</a:t>
            </a:r>
            <a:endParaRPr lang="en-US" sz="3400" dirty="0"/>
          </a:p>
        </p:txBody>
      </p:sp>
      <p:sp>
        <p:nvSpPr>
          <p:cNvPr id="6" name="mdpr:1-3-550c59:left:block-38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playwright from https://raw.githubusercontent.com/microsoft/playwright/main/README.md</a:t>
            </a:r>
            <a:endParaRPr lang="en-US" sz="2200" dirty="0"/>
          </a:p>
        </p:txBody>
      </p:sp>
      <p:sp>
        <p:nvSpPr>
          <p:cNvPr id="7" name="mdpr:1-3-550c59:right:block-38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22 headings, 12 table-like lines, 22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9f36df:title:__title:2-3-9f36d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Playwright (Cont. 2/3)</a:t>
            </a:r>
            <a:endParaRPr lang="en-US" sz="3400" dirty="0"/>
          </a:p>
        </p:txBody>
      </p:sp>
      <p:sp>
        <p:nvSpPr>
          <p:cNvPr id="6" name="mdpr:2-3-9f36df:left:block-38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heading "todos" [level=1]</a:t>
            </a:r>
            <a:endParaRPr lang="en-US" sz="2200" dirty="0"/>
          </a:p>
        </p:txBody>
      </p:sp>
      <p:sp>
        <p:nvSpPr>
          <p:cNvPr id="7" name="mdpr:2-3-9f36df:right:block-38-chunk-2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textbox "What needs to be done?" [ref=e5]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a4e198:title:__title:3-3-a4e19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 Playwright (Cont. 3/3)</a:t>
            </a:r>
            <a:endParaRPr lang="en-US" sz="3400" dirty="0"/>
          </a:p>
        </p:txBody>
      </p:sp>
      <p:sp>
        <p:nvSpPr>
          <p:cNvPr id="6" name="mdpr:3-3-a4e198:left:block-38-chunk-3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checkbox "Toggle Todo" [ref=e10]</a:t>
            </a:r>
            <a:endParaRPr lang="en-US" sz="2200" dirty="0"/>
          </a:p>
        </p:txBody>
      </p:sp>
      <p:sp>
        <p:nvSpPr>
          <p:cNvPr id="7" name="mdpr:3-3-a4e198:right:block-38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text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"Buy groceries"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2-c29a1a:title:__title:1-2-c29a1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Tailwind CSS</a:t>
            </a:r>
            <a:endParaRPr lang="en-US" sz="3400" dirty="0"/>
          </a:p>
        </p:txBody>
      </p:sp>
      <p:sp>
        <p:nvSpPr>
          <p:cNvPr id="6" name="mdpr:1-2-c29a1a:left:block-42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tailwindcss from https://raw.githubusercontent.com/tailwindlabs/tailwindcss/main/README.md</a:t>
            </a:r>
            <a:endParaRPr lang="en-US" sz="2200" dirty="0"/>
          </a:p>
        </p:txBody>
      </p:sp>
      <p:sp>
        <p:nvSpPr>
          <p:cNvPr id="7" name="mdpr:1-2-c29a1a:right:block-42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2-2a92df:title:__title:2-2-2a92d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12. Tailwind CSS (Cont. 2/2)</a:t>
            </a:r>
            <a:endParaRPr lang="en-US" sz="3400" dirty="0"/>
          </a:p>
        </p:txBody>
      </p:sp>
      <p:sp>
        <p:nvSpPr>
          <p:cNvPr id="6" name="mdpr:2-2-2a92df:left:block-42-chunk-2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utility-first CSS framework for rapidly building custom user interfaces.</a:t>
            </a:r>
            <a:endParaRPr lang="en-US" sz="2200" dirty="0"/>
          </a:p>
        </p:txBody>
      </p:sp>
      <p:sp>
        <p:nvSpPr>
          <p:cNvPr id="7" name="mdpr:2-2-2a92df:right:block-42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If you're interested in contributing to Tailwind CSS, please read our contributing docs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 submitting a pull request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48576f:title:__title:1-3-48576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Kubernetes (K8s)</a:t>
            </a:r>
            <a:endParaRPr lang="en-US" sz="3400" dirty="0"/>
          </a:p>
        </p:txBody>
      </p:sp>
      <p:sp>
        <p:nvSpPr>
          <p:cNvPr id="6" name="mdpr:1-3-48576f:left:block-44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kubernetes from https://raw.githubusercontent.com/kubernetes/kubernetes/master/README.md</a:t>
            </a:r>
            <a:endParaRPr lang="en-US" sz="2200" dirty="0"/>
          </a:p>
        </p:txBody>
      </p:sp>
      <p:sp>
        <p:nvSpPr>
          <p:cNvPr id="7" name="mdpr:1-3-48576f:right:block-44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2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2ab500:title:__title:2-3-2ab50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Kubernetes (K8s) (Cont. 2/3)</a:t>
            </a:r>
            <a:endParaRPr lang="en-US" sz="3400" dirty="0"/>
          </a:p>
        </p:txBody>
      </p:sp>
      <p:sp>
        <p:nvSpPr>
          <p:cNvPr id="6" name="mdpr:2-3-2ab500:left:block-44-chunk-2"/>
          <p:cNvSpPr txBox="1"/>
          <p:nvPr/>
        </p:nvSpPr>
        <p:spPr>
          <a:xfrm>
            <a:off x="896112" y="2362200"/>
            <a:ext cx="4791456" cy="27736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Kubernetes, also known as K8s, is an open source system for managing [containerized applications] across multiple hosts. It provides basic mechanisms for the deployment, maintenance, and scaling of applications</a:t>
            </a:r>
            <a:endParaRPr lang="en-US" sz="2200" dirty="0"/>
          </a:p>
        </p:txBody>
      </p:sp>
      <p:sp>
        <p:nvSpPr>
          <p:cNvPr id="7" name="mdpr:2-3-2ab500:right:block-44-chunk-2"/>
          <p:cNvSpPr txBox="1"/>
          <p:nvPr/>
        </p:nvSpPr>
        <p:spPr>
          <a:xfrm>
            <a:off x="6473952" y="2529840"/>
            <a:ext cx="4791456" cy="2438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Kubernetes builds upon a decade and a half of experience at Google running production workloads at scale using a system called [Borg], combined with best-of-breed ideas and practices from the community.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182112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318211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318211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3-3-3a8232:title:__title:3-3-3a823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13. Kubernetes (K8s) (Cont. 3/3)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097280" y="345716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8" name="Image 1" descr="cloud icon from svgrepo (open-license catalog pattern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432" y="3530316"/>
            <a:ext cx="327721" cy="327721"/>
          </a:xfrm>
          <a:prstGeom prst="rect">
            <a:avLst/>
          </a:prstGeom>
        </p:spPr>
      </p:pic>
      <p:sp>
        <p:nvSpPr>
          <p:cNvPr id="9" name="mdpr:3-3-3a8232:item-1:block-44-chunk-3"/>
          <p:cNvSpPr txBox="1"/>
          <p:nvPr/>
        </p:nvSpPr>
        <p:spPr>
          <a:xfrm>
            <a:off x="1699321" y="327428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Kubernetes is hosted by the Cloud Native Computing Foundation ([CNCF]). If your company wants to help shape the evolution of technologies that are container-packaged, dynamically scheduled, and microservices-or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2-3b0843:title:__title:1-2-3b084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Rust</a:t>
            </a:r>
            <a:endParaRPr lang="en-US" sz="3400" dirty="0"/>
          </a:p>
        </p:txBody>
      </p:sp>
      <p:sp>
        <p:nvSpPr>
          <p:cNvPr id="6" name="mdpr:1-2-3b0843:left:block-46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rust from https://raw.githubusercontent.com/rust-lang/rust/master/README.md</a:t>
            </a:r>
            <a:endParaRPr lang="en-US" sz="2200" dirty="0"/>
          </a:p>
        </p:txBody>
      </p:sp>
      <p:sp>
        <p:nvSpPr>
          <p:cNvPr id="7" name="mdpr:1-2-3b0843:right:block-46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7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2-95ac5f:title:__title:2-2-95ac5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14. Rust (Cont. 2/2)</a:t>
            </a:r>
            <a:endParaRPr lang="en-US" sz="3400" dirty="0"/>
          </a:p>
        </p:txBody>
      </p:sp>
      <p:sp>
        <p:nvSpPr>
          <p:cNvPr id="6" name="mdpr:2-2-95ac5f:left:block-46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**Performance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Fast and memory-efficient, suitable for critical services, embedded devices, and easily integrated with other languages.</a:t>
            </a:r>
            <a:endParaRPr lang="en-US" sz="2200" dirty="0"/>
          </a:p>
        </p:txBody>
      </p:sp>
      <p:sp>
        <p:nvSpPr>
          <p:cNvPr id="7" name="mdpr:2-2-95ac5f:right:block-46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**Reliability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Our rich type system and ownership model ensure memory and thread safety, reducing bugs at compile-time.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46b2be:title:__title:1-3-46b2b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PyTorch</a:t>
            </a:r>
            <a:endParaRPr lang="en-US" sz="3400" dirty="0"/>
          </a:p>
        </p:txBody>
      </p:sp>
      <p:sp>
        <p:nvSpPr>
          <p:cNvPr id="6" name="mdpr:1-3-46b2be:left:block-48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pytorch from https://raw.githubusercontent.com/pytorch/pytorch/main/README.md</a:t>
            </a:r>
            <a:endParaRPr lang="en-US" sz="2200" dirty="0"/>
          </a:p>
        </p:txBody>
      </p:sp>
      <p:sp>
        <p:nvSpPr>
          <p:cNvPr id="7" name="mdpr:1-3-46b2be:right:block-48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33 headings, 8 table-like lines, 22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92ea30:title:__title:2-3-92ea3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PyTorch (Cont. 2/3)</a:t>
            </a:r>
            <a:endParaRPr lang="en-US" sz="3400" dirty="0"/>
          </a:p>
        </p:txBody>
      </p:sp>
      <p:sp>
        <p:nvSpPr>
          <p:cNvPr id="6" name="mdpr:2-3-92ea30:left:block-48-chunk-2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Tensor computation (like NumPy) with strong GPU acceleration</a:t>
            </a:r>
            <a:endParaRPr lang="en-US" sz="2200" dirty="0"/>
          </a:p>
        </p:txBody>
      </p:sp>
      <p:sp>
        <p:nvSpPr>
          <p:cNvPr id="7" name="mdpr:2-3-92ea30:right:block-48-chunk-2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Deep neural networks built on a tape-based autograd system</a:t>
            </a:r>
            <a:endParaRPr lang="en-US" sz="2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5fea2e:title:__title:3-3-5fea2e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15. PyTorch (Cont. 3/3)</a:t>
            </a:r>
            <a:endParaRPr lang="en-US" sz="3400" dirty="0"/>
          </a:p>
        </p:txBody>
      </p:sp>
      <p:sp>
        <p:nvSpPr>
          <p:cNvPr id="6" name="mdpr:3-3-5fea2e:left:block-48-chunk-3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GPU-Ready Tensor Library</a:t>
            </a:r>
            <a:endParaRPr lang="en-US" sz="2200" dirty="0"/>
          </a:p>
        </p:txBody>
      </p:sp>
      <p:sp>
        <p:nvSpPr>
          <p:cNvPr id="7" name="mdpr:3-3-5fea2e:right:block-48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Dynamic Neural Networks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Tape-Based Autograd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05bb95:title:__title:1-3-05bb9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TensorFlow</a:t>
            </a:r>
            <a:endParaRPr lang="en-US" sz="3400" dirty="0"/>
          </a:p>
        </p:txBody>
      </p:sp>
      <p:sp>
        <p:nvSpPr>
          <p:cNvPr id="6" name="mdpr:1-3-05bb95:left:block-52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tensorflow from https://raw.githubusercontent.com/tensorflow/tensorflow/master/README.md</a:t>
            </a:r>
            <a:endParaRPr lang="en-US" sz="2200" dirty="0"/>
          </a:p>
        </p:txBody>
      </p:sp>
      <p:sp>
        <p:nvSpPr>
          <p:cNvPr id="7" name="mdpr:1-3-05bb95:right:block-52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4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7ecb29:title:__title:2-3-7ecb2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TensorFlow (Cont. 2/3)</a:t>
            </a:r>
            <a:endParaRPr lang="en-US" sz="3400" dirty="0"/>
          </a:p>
        </p:txBody>
      </p:sp>
      <p:sp>
        <p:nvSpPr>
          <p:cNvPr id="6" name="mdpr:2-3-7ecb29:left:block-52-chunk-2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Clone the TensorFlow repository and switch to the appropriate branch for</a:t>
            </a:r>
            <a:endParaRPr lang="en-US" sz="2200" dirty="0"/>
          </a:p>
        </p:txBody>
      </p:sp>
      <p:sp>
        <p:nvSpPr>
          <p:cNvPr id="7" name="mdpr:2-3-7ecb29:right:block-52-chunk-2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Apply the desired changes (i.e., cherry-pick them) and resolve any code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4e9ba4:title:__title:3-3-4e9ba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 TensorFlow (Cont. 3/3)</a:t>
            </a:r>
            <a:endParaRPr lang="en-US" sz="3400" dirty="0"/>
          </a:p>
        </p:txBody>
      </p:sp>
      <p:sp>
        <p:nvSpPr>
          <p:cNvPr id="6" name="mdpr:3-3-4e9ba4:left:block-52-chunk-3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Run TensorFlow tests and ensure they pass.</a:t>
            </a:r>
            <a:endParaRPr lang="en-US" sz="2200" dirty="0"/>
          </a:p>
        </p:txBody>
      </p:sp>
      <p:sp>
        <p:nvSpPr>
          <p:cNvPr id="7" name="mdpr:3-3-4e9ba4:right:block-52-chunk-3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Build the TensorFlow pip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7f7489:title:__title:1-3-7f748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pandas: A Powerful Python Data Analysis Toolkit</a:t>
            </a:r>
            <a:endParaRPr lang="en-US" sz="3400" dirty="0"/>
          </a:p>
        </p:txBody>
      </p:sp>
      <p:sp>
        <p:nvSpPr>
          <p:cNvPr id="6" name="mdpr:1-3-7f7489:left:block-56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pandas from https://raw.githubusercontent.com/pandas-dev/pandas/main/README.md</a:t>
            </a:r>
            <a:endParaRPr lang="en-US" sz="2200" dirty="0"/>
          </a:p>
        </p:txBody>
      </p:sp>
      <p:sp>
        <p:nvSpPr>
          <p:cNvPr id="7" name="mdpr:1-3-7f7489:right:block-56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15 headings, 5 table-like lines, 5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39aa1d:title:__title:2-3-39aa1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pandas: A Powerful Python Data Analysis Toolkit (Cont. 2/3)</a:t>
            </a:r>
            <a:endParaRPr lang="en-US" sz="3400" dirty="0"/>
          </a:p>
        </p:txBody>
      </p:sp>
      <p:sp>
        <p:nvSpPr>
          <p:cNvPr id="6" name="mdpr:2-3-39aa1d:left:block-56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Installation from sources</a:t>
            </a:r>
            <a:endParaRPr lang="en-US" sz="2200" dirty="0"/>
          </a:p>
        </p:txBody>
      </p:sp>
      <p:sp>
        <p:nvSpPr>
          <p:cNvPr id="7" name="mdpr:2-3-39aa1d:right:block-56-chunk-2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Discussion and Development</a:t>
            </a:r>
            <a:endParaRPr lang="en-US" sz="2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a3aac5:title:__title:3-3-a3aac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17. pandas: A Powerful Python Data Analysis Toolkit (Cont. 3/3)</a:t>
            </a:r>
            <a:endParaRPr lang="en-US" sz="3400" dirty="0"/>
          </a:p>
        </p:txBody>
      </p:sp>
      <p:sp>
        <p:nvSpPr>
          <p:cNvPr id="6" name="mdpr:3-3-a3aac5:left:block-56-chunk-3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Contributing to pandas</a:t>
            </a:r>
            <a:endParaRPr lang="en-US" sz="2200" dirty="0"/>
          </a:p>
        </p:txBody>
      </p:sp>
      <p:sp>
        <p:nvSpPr>
          <p:cNvPr id="7" name="mdpr:3-3-a3aac5:right:block-56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Easy handling of [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missing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][missing-data] (represented as</a:t>
            </a:r>
            <a:endParaRPr lang="en-US" sz="2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c2aaa0:title:__title:1-3-c2aaa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</a:t>
            </a:r>
            <a:endParaRPr lang="en-US" sz="3400" dirty="0"/>
          </a:p>
        </p:txBody>
      </p:sp>
      <p:sp>
        <p:nvSpPr>
          <p:cNvPr id="6" name="mdpr:1-3-c2aaa0:left:block-6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numpy from https://raw.githubusercontent.com/numpy/numpy/main/README.md</a:t>
            </a:r>
            <a:endParaRPr lang="en-US" sz="2200" dirty="0"/>
          </a:p>
        </p:txBody>
      </p:sp>
      <p:sp>
        <p:nvSpPr>
          <p:cNvPr id="7" name="mdpr:1-3-c2aaa0:right:block-6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0 headings, 0 table-like lines, 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b4e971:title:__title:2-3-b4e97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 (Cont. 2/3)</a:t>
            </a:r>
            <a:endParaRPr lang="en-US" sz="3400" dirty="0"/>
          </a:p>
        </p:txBody>
      </p:sp>
      <p:sp>
        <p:nvSpPr>
          <p:cNvPr id="6" name="mdpr:2-3-b4e971:left:block-60-chunk-2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**Website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https://numpy.org</a:t>
            </a:r>
            <a:endParaRPr lang="en-US" sz="2200" dirty="0"/>
          </a:p>
        </p:txBody>
      </p:sp>
      <p:sp>
        <p:nvSpPr>
          <p:cNvPr id="7" name="mdpr:2-3-b4e971:right:block-60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**Documentation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https://numpy.org/doc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524046:title:__title:3-3-52404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18. NumPy (Cont. 3/3)</a:t>
            </a:r>
            <a:endParaRPr lang="en-US" sz="3400" dirty="0"/>
          </a:p>
        </p:txBody>
      </p:sp>
      <p:sp>
        <p:nvSpPr>
          <p:cNvPr id="6" name="mdpr:3-3-524046:left:block-60-chunk-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**Mailing list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https://mail.python.org/mailman/listinfo/numpy-discussion</a:t>
            </a:r>
            <a:endParaRPr lang="en-US" sz="2200" dirty="0"/>
          </a:p>
        </p:txBody>
      </p:sp>
      <p:sp>
        <p:nvSpPr>
          <p:cNvPr id="7" name="mdpr:3-3-524046:right:block-60-chunk-3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**Source code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** https://github.com/numpy/numpy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841336:title:__title:1-3-84133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Transformers</a:t>
            </a:r>
            <a:endParaRPr lang="en-US" sz="3400" dirty="0"/>
          </a:p>
        </p:txBody>
      </p:sp>
      <p:sp>
        <p:nvSpPr>
          <p:cNvPr id="6" name="mdpr:1-3-841336:left:block-62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huggingface-transformers from https://raw.githubusercontent.com/huggingface/transformers/main/README.md</a:t>
            </a:r>
            <a:endParaRPr lang="en-US" sz="2200" dirty="0"/>
          </a:p>
        </p:txBody>
      </p:sp>
      <p:sp>
        <p:nvSpPr>
          <p:cNvPr id="7" name="mdpr:1-3-841336:right:block-62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13 headings, 0 table-like lines, 10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c849d3:title:__title:2-3-c849d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Transformers (Cont. 2/3)</a:t>
            </a:r>
            <a:endParaRPr lang="en-US" sz="3400" dirty="0"/>
          </a:p>
        </p:txBody>
      </p:sp>
      <p:sp>
        <p:nvSpPr>
          <p:cNvPr id="6" name="mdpr:2-3-c849d3:left:block-62-chunk-2"/>
          <p:cNvSpPr txBox="1"/>
          <p:nvPr/>
        </p:nvSpPr>
        <p:spPr>
          <a:xfrm>
            <a:off x="896112" y="2865120"/>
            <a:ext cx="4791456" cy="17678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High performance on natural language understanding &amp; generation, computer vision, audio, video, and multimodal tasks.</a:t>
            </a:r>
            <a:endParaRPr lang="en-US" sz="2200" dirty="0"/>
          </a:p>
        </p:txBody>
      </p:sp>
      <p:sp>
        <p:nvSpPr>
          <p:cNvPr id="7" name="mdpr:2-3-c849d3:right:block-62-chunk-2"/>
          <p:cNvSpPr txBox="1"/>
          <p:nvPr/>
        </p:nvSpPr>
        <p:spPr>
          <a:xfrm>
            <a:off x="647395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Low barrier to entry for researchers, engineers, and developers.</a:t>
            </a:r>
            <a:endParaRPr lang="en-US" sz="2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0040cd:title:__title:3-3-0040cd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 Transformers (Cont. 3/3)</a:t>
            </a:r>
            <a:endParaRPr lang="en-US" sz="3400" dirty="0"/>
          </a:p>
        </p:txBody>
      </p:sp>
      <p:sp>
        <p:nvSpPr>
          <p:cNvPr id="6" name="mdpr:3-3-0040cd:left:block-62-chunk-3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Few user-facing abstractions with just three classes to learn.</a:t>
            </a:r>
            <a:endParaRPr lang="en-US" sz="2200" dirty="0"/>
          </a:p>
        </p:txBody>
      </p:sp>
      <p:sp>
        <p:nvSpPr>
          <p:cNvPr id="7" name="mdpr:3-3-0040cd:right:block-62-chunk-3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unified API for using all our pretrained models.</a:t>
            </a:r>
            <a:endParaRPr lang="en-US" sz="2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3" name="mdpr:20-d3-data-driven-documents-2860cc:title:__title:20-d3-data-driven-documents-2860cc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 D3: Data-Driven Documents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5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mdpr:20-d3-data-driven-documents-2860cc:item-1:block-66"/>
          <p:cNvSpPr txBox="1"/>
          <p:nvPr/>
        </p:nvSpPr>
        <p:spPr>
          <a:xfrm>
            <a:off x="1699321" y="198729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d3 from https://raw.githubusercontent.com/d3/d3/main/README.md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18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mdpr:20-d3-data-driven-documents-2860cc:item-2:block-66"/>
          <p:cNvSpPr txBox="1"/>
          <p:nvPr/>
        </p:nvSpPr>
        <p:spPr>
          <a:xfrm>
            <a:off x="1699321" y="3313176"/>
            <a:ext cx="9255191" cy="7802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 headings, 0 table-like lines, 0 fenced code blocks.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21" name="Image 5" descr="chart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mdpr:20-d3-data-driven-documents-2860cc:item-3:block-66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D3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(or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D3.js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 is a free, open-source JavaScript library for visualizing data. Its low-level approach built on web standards offers unparalleled flexibility in authoring dynamic, data-driven graphics. Fo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dd8642:title:__title:1-3-dd864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 Apache ECharts</a:t>
            </a:r>
            <a:endParaRPr lang="en-US" sz="3400" dirty="0"/>
          </a:p>
        </p:txBody>
      </p:sp>
      <p:sp>
        <p:nvSpPr>
          <p:cNvPr id="6" name="mdpr:1-3-dd8642:left:block-68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echarts from https://raw.githubusercontent.com/apache/echarts/master/README.md</a:t>
            </a:r>
            <a:endParaRPr lang="en-US" sz="2200" dirty="0"/>
          </a:p>
        </p:txBody>
      </p:sp>
      <p:sp>
        <p:nvSpPr>
          <p:cNvPr id="7" name="mdpr:1-3-dd8642:right:block-68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19 headings, 0 table-like lines, 1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2e0e10:title:__title:2-3-2e0e1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 Apache ECharts (Cont. 2/3)</a:t>
            </a:r>
            <a:endParaRPr lang="en-US" sz="3400" dirty="0"/>
          </a:p>
        </p:txBody>
      </p:sp>
      <p:sp>
        <p:nvSpPr>
          <p:cNvPr id="6" name="mdpr:2-3-2e0e10:left:block-68-chunk-2"/>
          <p:cNvSpPr txBox="1"/>
          <p:nvPr/>
        </p:nvSpPr>
        <p:spPr>
          <a:xfrm>
            <a:off x="896112" y="2362200"/>
            <a:ext cx="4791456" cy="27736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Apache ECharts is a free, powerful charting and visualization library offering easy ways to add intuitive, interactive, and highly customizable charts to your commercial products. It is written in pure JavaScri</a:t>
            </a:r>
            <a:endParaRPr lang="en-US" sz="2200" dirty="0"/>
          </a:p>
        </p:txBody>
      </p:sp>
      <p:sp>
        <p:nvSpPr>
          <p:cNvPr id="7" name="mdpr:2-3-2e0e10:right:block-68-chunk-2"/>
          <p:cNvSpPr txBox="1"/>
          <p:nvPr/>
        </p:nvSpPr>
        <p:spPr>
          <a:xfrm>
            <a:off x="6675120" y="3200400"/>
            <a:ext cx="459028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Download from the official website + npm install echarts --save + CDN: jsDelivr CDN</a:t>
            </a:r>
            <a:endParaRPr lang="en-US" sz="2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3182112"/>
            <a:ext cx="10241280" cy="10241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3182112"/>
            <a:ext cx="10241280" cy="1024128"/>
          </a:xfrm>
          <a:prstGeom prst="rect">
            <a:avLst/>
          </a:prstGeom>
          <a:solidFill>
            <a:srgbClr val="FCFCFD">
              <a:alpha val="0"/>
            </a:srgbClr>
          </a:solidFill>
          <a:ln w="12700">
            <a:solidFill>
              <a:srgbClr val="C1EFDB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14400" y="318211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6" name="mdpr:3-3-4974aa:title:__title:3-3-4974aa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21. Apache ECharts (Cont. 3/3)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097280" y="345716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C1EFDB"/>
            </a:solidFill>
            <a:prstDash val="solid"/>
          </a:ln>
        </p:spPr>
      </p:sp>
      <p:pic>
        <p:nvPicPr>
          <p:cNvPr id="8" name="Image 1" descr="github icon from simple-icons (CC0-1.0 with brand guidelines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432" y="3530316"/>
            <a:ext cx="327721" cy="327721"/>
          </a:xfrm>
          <a:prstGeom prst="rect">
            <a:avLst/>
          </a:prstGeom>
        </p:spPr>
      </p:pic>
      <p:sp>
        <p:nvSpPr>
          <p:cNvPr id="9" name="mdpr:3-3-4974aa:item-1:block-68-chunk-3"/>
          <p:cNvSpPr txBox="1"/>
          <p:nvPr/>
        </p:nvSpPr>
        <p:spPr>
          <a:xfrm>
            <a:off x="1900489" y="3274284"/>
            <a:ext cx="9054023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GitHub Issues for bug report and feature requests + Email dev@echarts.apache.org for general questions + Subscribe to the mailing list to get updated with the project</a:t>
            </a:r>
            <a:endParaRPr lang="en-US" sz="2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2-ed487f:title:__title:1-2-ed487f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22. Plotly.py</a:t>
            </a:r>
            <a:endParaRPr lang="en-US" sz="3400" dirty="0"/>
          </a:p>
        </p:txBody>
      </p:sp>
      <p:sp>
        <p:nvSpPr>
          <p:cNvPr id="6" name="mdpr:1-2-ed487f:left:block-70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plotly from https://raw.githubusercontent.com/plotly/plotly.py/master/README.md</a:t>
            </a:r>
            <a:endParaRPr lang="en-US" sz="2200" dirty="0"/>
          </a:p>
        </p:txBody>
      </p:sp>
      <p:sp>
        <p:nvSpPr>
          <p:cNvPr id="7" name="mdpr:1-2-ed487f:right:block-70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9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2-e87349:title:__title:2-2-e8734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22. Plotly.py (Cont. 2/2)</a:t>
            </a:r>
            <a:endParaRPr lang="en-US" sz="3400" dirty="0"/>
          </a:p>
        </p:txBody>
      </p:sp>
      <p:sp>
        <p:nvSpPr>
          <p:cNvPr id="6" name="mdpr:2-2-e87349:left:block-70-chunk-2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Online Documentation</a:t>
            </a:r>
            <a:endParaRPr lang="en-US" sz="2200" dirty="0"/>
          </a:p>
        </p:txBody>
      </p:sp>
      <p:sp>
        <p:nvSpPr>
          <p:cNvPr id="7" name="mdpr:2-2-e87349:right:block-70-chunk-2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Contributing to plotly</a:t>
            </a:r>
            <a:endParaRPr lang="en-US" sz="2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1-3-01eec9:title:__title:1-3-01eec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 The System Design Primer</a:t>
            </a:r>
            <a:endParaRPr lang="en-US" sz="3400" dirty="0"/>
          </a:p>
        </p:txBody>
      </p:sp>
      <p:sp>
        <p:nvSpPr>
          <p:cNvPr id="6" name="mdpr:1-3-01eec9:left:block-72-chunk-1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system-design-primer from https://raw.githubusercontent.com/donnemartin/system-design-primer/master/README.md</a:t>
            </a:r>
            <a:endParaRPr lang="en-US" sz="2200" dirty="0"/>
          </a:p>
        </p:txBody>
      </p:sp>
      <p:sp>
        <p:nvSpPr>
          <p:cNvPr id="7" name="mdpr:1-3-01eec9:right:block-72-chunk-1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112 headings, 132 table-like lines, 9 fenced code blocks.</a:t>
            </a:r>
            <a:endParaRPr lang="en-US" sz="2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2-3-802828:title:__title:2-3-80282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 The System Design Primer (Cont. 2/3)</a:t>
            </a:r>
            <a:endParaRPr lang="en-US" sz="3400" dirty="0"/>
          </a:p>
        </p:txBody>
      </p:sp>
      <p:sp>
        <p:nvSpPr>
          <p:cNvPr id="6" name="mdpr:2-3-802828:left:block-72-chunk-2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How to approach a system design interview question</a:t>
            </a:r>
            <a:endParaRPr lang="en-US" sz="2200" dirty="0"/>
          </a:p>
        </p:txBody>
      </p:sp>
      <p:sp>
        <p:nvSpPr>
          <p:cNvPr id="7" name="mdpr:2-3-802828:right:block-72-chunk-2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System design interview questions,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solutions</a:t>
            </a:r>
            <a:endParaRPr 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mdpr:3-3-fbb4c5:title:__title:3-3-fbb4c5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 The System Design Primer (Cont. 3/3)</a:t>
            </a:r>
            <a:endParaRPr lang="en-US" sz="3400" dirty="0"/>
          </a:p>
        </p:txBody>
      </p:sp>
      <p:sp>
        <p:nvSpPr>
          <p:cNvPr id="6" name="mdpr:3-3-fbb4c5:left:block-72-chunk-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Object-oriented design interview questions,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 solutions</a:t>
            </a:r>
            <a:endParaRPr lang="en-US" sz="2200" dirty="0"/>
          </a:p>
        </p:txBody>
      </p:sp>
      <p:sp>
        <p:nvSpPr>
          <p:cNvPr id="7" name="mdpr:3-3-fbb4c5:right:block-72-chunk-3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Additional system design interview questions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9FAFB"/>
      </a:lt1>
      <a:dk2>
        <a:srgbClr val="374151"/>
      </a:dk2>
      <a:lt2>
        <a:srgbClr val="FCFCFD"/>
      </a:lt2>
      <a:accent1>
        <a:srgbClr val="0F766E"/>
      </a:accent1>
      <a:accent2>
        <a:srgbClr val="9E0F62"/>
      </a:accent2>
      <a:accent3>
        <a:srgbClr val="9E4C0F"/>
      </a:accent3>
      <a:accent4>
        <a:srgbClr val="15984D"/>
      </a:accent4>
      <a:accent5>
        <a:srgbClr val="156198"/>
      </a:accent5>
      <a:accent6>
        <a:srgbClr val="096760"/>
      </a:accent6>
      <a:hlink>
        <a:srgbClr val="0F766E"/>
      </a:hlink>
      <a:folHlink>
        <a:srgbClr val="9E0F6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Markdown Visual Evaluation</dc:title>
  <dc:subject>Generated from Markdown through Presentation IR and Layout IR</dc:subject>
  <dc:creator>mdpresent</dc:creator>
  <cp:lastModifiedBy>mdpresent</cp:lastModifiedBy>
  <cp:revision>1</cp:revision>
  <dcterms:created xsi:type="dcterms:W3CDTF">2026-06-30T13:15:45Z</dcterms:created>
  <dcterms:modified xsi:type="dcterms:W3CDTF">2026-06-30T13:15:45Z</dcterms:modified>
</cp:coreProperties>
</file>