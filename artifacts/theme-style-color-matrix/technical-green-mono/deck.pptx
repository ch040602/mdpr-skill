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</c:v>
                </c:pt>
                <c:pt idx="1">
                  <c:v>88</c:v>
                </c:pt>
                <c:pt idx="2">
                  <c:v>94</c:v>
                </c:pt>
                <c:pt idx="3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Change</c:v>
                </c:pt>
              </c:strCache>
            </c:strRef>
          </c:tx>
          <c:spPr>
            <a:solidFill>
              <a:srgbClr val="39DC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22</c:v>
                </c:pt>
                <c:pt idx="2">
                  <c:v>31</c:v>
                </c:pt>
                <c:pt idx="3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2F3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A3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B662C"/>
          </a:solidFill>
          <a:ln w="12700">
            <a:solidFill>
              <a:srgbClr val="0B662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9DC75"/>
          </a:solidFill>
          <a:ln w="12700">
            <a:solidFill>
              <a:srgbClr val="39DC7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mdpr:mdpr-theme-style-and-color-matrix-797102:title:__title:mdpr-theme-style-and-color-matrix-79710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Theme Style and Color Matrix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B662C"/>
          </a:solidFill>
          <a:ln w="12700">
            <a:solidFill>
              <a:srgbClr val="0B662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36192"/>
            <a:ext cx="10515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5852160"/>
            <a:ext cx="2011680" cy="45720"/>
          </a:xfrm>
          <a:prstGeom prst="rect">
            <a:avLst/>
          </a:prstGeom>
          <a:solidFill>
            <a:srgbClr val="39DC75"/>
          </a:solidFill>
          <a:ln w="12700">
            <a:solidFill>
              <a:srgbClr val="39DC7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C2F3D9">
              <a:alpha val="90000"/>
            </a:srgbClr>
          </a:solidFill>
          <a:ln w="12700">
            <a:solidFill>
              <a:srgbClr val="C2F3D9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39DC75"/>
          </a:solidFill>
          <a:ln w="12700">
            <a:solidFill>
              <a:srgbClr val="39DC7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39DC75"/>
          </a:solidFill>
          <a:ln w="12700">
            <a:solidFill>
              <a:srgbClr val="39DC75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39DC75"/>
          </a:solidFill>
          <a:ln w="12700">
            <a:solidFill>
              <a:srgbClr val="39DC75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39DC75"/>
          </a:solidFill>
          <a:ln w="12700">
            <a:solidFill>
              <a:srgbClr val="39DC75">
                <a:alpha val="0"/>
              </a:srgbClr>
            </a:solidFill>
            <a:prstDash val="solid"/>
          </a:ln>
        </p:spPr>
      </p:sp>
      <p:sp>
        <p:nvSpPr>
          <p:cNvPr id="14" name="mdpr:toc-53a981:title:__title:toc-53a981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5" name="mdpr:toc-53a981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Theme Contract</a:t>
            </a:r>
            <a:endParaRPr lang="en-US" sz="1800" dirty="0"/>
          </a:p>
        </p:txBody>
      </p:sp>
      <p:sp>
        <p:nvSpPr>
          <p:cNvPr id="16" name="mdpr:toc-53a981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and Object Routing</a:t>
            </a:r>
            <a:endParaRPr lang="en-US" sz="1800" dirty="0"/>
          </a:p>
        </p:txBody>
      </p:sp>
      <p:sp>
        <p:nvSpPr>
          <p:cNvPr id="17" name="mdpr:toc-53a981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Numeric Proof Objects</a:t>
            </a:r>
            <a:endParaRPr lang="en-US" sz="1800" dirty="0"/>
          </a:p>
        </p:txBody>
      </p:sp>
      <p:sp>
        <p:nvSpPr>
          <p:cNvPr id="18" name="mdpr:toc-53a981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Arc Ring Proof</a:t>
            </a:r>
            <a:endParaRPr lang="en-US" sz="1800" dirty="0"/>
          </a:p>
        </p:txBody>
      </p:sp>
      <p:sp>
        <p:nvSpPr>
          <p:cNvPr id="19" name="mdpr:toc-53a981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Table and Text Coherence</a:t>
            </a:r>
            <a:endParaRPr lang="en-US" sz="1800" dirty="0"/>
          </a:p>
        </p:txBody>
      </p:sp>
      <p:sp>
        <p:nvSpPr>
          <p:cNvPr id="20" name="mdpr:toc-53a981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Selection Inputs</a:t>
            </a:r>
            <a:endParaRPr lang="en-US" sz="1800" dirty="0"/>
          </a:p>
        </p:txBody>
      </p:sp>
      <p:sp>
        <p:nvSpPr>
          <p:cNvPr id="21" name="mdpr:toc-53a981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Theme Matrix</a:t>
            </a:r>
            <a:endParaRPr lang="en-US" sz="1800" dirty="0"/>
          </a:p>
        </p:txBody>
      </p:sp>
      <p:sp>
        <p:nvSpPr>
          <p:cNvPr id="22" name="mdpr:toc-53a981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Final Checks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B662C"/>
          </a:solidFill>
          <a:ln w="12700">
            <a:solidFill>
              <a:srgbClr val="0B662C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2F3D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7" name="mdpr:theme-contract-c377f2:title:__title:theme-contract-c377f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Contract</a:t>
            </a:r>
            <a:endParaRPr lang="en-US" sz="3400" dirty="0"/>
          </a:p>
        </p:txBody>
      </p:sp>
      <p:sp>
        <p:nvSpPr>
          <p:cNvPr id="8" name="mdpr:theme-contract-c377f2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 and color seed are separate deterministic choices.</a:t>
            </a:r>
            <a:endParaRPr lang="en-US" sz="2200" dirty="0"/>
          </a:p>
        </p:txBody>
      </p:sp>
      <p:sp>
        <p:nvSpPr>
          <p:cNvPr id="9" name="mdpr:theme-contract-c377f2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6A3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Controls surface grammar, shadow, density, and object treatment.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6A3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Color seed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Provides the main color; harmony rules derive chart, accent, and PowerPoint theme colors.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6A3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Visual validation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build manifest records overflow, font floor, region count, and resolved design tokens.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B662C"/>
          </a:solidFill>
          <a:ln w="12700">
            <a:solidFill>
              <a:srgbClr val="0B662C">
                <a:alpha val="0"/>
              </a:srgbClr>
            </a:solidFill>
            <a:prstDash val="solid"/>
          </a:ln>
        </p:spPr>
      </p:sp>
      <p:sp>
        <p:nvSpPr>
          <p:cNvPr id="3" name="mdpr:pipeline-and-object-routing-fb82d5:title:__title:pipeline-and-object-routing-fb82d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and Object Routing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B662C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B662C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B662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B662C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B662C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Engine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Styled Deck IR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Output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Check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B662C"/>
          </a:solidFill>
          <a:ln w="12700">
            <a:solidFill>
              <a:srgbClr val="0B662C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2F3D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6" name="mdpr:numeric-proof-objects-cacd50:title:__title:numeric-proof-objects-cacd5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Proof Objects</a:t>
            </a:r>
            <a:endParaRPr lang="en-US" sz="3400" dirty="0"/>
          </a:p>
        </p:txBody>
      </p:sp>
      <p:sp>
        <p:nvSpPr>
          <p:cNvPr id="7" name="mdpr:numeric-proof-objects-cacd50:body:block-10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keeps one evidence object as the main proof while labels and theme colors remain coherent.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B662C"/>
          </a:solidFill>
          <a:ln w="12700">
            <a:solidFill>
              <a:srgbClr val="0B662C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2F3D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6" name="mdpr:arc-ring-proof-5379f8:title:__title:arc-ring-proof-5379f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</a:t>
            </a:r>
            <a:endParaRPr lang="en-US" sz="3400" dirty="0"/>
          </a:p>
        </p:txBody>
      </p:sp>
      <p:sp>
        <p:nvSpPr>
          <p:cNvPr id="7" name="mdpr:arc-ring-proof-5379f8:body:block-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arc geometry uses theme accents.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2F3D9">
              <a:alpha val="82000"/>
            </a:srgbClr>
          </a:solidFill>
          <a:ln w="12700">
            <a:solidFill>
              <a:srgbClr val="C2F3D9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11460000"/>
              <a:gd name="adj3" fmla="val 12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560231" y="3344223"/>
            <a:ext cx="182269" cy="182269"/>
          </a:xfrm>
          <a:prstGeom prst="ellipse">
            <a:avLst/>
          </a:prstGeom>
          <a:solidFill>
            <a:srgbClr val="39DC75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6749" y="2822976"/>
            <a:ext cx="1614384" cy="161438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24865" y="3187514"/>
            <a:ext cx="1458153" cy="6249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920711" y="3838476"/>
            <a:ext cx="1666461" cy="468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489838" y="2591044"/>
            <a:ext cx="137160" cy="13716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18438" y="2440168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78%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489838" y="3029956"/>
            <a:ext cx="137160" cy="137160"/>
          </a:xfrm>
          <a:prstGeom prst="ellipse">
            <a:avLst/>
          </a:prstGeom>
          <a:solidFill>
            <a:srgbClr val="39DC75"/>
          </a:solidFill>
          <a:ln w="12700">
            <a:solidFill>
              <a:srgbClr val="39DC75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718438" y="2879080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22%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B662C"/>
          </a:solidFill>
          <a:ln w="12700">
            <a:solidFill>
              <a:srgbClr val="0B662C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2F3D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table-and-text-coherence-6ef8a2:title:__title:table-and-text-coherence-6ef8a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</a:t>
            </a:r>
            <a:endParaRPr lang="en-US" sz="3400" dirty="0"/>
          </a:p>
        </p:txBody>
      </p:sp>
      <p:graphicFrame>
        <p:nvGraphicFramePr>
          <p:cNvPr id="8" name="mdpr:table-and-text-coherence-6ef8a2:table:block-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Visual Check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Shape text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Middle anchor plus readable insets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text touches a border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 text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emphasis and row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Cells keep row grammar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markers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Marker and text share a centerline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low or drifting glyphs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Color usage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 palette only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Accent color marks real contrast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B662C"/>
          </a:solidFill>
          <a:ln w="12700">
            <a:solidFill>
              <a:srgbClr val="0B662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5" name="mdpr:1-2-5eab8f:title:__title:1-2-5eab8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</a:t>
            </a:r>
            <a:endParaRPr lang="en-US" sz="3400" dirty="0"/>
          </a:p>
        </p:txBody>
      </p:sp>
      <p:sp>
        <p:nvSpPr>
          <p:cNvPr id="6" name="mdpr:1-2-5eab8f:left:block-17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6A3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Long text should use plain-safe or rail layouts instead of decorative cards.</a:t>
            </a:r>
            <a:endParaRPr lang="en-US" sz="2200" dirty="0"/>
          </a:p>
        </p:txBody>
      </p:sp>
      <p:sp>
        <p:nvSpPr>
          <p:cNvPr id="7" name="mdpr:1-2-5eab8f:right:block-17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6A3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Important proof points may receive a contrast chip, but sibling objects keep one grammar.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B662C"/>
          </a:solidFill>
          <a:ln w="12700">
            <a:solidFill>
              <a:srgbClr val="0B662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5" name="mdpr:2-2-db6c82:title:__title:2-2-db6c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 (Cont. 2/2)</a:t>
            </a:r>
            <a:endParaRPr lang="en-US" sz="3400" dirty="0"/>
          </a:p>
        </p:txBody>
      </p:sp>
      <p:sp>
        <p:nvSpPr>
          <p:cNvPr id="6" name="mdpr:2-2-db6c82:left:block-1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6A3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need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Image sidecars are reserved only when the source contains or requires an image.</a:t>
            </a:r>
            <a:endParaRPr lang="en-US" sz="2200" dirty="0"/>
          </a:p>
        </p:txBody>
      </p:sp>
      <p:sp>
        <p:nvSpPr>
          <p:cNvPr id="7" name="mdpr:2-2-db6c82:right:block-1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6A3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Density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tables and code blocks reduce decoration before shrinking below the readable font floor.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B662C"/>
          </a:solidFill>
          <a:ln w="12700">
            <a:solidFill>
              <a:srgbClr val="0B662C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2F3D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1-2-20250a:title:__title:1-2-20250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</a:t>
            </a:r>
            <a:endParaRPr lang="en-US" sz="3400" dirty="0"/>
          </a:p>
        </p:txBody>
      </p:sp>
      <p:graphicFrame>
        <p:nvGraphicFramePr>
          <p:cNvPr id="11" name="mdpr:1-2-20250a:table:block-19-chunk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  <a:gridCol w="2560320"/>
              </a:tblGrid>
              <a:tr h="6466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Style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Main Color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Intended 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clean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#2563EB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 blue system for clean operational slides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#111827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Whitespace-first slides with thin rules and restrained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newmorphism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#4F6F8F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Soft UI surfaces using same-tone panels and paired shadows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glass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#8A4FFF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split-complementary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Translucent proof surfaces with contrast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clean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#DC2626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Swiss modular grid with restrained red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#F59E0B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data-journalism page with dense proof rails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B662C"/>
          </a:solidFill>
          <a:ln w="12700">
            <a:solidFill>
              <a:srgbClr val="0B662C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2F3D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2-2-3dcbe2:title:__title:2-2-3dc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 (Cont. 2/2)</a:t>
            </a:r>
            <a:endParaRPr lang="en-US" sz="3400" dirty="0"/>
          </a:p>
        </p:txBody>
      </p:sp>
      <p:graphicFrame>
        <p:nvGraphicFramePr>
          <p:cNvPr id="12" name="mdpr:2-2-3dcbe2:table:block-19-chunk-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  <a:gridCol w="25603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Style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Main Color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Intended 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technical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#C2410C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triadic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Editorial magazine cover/page rhythm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executive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#0F766E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deck rhythm with a warm opposing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technical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#16A34A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Engineering/validation tone with brightness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executive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#E11D48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proof deck with high-contrast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F3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B662C"/>
          </a:solidFill>
          <a:ln w="12700">
            <a:solidFill>
              <a:srgbClr val="0B662C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2F3D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2F3D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2F3D9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9DC75">
              <a:alpha val="80000"/>
            </a:srgbClr>
          </a:solidFill>
          <a:ln w="12700">
            <a:solidFill>
              <a:srgbClr val="39DC75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9DC75"/>
          </a:solidFill>
          <a:ln w="12700">
            <a:solidFill>
              <a:srgbClr val="39DC75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mdpr:final-checks-4f0459:title:__title:final-checks-4f04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 Checks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2F3D9"/>
            </a:solidFill>
            <a:prstDash val="solid"/>
          </a:ln>
        </p:spPr>
      </p:sp>
      <p:pic>
        <p:nvPicPr>
          <p:cNvPr id="15" name="Image 3" descr="palett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final-checks-4f0459:item-1:block-21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design lock for the resolved style/color contract.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2F3D9"/>
            </a:solidFill>
            <a:prstDash val="solid"/>
          </a:ln>
        </p:spPr>
      </p:sp>
      <p:pic>
        <p:nvPicPr>
          <p:cNvPr id="18" name="Image 4" descr="imag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final-checks-4f0459:item-2:block-21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manifest with source hash, output list, diagnostics, and optional visual summary.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2F3D9"/>
            </a:solidFill>
            <a:prstDash val="solid"/>
          </a:ln>
        </p:spPr>
      </p:sp>
      <p:pic>
        <p:nvPicPr>
          <p:cNvPr id="21" name="Image 5" descr="imag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final-checks-4f0459:item-3:block-21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files are exported through PowerPoint to PNG previews for visual comparison.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CFCFD"/>
      </a:lt2>
      <a:accent1>
        <a:srgbClr val="16A34A"/>
      </a:accent1>
      <a:accent2>
        <a:srgbClr val="39DC75"/>
      </a:accent2>
      <a:accent3>
        <a:srgbClr val="0B662C"/>
      </a:accent3>
      <a:accent4>
        <a:srgbClr val="83E4A6"/>
      </a:accent4>
      <a:accent5>
        <a:srgbClr val="09672C"/>
      </a:accent5>
      <a:accent6>
        <a:srgbClr val="0A662C"/>
      </a:accent6>
      <a:hlink>
        <a:srgbClr val="16A34A"/>
      </a:hlink>
      <a:folHlink>
        <a:srgbClr val="39DC75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Theme Style and Color Matrix</dc:title>
  <dc:subject>Generated from Markdown through Presentation IR and Layout IR</dc:subject>
  <dc:creator>mdpresent</dc:creator>
  <cp:lastModifiedBy>mdpresent</cp:lastModifiedBy>
  <cp:revision>1</cp:revision>
  <dcterms:created xsi:type="dcterms:W3CDTF">2026-06-25T11:49:11Z</dcterms:created>
  <dcterms:modified xsi:type="dcterms:W3CDTF">2026-06-25T11:49:11Z</dcterms:modified>
</cp:coreProperties>
</file>