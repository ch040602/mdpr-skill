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</c:v>
                </c:pt>
                <c:pt idx="1">
                  <c:v>88</c:v>
                </c:pt>
                <c:pt idx="2">
                  <c:v>94</c:v>
                </c:pt>
                <c:pt idx="3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39DC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22</c:v>
                </c:pt>
                <c:pt idx="2">
                  <c:v>31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2F3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74151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A3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B662C"/>
          </a:solidFill>
          <a:ln w="12700">
            <a:solidFill>
              <a:srgbClr val="0B662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39DC75"/>
          </a:solidFill>
          <a:ln w="12700">
            <a:solidFill>
              <a:srgbClr val="39DC7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776" y="1005840"/>
            <a:ext cx="73152" cy="4846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Theme Style and Color Matrix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B662C"/>
          </a:solidFill>
          <a:ln w="12700">
            <a:solidFill>
              <a:srgbClr val="0B662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199644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Contract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42316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and Object Routing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84988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Proof Objects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27660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70332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13004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455676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98348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B662C"/>
          </a:solidFill>
          <a:ln w="12700">
            <a:solidFill>
              <a:srgbClr val="0B662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2F3D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Contract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style and color seed are separate deterministic choices.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Decoration style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Controls surface grammar, shadow, density, and object treatment.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Color seed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Provides the main color; harmony rules derive chart, accent, and PowerPoint theme colors.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Visual validation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build manifest records overflow, font floor, region count, and resolved design tokens.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B662C"/>
          </a:solidFill>
          <a:ln w="12700">
            <a:solidFill>
              <a:srgbClr val="0B662C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and Object Routing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0B662C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0B662C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0B662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0B662C"/>
            </a:solidFill>
            <a:prstDash val="solid"/>
            <a:headEnd type="triangle"/>
          </a:ln>
        </p:spPr>
      </p:sp>
      <p:sp>
        <p:nvSpPr>
          <p:cNvPr id="8" name="Shape 6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0B662C"/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IR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Styled Deck IR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Output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Check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B662C"/>
          </a:solidFill>
          <a:ln w="12700">
            <a:solidFill>
              <a:srgbClr val="0B662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2F3D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Proof Objects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chart keeps one evidence object as the main proof while labels and theme colors remain coherent.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B662C"/>
          </a:solidFill>
          <a:ln w="12700">
            <a:solidFill>
              <a:srgbClr val="0B662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2F3D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arc geometry uses theme accents.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C2F3D9">
              <a:alpha val="82000"/>
            </a:srgbClr>
          </a:solidFill>
          <a:ln w="12700">
            <a:solidFill>
              <a:srgbClr val="C2F3D9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11460000"/>
              <a:gd name="adj3" fmla="val 12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60231" y="3344223"/>
            <a:ext cx="182269" cy="182269"/>
          </a:xfrm>
          <a:prstGeom prst="ellipse">
            <a:avLst/>
          </a:prstGeom>
          <a:solidFill>
            <a:srgbClr val="39DC75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6749" y="2822976"/>
            <a:ext cx="1614384" cy="1614384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24865" y="3187514"/>
            <a:ext cx="1458153" cy="6249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78%</a:t>
            </a:r>
            <a:endParaRPr lang="en-US" sz="2900" dirty="0"/>
          </a:p>
        </p:txBody>
      </p:sp>
      <p:sp>
        <p:nvSpPr>
          <p:cNvPr id="14" name="Text 11"/>
          <p:cNvSpPr txBox="1"/>
          <p:nvPr/>
        </p:nvSpPr>
        <p:spPr>
          <a:xfrm>
            <a:off x="5920711" y="3838476"/>
            <a:ext cx="1666461" cy="46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489838" y="2591044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18438" y="2440168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78%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489838" y="3029956"/>
            <a:ext cx="137160" cy="137160"/>
          </a:xfrm>
          <a:prstGeom prst="ellipse">
            <a:avLst/>
          </a:prstGeom>
          <a:solidFill>
            <a:srgbClr val="39DC75"/>
          </a:solidFill>
          <a:ln w="12700">
            <a:solidFill>
              <a:srgbClr val="39DC75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18438" y="2879080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22%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B662C"/>
          </a:solidFill>
          <a:ln w="12700">
            <a:solidFill>
              <a:srgbClr val="0B662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Requirement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Visual Check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Shape text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Middle anchor plus readable insets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text touches a border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 text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emphasis and row labels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Cells keep row grammar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Bullet markers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Marker and text share a centerline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low or drifting glyphs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Color usage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 palette only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Accent color marks real contrast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B662C"/>
          </a:solidFill>
          <a:ln w="12700">
            <a:solidFill>
              <a:srgbClr val="0B662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39DC75"/>
          </a:solidFill>
          <a:ln w="12700">
            <a:solidFill>
              <a:srgbClr val="39DC7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39DC75"/>
          </a:solidFill>
          <a:ln w="12700">
            <a:solidFill>
              <a:srgbClr val="39DC75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2F3D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2F3D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2F3D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2F3D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</a:t>
            </a:r>
            <a:endParaRPr lang="en-US" sz="3400" dirty="0"/>
          </a:p>
        </p:txBody>
      </p:sp>
      <p:sp>
        <p:nvSpPr>
          <p:cNvPr id="16" name="Shape 10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C2F3D9"/>
            </a:solidFill>
            <a:prstDash val="solid"/>
          </a:ln>
        </p:spPr>
      </p:sp>
      <p:pic>
        <p:nvPicPr>
          <p:cNvPr id="17" name="Image 4" descr="flow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Long text should use plain-safe or rail layouts instead of decorative cards.</a:t>
            </a:r>
            <a:endParaRPr lang="en-US" sz="2200" dirty="0"/>
          </a:p>
        </p:txBody>
      </p:sp>
      <p:sp>
        <p:nvSpPr>
          <p:cNvPr id="19" name="Shape 12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C2F3D9"/>
            </a:solidFill>
            <a:prstDash val="solid"/>
          </a:ln>
        </p:spPr>
      </p:sp>
      <p:pic>
        <p:nvPicPr>
          <p:cNvPr id="20" name="Image 5" descr="verified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Important proof points may receive a contrast chip, but sibling objects keep one grammar.</a:t>
            </a:r>
            <a:endParaRPr lang="en-US" sz="2200" dirty="0"/>
          </a:p>
        </p:txBody>
      </p:sp>
      <p:sp>
        <p:nvSpPr>
          <p:cNvPr id="22" name="Shape 1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C2F3D9"/>
            </a:solidFill>
            <a:prstDash val="solid"/>
          </a:ln>
        </p:spPr>
      </p:sp>
      <p:pic>
        <p:nvPicPr>
          <p:cNvPr id="23" name="Image 6" descr="spark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need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Image sidecars are reserved only when the source contains or requires an image.</a:t>
            </a:r>
            <a:endParaRPr lang="en-US" sz="2200" dirty="0"/>
          </a:p>
        </p:txBody>
      </p:sp>
      <p:sp>
        <p:nvSpPr>
          <p:cNvPr id="25" name="Shape 16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C2F3D9"/>
            </a:solidFill>
            <a:prstDash val="solid"/>
          </a:ln>
        </p:spPr>
      </p:sp>
      <p:pic>
        <p:nvPicPr>
          <p:cNvPr id="26" name="Image 7" descr="chart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Density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tables and code blocks reduce decoration before shrinking below the readable font floor.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B662C"/>
          </a:solidFill>
          <a:ln w="12700">
            <a:solidFill>
              <a:srgbClr val="0B662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407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simple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`#2563EB`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 blue system for clean operational slides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`#111827`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Whitespace-first slides with thin rules and restrained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newmorphism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`#4F6F8F`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Soft UI surfaces using same-tone panels and paired shadows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glass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`#8A4FFF`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split-complementary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Translucent proof surfaces with contrast accents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grid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`#DC2626`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Swiss modular grid with restrained red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`#F59E0B`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data-journalism page with dense proof rails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magazine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`#C2410C`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triadic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Editorial magazine cover/page rhythm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`#0F766E`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Business deck rhythm with a warm opposing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`#16A34A`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Engineering/validation tone with brightness steps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`#E11D48`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proof deck with high-contrast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F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B662C"/>
          </a:solidFill>
          <a:ln w="12700">
            <a:solidFill>
              <a:srgbClr val="0B662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39DC75"/>
          </a:solidFill>
          <a:ln w="12700">
            <a:solidFill>
              <a:srgbClr val="39DC7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868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1417320"/>
            <a:ext cx="10241280" cy="8686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2F3D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560320"/>
            <a:ext cx="10241280" cy="8686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14400" y="2560320"/>
            <a:ext cx="10241280" cy="8686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2F3D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703320"/>
            <a:ext cx="10241280" cy="8686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14400" y="3703320"/>
            <a:ext cx="10241280" cy="8686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2F3D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Checks</a:t>
            </a:r>
            <a:endParaRPr lang="en-US" sz="3400" dirty="0"/>
          </a:p>
        </p:txBody>
      </p:sp>
      <p:sp>
        <p:nvSpPr>
          <p:cNvPr id="13" name="Shape 8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C2F3D9"/>
            </a:solidFill>
            <a:prstDash val="solid"/>
          </a:ln>
        </p:spPr>
      </p:sp>
      <p:pic>
        <p:nvPicPr>
          <p:cNvPr id="14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1696212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682496" y="1638300"/>
            <a:ext cx="927201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design lock for the resolved style/color contract.</a:t>
            </a:r>
            <a:endParaRPr lang="en-US" sz="2200" dirty="0"/>
          </a:p>
        </p:txBody>
      </p:sp>
      <p:sp>
        <p:nvSpPr>
          <p:cNvPr id="16" name="Shape 10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C2F3D9"/>
            </a:solidFill>
            <a:prstDash val="solid"/>
          </a:ln>
        </p:spPr>
      </p:sp>
      <p:pic>
        <p:nvPicPr>
          <p:cNvPr id="17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2839212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82496" y="2651760"/>
            <a:ext cx="927201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manifest with source hash, output list, diagnostics, and optional visual summary.</a:t>
            </a:r>
            <a:endParaRPr lang="en-US" sz="2200" dirty="0"/>
          </a:p>
        </p:txBody>
      </p:sp>
      <p:sp>
        <p:nvSpPr>
          <p:cNvPr id="19" name="Shape 12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C2F3D9"/>
            </a:solidFill>
            <a:prstDash val="solid"/>
          </a:ln>
        </p:spPr>
      </p:sp>
      <p:pic>
        <p:nvPicPr>
          <p:cNvPr id="20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3982212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682496" y="3794760"/>
            <a:ext cx="927201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files are exported through PowerPoint to PNG previews for visual comparison.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9FAFB"/>
      </a:lt1>
      <a:dk2>
        <a:srgbClr val="374151"/>
      </a:dk2>
      <a:lt2>
        <a:srgbClr val="FCFCFD"/>
      </a:lt2>
      <a:accent1>
        <a:srgbClr val="16A34A"/>
      </a:accent1>
      <a:accent2>
        <a:srgbClr val="39DC75"/>
      </a:accent2>
      <a:accent3>
        <a:srgbClr val="0B662C"/>
      </a:accent3>
      <a:accent4>
        <a:srgbClr val="83E4A6"/>
      </a:accent4>
      <a:accent5>
        <a:srgbClr val="09672C"/>
      </a:accent5>
      <a:accent6>
        <a:srgbClr val="0A662C"/>
      </a:accent6>
      <a:hlink>
        <a:srgbClr val="16A34A"/>
      </a:hlink>
      <a:folHlink>
        <a:srgbClr val="39DC75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Theme Style and Color Matrix</dc:title>
  <dc:subject>Generated from Markdown through Presentation IR and Layout IR</dc:subject>
  <dc:creator>mdpresent</dc:creator>
  <cp:lastModifiedBy>mdpresent</cp:lastModifiedBy>
  <cp:revision>1</cp:revision>
  <dcterms:created xsi:type="dcterms:W3CDTF">2026-06-20T10:20:00Z</dcterms:created>
  <dcterms:modified xsi:type="dcterms:W3CDTF">2026-06-20T10:20:00Z</dcterms:modified>
</cp:coreProperties>
</file>