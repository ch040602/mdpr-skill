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</c:v>
                </c:pt>
                <c:pt idx="1">
                  <c:v>88</c:v>
                </c:pt>
                <c:pt idx="2">
                  <c:v>94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32B1B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22</c:v>
                </c:pt>
                <c:pt idx="2">
                  <c:v>31</c:v>
                </c:pt>
                <c:pt idx="3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AD3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mdpr:mdpr-theme-style-and-color-matrix-797102:title:__title:mdpr-theme-style-and-color-matrix-79710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Theme Style and Color Matrix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36192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5852160"/>
            <a:ext cx="2011680" cy="45720"/>
          </a:xfrm>
          <a:prstGeom prst="rect">
            <a:avLst/>
          </a:prstGeom>
          <a:solidFill>
            <a:srgbClr val="32B1B1"/>
          </a:solidFill>
          <a:ln w="12700">
            <a:solidFill>
              <a:srgbClr val="32B1B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CAD3E0">
              <a:alpha val="90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32B1B1"/>
          </a:solidFill>
          <a:ln w="12700">
            <a:solidFill>
              <a:srgbClr val="32B1B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32B1B1"/>
          </a:solidFill>
          <a:ln w="12700">
            <a:solidFill>
              <a:srgbClr val="32B1B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32B1B1"/>
          </a:solidFill>
          <a:ln w="12700">
            <a:solidFill>
              <a:srgbClr val="32B1B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32B1B1"/>
          </a:solidFill>
          <a:ln w="12700">
            <a:solidFill>
              <a:srgbClr val="32B1B1">
                <a:alpha val="0"/>
              </a:srgbClr>
            </a:solidFill>
            <a:prstDash val="solid"/>
          </a:ln>
        </p:spPr>
      </p:sp>
      <p:sp>
        <p:nvSpPr>
          <p:cNvPr id="16" name="mdpr:toc-53a981:title:__title:toc-53a98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7" name="mdpr:toc-53a981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Theme Contract</a:t>
            </a:r>
            <a:endParaRPr lang="en-US" sz="1800" dirty="0"/>
          </a:p>
        </p:txBody>
      </p:sp>
      <p:sp>
        <p:nvSpPr>
          <p:cNvPr id="18" name="mdpr:toc-53a981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and Object Routing</a:t>
            </a:r>
            <a:endParaRPr lang="en-US" sz="1800" dirty="0"/>
          </a:p>
        </p:txBody>
      </p:sp>
      <p:sp>
        <p:nvSpPr>
          <p:cNvPr id="19" name="mdpr:toc-53a981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Numeric Proof Objects</a:t>
            </a:r>
            <a:endParaRPr lang="en-US" sz="1800" dirty="0"/>
          </a:p>
        </p:txBody>
      </p:sp>
      <p:sp>
        <p:nvSpPr>
          <p:cNvPr id="20" name="mdpr:toc-53a981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Arc Ring Proof</a:t>
            </a:r>
            <a:endParaRPr lang="en-US" sz="1800" dirty="0"/>
          </a:p>
        </p:txBody>
      </p:sp>
      <p:sp>
        <p:nvSpPr>
          <p:cNvPr id="21" name="mdpr:toc-53a981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Table and Text Coherence</a:t>
            </a:r>
            <a:endParaRPr lang="en-US" sz="1800" dirty="0"/>
          </a:p>
        </p:txBody>
      </p:sp>
      <p:sp>
        <p:nvSpPr>
          <p:cNvPr id="22" name="mdpr:toc-53a981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Selection Inputs</a:t>
            </a:r>
            <a:endParaRPr lang="en-US" sz="1800" dirty="0"/>
          </a:p>
        </p:txBody>
      </p:sp>
      <p:sp>
        <p:nvSpPr>
          <p:cNvPr id="23" name="mdpr:toc-53a981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Theme Matrix</a:t>
            </a:r>
            <a:endParaRPr lang="en-US" sz="1800" dirty="0"/>
          </a:p>
        </p:txBody>
      </p:sp>
      <p:sp>
        <p:nvSpPr>
          <p:cNvPr id="24" name="mdpr:toc-53a981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Final Checks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mdpr:theme-contract-c377f2:title:__title:theme-contract-c377f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3400" dirty="0"/>
          </a:p>
        </p:txBody>
      </p:sp>
      <p:sp>
        <p:nvSpPr>
          <p:cNvPr id="12" name="mdpr:theme-contract-c377f2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 and color seed are separate deterministic choices.</a:t>
            </a:r>
            <a:endParaRPr lang="en-US" sz="2200" dirty="0"/>
          </a:p>
        </p:txBody>
      </p:sp>
      <p:sp>
        <p:nvSpPr>
          <p:cNvPr id="13" name="mdpr:theme-contract-c377f2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Controls surface grammar, shadow, density, and object treatment.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Color seed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Provides the main color; harmony rules derive chart, accent, and PowerPoint theme colors.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Visual validation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build manifest records overflow, font floor, region count, and resolved design tokens.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mdpr:pipeline-and-object-routing-fb82d5:title:__title:pipeline-and-object-routing-fb82d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3030A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3030A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3030A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3030A9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3030A9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Output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Check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numeric-proof-objects-cacd50:title:__title:numeric-proof-objects-cacd5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3400" dirty="0"/>
          </a:p>
        </p:txBody>
      </p:sp>
      <p:sp>
        <p:nvSpPr>
          <p:cNvPr id="11" name="mdpr:numeric-proof-objects-cacd50:body:block-10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keeps one evidence object as the main proof while labels and theme colors remain coherent.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arc-ring-proof-5379f8:title:__title:arc-ring-proof-5379f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3400" dirty="0"/>
          </a:p>
        </p:txBody>
      </p:sp>
      <p:sp>
        <p:nvSpPr>
          <p:cNvPr id="11" name="mdpr:arc-ring-proof-5379f8:body:block-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arc geometry uses theme accents.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AD3E0">
              <a:alpha val="82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1146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60231" y="3344223"/>
            <a:ext cx="182269" cy="182269"/>
          </a:xfrm>
          <a:prstGeom prst="ellipse">
            <a:avLst/>
          </a:prstGeom>
          <a:solidFill>
            <a:srgbClr val="32B1B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6749" y="2822976"/>
            <a:ext cx="1614384" cy="1614384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24865" y="3187514"/>
            <a:ext cx="1458153" cy="624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5920711" y="3838476"/>
            <a:ext cx="1666461" cy="468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489838" y="2591044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18438" y="2440168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78%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489838" y="3029956"/>
            <a:ext cx="137160" cy="137160"/>
          </a:xfrm>
          <a:prstGeom prst="ellipse">
            <a:avLst/>
          </a:prstGeom>
          <a:solidFill>
            <a:srgbClr val="32B1B1"/>
          </a:solidFill>
          <a:ln w="12700">
            <a:solidFill>
              <a:srgbClr val="32B1B1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718438" y="2879080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22%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table-and-text-coherence-6ef8a2:title:__title:table-and-text-coherence-6ef8a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3400" dirty="0"/>
          </a:p>
        </p:txBody>
      </p:sp>
      <p:graphicFrame>
        <p:nvGraphicFramePr>
          <p:cNvPr id="8" name="mdpr:table-and-text-coherence-6ef8a2:table:block-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Check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Shape text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Middle anchor plus readable insets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text touches a border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 text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emphasis and row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keep row grammar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markers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Marker and text share a centerline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low or drifting glyphs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 usage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 palette only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 color marks real contrast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1-2-5eab8f:title:__title:1-2-5eab8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3400" dirty="0"/>
          </a:p>
        </p:txBody>
      </p:sp>
      <p:sp>
        <p:nvSpPr>
          <p:cNvPr id="8" name="mdpr:1-2-5eab8f:left:block-17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Long text should use plain-safe or rail layouts instead of decorative cards.</a:t>
            </a:r>
            <a:endParaRPr lang="en-US" sz="2200" dirty="0"/>
          </a:p>
        </p:txBody>
      </p:sp>
      <p:sp>
        <p:nvSpPr>
          <p:cNvPr id="9" name="mdpr:1-2-5eab8f:right:block-17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Important proof points may receive a contrast chip, but sibling objects keep one grammar.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mdpr:2-2-db6c82:title:__title:2-2-db6c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 (Cont. 2/2)</a:t>
            </a:r>
            <a:endParaRPr lang="en-US" sz="3400" dirty="0"/>
          </a:p>
        </p:txBody>
      </p:sp>
      <p:sp>
        <p:nvSpPr>
          <p:cNvPr id="8" name="mdpr:2-2-db6c82:left:block-1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need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Image sidecars are reserved only when the source contains or requires an image.</a:t>
            </a:r>
            <a:endParaRPr lang="en-US" sz="2200" dirty="0"/>
          </a:p>
        </p:txBody>
      </p:sp>
      <p:sp>
        <p:nvSpPr>
          <p:cNvPr id="9" name="mdpr:2-2-db6c82:right:block-1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Density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tables and code blocks reduce decoration before shrinking below the readable font floor.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1-2-20250a:title:__title:1-2-20250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3400" dirty="0"/>
          </a:p>
        </p:txBody>
      </p:sp>
      <p:graphicFrame>
        <p:nvGraphicFramePr>
          <p:cNvPr id="11" name="mdpr:1-2-20250a:table:block-19-chunk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6466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clean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#2563EB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 blue system for clean operational slides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#111827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Whitespace-first slides with thin rules and restrained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newmorphism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#4F6F8F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Soft UI surfaces using same-tone panels and paired shadows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glass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#8A4FFF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split-complementary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Translucent proof surfaces with contrast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clean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#DC2626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Swiss modular grid with restrained red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#F59E0B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data-journalism page with dense proof rails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mdpr:2-2-3dcbe2:title:__title:2-2-3dc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 (Cont. 2/2)</a:t>
            </a:r>
            <a:endParaRPr lang="en-US" sz="3400" dirty="0"/>
          </a:p>
        </p:txBody>
      </p:sp>
      <p:graphicFrame>
        <p:nvGraphicFramePr>
          <p:cNvPr id="12" name="mdpr:2-2-3dcbe2:table:block-19-chunk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#C2410C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triadic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Editorial magazine cover/page rhythm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#0F766E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deck rhythm with a warm opposing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#16A34A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Engineering/validation tone with brightness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#E11D48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proof deck with high-contrast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3030A9"/>
          </a:solidFill>
          <a:ln w="12700">
            <a:solidFill>
              <a:srgbClr val="3030A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CAD3E0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2B1B1">
              <a:alpha val="80000"/>
            </a:srgbClr>
          </a:solidFill>
          <a:ln w="12700">
            <a:solidFill>
              <a:srgbClr val="32B1B1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2B1B1"/>
          </a:solidFill>
          <a:ln w="12700">
            <a:solidFill>
              <a:srgbClr val="32B1B1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final-checks-4f0459:title:__title:final-checks-4f04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CAD3E0"/>
            </a:solidFill>
            <a:prstDash val="solid"/>
          </a:ln>
        </p:spPr>
      </p:sp>
      <p:pic>
        <p:nvPicPr>
          <p:cNvPr id="23" name="Image 3" descr="palett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final-checks-4f0459:item-1:block-21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design lock for the resolved style/color contract.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CAD3E0"/>
            </a:solidFill>
            <a:prstDash val="solid"/>
          </a:ln>
        </p:spPr>
      </p:sp>
      <p:pic>
        <p:nvPicPr>
          <p:cNvPr id="26" name="Image 4" descr="imag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final-checks-4f0459:item-2:block-21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manifest with source hash, output list, diagnostics, and optional visual summary.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CAD3E0"/>
            </a:solidFill>
            <a:prstDash val="solid"/>
          </a:ln>
        </p:spPr>
      </p:sp>
      <p:pic>
        <p:nvPicPr>
          <p:cNvPr id="29" name="Image 5" descr="imag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final-checks-4f0459:item-3:block-21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files are exported through PowerPoint to PNG previews for visual comparison.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32B1B1"/>
      </a:accent2>
      <a:accent3>
        <a:srgbClr val="3030A9"/>
      </a:accent3>
      <a:accent4>
        <a:srgbClr val="35BD85"/>
      </a:accent4>
      <a:accent5>
        <a:srgbClr val="5B2C9D"/>
      </a:accent5>
      <a:accent6>
        <a:srgbClr val="2A4158"/>
      </a:accent6>
      <a:hlink>
        <a:srgbClr val="4F6F8F"/>
      </a:hlink>
      <a:folHlink>
        <a:srgbClr val="32B1B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Theme Style and Color Matrix</dc:title>
  <dc:subject>Generated from Markdown through Presentation IR and Layout IR</dc:subject>
  <dc:creator>mdpresent</dc:creator>
  <cp:lastModifiedBy>mdpresent</cp:lastModifiedBy>
  <cp:revision>1</cp:revision>
  <dcterms:created xsi:type="dcterms:W3CDTF">2026-06-25T11:49:03Z</dcterms:created>
  <dcterms:modified xsi:type="dcterms:W3CDTF">2026-06-25T11:49:03Z</dcterms:modified>
</cp:coreProperties>
</file>