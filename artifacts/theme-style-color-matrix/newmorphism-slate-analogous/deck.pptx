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4F6F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  <c:pt idx="3">
                    <c:v>Visual QA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</c:v>
                </c:pt>
                <c:pt idx="1">
                  <c:v>88</c:v>
                </c:pt>
                <c:pt idx="2">
                  <c:v>94</c:v>
                </c:pt>
                <c:pt idx="3">
                  <c:v>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Change</c:v>
                </c:pt>
              </c:strCache>
            </c:strRef>
          </c:tx>
          <c:spPr>
            <a:solidFill>
              <a:srgbClr val="32B1B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  <c:pt idx="3">
                    <c:v>Visual QA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</c:v>
                </c:pt>
                <c:pt idx="1">
                  <c:v>22</c:v>
                </c:pt>
                <c:pt idx="2">
                  <c:v>31</c:v>
                </c:pt>
                <c:pt idx="3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43041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AD3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579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36579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9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502920"/>
            <a:ext cx="822960" cy="822960"/>
          </a:xfrm>
          <a:prstGeom prst="ellipse">
            <a:avLst/>
          </a:prstGeom>
          <a:solidFill>
            <a:srgbClr val="F7FAFC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C7D0DE">
                <a:alpha val="2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87568"/>
            <a:ext cx="658368" cy="658368"/>
          </a:xfrm>
          <a:prstGeom prst="ellipse">
            <a:avLst/>
          </a:prstGeom>
          <a:solidFill>
            <a:srgbClr val="E9EEF5"/>
          </a:solidFill>
          <a:ln w="12700">
            <a:solidFill>
              <a:srgbClr val="FFFFFF">
                <a:alpha val="4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3D2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3030A9"/>
          </a:solidFill>
          <a:ln w="12700">
            <a:solidFill>
              <a:srgbClr val="3030A9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2430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Theme Style and Color Matrix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502920"/>
            <a:ext cx="822960" cy="822960"/>
          </a:xfrm>
          <a:prstGeom prst="ellipse">
            <a:avLst/>
          </a:prstGeom>
          <a:solidFill>
            <a:srgbClr val="F7FAFC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C7D0DE">
                <a:alpha val="2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87568"/>
            <a:ext cx="658368" cy="658368"/>
          </a:xfrm>
          <a:prstGeom prst="ellipse">
            <a:avLst/>
          </a:prstGeom>
          <a:solidFill>
            <a:srgbClr val="E9EEF5"/>
          </a:solidFill>
          <a:ln w="12700">
            <a:solidFill>
              <a:srgbClr val="FFFFFF">
                <a:alpha val="4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3D2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3030A9"/>
          </a:solidFill>
          <a:ln w="12700">
            <a:solidFill>
              <a:srgbClr val="3030A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2430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199644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430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Contract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242316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430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and Object Routing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284988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430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Proof Objects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327660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430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 Ring Proof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987552" y="370332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430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and Text Coherence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987552" y="413004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430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Selection Inputs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987552" y="455676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430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Matrix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987552" y="498348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430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Final Checks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502920"/>
            <a:ext cx="822960" cy="822960"/>
          </a:xfrm>
          <a:prstGeom prst="ellipse">
            <a:avLst/>
          </a:prstGeom>
          <a:solidFill>
            <a:srgbClr val="F7FAFC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C7D0DE">
                <a:alpha val="2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87568"/>
            <a:ext cx="658368" cy="658368"/>
          </a:xfrm>
          <a:prstGeom prst="ellipse">
            <a:avLst/>
          </a:prstGeom>
          <a:solidFill>
            <a:srgbClr val="E9EEF5"/>
          </a:solidFill>
          <a:ln w="12700">
            <a:solidFill>
              <a:srgbClr val="FFFFFF">
                <a:alpha val="4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3D2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3030A9"/>
          </a:solidFill>
          <a:ln w="12700">
            <a:solidFill>
              <a:srgbClr val="3030A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063240"/>
            <a:ext cx="10241280" cy="73152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5548" y="1467612"/>
            <a:ext cx="10241280" cy="1325880"/>
          </a:xfrm>
          <a:prstGeom prst="roundRect">
            <a:avLst>
              <a:gd name="adj" fmla="val 4138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CAD3E0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82396" y="1385316"/>
            <a:ext cx="10241280" cy="1325880"/>
          </a:xfrm>
          <a:prstGeom prst="roundRect">
            <a:avLst>
              <a:gd name="adj" fmla="val 4138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417320"/>
            <a:ext cx="10241280" cy="1325880"/>
          </a:xfrm>
          <a:prstGeom prst="roundRect">
            <a:avLst>
              <a:gd name="adj" fmla="val 4138"/>
            </a:avLst>
          </a:prstGeom>
          <a:solidFill>
            <a:srgbClr val="E9EEF5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13258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46988" y="1549908"/>
            <a:ext cx="73152" cy="1060704"/>
          </a:xfrm>
          <a:prstGeom prst="roundRect">
            <a:avLst>
              <a:gd name="adj" fmla="val 25000"/>
            </a:avLst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2430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Contract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1298448" y="1545336"/>
            <a:ext cx="9637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430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style and color seed are separate deterministic choices.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987552" y="3172968"/>
            <a:ext cx="10094976" cy="24780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Decoration style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430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Controls surface grammar, shadow, density, and object treatment.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Color seed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430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Provides the main color; harmony rules derive chart, accent, and PowerPoint theme colors.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Visual validation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430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The build manifest records overflow, font floor, region count, and resolved design tokens.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502920"/>
            <a:ext cx="822960" cy="822960"/>
          </a:xfrm>
          <a:prstGeom prst="ellipse">
            <a:avLst/>
          </a:prstGeom>
          <a:solidFill>
            <a:srgbClr val="F7FAFC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C7D0DE">
                <a:alpha val="2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87568"/>
            <a:ext cx="658368" cy="658368"/>
          </a:xfrm>
          <a:prstGeom prst="ellipse">
            <a:avLst/>
          </a:prstGeom>
          <a:solidFill>
            <a:srgbClr val="E9EEF5"/>
          </a:solidFill>
          <a:ln w="12700">
            <a:solidFill>
              <a:srgbClr val="FFFFFF">
                <a:alpha val="4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3D2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3030A9"/>
          </a:solidFill>
          <a:ln w="12700">
            <a:solidFill>
              <a:srgbClr val="3030A9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2430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and Object Routing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002024" y="3095244"/>
            <a:ext cx="457200" cy="0"/>
          </a:xfrm>
          <a:prstGeom prst="line">
            <a:avLst/>
          </a:prstGeom>
          <a:noFill/>
          <a:ln w="12700">
            <a:solidFill>
              <a:srgbClr val="3030A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748016" y="3095244"/>
            <a:ext cx="457200" cy="0"/>
          </a:xfrm>
          <a:prstGeom prst="line">
            <a:avLst/>
          </a:prstGeom>
          <a:noFill/>
          <a:ln w="12700">
            <a:solidFill>
              <a:srgbClr val="3030A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849612" y="3627791"/>
            <a:ext cx="0" cy="416235"/>
          </a:xfrm>
          <a:prstGeom prst="line">
            <a:avLst/>
          </a:prstGeom>
          <a:noFill/>
          <a:ln w="12700">
            <a:solidFill>
              <a:srgbClr val="3030A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748016" y="4576572"/>
            <a:ext cx="457200" cy="0"/>
          </a:xfrm>
          <a:prstGeom prst="line">
            <a:avLst/>
          </a:prstGeom>
          <a:noFill/>
          <a:ln w="12700">
            <a:solidFill>
              <a:srgbClr val="3030A9"/>
            </a:solidFill>
            <a:prstDash val="solid"/>
            <a:headEnd type="triangle"/>
          </a:ln>
        </p:spPr>
      </p:sp>
      <p:sp>
        <p:nvSpPr>
          <p:cNvPr id="10" name="Shape 8"/>
          <p:cNvSpPr/>
          <p:nvPr/>
        </p:nvSpPr>
        <p:spPr>
          <a:xfrm>
            <a:off x="4002024" y="4576572"/>
            <a:ext cx="457200" cy="0"/>
          </a:xfrm>
          <a:prstGeom prst="line">
            <a:avLst/>
          </a:prstGeom>
          <a:noFill/>
          <a:ln w="12700">
            <a:solidFill>
              <a:srgbClr val="3030A9"/>
            </a:solidFill>
            <a:prstDash val="solid"/>
            <a:headEnd type="triangle"/>
          </a:ln>
        </p:spPr>
      </p:sp>
      <p:sp>
        <p:nvSpPr>
          <p:cNvPr id="11" name="Shape 9"/>
          <p:cNvSpPr/>
          <p:nvPr/>
        </p:nvSpPr>
        <p:spPr>
          <a:xfrm>
            <a:off x="640080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E9EEF5"/>
          </a:solidFill>
          <a:ln w="12700">
            <a:solidFill>
              <a:srgbClr val="4F6F8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510028"/>
            <a:ext cx="3435096" cy="109728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2907975"/>
            <a:ext cx="374538" cy="374538"/>
          </a:xfrm>
          <a:prstGeom prst="ellipse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9EE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514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2430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Source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86072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E9EEF5"/>
          </a:solidFill>
          <a:ln w="12700">
            <a:solidFill>
              <a:srgbClr val="4F6F8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6072" y="2510028"/>
            <a:ext cx="3435096" cy="109728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50664" y="2907975"/>
            <a:ext cx="374538" cy="374538"/>
          </a:xfrm>
          <a:prstGeom prst="ellipse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50664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9EE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071506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2430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IR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32064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E9EEF5"/>
          </a:solidFill>
          <a:ln w="12700">
            <a:solidFill>
              <a:srgbClr val="4F6F8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32064" y="2510028"/>
            <a:ext cx="3435096" cy="109728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96656" y="2907975"/>
            <a:ext cx="374538" cy="374538"/>
          </a:xfrm>
          <a:prstGeom prst="ellipse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96656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9EE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817498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2430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 Engine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32064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E9EEF5"/>
          </a:solidFill>
          <a:ln w="12700">
            <a:solidFill>
              <a:srgbClr val="4F6F8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32064" y="3991356"/>
            <a:ext cx="3435096" cy="109728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96656" y="4389303"/>
            <a:ext cx="374538" cy="374538"/>
          </a:xfrm>
          <a:prstGeom prst="ellipse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96656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9EE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817498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2430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Styled Deck IR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86072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E9EEF5"/>
          </a:solidFill>
          <a:ln w="12700">
            <a:solidFill>
              <a:srgbClr val="4F6F8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386072" y="3991356"/>
            <a:ext cx="3435096" cy="109728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50664" y="4389303"/>
            <a:ext cx="374538" cy="374538"/>
          </a:xfrm>
          <a:prstGeom prst="ellipse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50664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9EE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5071506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2430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 Output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0080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E9EEF5"/>
          </a:solidFill>
          <a:ln w="12700">
            <a:solidFill>
              <a:srgbClr val="4F6F8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0080" y="3991356"/>
            <a:ext cx="3435096" cy="109728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4672" y="4389303"/>
            <a:ext cx="374538" cy="374538"/>
          </a:xfrm>
          <a:prstGeom prst="ellipse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04672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9EE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1325514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2430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Check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502920"/>
            <a:ext cx="822960" cy="822960"/>
          </a:xfrm>
          <a:prstGeom prst="ellipse">
            <a:avLst/>
          </a:prstGeom>
          <a:solidFill>
            <a:srgbClr val="F7FAFC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C7D0DE">
                <a:alpha val="2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87568"/>
            <a:ext cx="658368" cy="658368"/>
          </a:xfrm>
          <a:prstGeom prst="ellipse">
            <a:avLst/>
          </a:prstGeom>
          <a:solidFill>
            <a:srgbClr val="E9EEF5"/>
          </a:solidFill>
          <a:ln w="12700">
            <a:solidFill>
              <a:srgbClr val="FFFFFF">
                <a:alpha val="4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3D2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3030A9"/>
          </a:solidFill>
          <a:ln w="12700">
            <a:solidFill>
              <a:srgbClr val="3030A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97196" y="1476756"/>
            <a:ext cx="6199632" cy="4407408"/>
          </a:xfrm>
          <a:prstGeom prst="roundRect">
            <a:avLst>
              <a:gd name="adj" fmla="val 1245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CAD3E0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924044" y="1394460"/>
            <a:ext cx="6199632" cy="4407408"/>
          </a:xfrm>
          <a:prstGeom prst="roundRect">
            <a:avLst>
              <a:gd name="adj" fmla="val 1245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56048" y="1426464"/>
            <a:ext cx="6199632" cy="4407408"/>
          </a:xfrm>
          <a:prstGeom prst="roundRect">
            <a:avLst>
              <a:gd name="adj" fmla="val 1245"/>
            </a:avLst>
          </a:prstGeom>
          <a:solidFill>
            <a:srgbClr val="E9EEF5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2430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Proof Objects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430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chart keeps one evidence object as the main proof while labels and theme colors remain coherent.</a:t>
            </a:r>
            <a:endParaRPr lang="en-US" sz="22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084064" y="1572768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502920"/>
            <a:ext cx="822960" cy="822960"/>
          </a:xfrm>
          <a:prstGeom prst="ellipse">
            <a:avLst/>
          </a:prstGeom>
          <a:solidFill>
            <a:srgbClr val="F7FAFC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C7D0DE">
                <a:alpha val="2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87568"/>
            <a:ext cx="658368" cy="658368"/>
          </a:xfrm>
          <a:prstGeom prst="ellipse">
            <a:avLst/>
          </a:prstGeom>
          <a:solidFill>
            <a:srgbClr val="E9EEF5"/>
          </a:solidFill>
          <a:ln w="12700">
            <a:solidFill>
              <a:srgbClr val="FFFFFF">
                <a:alpha val="4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3D2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3030A9"/>
          </a:solidFill>
          <a:ln w="12700">
            <a:solidFill>
              <a:srgbClr val="3030A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97196" y="1476756"/>
            <a:ext cx="6199632" cy="4407408"/>
          </a:xfrm>
          <a:prstGeom prst="roundRect">
            <a:avLst>
              <a:gd name="adj" fmla="val 1245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CAD3E0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924044" y="1394460"/>
            <a:ext cx="6199632" cy="4407408"/>
          </a:xfrm>
          <a:prstGeom prst="roundRect">
            <a:avLst>
              <a:gd name="adj" fmla="val 1245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56048" y="1426464"/>
            <a:ext cx="6199632" cy="4407408"/>
          </a:xfrm>
          <a:prstGeom prst="roundRect">
            <a:avLst>
              <a:gd name="adj" fmla="val 1245"/>
            </a:avLst>
          </a:prstGeom>
          <a:solidFill>
            <a:srgbClr val="E9EEF5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2430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 Ring Proof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430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arc geometry uses theme accents.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452019" y="2328245"/>
            <a:ext cx="2603845" cy="2603845"/>
          </a:xfrm>
          <a:prstGeom prst="blockArc">
            <a:avLst>
              <a:gd name="adj1" fmla="val 0"/>
              <a:gd name="adj2" fmla="val 21540000"/>
              <a:gd name="adj3" fmla="val 12000"/>
            </a:avLst>
          </a:prstGeom>
          <a:solidFill>
            <a:srgbClr val="CAD3E0">
              <a:alpha val="82000"/>
            </a:srgbClr>
          </a:solidFill>
          <a:ln w="12700">
            <a:solidFill>
              <a:srgbClr val="CAD3E0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52019" y="2328245"/>
            <a:ext cx="2603845" cy="2603845"/>
          </a:xfrm>
          <a:prstGeom prst="blockArc">
            <a:avLst>
              <a:gd name="adj1" fmla="val 16200000"/>
              <a:gd name="adj2" fmla="val 21540000"/>
              <a:gd name="adj3" fmla="val 12000"/>
            </a:avLst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52019" y="2328245"/>
            <a:ext cx="2603845" cy="2603845"/>
          </a:xfrm>
          <a:prstGeom prst="blockArc">
            <a:avLst>
              <a:gd name="adj1" fmla="val 0"/>
              <a:gd name="adj2" fmla="val 11460000"/>
              <a:gd name="adj3" fmla="val 12000"/>
            </a:avLst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560231" y="3344223"/>
            <a:ext cx="182269" cy="182269"/>
          </a:xfrm>
          <a:prstGeom prst="ellipse">
            <a:avLst/>
          </a:prstGeom>
          <a:solidFill>
            <a:srgbClr val="32B1B1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46749" y="2822976"/>
            <a:ext cx="1614384" cy="1614384"/>
          </a:xfrm>
          <a:prstGeom prst="ellipse">
            <a:avLst/>
          </a:prstGeom>
          <a:solidFill>
            <a:srgbClr val="E9EEF5"/>
          </a:solidFill>
          <a:ln w="12700">
            <a:solidFill>
              <a:srgbClr val="E9EEF5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24865" y="3187514"/>
            <a:ext cx="1458153" cy="6249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2430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78%</a:t>
            </a:r>
            <a:endParaRPr lang="en-US" sz="2900" dirty="0"/>
          </a:p>
        </p:txBody>
      </p:sp>
      <p:sp>
        <p:nvSpPr>
          <p:cNvPr id="18" name="Text 15"/>
          <p:cNvSpPr txBox="1"/>
          <p:nvPr/>
        </p:nvSpPr>
        <p:spPr>
          <a:xfrm>
            <a:off x="5920711" y="3838476"/>
            <a:ext cx="1666461" cy="4686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365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Coverage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489838" y="2591044"/>
            <a:ext cx="137160" cy="137160"/>
          </a:xfrm>
          <a:prstGeom prst="ellipse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18438" y="2440168"/>
            <a:ext cx="216292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430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Validated 78%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489838" y="3029956"/>
            <a:ext cx="137160" cy="137160"/>
          </a:xfrm>
          <a:prstGeom prst="ellipse">
            <a:avLst/>
          </a:prstGeom>
          <a:solidFill>
            <a:srgbClr val="32B1B1"/>
          </a:solidFill>
          <a:ln w="12700">
            <a:solidFill>
              <a:srgbClr val="32B1B1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718438" y="2879080"/>
            <a:ext cx="216292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365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Remaining 22%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9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502920"/>
            <a:ext cx="822960" cy="822960"/>
          </a:xfrm>
          <a:prstGeom prst="ellipse">
            <a:avLst/>
          </a:prstGeom>
          <a:solidFill>
            <a:srgbClr val="F7FAFC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C7D0DE">
                <a:alpha val="2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87568"/>
            <a:ext cx="658368" cy="658368"/>
          </a:xfrm>
          <a:prstGeom prst="ellipse">
            <a:avLst/>
          </a:prstGeom>
          <a:solidFill>
            <a:srgbClr val="E9EEF5"/>
          </a:solidFill>
          <a:ln w="12700">
            <a:solidFill>
              <a:srgbClr val="FFFFFF">
                <a:alpha val="4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3D2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3030A9"/>
          </a:solidFill>
          <a:ln w="12700">
            <a:solidFill>
              <a:srgbClr val="3030A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2430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and Text Coherence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10241280" cy="448056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Requirement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6F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Rule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6F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Visual Check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6F8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Shape text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Middle anchor plus readable insets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text touches a border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 text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emphasis and row labels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Cells keep row grammar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>
                        <a:alpha val="80000"/>
                      </a:srgbClr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Bullet markers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Marker and text share a centerline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low or drifting glyphs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Color usage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Harmony palette only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Accent color marks real contrast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9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502920"/>
            <a:ext cx="822960" cy="822960"/>
          </a:xfrm>
          <a:prstGeom prst="ellipse">
            <a:avLst/>
          </a:prstGeom>
          <a:solidFill>
            <a:srgbClr val="F7FAFC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C7D0DE">
                <a:alpha val="2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87568"/>
            <a:ext cx="658368" cy="658368"/>
          </a:xfrm>
          <a:prstGeom prst="ellipse">
            <a:avLst/>
          </a:prstGeom>
          <a:solidFill>
            <a:srgbClr val="E9EEF5"/>
          </a:solidFill>
          <a:ln w="12700">
            <a:solidFill>
              <a:srgbClr val="FFFFFF">
                <a:alpha val="4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3D2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3030A9"/>
          </a:solidFill>
          <a:ln w="12700">
            <a:solidFill>
              <a:srgbClr val="3030A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32B1B1"/>
          </a:solidFill>
          <a:ln w="12700">
            <a:solidFill>
              <a:srgbClr val="32B1B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32B1B1"/>
          </a:solidFill>
          <a:ln w="12700">
            <a:solidFill>
              <a:srgbClr val="32B1B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4108" y="1513332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CAD3E0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90956" y="1431036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E9EEF5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350508" y="1513332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CAD3E0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77356" y="1431036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E9EEF5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864108" y="3799332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CAD3E0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90956" y="3717036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E9EEF5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350508" y="3799332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CAD3E0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277356" y="3717036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E9EEF5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2430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Selection Inputs</a:t>
            </a:r>
            <a:endParaRPr lang="en-US" sz="3400" dirty="0"/>
          </a:p>
        </p:txBody>
      </p:sp>
      <p:sp>
        <p:nvSpPr>
          <p:cNvPr id="26" name="Shape 20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E9EEF5"/>
          </a:solidFill>
          <a:ln w="12700">
            <a:solidFill>
              <a:srgbClr val="CAD3E0"/>
            </a:solidFill>
            <a:prstDash val="solid"/>
          </a:ln>
        </p:spPr>
      </p:sp>
      <p:pic>
        <p:nvPicPr>
          <p:cNvPr id="27" name="Image 4" descr="flow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Constraint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430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Long text should use plain-safe or rail layouts instead of decorative cards.</a:t>
            </a:r>
            <a:endParaRPr lang="en-US" sz="2200" dirty="0"/>
          </a:p>
        </p:txBody>
      </p:sp>
      <p:sp>
        <p:nvSpPr>
          <p:cNvPr id="29" name="Shape 22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E9EEF5"/>
          </a:solidFill>
          <a:ln w="12700">
            <a:solidFill>
              <a:srgbClr val="CAD3E0"/>
            </a:solidFill>
            <a:prstDash val="solid"/>
          </a:ln>
        </p:spPr>
      </p:sp>
      <p:pic>
        <p:nvPicPr>
          <p:cNvPr id="30" name="Image 5" descr="verified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Evidence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430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Important proof points may receive a contrast chip, but sibling objects keep one grammar.</a:t>
            </a:r>
            <a:endParaRPr lang="en-US" sz="2200" dirty="0"/>
          </a:p>
        </p:txBody>
      </p:sp>
      <p:sp>
        <p:nvSpPr>
          <p:cNvPr id="32" name="Shape 24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E9EEF5"/>
          </a:solidFill>
          <a:ln w="12700">
            <a:solidFill>
              <a:srgbClr val="CAD3E0"/>
            </a:solidFill>
            <a:prstDash val="solid"/>
          </a:ln>
        </p:spPr>
      </p:sp>
      <p:pic>
        <p:nvPicPr>
          <p:cNvPr id="33" name="Image 6" descr="spark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 need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430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Image sidecars are reserved only when the source contains or requires an image.</a:t>
            </a:r>
            <a:endParaRPr lang="en-US" sz="2200" dirty="0"/>
          </a:p>
        </p:txBody>
      </p:sp>
      <p:sp>
        <p:nvSpPr>
          <p:cNvPr id="35" name="Shape 26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E9EEF5"/>
          </a:solidFill>
          <a:ln w="12700">
            <a:solidFill>
              <a:srgbClr val="CAD3E0"/>
            </a:solidFill>
            <a:prstDash val="solid"/>
          </a:ln>
        </p:spPr>
      </p:sp>
      <p:pic>
        <p:nvPicPr>
          <p:cNvPr id="36" name="Image 7" descr="chart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F6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Density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430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Dense tables and code blocks reduce decoration before shrinking below the readable font floor.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9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502920"/>
            <a:ext cx="822960" cy="822960"/>
          </a:xfrm>
          <a:prstGeom prst="ellipse">
            <a:avLst/>
          </a:prstGeom>
          <a:solidFill>
            <a:srgbClr val="F7FAFC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C7D0DE">
                <a:alpha val="2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87568"/>
            <a:ext cx="658368" cy="658368"/>
          </a:xfrm>
          <a:prstGeom prst="ellipse">
            <a:avLst/>
          </a:prstGeom>
          <a:solidFill>
            <a:srgbClr val="E9EEF5"/>
          </a:solidFill>
          <a:ln w="12700">
            <a:solidFill>
              <a:srgbClr val="FFFFFF">
                <a:alpha val="4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3D2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3030A9"/>
          </a:solidFill>
          <a:ln w="12700">
            <a:solidFill>
              <a:srgbClr val="3030A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2430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Matrix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10241280" cy="448056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  <a:gridCol w="2560320"/>
              </a:tblGrid>
              <a:tr h="407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Style</a:t>
                      </a:r>
                      <a:endParaRPr lang="en-US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6F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Main Color</a:t>
                      </a:r>
                      <a:endParaRPr lang="en-US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6F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Harmony</a:t>
                      </a:r>
                      <a:endParaRPr lang="en-US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6F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Intended Role</a:t>
                      </a:r>
                      <a:endParaRPr lang="en-US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6F8F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simple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`#2563EB`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analogous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Minimal blue system for clean operational slides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minimalism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`#111827`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monochromatic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Whitespace-first slides with thin rules and restrained emphasis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>
                        <a:alpha val="80000"/>
                      </a:srgbClr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newmorphism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`#4F6F8F`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analogous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Soft UI surfaces using same-tone panels and paired shadows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glass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`#8A4FFF`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split-complementary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Translucent proof surfaces with contrast accents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>
                        <a:alpha val="80000"/>
                      </a:srgbClr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grid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`#DC2626`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Swiss modular grid with restrained red accent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data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`#F59E0B`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monochromatic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Dark data-journalism page with dense proof rails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>
                        <a:alpha val="80000"/>
                      </a:srgbClr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magazine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`#C2410C`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triadic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Editorial magazine cover/page rhythm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executive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`#0F766E`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Business deck rhythm with a warm opposing accent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>
                        <a:alpha val="80000"/>
                      </a:srgbClr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technical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`#16A34A`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monochromatic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Engineering/validation tone with brightness steps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dark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`#E11D48`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4304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Dark proof deck with high-contrast emphasis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9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502920"/>
            <a:ext cx="822960" cy="822960"/>
          </a:xfrm>
          <a:prstGeom prst="ellipse">
            <a:avLst/>
          </a:prstGeom>
          <a:solidFill>
            <a:srgbClr val="F7FAFC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C7D0DE">
                <a:alpha val="2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52" y="5687568"/>
            <a:ext cx="658368" cy="658368"/>
          </a:xfrm>
          <a:prstGeom prst="ellipse">
            <a:avLst/>
          </a:prstGeom>
          <a:solidFill>
            <a:srgbClr val="E9EEF5"/>
          </a:solidFill>
          <a:ln w="12700">
            <a:solidFill>
              <a:srgbClr val="FFFFFF">
                <a:alpha val="4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B8C3D2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3030A9"/>
          </a:solidFill>
          <a:ln w="12700">
            <a:solidFill>
              <a:srgbClr val="3030A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17320"/>
            <a:ext cx="73152" cy="868680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560320"/>
            <a:ext cx="73152" cy="868680"/>
          </a:xfrm>
          <a:prstGeom prst="rect">
            <a:avLst/>
          </a:prstGeom>
          <a:solidFill>
            <a:srgbClr val="32B1B1"/>
          </a:solidFill>
          <a:ln w="12700">
            <a:solidFill>
              <a:srgbClr val="32B1B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703320"/>
            <a:ext cx="73152" cy="868680"/>
          </a:xfrm>
          <a:prstGeom prst="rect">
            <a:avLst/>
          </a:prstGeom>
          <a:solidFill>
            <a:srgbClr val="4F6F8F"/>
          </a:solidFill>
          <a:ln w="12700">
            <a:solidFill>
              <a:srgbClr val="4F6F8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5548" y="1467612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CAD3E0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82396" y="1385316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1417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E9EEF5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8686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55548" y="2610612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CAD3E0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82396" y="2528316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914400" y="2560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E9EEF5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2560320"/>
            <a:ext cx="10241280" cy="8686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955548" y="3753612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CAD3E0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82396" y="3671316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14400" y="3703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E9EEF5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3703320"/>
            <a:ext cx="10241280" cy="86868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2430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Final Checks</a:t>
            </a:r>
            <a:endParaRPr lang="en-US" sz="3400" dirty="0"/>
          </a:p>
        </p:txBody>
      </p:sp>
      <p:sp>
        <p:nvSpPr>
          <p:cNvPr id="21" name="Shape 16"/>
          <p:cNvSpPr/>
          <p:nvPr/>
        </p:nvSpPr>
        <p:spPr>
          <a:xfrm>
            <a:off x="1097280" y="1623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9EEF5"/>
          </a:solidFill>
          <a:ln w="12700">
            <a:solidFill>
              <a:srgbClr val="CAD3E0"/>
            </a:solidFill>
            <a:prstDash val="solid"/>
          </a:ln>
        </p:spPr>
      </p:sp>
      <p:pic>
        <p:nvPicPr>
          <p:cNvPr id="22" name="Image 3" descr="flow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1696212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682496" y="1638300"/>
            <a:ext cx="927201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430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writes a design lock for the resolved style/color contract.</a:t>
            </a:r>
            <a:endParaRPr lang="en-US" sz="2200" dirty="0"/>
          </a:p>
        </p:txBody>
      </p:sp>
      <p:sp>
        <p:nvSpPr>
          <p:cNvPr id="24" name="Shape 18"/>
          <p:cNvSpPr/>
          <p:nvPr/>
        </p:nvSpPr>
        <p:spPr>
          <a:xfrm>
            <a:off x="1097280" y="2766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9EEF5"/>
          </a:solidFill>
          <a:ln w="12700">
            <a:solidFill>
              <a:srgbClr val="CAD3E0"/>
            </a:solidFill>
            <a:prstDash val="solid"/>
          </a:ln>
        </p:spPr>
      </p:sp>
      <p:pic>
        <p:nvPicPr>
          <p:cNvPr id="25" name="Image 4" descr="verified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2839212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682496" y="2651760"/>
            <a:ext cx="927201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430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writes a manifest with source hash, output list, diagnostics, and optional visual summary.</a:t>
            </a:r>
            <a:endParaRPr lang="en-US" sz="2200" dirty="0"/>
          </a:p>
        </p:txBody>
      </p:sp>
      <p:sp>
        <p:nvSpPr>
          <p:cNvPr id="27" name="Shape 20"/>
          <p:cNvSpPr/>
          <p:nvPr/>
        </p:nvSpPr>
        <p:spPr>
          <a:xfrm>
            <a:off x="1097280" y="3909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9EEF5"/>
          </a:solidFill>
          <a:ln w="12700">
            <a:solidFill>
              <a:srgbClr val="CAD3E0"/>
            </a:solidFill>
            <a:prstDash val="solid"/>
          </a:ln>
        </p:spPr>
      </p:sp>
      <p:pic>
        <p:nvPicPr>
          <p:cNvPr id="28" name="Image 5" descr="spark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3982212"/>
            <a:ext cx="310896" cy="310896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682496" y="3794760"/>
            <a:ext cx="927201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430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Generated PPTX files are exported through PowerPoint to PNG previews for visual comparison.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243041"/>
      </a:dk1>
      <a:lt1>
        <a:srgbClr val="E9EEF5"/>
      </a:lt1>
      <a:dk2>
        <a:srgbClr val="536579"/>
      </a:dk2>
      <a:lt2>
        <a:srgbClr val="E9EEF5"/>
      </a:lt2>
      <a:accent1>
        <a:srgbClr val="4F6F8F"/>
      </a:accent1>
      <a:accent2>
        <a:srgbClr val="32B1B1"/>
      </a:accent2>
      <a:accent3>
        <a:srgbClr val="3030A9"/>
      </a:accent3>
      <a:accent4>
        <a:srgbClr val="35BD85"/>
      </a:accent4>
      <a:accent5>
        <a:srgbClr val="5B2C9D"/>
      </a:accent5>
      <a:accent6>
        <a:srgbClr val="2A4158"/>
      </a:accent6>
      <a:hlink>
        <a:srgbClr val="4F6F8F"/>
      </a:hlink>
      <a:folHlink>
        <a:srgbClr val="32B1B1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MDPR Theme Style and Color Matrix</dc:title>
  <dc:subject>Generated from Markdown through Presentation IR and Layout IR</dc:subject>
  <dc:creator>mdpresent</dc:creator>
  <cp:lastModifiedBy>mdpresent</cp:lastModifiedBy>
  <cp:revision>1</cp:revision>
  <dcterms:created xsi:type="dcterms:W3CDTF">2026-06-20T10:19:54Z</dcterms:created>
  <dcterms:modified xsi:type="dcterms:W3CDTF">2026-06-20T10:19:54Z</dcterms:modified>
</cp:coreProperties>
</file>