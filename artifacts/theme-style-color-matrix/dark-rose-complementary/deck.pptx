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94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15D9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  <c:pt idx="3">
                    <c:v>Visual QA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22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9FAF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45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BD5E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E11D48">
              <a:alpha val="0"/>
            </a:srgbClr>
          </a:solidFill>
          <a:ln w="12700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6199632"/>
            <a:ext cx="16002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Theme Style and Color Matrix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19964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4231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28498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27660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370332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13004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55676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4983480"/>
            <a:ext cx="1009497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Contract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style and color seed are separate deterministic choices.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Decoration style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Controls surface grammar, shadow, density, and object treatment.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Color seed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Provides the main color; harmony rules derive chart, accent, and PowerPoint theme colors.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Visual validation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 build manifest records overflow, font floor, region count, and resolved design tokens.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and Object Routing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E0289A"/>
            </a:solidFill>
            <a:prstDash val="solid"/>
            <a:headEnd type="triangle"/>
          </a:ln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02E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02E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IR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02E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02E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Styled Deck IR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02E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Output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17202E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Visual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Numeric Proof Objects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chart keeps one evidence object as the main proof while labels and theme colors remain coherent.</a:t>
            </a:r>
            <a:endParaRPr lang="en-US" sz="2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 Ring Proof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arc geometry uses theme accents.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453E50">
              <a:alpha val="8200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52019" y="2328245"/>
            <a:ext cx="2603845" cy="2603845"/>
          </a:xfrm>
          <a:prstGeom prst="blockArc">
            <a:avLst>
              <a:gd name="adj1" fmla="val 0"/>
              <a:gd name="adj2" fmla="val 11460000"/>
              <a:gd name="adj3" fmla="val 12000"/>
            </a:avLst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0231" y="3344223"/>
            <a:ext cx="182269" cy="182269"/>
          </a:xfrm>
          <a:prstGeom prst="ellipse">
            <a:avLst/>
          </a:prstGeom>
          <a:solidFill>
            <a:srgbClr val="15D9AE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6749" y="2822976"/>
            <a:ext cx="1614384" cy="1614384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24865" y="3187514"/>
            <a:ext cx="1458153" cy="62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78%</a:t>
            </a:r>
            <a:endParaRPr lang="en-US" sz="2900" dirty="0"/>
          </a:p>
        </p:txBody>
      </p:sp>
      <p:sp>
        <p:nvSpPr>
          <p:cNvPr id="16" name="Text 13"/>
          <p:cNvSpPr txBox="1"/>
          <p:nvPr/>
        </p:nvSpPr>
        <p:spPr>
          <a:xfrm>
            <a:off x="5920711" y="3838476"/>
            <a:ext cx="1666461" cy="4686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9838" y="2591044"/>
            <a:ext cx="137160" cy="13716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18438" y="2440168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78%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489838" y="3029956"/>
            <a:ext cx="137160" cy="137160"/>
          </a:xfrm>
          <a:prstGeom prst="ellipse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18438" y="2879080"/>
            <a:ext cx="21629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22%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and Text Coherence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Rule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Visual Check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Shape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Middle anchor plus readable insets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text touches a border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 text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emphasis and row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Cells keep row grammar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Bullet markers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Marker and text share a centerline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low or drifting glyphs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Color usage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 palette only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Accent color marks real contrast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Decoration Selection Inputs</a:t>
            </a:r>
            <a:endParaRPr lang="en-US" sz="3400" dirty="0"/>
          </a:p>
        </p:txBody>
      </p:sp>
      <p:sp>
        <p:nvSpPr>
          <p:cNvPr id="18" name="Shape 12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453E50"/>
            </a:solidFill>
            <a:prstDash val="solid"/>
          </a:ln>
        </p:spPr>
      </p:sp>
      <p:pic>
        <p:nvPicPr>
          <p:cNvPr id="19" name="Image 4" descr="flow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Long text should use plain-safe or rail layouts instead of decorative cards.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453E50"/>
            </a:solidFill>
            <a:prstDash val="solid"/>
          </a:ln>
        </p:spPr>
      </p:sp>
      <p:pic>
        <p:nvPicPr>
          <p:cNvPr id="22" name="Image 5" descr="verified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Important proof points may receive a contrast chip, but sibling objects keep one grammar.</a:t>
            </a:r>
            <a:endParaRPr lang="en-US" sz="2200" dirty="0"/>
          </a:p>
        </p:txBody>
      </p:sp>
      <p:sp>
        <p:nvSpPr>
          <p:cNvPr id="24" name="Shape 16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453E50"/>
            </a:solidFill>
            <a:prstDash val="solid"/>
          </a:ln>
        </p:spPr>
      </p:sp>
      <p:pic>
        <p:nvPicPr>
          <p:cNvPr id="25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need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Image sidecars are reserved only when the source contains or requires an image.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12700">
            <a:solidFill>
              <a:srgbClr val="453E50"/>
            </a:solidFill>
            <a:prstDash val="solid"/>
          </a:ln>
        </p:spPr>
      </p:sp>
      <p:pic>
        <p:nvPicPr>
          <p:cNvPr id="28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11D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Density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tables and code blocks reduce decoration before shrinking below the readable font floor.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Theme Matrix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4073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Style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Main Color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Harmony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Intended Role</a:t>
                      </a:r>
                      <a:endParaRPr lang="en-US" sz="19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simple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`#2563EB`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 blue system for clean operational slides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minimalism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`#111827`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Whitespace-first slides with thin rules and restrained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newmorphism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`#4F6F8F`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analogous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Soft UI surfaces using same-tone panels and paired shadows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glass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`#8A4FFF`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split-complementary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Translucent proof surfaces with contrast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grid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`#DC2626`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Swiss modular grid with restrained red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data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`#F59E0B`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data-journalism page with dense proof rails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magazine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`#C2410C`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triadic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Editorial magazine cover/page rhythm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executive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`#0F766E`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Business deck rhythm with a warm opposing accent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technical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`#16A34A`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monochromatic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Engineering/validation tone with brightness steps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`#E11D48`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complementary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9FAF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Dark proof deck with high-contrast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34295" y="0"/>
            <a:ext cx="2057400" cy="25603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48695" y="256032"/>
            <a:ext cx="1143000" cy="73152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E0289A"/>
          </a:solidFill>
          <a:ln w="12700">
            <a:solidFill>
              <a:srgbClr val="E0289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15D9AE"/>
          </a:solidFill>
          <a:ln w="12700">
            <a:solidFill>
              <a:srgbClr val="15D9A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868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1417320"/>
            <a:ext cx="10241280" cy="86868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60320"/>
            <a:ext cx="10241280" cy="8686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14400" y="2560320"/>
            <a:ext cx="10241280" cy="86868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703320"/>
            <a:ext cx="10241280" cy="8686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14400" y="3703320"/>
            <a:ext cx="10241280" cy="868680"/>
          </a:xfrm>
          <a:prstGeom prst="rect">
            <a:avLst/>
          </a:prstGeom>
          <a:solidFill>
            <a:srgbClr val="17202E">
              <a:alpha val="0"/>
            </a:srgbClr>
          </a:solidFill>
          <a:ln w="12700">
            <a:solidFill>
              <a:srgbClr val="453E50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 Checks</a:t>
            </a:r>
            <a:endParaRPr lang="en-US" sz="3400" dirty="0"/>
          </a:p>
        </p:txBody>
      </p:sp>
      <p:sp>
        <p:nvSpPr>
          <p:cNvPr id="15" name="Shape 10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453E50"/>
            </a:solidFill>
            <a:prstDash val="solid"/>
          </a:ln>
        </p:spPr>
      </p:sp>
      <p:pic>
        <p:nvPicPr>
          <p:cNvPr id="16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82496" y="1638300"/>
            <a:ext cx="927201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design lock for the resolved style/color contract.</a:t>
            </a:r>
            <a:endParaRPr lang="en-US" sz="2200" dirty="0"/>
          </a:p>
        </p:txBody>
      </p:sp>
      <p:sp>
        <p:nvSpPr>
          <p:cNvPr id="18" name="Shape 12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453E50"/>
            </a:solidFill>
            <a:prstDash val="solid"/>
          </a:ln>
        </p:spPr>
      </p:sp>
      <p:pic>
        <p:nvPicPr>
          <p:cNvPr id="19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682496" y="2651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writes a manifest with source hash, output list, diagnostics, and optional visual summary.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453E50"/>
            </a:solidFill>
            <a:prstDash val="solid"/>
          </a:ln>
        </p:spPr>
      </p:sp>
      <p:pic>
        <p:nvPicPr>
          <p:cNvPr id="22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682496" y="3794760"/>
            <a:ext cx="927201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PPTX files are exported through PowerPoint to PNG previews for visual comparison.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F9FAFB"/>
      </a:dk1>
      <a:lt1>
        <a:srgbClr val="111827"/>
      </a:lt1>
      <a:dk2>
        <a:srgbClr val="CBD5E1"/>
      </a:dk2>
      <a:lt2>
        <a:srgbClr val="17202E"/>
      </a:lt2>
      <a:accent1>
        <a:srgbClr val="E11D48"/>
      </a:accent1>
      <a:accent2>
        <a:srgbClr val="15D9AE"/>
      </a:accent2>
      <a:accent3>
        <a:srgbClr val="E0289A"/>
      </a:accent3>
      <a:accent4>
        <a:srgbClr val="D63F1E"/>
      </a:accent4>
      <a:accent5>
        <a:srgbClr val="5BE1C4"/>
      </a:accent5>
      <a:accent6>
        <a:srgbClr val="E4103E"/>
      </a:accent6>
      <a:hlink>
        <a:srgbClr val="E11D48"/>
      </a:hlink>
      <a:folHlink>
        <a:srgbClr val="15D9AE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Theme Style and Color Matrix</dc:title>
  <dc:subject>Generated from Markdown through Presentation IR and Layout IR</dc:subject>
  <dc:creator>mdpresent</dc:creator>
  <cp:lastModifiedBy>mdpresent</cp:lastModifiedBy>
  <cp:revision>1</cp:revision>
  <dcterms:created xsi:type="dcterms:W3CDTF">2026-06-20T10:20:01Z</dcterms:created>
  <dcterms:modified xsi:type="dcterms:W3CDTF">2026-06-20T10:20:01Z</dcterms:modified>
</cp:coreProperties>
</file>