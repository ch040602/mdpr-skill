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Coverage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Parser</c:v>
                  </c:pt>
                  <c:pt idx="1">
                    <c:v>Layout</c:v>
                  </c:pt>
                  <c:pt idx="2">
                    <c:v>PPTX</c:v>
                  </c:pt>
                  <c:pt idx="3">
                    <c:v>Visual QA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91</c:v>
                </c:pt>
                <c:pt idx="1">
                  <c:v>88</c:v>
                </c:pt>
                <c:pt idx="2">
                  <c:v>94</c:v>
                </c:pt>
                <c:pt idx="3">
                  <c:v>86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Change</c:v>
                </c:pt>
              </c:strCache>
            </c:strRef>
          </c:tx>
          <c:spPr>
            <a:solidFill>
              <a:srgbClr val="25CA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Parser</c:v>
                  </c:pt>
                  <c:pt idx="1">
                    <c:v>Layout</c:v>
                  </c:pt>
                  <c:pt idx="2">
                    <c:v>PPTX</c:v>
                  </c:pt>
                  <c:pt idx="3">
                    <c:v>Visual QA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14</c:v>
                </c:pt>
                <c:pt idx="1">
                  <c:v>22</c:v>
                </c:pt>
                <c:pt idx="2">
                  <c:v>31</c:v>
                </c:pt>
                <c:pt idx="3">
                  <c:v>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11827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6DC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B5563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B5563"/>
              </a:solidFill>
              <a:latin typeface="Pretendard"/>
              <a:cs typeface="Pretendard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image" Target="../media/image-8-11.png"/><Relationship Id="rId12" Type="http://schemas.openxmlformats.org/officeDocument/2006/relationships/image" Target="../media/image-8-12.svg"/><Relationship Id="rId13" Type="http://schemas.openxmlformats.org/officeDocument/2006/relationships/image" Target="../media/image-8-13.png"/><Relationship Id="rId14" Type="http://schemas.openxmlformats.org/officeDocument/2006/relationships/image" Target="../media/image-8-14.svg"/><Relationship Id="rId15" Type="http://schemas.openxmlformats.org/officeDocument/2006/relationships/image" Target="../media/image-8-15.png"/><Relationship Id="rId16" Type="http://schemas.openxmlformats.org/officeDocument/2006/relationships/image" Target="../media/image-8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431BEF"/>
          </a:solidFill>
          <a:ln w="12700">
            <a:solidFill>
              <a:srgbClr val="431BE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5CAF0"/>
          </a:solidFill>
          <a:ln w="12700">
            <a:solidFill>
              <a:srgbClr val="25CAF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57055" y="6528816"/>
            <a:ext cx="2148840" cy="73152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057400"/>
            <a:ext cx="10332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 Theme Style and Color Matrix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431BEF"/>
          </a:solidFill>
          <a:ln w="12700">
            <a:solidFill>
              <a:srgbClr val="431BE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1463040"/>
            <a:ext cx="1024128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38404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987552" y="1996440"/>
            <a:ext cx="1009497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Theme Contract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987552" y="2423160"/>
            <a:ext cx="1009497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Pipeline and Object Routing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87552" y="2849880"/>
            <a:ext cx="1009497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Numeric Proof Objects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987552" y="3276600"/>
            <a:ext cx="1009497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Arc Ring Proof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987552" y="3703320"/>
            <a:ext cx="1009497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Table and Text Coherence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4130040"/>
            <a:ext cx="1009497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Decoration Selection Inputs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987552" y="4556760"/>
            <a:ext cx="1009497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Theme Matrix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987552" y="4983480"/>
            <a:ext cx="1009497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Final Checks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431BEF"/>
          </a:solidFill>
          <a:ln w="12700">
            <a:solidFill>
              <a:srgbClr val="431BE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3063240"/>
            <a:ext cx="1024128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1325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6988" y="1549908"/>
            <a:ext cx="73152" cy="1060704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Theme Contract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1298448" y="1545336"/>
            <a:ext cx="963777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Decoration style and color seed are separate deterministic choices.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987552" y="3172968"/>
            <a:ext cx="10094976" cy="247802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Decoration style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Controls surface grammar, shadow, density, and object treatment.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Color seed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Provides the main color; harmony rules derive chart, accent, and PowerPoint theme colors.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Visual validation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The build manifest records overflow, font floor, region count, and resolved design tokens.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431BEF"/>
          </a:solidFill>
          <a:ln w="12700">
            <a:solidFill>
              <a:srgbClr val="431BE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Pipeline and Object Routing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002024" y="3095244"/>
            <a:ext cx="457200" cy="0"/>
          </a:xfrm>
          <a:prstGeom prst="line">
            <a:avLst/>
          </a:prstGeom>
          <a:noFill/>
          <a:ln w="12700">
            <a:solidFill>
              <a:srgbClr val="431BEF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7748016" y="3095244"/>
            <a:ext cx="457200" cy="0"/>
          </a:xfrm>
          <a:prstGeom prst="line">
            <a:avLst/>
          </a:prstGeom>
          <a:noFill/>
          <a:ln w="12700">
            <a:solidFill>
              <a:srgbClr val="431BEF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9849612" y="3627791"/>
            <a:ext cx="0" cy="416235"/>
          </a:xfrm>
          <a:prstGeom prst="line">
            <a:avLst/>
          </a:prstGeom>
          <a:noFill/>
          <a:ln w="12700">
            <a:solidFill>
              <a:srgbClr val="431BEF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748016" y="4576572"/>
            <a:ext cx="457200" cy="0"/>
          </a:xfrm>
          <a:prstGeom prst="line">
            <a:avLst/>
          </a:prstGeom>
          <a:noFill/>
          <a:ln w="12700">
            <a:solidFill>
              <a:srgbClr val="431BEF"/>
            </a:solidFill>
            <a:prstDash val="solid"/>
            <a:headEnd type="triangle"/>
          </a:ln>
        </p:spPr>
      </p:sp>
      <p:sp>
        <p:nvSpPr>
          <p:cNvPr id="8" name="Shape 6"/>
          <p:cNvSpPr/>
          <p:nvPr/>
        </p:nvSpPr>
        <p:spPr>
          <a:xfrm>
            <a:off x="4002024" y="4576572"/>
            <a:ext cx="457200" cy="0"/>
          </a:xfrm>
          <a:prstGeom prst="line">
            <a:avLst/>
          </a:prstGeom>
          <a:noFill/>
          <a:ln w="12700">
            <a:solidFill>
              <a:srgbClr val="431BEF"/>
            </a:solidFill>
            <a:prstDash val="solid"/>
            <a:headEnd type="triangle"/>
          </a:ln>
        </p:spPr>
      </p:sp>
      <p:sp>
        <p:nvSpPr>
          <p:cNvPr id="9" name="Shape 7"/>
          <p:cNvSpPr/>
          <p:nvPr/>
        </p:nvSpPr>
        <p:spPr>
          <a:xfrm>
            <a:off x="640080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510028"/>
            <a:ext cx="3435096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2907975"/>
            <a:ext cx="374538" cy="37453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325514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Markdown Source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386072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86072" y="2510028"/>
            <a:ext cx="3435096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50664" y="2907975"/>
            <a:ext cx="374538" cy="37453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50664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071506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Semantic IR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132064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32064" y="2510028"/>
            <a:ext cx="3435096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96656" y="2907975"/>
            <a:ext cx="374538" cy="37453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96656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817498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Rule Engine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132064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132064" y="3991356"/>
            <a:ext cx="3435096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96656" y="4389303"/>
            <a:ext cx="374538" cy="37453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96656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8817498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Styled Deck IR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386072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386072" y="3991356"/>
            <a:ext cx="3435096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50664" y="4389303"/>
            <a:ext cx="374538" cy="37453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550664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5071506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PPTX Output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0080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0080" y="3991356"/>
            <a:ext cx="3435096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04672" y="4389303"/>
            <a:ext cx="374538" cy="37453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04672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1325514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Visual Check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431BEF"/>
          </a:solidFill>
          <a:ln w="12700">
            <a:solidFill>
              <a:srgbClr val="431BE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" y="1517904"/>
            <a:ext cx="3822192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6048" y="1426464"/>
            <a:ext cx="6199632" cy="440740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Numeric Proof Objects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1627632"/>
            <a:ext cx="3675888" cy="400507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chart keeps one evidence object as the main proof while labels and theme colors remain coherent.</a:t>
            </a:r>
            <a:endParaRPr lang="en-US" sz="2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084064" y="1572768"/>
          <a:ext cx="59436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431BEF"/>
          </a:solidFill>
          <a:ln w="12700">
            <a:solidFill>
              <a:srgbClr val="431BE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" y="1517904"/>
            <a:ext cx="3822192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6048" y="1426464"/>
            <a:ext cx="6199632" cy="440740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Arc Ring Proof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1627632"/>
            <a:ext cx="3675888" cy="400507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Editable arc geometry uses theme accents.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452019" y="2328245"/>
            <a:ext cx="2603845" cy="2603845"/>
          </a:xfrm>
          <a:prstGeom prst="blockArc">
            <a:avLst>
              <a:gd name="adj1" fmla="val 0"/>
              <a:gd name="adj2" fmla="val 21540000"/>
              <a:gd name="adj3" fmla="val 12000"/>
            </a:avLst>
          </a:prstGeom>
          <a:solidFill>
            <a:srgbClr val="D6DCEB">
              <a:alpha val="82000"/>
            </a:srgbClr>
          </a:solidFill>
          <a:ln w="12700">
            <a:solidFill>
              <a:srgbClr val="D6DCEB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52019" y="2328245"/>
            <a:ext cx="2603845" cy="2603845"/>
          </a:xfrm>
          <a:prstGeom prst="blockArc">
            <a:avLst>
              <a:gd name="adj1" fmla="val 16200000"/>
              <a:gd name="adj2" fmla="val 21540000"/>
              <a:gd name="adj3" fmla="val 12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52019" y="2328245"/>
            <a:ext cx="2603845" cy="2603845"/>
          </a:xfrm>
          <a:prstGeom prst="blockArc">
            <a:avLst>
              <a:gd name="adj1" fmla="val 0"/>
              <a:gd name="adj2" fmla="val 11460000"/>
              <a:gd name="adj3" fmla="val 12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560231" y="3344223"/>
            <a:ext cx="182269" cy="182269"/>
          </a:xfrm>
          <a:prstGeom prst="ellipse">
            <a:avLst/>
          </a:prstGeom>
          <a:solidFill>
            <a:srgbClr val="25CA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46749" y="2822976"/>
            <a:ext cx="1614384" cy="16143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024865" y="3187514"/>
            <a:ext cx="1458153" cy="62492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9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78%</a:t>
            </a:r>
            <a:endParaRPr lang="en-US" sz="2900" dirty="0"/>
          </a:p>
        </p:txBody>
      </p:sp>
      <p:sp>
        <p:nvSpPr>
          <p:cNvPr id="13" name="Text 10"/>
          <p:cNvSpPr txBox="1"/>
          <p:nvPr/>
        </p:nvSpPr>
        <p:spPr>
          <a:xfrm>
            <a:off x="5920711" y="3838476"/>
            <a:ext cx="1666461" cy="4686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Coverage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489838" y="2591044"/>
            <a:ext cx="137160" cy="1371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718438" y="2440168"/>
            <a:ext cx="216292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Validated 78%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489838" y="3029956"/>
            <a:ext cx="137160" cy="137160"/>
          </a:xfrm>
          <a:prstGeom prst="ellipse">
            <a:avLst/>
          </a:prstGeom>
          <a:solidFill>
            <a:srgbClr val="25CAF0"/>
          </a:solidFill>
          <a:ln w="12700">
            <a:solidFill>
              <a:srgbClr val="25CAF0">
                <a:alpha val="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718438" y="2879080"/>
            <a:ext cx="216292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Remaining 22%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431BEF"/>
          </a:solidFill>
          <a:ln w="12700">
            <a:solidFill>
              <a:srgbClr val="431BE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1463040"/>
            <a:ext cx="1024128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Table and Text Coherence</a:t>
            </a:r>
            <a:endParaRPr lang="en-US" sz="3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63040"/>
          <a:ext cx="10241280" cy="4480560"/>
        </p:xfrm>
        <a:graphic>
          <a:graphicData uri="http://schemas.openxmlformats.org/drawingml/2006/table">
            <a:tbl>
              <a:tblPr/>
              <a:tblGrid>
                <a:gridCol w="3413760"/>
                <a:gridCol w="3413760"/>
                <a:gridCol w="3413760"/>
              </a:tblGrid>
              <a:tr h="8961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Requirement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Rule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Visual Check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Shape text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Middle anchor plus readable insets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 text touches a border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Table text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Header emphasis and row labels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Cells keep row grammar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Bullet markers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Marker and text share a centerline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 low or drifting glyphs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Color usage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Harmony palette only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Accent color marks real contrast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431BEF"/>
          </a:solidFill>
          <a:ln w="12700">
            <a:solidFill>
              <a:srgbClr val="431BE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25CAF0"/>
          </a:solidFill>
          <a:ln w="12700">
            <a:solidFill>
              <a:srgbClr val="25CAF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25CAF0"/>
          </a:solidFill>
          <a:ln w="12700">
            <a:solidFill>
              <a:srgbClr val="25CAF0">
                <a:alpha val="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1463040"/>
            <a:ext cx="5029200" cy="192024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9360" y="1463040"/>
            <a:ext cx="5029200" cy="192024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" y="3749040"/>
            <a:ext cx="5029200" cy="192024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09360" y="3749040"/>
            <a:ext cx="5029200" cy="192024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Decoration Selection Inputs</a:t>
            </a:r>
            <a:endParaRPr lang="en-US" sz="3400" dirty="0"/>
          </a:p>
        </p:txBody>
      </p:sp>
      <p:sp>
        <p:nvSpPr>
          <p:cNvPr id="12" name="Shape 6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6DCEB"/>
            </a:solidFill>
            <a:prstDash val="solid"/>
          </a:ln>
        </p:spPr>
      </p:sp>
      <p:pic>
        <p:nvPicPr>
          <p:cNvPr id="13" name="Image 4" descr="flow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9274" y="2203704"/>
            <a:ext cx="438912" cy="438912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16893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Constraint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Long text should use plain-safe or rail layouts instead of decorative cards.</a:t>
            </a:r>
            <a:endParaRPr lang="en-US" sz="2200" dirty="0"/>
          </a:p>
        </p:txBody>
      </p:sp>
      <p:sp>
        <p:nvSpPr>
          <p:cNvPr id="15" name="Shape 8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6DCEB"/>
            </a:solidFill>
            <a:prstDash val="solid"/>
          </a:ln>
        </p:spPr>
      </p:sp>
      <p:pic>
        <p:nvPicPr>
          <p:cNvPr id="16" name="Image 5" descr="verified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35674" y="2203704"/>
            <a:ext cx="438912" cy="438912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71757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Evidence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Important proof points may receive a contrast chip, but sibling objects keep one grammar.</a:t>
            </a:r>
            <a:endParaRPr lang="en-US" sz="2200" dirty="0"/>
          </a:p>
        </p:txBody>
      </p:sp>
      <p:sp>
        <p:nvSpPr>
          <p:cNvPr id="18" name="Shape 10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6DCEB"/>
            </a:solidFill>
            <a:prstDash val="solid"/>
          </a:ln>
        </p:spPr>
      </p:sp>
      <p:pic>
        <p:nvPicPr>
          <p:cNvPr id="19" name="Image 6" descr="spark icon from tabler-icons (MIT)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49274" y="4489704"/>
            <a:ext cx="438912" cy="438912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16893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Image need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Image sidecars are reserved only when the source contains or requires an image.</a:t>
            </a:r>
            <a:endParaRPr lang="en-US" sz="2200" dirty="0"/>
          </a:p>
        </p:txBody>
      </p:sp>
      <p:sp>
        <p:nvSpPr>
          <p:cNvPr id="21" name="Shape 12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6DCEB"/>
            </a:solidFill>
            <a:prstDash val="solid"/>
          </a:ln>
        </p:spPr>
      </p:sp>
      <p:pic>
        <p:nvPicPr>
          <p:cNvPr id="22" name="Image 7" descr="chart icon from tabler-icons (MIT)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535674" y="4489704"/>
            <a:ext cx="438912" cy="438912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71757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Density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Dense tables and code blocks reduce decoration before shrinking below the readable font floor.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431BEF"/>
          </a:solidFill>
          <a:ln w="12700">
            <a:solidFill>
              <a:srgbClr val="431BE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1463040"/>
            <a:ext cx="1024128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Theme Matrix</a:t>
            </a:r>
            <a:endParaRPr lang="en-US" sz="3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63040"/>
          <a:ext cx="10241280" cy="4480560"/>
        </p:xfrm>
        <a:graphic>
          <a:graphicData uri="http://schemas.openxmlformats.org/drawingml/2006/table">
            <a:tbl>
              <a:tblPr/>
              <a:tblGrid>
                <a:gridCol w="2560320"/>
                <a:gridCol w="2560320"/>
                <a:gridCol w="2560320"/>
                <a:gridCol w="2560320"/>
              </a:tblGrid>
              <a:tr h="4073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Style</a:t>
                      </a:r>
                      <a:endParaRPr lang="en-US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Main Color</a:t>
                      </a:r>
                      <a:endParaRPr lang="en-US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Harmony</a:t>
                      </a:r>
                      <a:endParaRPr lang="en-US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Intended Role</a:t>
                      </a:r>
                      <a:endParaRPr lang="en-US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simple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`#2563EB`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analogous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Minimal blue system for clean operational slides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minimalism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`#111827`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monochromatic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Whitespace-first slides with thin rules and restrained emphasis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newmorphism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`#4F6F8F`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analogous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Soft UI surfaces using same-tone panels and paired shadows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glass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`#8A4FFF`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split-complementary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Translucent proof surfaces with contrast accents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grid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`#DC2626`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complementary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Swiss modular grid with restrained red accent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data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`#F59E0B`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monochromatic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Dark data-journalism page with dense proof rails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magazine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`#C2410C`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triadic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Editorial magazine cover/page rhythm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executive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`#0F766E`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complementary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Business deck rhythm with a warm opposing accent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technical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`#16A34A`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monochromatic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Engineering/validation tone with brightness steps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dark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`#E11D48`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complementary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Dark proof deck with high-contrast emphasis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431BEF"/>
          </a:solidFill>
          <a:ln w="12700">
            <a:solidFill>
              <a:srgbClr val="431BE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1417320"/>
            <a:ext cx="73152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560320"/>
            <a:ext cx="73152" cy="868680"/>
          </a:xfrm>
          <a:prstGeom prst="rect">
            <a:avLst/>
          </a:prstGeom>
          <a:solidFill>
            <a:srgbClr val="25CAF0"/>
          </a:solidFill>
          <a:ln w="12700">
            <a:solidFill>
              <a:srgbClr val="25CAF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3703320"/>
            <a:ext cx="73152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86868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2560320"/>
            <a:ext cx="10241280" cy="868680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3703320"/>
            <a:ext cx="10241280" cy="86868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Final Checks</a:t>
            </a:r>
            <a:endParaRPr lang="en-US" sz="3400" dirty="0"/>
          </a:p>
        </p:txBody>
      </p:sp>
      <p:sp>
        <p:nvSpPr>
          <p:cNvPr id="10" name="Shape 5"/>
          <p:cNvSpPr/>
          <p:nvPr/>
        </p:nvSpPr>
        <p:spPr>
          <a:xfrm>
            <a:off x="1097280" y="16230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CEB"/>
            </a:solidFill>
            <a:prstDash val="solid"/>
          </a:ln>
        </p:spPr>
      </p:sp>
      <p:pic>
        <p:nvPicPr>
          <p:cNvPr id="11" name="Image 3" descr="flow icon from tabler-icons (MIT)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432" y="1696212"/>
            <a:ext cx="310896" cy="310896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682496" y="1638300"/>
            <a:ext cx="927201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Build writes a design lock for the resolved style/color contract.</a:t>
            </a:r>
            <a:endParaRPr lang="en-US" sz="2200" dirty="0"/>
          </a:p>
        </p:txBody>
      </p:sp>
      <p:sp>
        <p:nvSpPr>
          <p:cNvPr id="13" name="Shape 7"/>
          <p:cNvSpPr/>
          <p:nvPr/>
        </p:nvSpPr>
        <p:spPr>
          <a:xfrm>
            <a:off x="1097280" y="27660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CEB"/>
            </a:solidFill>
            <a:prstDash val="solid"/>
          </a:ln>
        </p:spPr>
      </p:sp>
      <p:pic>
        <p:nvPicPr>
          <p:cNvPr id="14" name="Image 4" descr="verified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0432" y="2839212"/>
            <a:ext cx="310896" cy="310896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682496" y="2651760"/>
            <a:ext cx="9272016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Build writes a manifest with source hash, output list, diagnostics, and optional visual summary.</a:t>
            </a:r>
            <a:endParaRPr lang="en-US" sz="2200" dirty="0"/>
          </a:p>
        </p:txBody>
      </p:sp>
      <p:sp>
        <p:nvSpPr>
          <p:cNvPr id="16" name="Shape 9"/>
          <p:cNvSpPr/>
          <p:nvPr/>
        </p:nvSpPr>
        <p:spPr>
          <a:xfrm>
            <a:off x="1097280" y="39090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CEB"/>
            </a:solidFill>
            <a:prstDash val="solid"/>
          </a:ln>
        </p:spPr>
      </p:sp>
      <p:pic>
        <p:nvPicPr>
          <p:cNvPr id="17" name="Image 5" descr="spark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0432" y="3982212"/>
            <a:ext cx="310896" cy="310896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1682496" y="3794760"/>
            <a:ext cx="9272016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Generated PPTX files are exported through PowerPoint to PNG previews for visual comparison.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11827"/>
      </a:dk1>
      <a:lt1>
        <a:srgbClr val="FFFFFF"/>
      </a:lt1>
      <a:dk2>
        <a:srgbClr val="4B5563"/>
      </a:dk2>
      <a:lt2>
        <a:srgbClr val="FFFFFF"/>
      </a:lt2>
      <a:accent1>
        <a:srgbClr val="2563EB"/>
      </a:accent1>
      <a:accent2>
        <a:srgbClr val="25CAF0"/>
      </a:accent2>
      <a:accent3>
        <a:srgbClr val="431BEF"/>
      </a:accent3>
      <a:accent4>
        <a:srgbClr val="3AEBC2"/>
      </a:accent4>
      <a:accent5>
        <a:srgbClr val="9318E4"/>
      </a:accent5>
      <a:accent6>
        <a:srgbClr val="0A3CAA"/>
      </a:accent6>
      <a:hlink>
        <a:srgbClr val="2563EB"/>
      </a:hlink>
      <a:folHlink>
        <a:srgbClr val="25CAF0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mdpresent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MDPR Theme Style and Color Matrix</dc:title>
  <dc:subject>Generated from Markdown through Presentation IR and Layout IR</dc:subject>
  <dc:creator>mdpresent</dc:creator>
  <cp:lastModifiedBy>mdpresent</cp:lastModifiedBy>
  <cp:revision>1</cp:revision>
  <dcterms:created xsi:type="dcterms:W3CDTF">2026-06-20T10:19:51Z</dcterms:created>
  <dcterms:modified xsi:type="dcterms:W3CDTF">2026-06-20T10:19:51Z</dcterms:modified>
</cp:coreProperties>
</file>