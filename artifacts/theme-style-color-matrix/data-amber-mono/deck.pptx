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</c:v>
                </c:pt>
                <c:pt idx="1">
                  <c:v>88</c:v>
                </c:pt>
                <c:pt idx="2">
                  <c:v>94</c:v>
                </c:pt>
                <c:pt idx="3">
                  <c:v>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F4C0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  <c:pt idx="3">
                    <c:v>Visual QA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22</c:v>
                </c:pt>
                <c:pt idx="2">
                  <c:v>31</c:v>
                </c:pt>
                <c:pt idx="3">
                  <c:v>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43484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F59E0B">
              <a:alpha val="0"/>
            </a:srgbClr>
          </a:solidFill>
          <a:ln w="12700">
            <a:solidFill>
              <a:srgbClr val="111827">
                <a:alpha val="8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4C068"/>
          </a:solidFill>
          <a:ln w="12700">
            <a:solidFill>
              <a:srgbClr val="F4C068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Theme Style and Color Matrix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19964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24231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28498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327660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0332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41300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45567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49834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Contract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style and color seed are separate deterministic choices.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Controls surface grammar, shadow, density, and object treatment.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Color seed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Provides the main color; harmony rules derive chart, accent, and PowerPoint theme colors.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Visual validation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 build manifest records overflow, font floor, region count, and resolved design tokens.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and Object Routing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A76C0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A76C0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A76C0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A76C07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A76C07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1D2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1D2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1D2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1D2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Styled Deck IR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1D2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 Output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1D28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018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Check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Proof Objects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chart keeps one evidence object as the main proof while labels and theme colors remain coherent.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 Ring Proof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arc geometry uses theme accents.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43484F">
              <a:alpha val="82000"/>
            </a:srgbClr>
          </a:solidFill>
          <a:ln w="12700">
            <a:solidFill>
              <a:srgbClr val="43484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52019" y="2328245"/>
            <a:ext cx="2603845" cy="2603845"/>
          </a:xfrm>
          <a:prstGeom prst="blockArc">
            <a:avLst>
              <a:gd name="adj1" fmla="val 0"/>
              <a:gd name="adj2" fmla="val 11460000"/>
              <a:gd name="adj3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560231" y="3344223"/>
            <a:ext cx="182269" cy="182269"/>
          </a:xfrm>
          <a:prstGeom prst="ellipse">
            <a:avLst/>
          </a:prstGeom>
          <a:solidFill>
            <a:srgbClr val="F4C068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946749" y="2822976"/>
            <a:ext cx="1614384" cy="1614384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24865" y="3187514"/>
            <a:ext cx="1458153" cy="6249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9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78%</a:t>
            </a:r>
            <a:endParaRPr lang="en-US" sz="2900" dirty="0"/>
          </a:p>
        </p:txBody>
      </p:sp>
      <p:sp>
        <p:nvSpPr>
          <p:cNvPr id="23" name="Text 20"/>
          <p:cNvSpPr txBox="1"/>
          <p:nvPr/>
        </p:nvSpPr>
        <p:spPr>
          <a:xfrm>
            <a:off x="5920711" y="3838476"/>
            <a:ext cx="1666461" cy="4686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489838" y="2591044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18438" y="2440168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78%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489838" y="3029956"/>
            <a:ext cx="137160" cy="137160"/>
          </a:xfrm>
          <a:prstGeom prst="ellipse">
            <a:avLst/>
          </a:prstGeom>
          <a:solidFill>
            <a:srgbClr val="F4C068"/>
          </a:solidFill>
          <a:ln w="12700">
            <a:solidFill>
              <a:srgbClr val="F4C068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718438" y="2879080"/>
            <a:ext cx="216292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22%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and Text Coherence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Requirement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Visual Check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Shape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Middle anchor plus readable insets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text touches a border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 text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emphasis and row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Cells keep row grammar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markers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Marker and text share a centerline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low or drifting glyphs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Color usage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 palette only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Accent color marks real contrast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4C068"/>
          </a:solidFill>
          <a:ln w="12700">
            <a:solidFill>
              <a:srgbClr val="F4C06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4C068"/>
          </a:solidFill>
          <a:ln w="12700">
            <a:solidFill>
              <a:srgbClr val="F4C068">
                <a:alpha val="0"/>
              </a:srgbClr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Selection Inputs</a:t>
            </a:r>
            <a:endParaRPr lang="en-US" sz="3400" dirty="0"/>
          </a:p>
        </p:txBody>
      </p:sp>
      <p:sp>
        <p:nvSpPr>
          <p:cNvPr id="22" name="Shape 1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43484F"/>
            </a:solidFill>
            <a:prstDash val="solid"/>
          </a:ln>
        </p:spPr>
      </p:sp>
      <p:pic>
        <p:nvPicPr>
          <p:cNvPr id="23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Long text should use plain-safe or rail layouts instead of decorative cards.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43484F"/>
            </a:solidFill>
            <a:prstDash val="solid"/>
          </a:ln>
        </p:spPr>
      </p:sp>
      <p:pic>
        <p:nvPicPr>
          <p:cNvPr id="26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Important proof points may receive a contrast chip, but sibling objects keep one grammar.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43484F"/>
            </a:solidFill>
            <a:prstDash val="solid"/>
          </a:ln>
        </p:spPr>
      </p:sp>
      <p:pic>
        <p:nvPicPr>
          <p:cNvPr id="29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need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Image sidecars are reserved only when the source contains or requires an image.</a:t>
            </a:r>
            <a:endParaRPr lang="en-US" sz="2200" dirty="0"/>
          </a:p>
        </p:txBody>
      </p:sp>
      <p:sp>
        <p:nvSpPr>
          <p:cNvPr id="31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01820"/>
          </a:solidFill>
          <a:ln w="12700">
            <a:solidFill>
              <a:srgbClr val="43484F"/>
            </a:solidFill>
            <a:prstDash val="solid"/>
          </a:ln>
        </p:spPr>
      </p:sp>
      <p:pic>
        <p:nvPicPr>
          <p:cNvPr id="32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59E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tables and code blocks reduce decoration before shrinking below the readable font floor.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Matrix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  <a:gridCol w="2560320"/>
              </a:tblGrid>
              <a:tr h="407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Style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Main Color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Harmony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Intended Role</a:t>
                      </a:r>
                      <a:endParaRPr lang="en-US" sz="1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simple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`#2563EB`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 blue system for clean operational slides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minimalism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`#111827`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Whitespace-first slides with thin rules and restrained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newmorphism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`#4F6F8F`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analogous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Soft UI surfaces using same-tone panels and paired shadows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glass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`#8A4FFF`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split-complementary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Translucent proof surfaces with contrast accents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grid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`#DC2626`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Swiss modular grid with restrained red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`#F59E0B`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data-journalism page with dense proof rails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magazine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`#C2410C`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triadic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Editorial magazine cover/page rhythm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executive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`#0F766E`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deck rhythm with a warm opposing accent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technical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`#16A34A`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monochromatic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Engineering/validation tone with brightness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7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`#E11D48`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complementary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 proof deck with high-contrast emphasis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348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31089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</a:rPr>
              <a:t>DATA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21792" y="6210239"/>
            <a:ext cx="310896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471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27632" y="6123188"/>
            <a:ext cx="310896" cy="493776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30552" y="6079663"/>
            <a:ext cx="310896" cy="621792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33472" y="6210239"/>
            <a:ext cx="310896" cy="237744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36392" y="6166714"/>
            <a:ext cx="310896" cy="365760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39312" y="6123188"/>
            <a:ext cx="310896" cy="493776"/>
          </a:xfrm>
          <a:prstGeom prst="rect">
            <a:avLst/>
          </a:prstGeom>
          <a:solidFill>
            <a:srgbClr val="F59E0B"/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6079663"/>
            <a:ext cx="310896" cy="621792"/>
          </a:xfrm>
          <a:prstGeom prst="rect">
            <a:avLst/>
          </a:prstGeom>
          <a:solidFill>
            <a:srgbClr val="43484F">
              <a:alpha val="72000"/>
            </a:srgbClr>
          </a:solidFill>
          <a:ln w="12700">
            <a:solidFill>
              <a:srgbClr val="43484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" y="6400800"/>
            <a:ext cx="11021263" cy="0"/>
          </a:xfrm>
          <a:prstGeom prst="line">
            <a:avLst/>
          </a:prstGeom>
          <a:noFill/>
          <a:ln w="12700">
            <a:solidFill>
              <a:srgbClr val="43484F">
                <a:alpha val="7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A76C07"/>
          </a:solidFill>
          <a:ln w="12700">
            <a:solidFill>
              <a:srgbClr val="A76C0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4C068"/>
          </a:solidFill>
          <a:ln w="12700">
            <a:solidFill>
              <a:srgbClr val="F4C06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Final Checks</a:t>
            </a:r>
            <a:endParaRPr lang="en-US" sz="3400" dirty="0"/>
          </a:p>
        </p:txBody>
      </p:sp>
      <p:sp>
        <p:nvSpPr>
          <p:cNvPr id="20" name="Shape 1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43484F"/>
            </a:solidFill>
            <a:prstDash val="solid"/>
          </a:ln>
        </p:spPr>
      </p:sp>
      <p:pic>
        <p:nvPicPr>
          <p:cNvPr id="21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82496" y="1638300"/>
            <a:ext cx="927201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design lock for the resolved style/color contract.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43484F"/>
            </a:solidFill>
            <a:prstDash val="solid"/>
          </a:ln>
        </p:spPr>
      </p:sp>
      <p:pic>
        <p:nvPicPr>
          <p:cNvPr id="2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82496" y="2651760"/>
            <a:ext cx="927201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writes a manifest with source hash, output list, diagnostics, and optional visual summary.</a:t>
            </a:r>
            <a:endParaRPr lang="en-US" sz="2200" dirty="0"/>
          </a:p>
        </p:txBody>
      </p:sp>
      <p:sp>
        <p:nvSpPr>
          <p:cNvPr id="26" name="Shape 19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43484F"/>
            </a:solidFill>
            <a:prstDash val="solid"/>
          </a:ln>
        </p:spPr>
      </p:sp>
      <p:pic>
        <p:nvPicPr>
          <p:cNvPr id="27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682496" y="3794760"/>
            <a:ext cx="927201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files are exported through PowerPoint to PNG previews for visual comparison.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101820"/>
      </a:lt1>
      <a:dk2>
        <a:srgbClr val="CBD5E1"/>
      </a:dk2>
      <a:lt2>
        <a:srgbClr val="131D28"/>
      </a:lt2>
      <a:accent1>
        <a:srgbClr val="F59E0B"/>
      </a:accent1>
      <a:accent2>
        <a:srgbClr val="F4C068"/>
      </a:accent2>
      <a:accent3>
        <a:srgbClr val="A76C07"/>
      </a:accent3>
      <a:accent4>
        <a:srgbClr val="F6DBAC"/>
      </a:accent4>
      <a:accent5>
        <a:srgbClr val="6D4605"/>
      </a:accent5>
      <a:accent6>
        <a:srgbClr val="9E6507"/>
      </a:accent6>
      <a:hlink>
        <a:srgbClr val="F59E0B"/>
      </a:hlink>
      <a:folHlink>
        <a:srgbClr val="F4C068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Theme Style and Color Matrix</dc:title>
  <dc:subject>Generated from Markdown through Presentation IR and Layout IR</dc:subject>
  <dc:creator>mdpresent</dc:creator>
  <cp:lastModifiedBy>mdpresent</cp:lastModifiedBy>
  <cp:revision>1</cp:revision>
  <dcterms:created xsi:type="dcterms:W3CDTF">2026-06-20T10:19:57Z</dcterms:created>
  <dcterms:modified xsi:type="dcterms:W3CDTF">2026-06-20T10:19:57Z</dcterms:modified>
</cp:coreProperties>
</file>