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E11D4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  <c:pt idx="3">
                    <c:v>Visual QA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</c:v>
                </c:pt>
                <c:pt idx="1">
                  <c:v>88</c:v>
                </c:pt>
                <c:pt idx="2">
                  <c:v>94</c:v>
                </c:pt>
                <c:pt idx="3">
                  <c:v>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Change</c:v>
                </c:pt>
              </c:strCache>
            </c:strRef>
          </c:tx>
          <c:spPr>
            <a:solidFill>
              <a:srgbClr val="15D9A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  <c:pt idx="3">
                    <c:v>Visual QA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</c:v>
                </c:pt>
                <c:pt idx="1">
                  <c:v>22</c:v>
                </c:pt>
                <c:pt idx="2">
                  <c:v>31</c:v>
                </c:pt>
                <c:pt idx="3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DC6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34155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11D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15D9AE"/>
          </a:solidFill>
          <a:ln w="12700">
            <a:solidFill>
              <a:srgbClr val="15D9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E0289A"/>
          </a:solidFill>
          <a:ln w="12700">
            <a:solidFill>
              <a:srgbClr val="E0289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5D9AE"/>
          </a:solidFill>
          <a:ln w="12700">
            <a:solidFill>
              <a:srgbClr val="15D9A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57055" y="6528816"/>
            <a:ext cx="2148840" cy="7315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mdpr:mdpr-theme-style-and-color-matrix-797102:title:__title:mdpr-theme-style-and-color-matrix-797102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Theme Style and Color Matrix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15D9AE"/>
          </a:solidFill>
          <a:ln w="12700">
            <a:solidFill>
              <a:srgbClr val="15D9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E0289A"/>
          </a:solidFill>
          <a:ln w="12700">
            <a:solidFill>
              <a:srgbClr val="E0289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36192"/>
            <a:ext cx="10515600" cy="457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5852160"/>
            <a:ext cx="2011680" cy="45720"/>
          </a:xfrm>
          <a:prstGeom prst="rect">
            <a:avLst/>
          </a:prstGeom>
          <a:solidFill>
            <a:srgbClr val="15D9AE"/>
          </a:solidFill>
          <a:ln w="12700">
            <a:solidFill>
              <a:srgbClr val="15D9A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80760" y="1737360"/>
            <a:ext cx="22860" cy="3968496"/>
          </a:xfrm>
          <a:prstGeom prst="rect">
            <a:avLst/>
          </a:prstGeom>
          <a:solidFill>
            <a:srgbClr val="CDC6D5">
              <a:alpha val="90000"/>
            </a:srgbClr>
          </a:solidFill>
          <a:ln w="12700">
            <a:solidFill>
              <a:srgbClr val="CDC6D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737360"/>
            <a:ext cx="73152" cy="84124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779776"/>
            <a:ext cx="73152" cy="841248"/>
          </a:xfrm>
          <a:prstGeom prst="rect">
            <a:avLst/>
          </a:prstGeom>
          <a:solidFill>
            <a:srgbClr val="15D9AE"/>
          </a:solidFill>
          <a:ln w="12700">
            <a:solidFill>
              <a:srgbClr val="15D9A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822192"/>
            <a:ext cx="73152" cy="84124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4864608"/>
            <a:ext cx="73152" cy="841248"/>
          </a:xfrm>
          <a:prstGeom prst="rect">
            <a:avLst/>
          </a:prstGeom>
          <a:solidFill>
            <a:srgbClr val="15D9AE"/>
          </a:solidFill>
          <a:ln w="12700">
            <a:solidFill>
              <a:srgbClr val="15D9A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2784" y="1737360"/>
            <a:ext cx="73152" cy="84124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2784" y="2779776"/>
            <a:ext cx="73152" cy="841248"/>
          </a:xfrm>
          <a:prstGeom prst="rect">
            <a:avLst/>
          </a:prstGeom>
          <a:solidFill>
            <a:srgbClr val="15D9AE"/>
          </a:solidFill>
          <a:ln w="12700">
            <a:solidFill>
              <a:srgbClr val="15D9A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2784" y="3822192"/>
            <a:ext cx="73152" cy="84124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2784" y="4864608"/>
            <a:ext cx="73152" cy="841248"/>
          </a:xfrm>
          <a:prstGeom prst="rect">
            <a:avLst/>
          </a:prstGeom>
          <a:solidFill>
            <a:srgbClr val="15D9AE"/>
          </a:solidFill>
          <a:ln w="12700">
            <a:solidFill>
              <a:srgbClr val="15D9AE">
                <a:alpha val="0"/>
              </a:srgbClr>
            </a:solidFill>
            <a:prstDash val="solid"/>
          </a:ln>
        </p:spPr>
      </p:sp>
      <p:sp>
        <p:nvSpPr>
          <p:cNvPr id="16" name="mdpr:toc-53a981:title:__title:toc-53a981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800" dirty="0"/>
          </a:p>
        </p:txBody>
      </p:sp>
      <p:sp>
        <p:nvSpPr>
          <p:cNvPr id="17" name="mdpr:toc-53a981:toc-item-1:toc-item-1"/>
          <p:cNvSpPr txBox="1"/>
          <p:nvPr/>
        </p:nvSpPr>
        <p:spPr>
          <a:xfrm>
            <a:off x="1042416" y="1828800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Theme Contract</a:t>
            </a:r>
            <a:endParaRPr lang="en-US" sz="1800" dirty="0"/>
          </a:p>
        </p:txBody>
      </p:sp>
      <p:sp>
        <p:nvSpPr>
          <p:cNvPr id="18" name="mdpr:toc-53a981:toc-item-2:toc-item-2"/>
          <p:cNvSpPr txBox="1"/>
          <p:nvPr/>
        </p:nvSpPr>
        <p:spPr>
          <a:xfrm>
            <a:off x="1042416" y="2871216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Pipeline and Object Routing</a:t>
            </a:r>
            <a:endParaRPr lang="en-US" sz="1800" dirty="0"/>
          </a:p>
        </p:txBody>
      </p:sp>
      <p:sp>
        <p:nvSpPr>
          <p:cNvPr id="19" name="mdpr:toc-53a981:toc-item-3:toc-item-3"/>
          <p:cNvSpPr txBox="1"/>
          <p:nvPr/>
        </p:nvSpPr>
        <p:spPr>
          <a:xfrm>
            <a:off x="1042416" y="3913632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Numeric Proof Objects</a:t>
            </a:r>
            <a:endParaRPr lang="en-US" sz="1800" dirty="0"/>
          </a:p>
        </p:txBody>
      </p:sp>
      <p:sp>
        <p:nvSpPr>
          <p:cNvPr id="20" name="mdpr:toc-53a981:toc-item-4:toc-item-4"/>
          <p:cNvSpPr txBox="1"/>
          <p:nvPr/>
        </p:nvSpPr>
        <p:spPr>
          <a:xfrm>
            <a:off x="1042416" y="4956048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Arc Ring Proof</a:t>
            </a:r>
            <a:endParaRPr lang="en-US" sz="1800" dirty="0"/>
          </a:p>
        </p:txBody>
      </p:sp>
      <p:sp>
        <p:nvSpPr>
          <p:cNvPr id="21" name="mdpr:toc-53a981:toc-item-5:toc-item-5"/>
          <p:cNvSpPr txBox="1"/>
          <p:nvPr/>
        </p:nvSpPr>
        <p:spPr>
          <a:xfrm>
            <a:off x="6492240" y="1828800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Table and Text Coherence</a:t>
            </a:r>
            <a:endParaRPr lang="en-US" sz="1800" dirty="0"/>
          </a:p>
        </p:txBody>
      </p:sp>
      <p:sp>
        <p:nvSpPr>
          <p:cNvPr id="22" name="mdpr:toc-53a981:toc-item-6:toc-item-6"/>
          <p:cNvSpPr txBox="1"/>
          <p:nvPr/>
        </p:nvSpPr>
        <p:spPr>
          <a:xfrm>
            <a:off x="6492240" y="2871216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Decoration Selection Inputs</a:t>
            </a:r>
            <a:endParaRPr lang="en-US" sz="1800" dirty="0"/>
          </a:p>
        </p:txBody>
      </p:sp>
      <p:sp>
        <p:nvSpPr>
          <p:cNvPr id="23" name="mdpr:toc-53a981:toc-item-7:toc-item-7"/>
          <p:cNvSpPr txBox="1"/>
          <p:nvPr/>
        </p:nvSpPr>
        <p:spPr>
          <a:xfrm>
            <a:off x="6492240" y="3913632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Theme Matrix</a:t>
            </a:r>
            <a:endParaRPr lang="en-US" sz="1800" dirty="0"/>
          </a:p>
        </p:txBody>
      </p:sp>
      <p:sp>
        <p:nvSpPr>
          <p:cNvPr id="24" name="mdpr:toc-53a981:toc-item-8:toc-item-8"/>
          <p:cNvSpPr txBox="1"/>
          <p:nvPr/>
        </p:nvSpPr>
        <p:spPr>
          <a:xfrm>
            <a:off x="6492240" y="4956048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Final Checks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15D9AE"/>
          </a:solidFill>
          <a:ln w="12700">
            <a:solidFill>
              <a:srgbClr val="15D9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E0289A"/>
          </a:solidFill>
          <a:ln w="12700">
            <a:solidFill>
              <a:srgbClr val="E0289A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1325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" y="1417320"/>
            <a:ext cx="10241280" cy="1325880"/>
          </a:xfrm>
          <a:prstGeom prst="rect">
            <a:avLst/>
          </a:prstGeom>
          <a:solidFill>
            <a:srgbClr val="FBFCFD">
              <a:alpha val="0"/>
            </a:srgbClr>
          </a:solidFill>
          <a:ln w="12700">
            <a:solidFill>
              <a:srgbClr val="CDC6D5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9" name="mdpr:theme-contract-c377f2:title:__title:theme-contract-c377f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Contract</a:t>
            </a:r>
            <a:endParaRPr lang="en-US" sz="3400" dirty="0"/>
          </a:p>
        </p:txBody>
      </p:sp>
      <p:sp>
        <p:nvSpPr>
          <p:cNvPr id="10" name="mdpr:theme-contract-c377f2:key-message:block-3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style and color seed are separate deterministic choices.</a:t>
            </a:r>
            <a:endParaRPr lang="en-US" sz="2200" dirty="0"/>
          </a:p>
        </p:txBody>
      </p:sp>
      <p:sp>
        <p:nvSpPr>
          <p:cNvPr id="11" name="mdpr:theme-contract-c377f2:body:block-4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11D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Decoration style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Controls surface grammar, shadow, density, and object treatment.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11D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Color seed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Provides the main color; harmony rules derive chart, accent, and PowerPoint theme colors.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11D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Visual validation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The build manifest records overflow, font floor, region count, and resolved design tokens.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15D9AE"/>
          </a:solidFill>
          <a:ln w="12700">
            <a:solidFill>
              <a:srgbClr val="15D9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E0289A"/>
          </a:solidFill>
          <a:ln w="12700">
            <a:solidFill>
              <a:srgbClr val="E0289A">
                <a:alpha val="0"/>
              </a:srgbClr>
            </a:solidFill>
            <a:prstDash val="solid"/>
          </a:ln>
        </p:spPr>
      </p:sp>
      <p:sp>
        <p:nvSpPr>
          <p:cNvPr id="5" name="mdpr:pipeline-and-object-routing-fb82d5:title:__title:pipeline-and-object-routing-fb82d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and Object Routing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002024" y="3095244"/>
            <a:ext cx="457200" cy="0"/>
          </a:xfrm>
          <a:prstGeom prst="line">
            <a:avLst/>
          </a:prstGeom>
          <a:noFill/>
          <a:ln w="12700">
            <a:solidFill>
              <a:srgbClr val="E0289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748016" y="3095244"/>
            <a:ext cx="457200" cy="0"/>
          </a:xfrm>
          <a:prstGeom prst="line">
            <a:avLst/>
          </a:prstGeom>
          <a:noFill/>
          <a:ln w="12700">
            <a:solidFill>
              <a:srgbClr val="E0289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849612" y="3627791"/>
            <a:ext cx="0" cy="416235"/>
          </a:xfrm>
          <a:prstGeom prst="line">
            <a:avLst/>
          </a:prstGeom>
          <a:noFill/>
          <a:ln w="12700">
            <a:solidFill>
              <a:srgbClr val="E0289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748016" y="4576572"/>
            <a:ext cx="457200" cy="0"/>
          </a:xfrm>
          <a:prstGeom prst="line">
            <a:avLst/>
          </a:prstGeom>
          <a:noFill/>
          <a:ln w="12700">
            <a:solidFill>
              <a:srgbClr val="E0289A"/>
            </a:solidFill>
            <a:prstDash val="solid"/>
            <a:headEnd type="triangle"/>
          </a:ln>
        </p:spPr>
      </p:sp>
      <p:sp>
        <p:nvSpPr>
          <p:cNvPr id="10" name="Shape 8"/>
          <p:cNvSpPr/>
          <p:nvPr/>
        </p:nvSpPr>
        <p:spPr>
          <a:xfrm>
            <a:off x="4002024" y="4576572"/>
            <a:ext cx="457200" cy="0"/>
          </a:xfrm>
          <a:prstGeom prst="line">
            <a:avLst/>
          </a:prstGeom>
          <a:noFill/>
          <a:ln w="12700">
            <a:solidFill>
              <a:srgbClr val="E0289A"/>
            </a:solidFill>
            <a:prstDash val="solid"/>
            <a:headEnd type="triangle"/>
          </a:ln>
        </p:spPr>
      </p:sp>
      <p:sp>
        <p:nvSpPr>
          <p:cNvPr id="11" name="Shape 9"/>
          <p:cNvSpPr/>
          <p:nvPr/>
        </p:nvSpPr>
        <p:spPr>
          <a:xfrm>
            <a:off x="640080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CFD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510028"/>
            <a:ext cx="3435096" cy="10972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2907975"/>
            <a:ext cx="374538" cy="37453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514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Source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86072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CFD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6072" y="2510028"/>
            <a:ext cx="3435096" cy="10972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50664" y="2907975"/>
            <a:ext cx="374538" cy="37453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50664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071506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IR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32064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CFD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32064" y="2510028"/>
            <a:ext cx="3435096" cy="10972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96656" y="2907975"/>
            <a:ext cx="374538" cy="37453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96656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817498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 Engine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32064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CFD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32064" y="3991356"/>
            <a:ext cx="3435096" cy="10972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96656" y="4389303"/>
            <a:ext cx="374538" cy="37453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96656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817498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Styled Deck IR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86072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CFD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386072" y="3991356"/>
            <a:ext cx="3435096" cy="10972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50664" y="4389303"/>
            <a:ext cx="374538" cy="37453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50664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071506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 Output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0080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CFD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0080" y="3991356"/>
            <a:ext cx="3435096" cy="10972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4672" y="4389303"/>
            <a:ext cx="374538" cy="37453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04672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1325514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Check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15D9AE"/>
          </a:solidFill>
          <a:ln w="12700">
            <a:solidFill>
              <a:srgbClr val="15D9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E0289A"/>
          </a:solidFill>
          <a:ln w="12700">
            <a:solidFill>
              <a:srgbClr val="E0289A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56048" y="1426464"/>
            <a:ext cx="6199632" cy="4407408"/>
          </a:xfrm>
          <a:prstGeom prst="rect">
            <a:avLst/>
          </a:prstGeom>
          <a:solidFill>
            <a:srgbClr val="FBFCFD">
              <a:alpha val="0"/>
            </a:srgbClr>
          </a:solidFill>
          <a:ln w="12700">
            <a:solidFill>
              <a:srgbClr val="CDC6D5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8" name="mdpr:numeric-proof-objects-cacd50:title:__title:numeric-proof-objects-cacd5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Proof Objects</a:t>
            </a:r>
            <a:endParaRPr lang="en-US" sz="3400" dirty="0"/>
          </a:p>
        </p:txBody>
      </p:sp>
      <p:sp>
        <p:nvSpPr>
          <p:cNvPr id="9" name="mdpr:numeric-proof-objects-cacd50:body:block-10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chart keeps one evidence object as the main proof while labels and theme colors remain coherent.</a:t>
            </a:r>
            <a:endParaRPr lang="en-US" sz="2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15D9AE"/>
          </a:solidFill>
          <a:ln w="12700">
            <a:solidFill>
              <a:srgbClr val="15D9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E0289A"/>
          </a:solidFill>
          <a:ln w="12700">
            <a:solidFill>
              <a:srgbClr val="E0289A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56048" y="1426464"/>
            <a:ext cx="6199632" cy="4407408"/>
          </a:xfrm>
          <a:prstGeom prst="rect">
            <a:avLst/>
          </a:prstGeom>
          <a:solidFill>
            <a:srgbClr val="FBFCFD">
              <a:alpha val="0"/>
            </a:srgbClr>
          </a:solidFill>
          <a:ln w="12700">
            <a:solidFill>
              <a:srgbClr val="CDC6D5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8" name="mdpr:arc-ring-proof-5379f8:title:__title:arc-ring-proof-5379f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 Ring Proof</a:t>
            </a:r>
            <a:endParaRPr lang="en-US" sz="3400" dirty="0"/>
          </a:p>
        </p:txBody>
      </p:sp>
      <p:sp>
        <p:nvSpPr>
          <p:cNvPr id="9" name="mdpr:arc-ring-proof-5379f8:body:block-13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arc geometry uses theme accents.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5452019" y="2328245"/>
            <a:ext cx="2603845" cy="2603845"/>
          </a:xfrm>
          <a:prstGeom prst="blockArc">
            <a:avLst>
              <a:gd name="adj1" fmla="val 0"/>
              <a:gd name="adj2" fmla="val 21540000"/>
              <a:gd name="adj3" fmla="val 12000"/>
            </a:avLst>
          </a:prstGeom>
          <a:solidFill>
            <a:srgbClr val="CDC6D5">
              <a:alpha val="82000"/>
            </a:srgbClr>
          </a:solidFill>
          <a:ln w="12700">
            <a:solidFill>
              <a:srgbClr val="CDC6D5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52019" y="2328245"/>
            <a:ext cx="2603845" cy="2603845"/>
          </a:xfrm>
          <a:prstGeom prst="blockArc">
            <a:avLst>
              <a:gd name="adj1" fmla="val 16200000"/>
              <a:gd name="adj2" fmla="val 21540000"/>
              <a:gd name="adj3" fmla="val 12000"/>
            </a:avLst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52019" y="2328245"/>
            <a:ext cx="2603845" cy="2603845"/>
          </a:xfrm>
          <a:prstGeom prst="blockArc">
            <a:avLst>
              <a:gd name="adj1" fmla="val 0"/>
              <a:gd name="adj2" fmla="val 11460000"/>
              <a:gd name="adj3" fmla="val 12000"/>
            </a:avLst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560231" y="3344223"/>
            <a:ext cx="182269" cy="182269"/>
          </a:xfrm>
          <a:prstGeom prst="ellipse">
            <a:avLst/>
          </a:prstGeom>
          <a:solidFill>
            <a:srgbClr val="15D9AE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6749" y="2822976"/>
            <a:ext cx="1614384" cy="1614384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024865" y="3187514"/>
            <a:ext cx="1458153" cy="6249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78%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5920711" y="3838476"/>
            <a:ext cx="1666461" cy="468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Coverage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489838" y="2591044"/>
            <a:ext cx="137160" cy="13716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718438" y="2440168"/>
            <a:ext cx="21629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Validated 78%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489838" y="3029956"/>
            <a:ext cx="137160" cy="137160"/>
          </a:xfrm>
          <a:prstGeom prst="ellipse">
            <a:avLst/>
          </a:prstGeom>
          <a:solidFill>
            <a:srgbClr val="15D9AE"/>
          </a:solidFill>
          <a:ln w="12700">
            <a:solidFill>
              <a:srgbClr val="15D9AE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18438" y="2879080"/>
            <a:ext cx="21629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Remaining 22%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15D9AE"/>
          </a:solidFill>
          <a:ln w="12700">
            <a:solidFill>
              <a:srgbClr val="15D9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E0289A"/>
          </a:solidFill>
          <a:ln w="12700">
            <a:solidFill>
              <a:srgbClr val="E0289A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solidFill>
            <a:srgbClr val="FBFCFD">
              <a:alpha val="0"/>
            </a:srgbClr>
          </a:solidFill>
          <a:ln w="12700">
            <a:solidFill>
              <a:srgbClr val="CDC6D5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7" name="mdpr:table-and-text-coherence-6ef8a2:title:__title:table-and-text-coherence-6ef8a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and Text Coherence</a:t>
            </a:r>
            <a:endParaRPr lang="en-US" sz="3400" dirty="0"/>
          </a:p>
        </p:txBody>
      </p:sp>
      <p:graphicFrame>
        <p:nvGraphicFramePr>
          <p:cNvPr id="8" name="mdpr:table-and-text-coherence-6ef8a2:table:block-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9052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Requirement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1D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Rule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1D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Visual Check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1D48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Shape text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Middle anchor plus readable insets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text touches a border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 text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emphasis and row labels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Cells keep row grammar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Bullet markers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Marker and text share a centerline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low or drifting glyphs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Color usage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Harmony palette only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Accent color marks real contrast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15D9AE"/>
          </a:solidFill>
          <a:ln w="12700">
            <a:solidFill>
              <a:srgbClr val="15D9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E0289A"/>
          </a:solidFill>
          <a:ln w="12700">
            <a:solidFill>
              <a:srgbClr val="E0289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7" name="mdpr:1-2-5eab8f:title:__title:1-2-5eab8f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Selection Inputs</a:t>
            </a:r>
            <a:endParaRPr lang="en-US" sz="3400" dirty="0"/>
          </a:p>
        </p:txBody>
      </p:sp>
      <p:sp>
        <p:nvSpPr>
          <p:cNvPr id="8" name="mdpr:1-2-5eab8f:left:block-17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11D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Constraint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Long text should use plain-safe or rail layouts instead of decorative cards.</a:t>
            </a:r>
            <a:endParaRPr lang="en-US" sz="2200" dirty="0"/>
          </a:p>
        </p:txBody>
      </p:sp>
      <p:sp>
        <p:nvSpPr>
          <p:cNvPr id="9" name="mdpr:1-2-5eab8f:right:block-17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11D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Evidence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Important proof points may receive a contrast chip, but sibling objects keep one grammar.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15D9AE"/>
          </a:solidFill>
          <a:ln w="12700">
            <a:solidFill>
              <a:srgbClr val="15D9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E0289A"/>
          </a:solidFill>
          <a:ln w="12700">
            <a:solidFill>
              <a:srgbClr val="E0289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7" name="mdpr:2-2-db6c82:title:__title:2-2-db6c8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Selection Inputs (Cont. 2/2)</a:t>
            </a:r>
            <a:endParaRPr lang="en-US" sz="3400" dirty="0"/>
          </a:p>
        </p:txBody>
      </p:sp>
      <p:sp>
        <p:nvSpPr>
          <p:cNvPr id="8" name="mdpr:2-2-db6c82:left:block-17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11D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Image need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Image sidecars are reserved only when the source contains or requires an image.</a:t>
            </a:r>
            <a:endParaRPr lang="en-US" sz="2200" dirty="0"/>
          </a:p>
        </p:txBody>
      </p:sp>
      <p:sp>
        <p:nvSpPr>
          <p:cNvPr id="9" name="mdpr:2-2-db6c82:right:block-17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11D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Density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Dense tables and code blocks reduce decoration before shrinking below the readable font floor.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15D9AE"/>
          </a:solidFill>
          <a:ln w="12700">
            <a:solidFill>
              <a:srgbClr val="15D9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E0289A"/>
          </a:solidFill>
          <a:ln w="12700">
            <a:solidFill>
              <a:srgbClr val="E0289A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solidFill>
            <a:srgbClr val="FBFCFD">
              <a:alpha val="0"/>
            </a:srgbClr>
          </a:solidFill>
          <a:ln w="12700">
            <a:solidFill>
              <a:srgbClr val="CDC6D5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7" name="mdpr:1-2-20250a:title:__title:1-2-20250a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Matrix</a:t>
            </a:r>
            <a:endParaRPr lang="en-US" sz="3400" dirty="0"/>
          </a:p>
        </p:txBody>
      </p:sp>
      <p:graphicFrame>
        <p:nvGraphicFramePr>
          <p:cNvPr id="11" name="mdpr:1-2-20250a:table:block-19-chunk-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  <a:gridCol w="2560320"/>
              </a:tblGrid>
              <a:tr h="6466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Style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1D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Main Color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1D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Harmony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1D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Intended Role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1D4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clean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#2563EB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analogous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Minimal blue system for clean operational slides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minimalism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#111827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monochromatic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Whitespace-first slides with thin rules and restrained emphasis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newmorphism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#4F6F8F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analogous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Soft UI surfaces using same-tone panels and paired shadows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glass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#8A4FFF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split-complementary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Translucent proof surfaces with contrast accents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clean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#DC2626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Swiss modular grid with restrained red accent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data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#F59E0B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monochromatic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Dark data-journalism page with dense proof rails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15D9AE"/>
          </a:solidFill>
          <a:ln w="12700">
            <a:solidFill>
              <a:srgbClr val="15D9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E0289A"/>
          </a:solidFill>
          <a:ln w="12700">
            <a:solidFill>
              <a:srgbClr val="E0289A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solidFill>
            <a:srgbClr val="FBFCFD">
              <a:alpha val="0"/>
            </a:srgbClr>
          </a:solidFill>
          <a:ln w="12700">
            <a:solidFill>
              <a:srgbClr val="CDC6D5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7" name="mdpr:2-2-3dcbe2:title:__title:2-2-3dcbe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Matrix (Cont. 2/2)</a:t>
            </a:r>
            <a:endParaRPr lang="en-US" sz="3400" dirty="0"/>
          </a:p>
        </p:txBody>
      </p:sp>
      <p:graphicFrame>
        <p:nvGraphicFramePr>
          <p:cNvPr id="12" name="mdpr:2-2-3dcbe2:table:block-19-chunk-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  <a:gridCol w="2560320"/>
              </a:tblGrid>
              <a:tr h="9052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Style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1D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Main Color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1D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Harmony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1D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Intended Role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1D48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technical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#C2410C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triadic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Editorial magazine cover/page rhythm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executive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#0F766E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Business deck rhythm with a warm opposing accent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technical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#16A34A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monochromatic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Engineering/validation tone with brightness steps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executive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#E11D48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Dark proof deck with high-contrast emphasis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15D9AE"/>
          </a:solidFill>
          <a:ln w="12700">
            <a:solidFill>
              <a:srgbClr val="15D9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E0289A"/>
          </a:solidFill>
          <a:ln w="12700">
            <a:solidFill>
              <a:srgbClr val="E0289A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BFCFD">
              <a:alpha val="0"/>
            </a:srgbClr>
          </a:solidFill>
          <a:ln w="12700">
            <a:solidFill>
              <a:srgbClr val="CDC6D5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BFCFD">
              <a:alpha val="0"/>
            </a:srgbClr>
          </a:solidFill>
          <a:ln w="12700">
            <a:solidFill>
              <a:srgbClr val="CDC6D5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BFCFD">
              <a:alpha val="0"/>
            </a:srgbClr>
          </a:solidFill>
          <a:ln w="12700">
            <a:solidFill>
              <a:srgbClr val="CDC6D5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15D9AE">
              <a:alpha val="80000"/>
            </a:srgbClr>
          </a:solidFill>
          <a:ln w="12700">
            <a:solidFill>
              <a:srgbClr val="15D9AE">
                <a:alpha val="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15D9AE"/>
          </a:solidFill>
          <a:ln w="12700">
            <a:solidFill>
              <a:srgbClr val="15D9AE">
                <a:alpha val="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15" name="mdpr:final-checks-4f0459:title:__title:final-checks-4f045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Final Checks</a:t>
            </a:r>
            <a:endParaRPr lang="en-US" sz="3400" dirty="0"/>
          </a:p>
        </p:txBody>
      </p:sp>
      <p:sp>
        <p:nvSpPr>
          <p:cNvPr id="16" name="Shape 11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CDC6D5"/>
            </a:solidFill>
            <a:prstDash val="solid"/>
          </a:ln>
        </p:spPr>
      </p:sp>
      <p:pic>
        <p:nvPicPr>
          <p:cNvPr id="17" name="Image 3" descr="palette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18" name="mdpr:final-checks-4f0459:item-1:block-21"/>
          <p:cNvSpPr txBox="1"/>
          <p:nvPr/>
        </p:nvSpPr>
        <p:spPr>
          <a:xfrm>
            <a:off x="1699321" y="2164080"/>
            <a:ext cx="9255191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writes a design lock for the resolved style/color contract.</a:t>
            </a:r>
            <a:endParaRPr lang="en-US" sz="2200" dirty="0"/>
          </a:p>
        </p:txBody>
      </p:sp>
      <p:sp>
        <p:nvSpPr>
          <p:cNvPr id="19" name="Shape 13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CDC6D5"/>
            </a:solidFill>
            <a:prstDash val="solid"/>
          </a:ln>
        </p:spPr>
      </p:sp>
      <p:pic>
        <p:nvPicPr>
          <p:cNvPr id="20" name="Image 4" descr="imag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1" name="mdpr:final-checks-4f0459:item-2:block-21"/>
          <p:cNvSpPr txBox="1"/>
          <p:nvPr/>
        </p:nvSpPr>
        <p:spPr>
          <a:xfrm>
            <a:off x="1699321" y="3322320"/>
            <a:ext cx="9255191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writes a manifest with source hash, output list, diagnostics, and optional visual summary.</a:t>
            </a:r>
            <a:endParaRPr lang="en-US" sz="2200" dirty="0"/>
          </a:p>
        </p:txBody>
      </p:sp>
      <p:sp>
        <p:nvSpPr>
          <p:cNvPr id="22" name="Shape 15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CDC6D5"/>
            </a:solidFill>
            <a:prstDash val="solid"/>
          </a:ln>
        </p:spPr>
      </p:sp>
      <p:pic>
        <p:nvPicPr>
          <p:cNvPr id="23" name="Image 5" descr="imag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4" name="mdpr:final-checks-4f0459:item-3:block-21"/>
          <p:cNvSpPr txBox="1"/>
          <p:nvPr/>
        </p:nvSpPr>
        <p:spPr>
          <a:xfrm>
            <a:off x="1699321" y="4639056"/>
            <a:ext cx="9255191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Generated PPTX files are exported through PowerPoint to PNG previews for visual comparison.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F172A"/>
      </a:dk1>
      <a:lt1>
        <a:srgbClr val="F8FAFC"/>
      </a:lt1>
      <a:dk2>
        <a:srgbClr val="334155"/>
      </a:dk2>
      <a:lt2>
        <a:srgbClr val="FBFCFD"/>
      </a:lt2>
      <a:accent1>
        <a:srgbClr val="E11D48"/>
      </a:accent1>
      <a:accent2>
        <a:srgbClr val="15D9AE"/>
      </a:accent2>
      <a:accent3>
        <a:srgbClr val="E0289A"/>
      </a:accent3>
      <a:accent4>
        <a:srgbClr val="D63F1E"/>
      </a:accent4>
      <a:accent5>
        <a:srgbClr val="5BE1C4"/>
      </a:accent5>
      <a:accent6>
        <a:srgbClr val="950E2B"/>
      </a:accent6>
      <a:hlink>
        <a:srgbClr val="E11D48"/>
      </a:hlink>
      <a:folHlink>
        <a:srgbClr val="15D9AE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 Theme Style and Color Matrix</dc:title>
  <dc:subject>Generated from Markdown through Presentation IR and Layout IR</dc:subject>
  <dc:creator>mdpresent</dc:creator>
  <cp:lastModifiedBy>mdpresent</cp:lastModifiedBy>
  <cp:revision>1</cp:revision>
  <dcterms:created xsi:type="dcterms:W3CDTF">2026-06-25T11:49:12Z</dcterms:created>
  <dcterms:modified xsi:type="dcterms:W3CDTF">2026-06-25T11:49:12Z</dcterms:modified>
</cp:coreProperties>
</file>