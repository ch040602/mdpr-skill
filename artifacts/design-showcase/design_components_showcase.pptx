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68</c:v>
                </c:pt>
                <c:pt idx="2">
                  <c:v>57</c:v>
                </c:pt>
                <c:pt idx="3">
                  <c:v>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ripe_z00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ixed_title"/>
          <p:cNvSpPr txBox="1"/>
          <p:nvPr/>
        </p:nvSpPr>
        <p:spPr>
          <a:xfrm>
            <a:off x="658368" y="384048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0242C"/>
                </a:solidFill>
              </a:rPr>
              <a:t>Mixed Object Stress Test</a:t>
            </a:r>
          </a:p>
        </p:txBody>
      </p:sp>
      <p:sp>
        <p:nvSpPr>
          <p:cNvPr id="4" name="mixed_subtitle"/>
          <p:cNvSpPr txBox="1"/>
          <p:nvPr/>
        </p:nvSpPr>
        <p:spPr>
          <a:xfrm>
            <a:off x="676656" y="8412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Image, table, native chart, KPI, timeline, badge, callout, and text objects share one coherent profile.</a:t>
            </a:r>
          </a:p>
        </p:txBody>
      </p:sp>
      <p:sp>
        <p:nvSpPr>
          <p:cNvPr id="5" name="stripe_image_card"/>
          <p:cNvSpPr/>
          <p:nvPr/>
        </p:nvSpPr>
        <p:spPr>
          <a:xfrm>
            <a:off x="713232" y="1325880"/>
            <a:ext cx="3291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stripe_picture_object" descr="mixed_object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709928"/>
            <a:ext cx="2926080" cy="1417320"/>
          </a:xfrm>
          <a:prstGeom prst="rect">
            <a:avLst/>
          </a:prstGeom>
        </p:spPr>
      </p:pic>
      <p:sp>
        <p:nvSpPr>
          <p:cNvPr id="7" name="stripe_image_title"/>
          <p:cNvSpPr txBox="1"/>
          <p:nvPr/>
        </p:nvSpPr>
        <p:spPr>
          <a:xfrm>
            <a:off x="914400" y="147218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0242C"/>
                </a:solidFill>
              </a:rPr>
              <a:t>Image frame</a:t>
            </a:r>
          </a:p>
        </p:txBody>
      </p:sp>
      <p:sp>
        <p:nvSpPr>
          <p:cNvPr id="8" name="stripe_image_caption"/>
          <p:cNvSpPr txBox="1"/>
          <p:nvPr/>
        </p:nvSpPr>
        <p:spPr>
          <a:xfrm>
            <a:off x="914400" y="320040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PPT picture + editable overlay metadata</a:t>
            </a:r>
          </a:p>
        </p:txBody>
      </p:sp>
      <p:sp>
        <p:nvSpPr>
          <p:cNvPr id="9" name="stripe_image_badge"/>
          <p:cNvSpPr/>
          <p:nvPr/>
        </p:nvSpPr>
        <p:spPr>
          <a:xfrm>
            <a:off x="3108960" y="1472184"/>
            <a:ext cx="676656" cy="21945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PNG</a:t>
            </a:r>
          </a:p>
        </p:txBody>
      </p:sp>
      <p:sp>
        <p:nvSpPr>
          <p:cNvPr id="10" name="stripe_chart_shell"/>
          <p:cNvSpPr/>
          <p:nvPr/>
        </p:nvSpPr>
        <p:spPr>
          <a:xfrm>
            <a:off x="4224528" y="1325880"/>
            <a:ext cx="306324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ipe_real_chart_title"/>
          <p:cNvSpPr txBox="1"/>
          <p:nvPr/>
        </p:nvSpPr>
        <p:spPr>
          <a:xfrm>
            <a:off x="4407408" y="149047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0242C"/>
                </a:solidFill>
              </a:rPr>
              <a:t>Native chart</a:t>
            </a:r>
          </a:p>
        </p:txBody>
      </p:sp>
      <p:graphicFrame>
        <p:nvGraphicFramePr>
          <p:cNvPr id="12" name="stripe_native_chart_object"/>
          <p:cNvGraphicFramePr>
            <a:graphicFrameLocks noGrp="1"/>
          </p:cNvGraphicFramePr>
          <p:nvPr/>
        </p:nvGraphicFramePr>
        <p:xfrm>
          <a:off x="4425696" y="1828800"/>
          <a:ext cx="2651760" cy="122529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tripe_table_card"/>
          <p:cNvSpPr/>
          <p:nvPr/>
        </p:nvSpPr>
        <p:spPr>
          <a:xfrm>
            <a:off x="7516368" y="1325880"/>
            <a:ext cx="3108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ipe_table_title"/>
          <p:cNvSpPr txBox="1"/>
          <p:nvPr/>
        </p:nvSpPr>
        <p:spPr>
          <a:xfrm>
            <a:off x="7699248" y="14721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0242C"/>
                </a:solidFill>
              </a:rPr>
              <a:t>Object matrix</a:t>
            </a:r>
          </a:p>
        </p:txBody>
      </p:sp>
      <p:graphicFrame>
        <p:nvGraphicFramePr>
          <p:cNvPr id="15" name="stripe_table_object"/>
          <p:cNvGraphicFramePr>
            <a:graphicFrameLocks noGrp="1"/>
          </p:cNvGraphicFramePr>
          <p:nvPr/>
        </p:nvGraphicFramePr>
        <p:xfrm>
          <a:off x="7699248" y="1801368"/>
          <a:ext cx="274320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0242C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0242C"/>
                          </a:solidFill>
                        </a:rPr>
                        <a:t>Editable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20242C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Picture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64748B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tripe_timeline_card"/>
          <p:cNvSpPr/>
          <p:nvPr/>
        </p:nvSpPr>
        <p:spPr>
          <a:xfrm>
            <a:off x="713232" y="3694176"/>
            <a:ext cx="5715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ipe_timeline_title"/>
          <p:cNvSpPr txBox="1"/>
          <p:nvPr/>
        </p:nvSpPr>
        <p:spPr>
          <a:xfrm>
            <a:off x="877824" y="38404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0242C"/>
                </a:solidFill>
              </a:rPr>
              <a:t>Timeline</a:t>
            </a:r>
          </a:p>
        </p:txBody>
      </p:sp>
      <p:sp>
        <p:nvSpPr>
          <p:cNvPr id="18" name="stripe_timeline_line"/>
          <p:cNvSpPr/>
          <p:nvPr/>
        </p:nvSpPr>
        <p:spPr>
          <a:xfrm>
            <a:off x="1883664" y="4105656"/>
            <a:ext cx="4160520" cy="36576"/>
          </a:xfrm>
          <a:prstGeom prst="rect">
            <a:avLst/>
          </a:prstGeom>
          <a:solidFill>
            <a:srgbClr val="D9E2F2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ipe_timeline_dot_0"/>
          <p:cNvSpPr/>
          <p:nvPr/>
        </p:nvSpPr>
        <p:spPr>
          <a:xfrm>
            <a:off x="1947672" y="3986784"/>
            <a:ext cx="256032" cy="256032"/>
          </a:xfrm>
          <a:prstGeom prst="ellipse">
            <a:avLst/>
          </a:prstGeom>
          <a:solidFill>
            <a:srgbClr val="EEF4FF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ipe_timeline_label_0"/>
          <p:cNvSpPr txBox="1"/>
          <p:nvPr/>
        </p:nvSpPr>
        <p:spPr>
          <a:xfrm>
            <a:off x="1837943" y="4261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Parse</a:t>
            </a:r>
          </a:p>
        </p:txBody>
      </p:sp>
      <p:sp>
        <p:nvSpPr>
          <p:cNvPr id="21" name="stripe_timeline_dot_1"/>
          <p:cNvSpPr/>
          <p:nvPr/>
        </p:nvSpPr>
        <p:spPr>
          <a:xfrm>
            <a:off x="3182112" y="3986784"/>
            <a:ext cx="256032" cy="256032"/>
          </a:xfrm>
          <a:prstGeom prst="ellipse">
            <a:avLst/>
          </a:prstGeom>
          <a:solidFill>
            <a:srgbClr val="EEF4FF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ipe_timeline_label_1"/>
          <p:cNvSpPr txBox="1"/>
          <p:nvPr/>
        </p:nvSpPr>
        <p:spPr>
          <a:xfrm>
            <a:off x="3072384" y="4261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Map</a:t>
            </a:r>
          </a:p>
        </p:txBody>
      </p:sp>
      <p:sp>
        <p:nvSpPr>
          <p:cNvPr id="23" name="stripe_timeline_dot_2"/>
          <p:cNvSpPr/>
          <p:nvPr/>
        </p:nvSpPr>
        <p:spPr>
          <a:xfrm>
            <a:off x="4416552" y="3986784"/>
            <a:ext cx="256032" cy="256032"/>
          </a:xfrm>
          <a:prstGeom prst="ellipse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ipe_timeline_label_2"/>
          <p:cNvSpPr txBox="1"/>
          <p:nvPr/>
        </p:nvSpPr>
        <p:spPr>
          <a:xfrm>
            <a:off x="4306824" y="4261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Compose</a:t>
            </a:r>
          </a:p>
        </p:txBody>
      </p:sp>
      <p:sp>
        <p:nvSpPr>
          <p:cNvPr id="25" name="stripe_timeline_dot_3"/>
          <p:cNvSpPr/>
          <p:nvPr/>
        </p:nvSpPr>
        <p:spPr>
          <a:xfrm>
            <a:off x="5650992" y="3986784"/>
            <a:ext cx="256032" cy="256032"/>
          </a:xfrm>
          <a:prstGeom prst="ellipse">
            <a:avLst/>
          </a:prstGeom>
          <a:solidFill>
            <a:srgbClr val="EEF4FF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ipe_timeline_label_3"/>
          <p:cNvSpPr txBox="1"/>
          <p:nvPr/>
        </p:nvSpPr>
        <p:spPr>
          <a:xfrm>
            <a:off x="5541264" y="426110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Render</a:t>
            </a:r>
          </a:p>
        </p:txBody>
      </p:sp>
      <p:sp>
        <p:nvSpPr>
          <p:cNvPr id="27" name="stripe_insight_card"/>
          <p:cNvSpPr/>
          <p:nvPr/>
        </p:nvSpPr>
        <p:spPr>
          <a:xfrm>
            <a:off x="6656832" y="3694176"/>
            <a:ext cx="2926080" cy="1371600"/>
          </a:xfrm>
          <a:prstGeom prst="roundRect">
            <a:avLst/>
          </a:prstGeom>
          <a:solidFill>
            <a:srgbClr val="EEF4FF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ipe_insight_title"/>
          <p:cNvSpPr txBox="1"/>
          <p:nvPr/>
        </p:nvSpPr>
        <p:spPr>
          <a:xfrm>
            <a:off x="6858000" y="387705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0242C"/>
                </a:solidFill>
              </a:rPr>
              <a:t>Coherence lock</a:t>
            </a:r>
          </a:p>
        </p:txBody>
      </p:sp>
      <p:sp>
        <p:nvSpPr>
          <p:cNvPr id="29" name="stripe_insight_body"/>
          <p:cNvSpPr txBox="1"/>
          <p:nvPr/>
        </p:nvSpPr>
        <p:spPr>
          <a:xfrm>
            <a:off x="6858000" y="4197096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One radius, one shadow family, one accent role per deck.</a:t>
            </a:r>
          </a:p>
        </p:txBody>
      </p:sp>
      <p:sp>
        <p:nvSpPr>
          <p:cNvPr id="30" name="stripe_tag_0"/>
          <p:cNvSpPr/>
          <p:nvPr/>
        </p:nvSpPr>
        <p:spPr>
          <a:xfrm>
            <a:off x="6858000" y="4700016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radius</a:t>
            </a:r>
          </a:p>
        </p:txBody>
      </p:sp>
      <p:sp>
        <p:nvSpPr>
          <p:cNvPr id="31" name="stripe_tag_1"/>
          <p:cNvSpPr/>
          <p:nvPr/>
        </p:nvSpPr>
        <p:spPr>
          <a:xfrm>
            <a:off x="7516368" y="4700016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shadow</a:t>
            </a:r>
          </a:p>
        </p:txBody>
      </p:sp>
      <p:sp>
        <p:nvSpPr>
          <p:cNvPr id="32" name="stripe_tag_2"/>
          <p:cNvSpPr/>
          <p:nvPr/>
        </p:nvSpPr>
        <p:spPr>
          <a:xfrm>
            <a:off x="8174736" y="4700016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accent</a:t>
            </a:r>
          </a:p>
        </p:txBody>
      </p:sp>
      <p:sp>
        <p:nvSpPr>
          <p:cNvPr id="33" name="mixed_kpi_0"/>
          <p:cNvSpPr/>
          <p:nvPr/>
        </p:nvSpPr>
        <p:spPr>
          <a:xfrm>
            <a:off x="713232" y="4828032"/>
            <a:ext cx="1225296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xed_kpi_label_0"/>
          <p:cNvSpPr txBox="1"/>
          <p:nvPr/>
        </p:nvSpPr>
        <p:spPr>
          <a:xfrm>
            <a:off x="859536" y="4974336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OBJECTS</a:t>
            </a:r>
          </a:p>
        </p:txBody>
      </p:sp>
      <p:sp>
        <p:nvSpPr>
          <p:cNvPr id="35" name="mixed_kpi_value_0"/>
          <p:cNvSpPr txBox="1"/>
          <p:nvPr/>
        </p:nvSpPr>
        <p:spPr>
          <a:xfrm>
            <a:off x="859536" y="51937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0242C"/>
                </a:solidFill>
              </a:rPr>
              <a:t>47</a:t>
            </a:r>
          </a:p>
        </p:txBody>
      </p:sp>
      <p:sp>
        <p:nvSpPr>
          <p:cNvPr id="36" name="mixed_kpi_1"/>
          <p:cNvSpPr/>
          <p:nvPr/>
        </p:nvSpPr>
        <p:spPr>
          <a:xfrm>
            <a:off x="2194560" y="4828032"/>
            <a:ext cx="1225296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ixed_kpi_label_1"/>
          <p:cNvSpPr txBox="1"/>
          <p:nvPr/>
        </p:nvSpPr>
        <p:spPr>
          <a:xfrm>
            <a:off x="2340864" y="4974336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MIN TEXT</a:t>
            </a:r>
          </a:p>
        </p:txBody>
      </p:sp>
      <p:sp>
        <p:nvSpPr>
          <p:cNvPr id="38" name="mixed_kpi_value_1"/>
          <p:cNvSpPr txBox="1"/>
          <p:nvPr/>
        </p:nvSpPr>
        <p:spPr>
          <a:xfrm>
            <a:off x="2340864" y="51937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0242C"/>
                </a:solidFill>
              </a:rPr>
              <a:t>8pt</a:t>
            </a:r>
          </a:p>
        </p:txBody>
      </p:sp>
      <p:sp>
        <p:nvSpPr>
          <p:cNvPr id="39" name="mixed_kpi_2"/>
          <p:cNvSpPr/>
          <p:nvPr/>
        </p:nvSpPr>
        <p:spPr>
          <a:xfrm>
            <a:off x="3675888" y="4828032"/>
            <a:ext cx="1225296" cy="749808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ixed_kpi_label_2"/>
          <p:cNvSpPr txBox="1"/>
          <p:nvPr/>
        </p:nvSpPr>
        <p:spPr>
          <a:xfrm>
            <a:off x="3822191" y="4974336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IMAGE</a:t>
            </a:r>
          </a:p>
        </p:txBody>
      </p:sp>
      <p:sp>
        <p:nvSpPr>
          <p:cNvPr id="41" name="mixed_kpi_value_2"/>
          <p:cNvSpPr txBox="1"/>
          <p:nvPr/>
        </p:nvSpPr>
        <p:spPr>
          <a:xfrm>
            <a:off x="3822191" y="51937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0242C"/>
                </a:solidFill>
              </a:rPr>
              <a:t>ok</a:t>
            </a:r>
          </a:p>
        </p:txBody>
      </p:sp>
      <p:sp>
        <p:nvSpPr>
          <p:cNvPr id="42" name="mixed_legend_0"/>
          <p:cNvSpPr/>
          <p:nvPr/>
        </p:nvSpPr>
        <p:spPr>
          <a:xfrm>
            <a:off x="5230368" y="5486400"/>
            <a:ext cx="804672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text</a:t>
            </a:r>
          </a:p>
        </p:txBody>
      </p:sp>
      <p:sp>
        <p:nvSpPr>
          <p:cNvPr id="43" name="mixed_legend_1"/>
          <p:cNvSpPr/>
          <p:nvPr/>
        </p:nvSpPr>
        <p:spPr>
          <a:xfrm>
            <a:off x="6236208" y="5486400"/>
            <a:ext cx="804672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shape</a:t>
            </a:r>
          </a:p>
        </p:txBody>
      </p:sp>
      <p:sp>
        <p:nvSpPr>
          <p:cNvPr id="44" name="mixed_legend_2"/>
          <p:cNvSpPr/>
          <p:nvPr/>
        </p:nvSpPr>
        <p:spPr>
          <a:xfrm>
            <a:off x="7242048" y="5486400"/>
            <a:ext cx="804672" cy="21945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picture</a:t>
            </a:r>
          </a:p>
        </p:txBody>
      </p:sp>
      <p:sp>
        <p:nvSpPr>
          <p:cNvPr id="45" name="mixed_legend_3"/>
          <p:cNvSpPr/>
          <p:nvPr/>
        </p:nvSpPr>
        <p:spPr>
          <a:xfrm>
            <a:off x="5230368" y="5815584"/>
            <a:ext cx="804672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table</a:t>
            </a:r>
          </a:p>
        </p:txBody>
      </p:sp>
      <p:sp>
        <p:nvSpPr>
          <p:cNvPr id="46" name="mixed_legend_4"/>
          <p:cNvSpPr/>
          <p:nvPr/>
        </p:nvSpPr>
        <p:spPr>
          <a:xfrm>
            <a:off x="6236208" y="5815584"/>
            <a:ext cx="804672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chart</a:t>
            </a:r>
          </a:p>
        </p:txBody>
      </p:sp>
      <p:sp>
        <p:nvSpPr>
          <p:cNvPr id="47" name="mixed_legend_5"/>
          <p:cNvSpPr/>
          <p:nvPr/>
        </p:nvSpPr>
        <p:spPr>
          <a:xfrm>
            <a:off x="7242048" y="5815584"/>
            <a:ext cx="804672" cy="219456"/>
          </a:xfrm>
          <a:prstGeom prst="roundRect">
            <a:avLst/>
          </a:prstGeom>
          <a:solidFill>
            <a:srgbClr val="EEF4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timeline</a:t>
            </a:r>
          </a:p>
        </p:txBody>
      </p:sp>
      <p:sp>
        <p:nvSpPr>
          <p:cNvPr id="48" name="mixed_badge"/>
          <p:cNvSpPr/>
          <p:nvPr/>
        </p:nvSpPr>
        <p:spPr>
          <a:xfrm>
            <a:off x="9418320" y="438912"/>
            <a:ext cx="1920240" cy="329184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ion_z00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solidFill>
              <a:srgbClr val="FB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otion_title"/>
          <p:cNvSpPr txBox="1"/>
          <p:nvPr/>
        </p:nvSpPr>
        <p:spPr>
          <a:xfrm>
            <a:off x="658368" y="438912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F2F2F"/>
                </a:solidFill>
              </a:rPr>
              <a:t>Editorial Brief</a:t>
            </a:r>
          </a:p>
        </p:txBody>
      </p:sp>
      <p:sp>
        <p:nvSpPr>
          <p:cNvPr id="4" name="notion_subtitle"/>
          <p:cNvSpPr txBox="1"/>
          <p:nvPr/>
        </p:nvSpPr>
        <p:spPr>
          <a:xfrm>
            <a:off x="676656" y="896112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8716C"/>
                </a:solidFill>
              </a:rPr>
              <a:t>Notion-style warm neutral documentation slide with compact evidence cards</a:t>
            </a:r>
          </a:p>
        </p:txBody>
      </p:sp>
      <p:sp>
        <p:nvSpPr>
          <p:cNvPr id="5" name="notion_article"/>
          <p:cNvSpPr/>
          <p:nvPr/>
        </p:nvSpPr>
        <p:spPr>
          <a:xfrm>
            <a:off x="713232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tion_article_h"/>
          <p:cNvSpPr txBox="1"/>
          <p:nvPr/>
        </p:nvSpPr>
        <p:spPr>
          <a:xfrm>
            <a:off x="1024128" y="17373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2F2F2F"/>
                </a:solidFill>
              </a:rPr>
              <a:t>Renderer-neutral mapping</a:t>
            </a:r>
          </a:p>
        </p:txBody>
      </p:sp>
      <p:sp>
        <p:nvSpPr>
          <p:cNvPr id="7" name="notion_article_p1"/>
          <p:cNvSpPr txBox="1"/>
          <p:nvPr/>
        </p:nvSpPr>
        <p:spPr>
          <a:xfrm>
            <a:off x="1024128" y="2212848"/>
            <a:ext cx="4069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78716C"/>
                </a:solidFill>
              </a:rPr>
              <a:t>Design Components components map to editable PowerPoint text, shapes, charts, and tables.</a:t>
            </a:r>
          </a:p>
        </p:txBody>
      </p:sp>
      <p:sp>
        <p:nvSpPr>
          <p:cNvPr id="8" name="notion_article_p2"/>
          <p:cNvSpPr txBox="1"/>
          <p:nvPr/>
        </p:nvSpPr>
        <p:spPr>
          <a:xfrm>
            <a:off x="1024128" y="3072384"/>
            <a:ext cx="406908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78716C"/>
                </a:solidFill>
              </a:rPr>
              <a:t>Radius, shadow, spacing, type, accent, and effect policies stay stable inside one deck profile.</a:t>
            </a:r>
          </a:p>
        </p:txBody>
      </p:sp>
      <p:sp>
        <p:nvSpPr>
          <p:cNvPr id="9" name="notion_quote"/>
          <p:cNvSpPr/>
          <p:nvPr/>
        </p:nvSpPr>
        <p:spPr>
          <a:xfrm>
            <a:off x="1024128" y="4224528"/>
            <a:ext cx="4160520" cy="658368"/>
          </a:xfrm>
          <a:prstGeom prst="roundRect">
            <a:avLst/>
          </a:prstGeom>
          <a:solidFill>
            <a:srgbClr val="F3F1EA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1400" b="1">
                <a:solidFill>
                  <a:srgbClr val="2F2F2F"/>
                </a:solidFill>
              </a:rPr>
              <a:t>One visual decision per axis.</a:t>
            </a:r>
          </a:p>
        </p:txBody>
      </p:sp>
      <p:sp>
        <p:nvSpPr>
          <p:cNvPr id="10" name="notion_insight_card"/>
          <p:cNvSpPr/>
          <p:nvPr/>
        </p:nvSpPr>
        <p:spPr>
          <a:xfrm>
            <a:off x="6263640" y="1417320"/>
            <a:ext cx="2926080" cy="1371600"/>
          </a:xfrm>
          <a:prstGeom prst="roundRect">
            <a:avLst/>
          </a:prstGeom>
          <a:solidFill>
            <a:srgbClr val="F3F1EA"/>
          </a:solidFill>
          <a:ln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tion_insight_title"/>
          <p:cNvSpPr txBox="1"/>
          <p:nvPr/>
        </p:nvSpPr>
        <p:spPr>
          <a:xfrm>
            <a:off x="6464807" y="160020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F2F2F"/>
                </a:solidFill>
              </a:rPr>
              <a:t>Coherence lock</a:t>
            </a:r>
          </a:p>
        </p:txBody>
      </p:sp>
      <p:sp>
        <p:nvSpPr>
          <p:cNvPr id="12" name="notion_insight_body"/>
          <p:cNvSpPr txBox="1"/>
          <p:nvPr/>
        </p:nvSpPr>
        <p:spPr>
          <a:xfrm>
            <a:off x="6464807" y="1920240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78716C"/>
                </a:solidFill>
              </a:rPr>
              <a:t>One radius, one shadow family, one accent role per deck.</a:t>
            </a:r>
          </a:p>
        </p:txBody>
      </p:sp>
      <p:sp>
        <p:nvSpPr>
          <p:cNvPr id="13" name="notion_tag_0"/>
          <p:cNvSpPr/>
          <p:nvPr/>
        </p:nvSpPr>
        <p:spPr>
          <a:xfrm>
            <a:off x="6464807" y="242316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8716C"/>
                </a:solidFill>
              </a:rPr>
              <a:t>radius</a:t>
            </a:r>
          </a:p>
        </p:txBody>
      </p:sp>
      <p:sp>
        <p:nvSpPr>
          <p:cNvPr id="14" name="notion_tag_1"/>
          <p:cNvSpPr/>
          <p:nvPr/>
        </p:nvSpPr>
        <p:spPr>
          <a:xfrm>
            <a:off x="7123175" y="242316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8716C"/>
                </a:solidFill>
              </a:rPr>
              <a:t>shadow</a:t>
            </a:r>
          </a:p>
        </p:txBody>
      </p:sp>
      <p:sp>
        <p:nvSpPr>
          <p:cNvPr id="15" name="notion_tag_2"/>
          <p:cNvSpPr/>
          <p:nvPr/>
        </p:nvSpPr>
        <p:spPr>
          <a:xfrm>
            <a:off x="7781544" y="242316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8716C"/>
                </a:solidFill>
              </a:rPr>
              <a:t>accent</a:t>
            </a:r>
          </a:p>
        </p:txBody>
      </p:sp>
      <p:sp>
        <p:nvSpPr>
          <p:cNvPr id="16" name="notion_rank_card"/>
          <p:cNvSpPr/>
          <p:nvPr/>
        </p:nvSpPr>
        <p:spPr>
          <a:xfrm>
            <a:off x="6263640" y="3090672"/>
            <a:ext cx="28803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otion_rank_title"/>
          <p:cNvSpPr txBox="1"/>
          <p:nvPr/>
        </p:nvSpPr>
        <p:spPr>
          <a:xfrm>
            <a:off x="6483096" y="33101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F2F2F"/>
                </a:solidFill>
              </a:rPr>
              <a:t>Top slide patterns</a:t>
            </a:r>
          </a:p>
        </p:txBody>
      </p:sp>
      <p:sp>
        <p:nvSpPr>
          <p:cNvPr id="18" name="notion_rank_0_row"/>
          <p:cNvSpPr/>
          <p:nvPr/>
        </p:nvSpPr>
        <p:spPr>
          <a:xfrm>
            <a:off x="6464807" y="3785615"/>
            <a:ext cx="2450592" cy="438912"/>
          </a:xfrm>
          <a:prstGeom prst="roundRect">
            <a:avLst/>
          </a:prstGeom>
          <a:solidFill>
            <a:srgbClr val="0075DE"/>
          </a:solidFill>
          <a:ln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otion_rank_0_num"/>
          <p:cNvSpPr/>
          <p:nvPr/>
        </p:nvSpPr>
        <p:spPr>
          <a:xfrm>
            <a:off x="6592824" y="3877055"/>
            <a:ext cx="256032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0075DE"/>
                </a:solidFill>
              </a:rPr>
              <a:t>1</a:t>
            </a:r>
          </a:p>
        </p:txBody>
      </p:sp>
      <p:sp>
        <p:nvSpPr>
          <p:cNvPr id="20" name="notion_rank_0_name"/>
          <p:cNvSpPr txBox="1"/>
          <p:nvPr/>
        </p:nvSpPr>
        <p:spPr>
          <a:xfrm>
            <a:off x="6949440" y="39227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stat-card</a:t>
            </a:r>
          </a:p>
        </p:txBody>
      </p:sp>
      <p:sp>
        <p:nvSpPr>
          <p:cNvPr id="21" name="notion_rank_0_score"/>
          <p:cNvSpPr txBox="1"/>
          <p:nvPr/>
        </p:nvSpPr>
        <p:spPr>
          <a:xfrm>
            <a:off x="8421624" y="392277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22" name="notion_rank_1_row"/>
          <p:cNvSpPr/>
          <p:nvPr/>
        </p:nvSpPr>
        <p:spPr>
          <a:xfrm>
            <a:off x="6464807" y="4370831"/>
            <a:ext cx="2450592" cy="438912"/>
          </a:xfrm>
          <a:prstGeom prst="roundRect">
            <a:avLst/>
          </a:prstGeom>
          <a:solidFill>
            <a:srgbClr val="F3F1EA"/>
          </a:solidFill>
          <a:ln>
            <a:solidFill>
              <a:srgbClr val="F3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otion_rank_1_num"/>
          <p:cNvSpPr/>
          <p:nvPr/>
        </p:nvSpPr>
        <p:spPr>
          <a:xfrm>
            <a:off x="6592824" y="4462271"/>
            <a:ext cx="256032" cy="256032"/>
          </a:xfrm>
          <a:prstGeom prst="roundRect">
            <a:avLst/>
          </a:prstGeom>
          <a:solidFill>
            <a:srgbClr val="E7E1D5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8716C"/>
                </a:solidFill>
              </a:rPr>
              <a:t>2</a:t>
            </a:r>
          </a:p>
        </p:txBody>
      </p:sp>
      <p:sp>
        <p:nvSpPr>
          <p:cNvPr id="24" name="notion_rank_1_name"/>
          <p:cNvSpPr txBox="1"/>
          <p:nvPr/>
        </p:nvSpPr>
        <p:spPr>
          <a:xfrm>
            <a:off x="6949440" y="450799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2F2F"/>
                </a:solidFill>
              </a:rPr>
              <a:t>chart-card</a:t>
            </a:r>
          </a:p>
        </p:txBody>
      </p:sp>
      <p:sp>
        <p:nvSpPr>
          <p:cNvPr id="25" name="notion_rank_1_score"/>
          <p:cNvSpPr txBox="1"/>
          <p:nvPr/>
        </p:nvSpPr>
        <p:spPr>
          <a:xfrm>
            <a:off x="8421624" y="4507992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2F2F"/>
                </a:solidFill>
              </a:rPr>
              <a:t>87</a:t>
            </a:r>
          </a:p>
        </p:txBody>
      </p:sp>
      <p:sp>
        <p:nvSpPr>
          <p:cNvPr id="26" name="notion_rank_2_row"/>
          <p:cNvSpPr/>
          <p:nvPr/>
        </p:nvSpPr>
        <p:spPr>
          <a:xfrm>
            <a:off x="6464807" y="4956048"/>
            <a:ext cx="2450592" cy="438912"/>
          </a:xfrm>
          <a:prstGeom prst="roundRect">
            <a:avLst/>
          </a:prstGeom>
          <a:solidFill>
            <a:srgbClr val="F3F1EA"/>
          </a:solidFill>
          <a:ln>
            <a:solidFill>
              <a:srgbClr val="F3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otion_rank_2_num"/>
          <p:cNvSpPr/>
          <p:nvPr/>
        </p:nvSpPr>
        <p:spPr>
          <a:xfrm>
            <a:off x="6592824" y="5047488"/>
            <a:ext cx="256032" cy="256032"/>
          </a:xfrm>
          <a:prstGeom prst="roundRect">
            <a:avLst/>
          </a:prstGeom>
          <a:solidFill>
            <a:srgbClr val="E7E1D5"/>
          </a:solidFill>
          <a:ln>
            <a:solidFill>
              <a:srgbClr val="E7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8716C"/>
                </a:solidFill>
              </a:rPr>
              <a:t>3</a:t>
            </a:r>
          </a:p>
        </p:txBody>
      </p:sp>
      <p:sp>
        <p:nvSpPr>
          <p:cNvPr id="28" name="notion_rank_2_name"/>
          <p:cNvSpPr txBox="1"/>
          <p:nvPr/>
        </p:nvSpPr>
        <p:spPr>
          <a:xfrm>
            <a:off x="6949440" y="50932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2F2F"/>
                </a:solidFill>
              </a:rPr>
              <a:t>insight-card</a:t>
            </a:r>
          </a:p>
        </p:txBody>
      </p:sp>
      <p:sp>
        <p:nvSpPr>
          <p:cNvPr id="29" name="notion_rank_2_score"/>
          <p:cNvSpPr txBox="1"/>
          <p:nvPr/>
        </p:nvSpPr>
        <p:spPr>
          <a:xfrm>
            <a:off x="8421624" y="509320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2F2F"/>
                </a:solidFill>
              </a:rPr>
              <a:t>76</a:t>
            </a:r>
          </a:p>
        </p:txBody>
      </p:sp>
      <p:sp>
        <p:nvSpPr>
          <p:cNvPr id="30" name="notion_badge"/>
          <p:cNvSpPr/>
          <p:nvPr/>
        </p:nvSpPr>
        <p:spPr>
          <a:xfrm>
            <a:off x="9418320" y="438912"/>
            <a:ext cx="1920240" cy="329184"/>
          </a:xfrm>
          <a:prstGeom prst="roundRect">
            <a:avLst/>
          </a:prstGeom>
          <a:solidFill>
            <a:srgbClr val="0075DE"/>
          </a:solidFill>
          <a:ln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inear_z00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7"/>
          </a:solidFill>
          <a:ln>
            <a:solidFill>
              <a:srgbClr val="1112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inear_title"/>
          <p:cNvSpPr txBox="1"/>
          <p:nvPr/>
        </p:nvSpPr>
        <p:spPr>
          <a:xfrm>
            <a:off x="658368" y="384048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4F5F8"/>
                </a:solidFill>
              </a:rPr>
              <a:t>Sharp Technical Review</a:t>
            </a:r>
          </a:p>
        </p:txBody>
      </p:sp>
      <p:sp>
        <p:nvSpPr>
          <p:cNvPr id="4" name="linear_subtitle"/>
          <p:cNvSpPr txBox="1"/>
          <p:nvPr/>
        </p:nvSpPr>
        <p:spPr>
          <a:xfrm>
            <a:off x="676656" y="841248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A5ADBA"/>
                </a:solidFill>
              </a:rPr>
              <a:t>Linear-style compact UI · deterministic trace, lint, and code-capable recipes</a:t>
            </a:r>
          </a:p>
        </p:txBody>
      </p:sp>
      <p:sp>
        <p:nvSpPr>
          <p:cNvPr id="5" name="linear_code_window"/>
          <p:cNvSpPr/>
          <p:nvPr/>
        </p:nvSpPr>
        <p:spPr>
          <a:xfrm>
            <a:off x="731520" y="1417320"/>
            <a:ext cx="5577840" cy="4498848"/>
          </a:xfrm>
          <a:prstGeom prst="roundRect">
            <a:avLst/>
          </a:prstGeom>
          <a:solidFill>
            <a:srgbClr val="1B1D25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ar_code_header"/>
          <p:cNvSpPr/>
          <p:nvPr/>
        </p:nvSpPr>
        <p:spPr>
          <a:xfrm>
            <a:off x="731520" y="1417320"/>
            <a:ext cx="5577840" cy="438912"/>
          </a:xfrm>
          <a:prstGeom prst="rect">
            <a:avLst/>
          </a:prstGeom>
          <a:solidFill>
            <a:srgbClr val="242733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ar_code_title"/>
          <p:cNvSpPr txBox="1"/>
          <p:nvPr/>
        </p:nvSpPr>
        <p:spPr>
          <a:xfrm>
            <a:off x="987552" y="15727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A5ADBA"/>
                </a:solidFill>
              </a:rPr>
              <a:t>selection.trace.ts</a:t>
            </a:r>
          </a:p>
        </p:txBody>
      </p:sp>
      <p:sp>
        <p:nvSpPr>
          <p:cNvPr id="8" name="linear_code_line_0"/>
          <p:cNvSpPr txBox="1"/>
          <p:nvPr/>
        </p:nvSpPr>
        <p:spPr>
          <a:xfrm>
            <a:off x="960120" y="2084831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4F5F8"/>
                </a:solidFill>
              </a:rPr>
              <a:t>hardReject: highDensity + heroOnly</a:t>
            </a:r>
          </a:p>
        </p:txBody>
      </p:sp>
      <p:sp>
        <p:nvSpPr>
          <p:cNvPr id="9" name="linear_code_line_1"/>
          <p:cNvSpPr txBox="1"/>
          <p:nvPr/>
        </p:nvSpPr>
        <p:spPr>
          <a:xfrm>
            <a:off x="960120" y="258775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4F5F8"/>
                </a:solidFill>
              </a:rPr>
              <a:t>score.intentFit += 30</a:t>
            </a:r>
          </a:p>
        </p:txBody>
      </p:sp>
      <p:sp>
        <p:nvSpPr>
          <p:cNvPr id="10" name="linear_code_line_2"/>
          <p:cNvSpPr txBox="1"/>
          <p:nvPr/>
        </p:nvSpPr>
        <p:spPr>
          <a:xfrm>
            <a:off x="960120" y="309067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4F5F8"/>
                </a:solidFill>
              </a:rPr>
              <a:t>score.elementFit += chart + kpi</a:t>
            </a:r>
          </a:p>
        </p:txBody>
      </p:sp>
      <p:sp>
        <p:nvSpPr>
          <p:cNvPr id="11" name="linear_code_line_3"/>
          <p:cNvSpPr txBox="1"/>
          <p:nvPr/>
        </p:nvSpPr>
        <p:spPr>
          <a:xfrm>
            <a:off x="960120" y="3593591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E6AD2"/>
                </a:solidFill>
              </a:rPr>
              <a:t>stableSort(score desc, id asc)</a:t>
            </a:r>
          </a:p>
        </p:txBody>
      </p:sp>
      <p:sp>
        <p:nvSpPr>
          <p:cNvPr id="12" name="linear_code_line_4"/>
          <p:cNvSpPr txBox="1"/>
          <p:nvPr/>
        </p:nvSpPr>
        <p:spPr>
          <a:xfrm>
            <a:off x="960120" y="409651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F4F5F8"/>
                </a:solidFill>
              </a:rPr>
              <a:t>emit rejectReasons[]</a:t>
            </a:r>
          </a:p>
        </p:txBody>
      </p:sp>
      <p:sp>
        <p:nvSpPr>
          <p:cNvPr id="13" name="linear_rank_card"/>
          <p:cNvSpPr/>
          <p:nvPr/>
        </p:nvSpPr>
        <p:spPr>
          <a:xfrm>
            <a:off x="6629400" y="1417320"/>
            <a:ext cx="2880360" cy="2743200"/>
          </a:xfrm>
          <a:prstGeom prst="roundRect">
            <a:avLst/>
          </a:prstGeom>
          <a:solidFill>
            <a:srgbClr val="1B1D25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inear_rank_title"/>
          <p:cNvSpPr txBox="1"/>
          <p:nvPr/>
        </p:nvSpPr>
        <p:spPr>
          <a:xfrm>
            <a:off x="6848856" y="163677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4F5F8"/>
                </a:solidFill>
              </a:rPr>
              <a:t>Top slide patterns</a:t>
            </a:r>
          </a:p>
        </p:txBody>
      </p:sp>
      <p:sp>
        <p:nvSpPr>
          <p:cNvPr id="15" name="linear_rank_0_row"/>
          <p:cNvSpPr/>
          <p:nvPr/>
        </p:nvSpPr>
        <p:spPr>
          <a:xfrm>
            <a:off x="6830568" y="2112264"/>
            <a:ext cx="2450592" cy="438912"/>
          </a:xfrm>
          <a:prstGeom prst="roundRect">
            <a:avLst/>
          </a:prstGeom>
          <a:solidFill>
            <a:srgbClr val="5E6AD2"/>
          </a:solidFill>
          <a:ln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near_rank_0_num"/>
          <p:cNvSpPr/>
          <p:nvPr/>
        </p:nvSpPr>
        <p:spPr>
          <a:xfrm>
            <a:off x="6958584" y="2203704"/>
            <a:ext cx="256032" cy="256032"/>
          </a:xfrm>
          <a:prstGeom prst="roundRect">
            <a:avLst/>
          </a:prstGeom>
          <a:solidFill>
            <a:srgbClr val="1B1D25"/>
          </a:solidFill>
          <a:ln>
            <a:solidFill>
              <a:srgbClr val="1B1D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5E6AD2"/>
                </a:solidFill>
              </a:rPr>
              <a:t>1</a:t>
            </a:r>
          </a:p>
        </p:txBody>
      </p:sp>
      <p:sp>
        <p:nvSpPr>
          <p:cNvPr id="17" name="linear_rank_0_name"/>
          <p:cNvSpPr txBox="1"/>
          <p:nvPr/>
        </p:nvSpPr>
        <p:spPr>
          <a:xfrm>
            <a:off x="7315200" y="22494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stat-card</a:t>
            </a:r>
          </a:p>
        </p:txBody>
      </p:sp>
      <p:sp>
        <p:nvSpPr>
          <p:cNvPr id="18" name="linear_rank_0_score"/>
          <p:cNvSpPr txBox="1"/>
          <p:nvPr/>
        </p:nvSpPr>
        <p:spPr>
          <a:xfrm>
            <a:off x="8787384" y="224942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19" name="linear_rank_1_row"/>
          <p:cNvSpPr/>
          <p:nvPr/>
        </p:nvSpPr>
        <p:spPr>
          <a:xfrm>
            <a:off x="6830568" y="2697480"/>
            <a:ext cx="2450592" cy="438912"/>
          </a:xfrm>
          <a:prstGeom prst="roundRect">
            <a:avLst/>
          </a:prstGeom>
          <a:solidFill>
            <a:srgbClr val="242733"/>
          </a:solidFill>
          <a:ln>
            <a:solidFill>
              <a:srgbClr val="24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inear_rank_1_num"/>
          <p:cNvSpPr/>
          <p:nvPr/>
        </p:nvSpPr>
        <p:spPr>
          <a:xfrm>
            <a:off x="6958584" y="2788920"/>
            <a:ext cx="256032" cy="256032"/>
          </a:xfrm>
          <a:prstGeom prst="roundRect">
            <a:avLst/>
          </a:prstGeom>
          <a:solidFill>
            <a:srgbClr val="343846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A5ADBA"/>
                </a:solidFill>
              </a:rPr>
              <a:t>2</a:t>
            </a:r>
          </a:p>
        </p:txBody>
      </p:sp>
      <p:sp>
        <p:nvSpPr>
          <p:cNvPr id="21" name="linear_rank_1_name"/>
          <p:cNvSpPr txBox="1"/>
          <p:nvPr/>
        </p:nvSpPr>
        <p:spPr>
          <a:xfrm>
            <a:off x="7315200" y="28346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4F5F8"/>
                </a:solidFill>
              </a:rPr>
              <a:t>chart-card</a:t>
            </a:r>
          </a:p>
        </p:txBody>
      </p:sp>
      <p:sp>
        <p:nvSpPr>
          <p:cNvPr id="22" name="linear_rank_1_score"/>
          <p:cNvSpPr txBox="1"/>
          <p:nvPr/>
        </p:nvSpPr>
        <p:spPr>
          <a:xfrm>
            <a:off x="8787384" y="283464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4F5F8"/>
                </a:solidFill>
              </a:rPr>
              <a:t>87</a:t>
            </a:r>
          </a:p>
        </p:txBody>
      </p:sp>
      <p:sp>
        <p:nvSpPr>
          <p:cNvPr id="23" name="linear_rank_2_row"/>
          <p:cNvSpPr/>
          <p:nvPr/>
        </p:nvSpPr>
        <p:spPr>
          <a:xfrm>
            <a:off x="6830568" y="3282696"/>
            <a:ext cx="2450592" cy="438912"/>
          </a:xfrm>
          <a:prstGeom prst="roundRect">
            <a:avLst/>
          </a:prstGeom>
          <a:solidFill>
            <a:srgbClr val="242733"/>
          </a:solidFill>
          <a:ln>
            <a:solidFill>
              <a:srgbClr val="242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near_rank_2_num"/>
          <p:cNvSpPr/>
          <p:nvPr/>
        </p:nvSpPr>
        <p:spPr>
          <a:xfrm>
            <a:off x="6958584" y="3374136"/>
            <a:ext cx="256032" cy="256032"/>
          </a:xfrm>
          <a:prstGeom prst="roundRect">
            <a:avLst/>
          </a:prstGeom>
          <a:solidFill>
            <a:srgbClr val="343846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A5ADBA"/>
                </a:solidFill>
              </a:rPr>
              <a:t>3</a:t>
            </a:r>
          </a:p>
        </p:txBody>
      </p:sp>
      <p:sp>
        <p:nvSpPr>
          <p:cNvPr id="25" name="linear_rank_2_name"/>
          <p:cNvSpPr txBox="1"/>
          <p:nvPr/>
        </p:nvSpPr>
        <p:spPr>
          <a:xfrm>
            <a:off x="7315200" y="341985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4F5F8"/>
                </a:solidFill>
              </a:rPr>
              <a:t>insight-card</a:t>
            </a:r>
          </a:p>
        </p:txBody>
      </p:sp>
      <p:sp>
        <p:nvSpPr>
          <p:cNvPr id="26" name="linear_rank_2_score"/>
          <p:cNvSpPr txBox="1"/>
          <p:nvPr/>
        </p:nvSpPr>
        <p:spPr>
          <a:xfrm>
            <a:off x="8787384" y="341985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4F5F8"/>
                </a:solidFill>
              </a:rPr>
              <a:t>76</a:t>
            </a:r>
          </a:p>
        </p:txBody>
      </p:sp>
      <p:sp>
        <p:nvSpPr>
          <p:cNvPr id="27" name="linear_lint_panel"/>
          <p:cNvSpPr/>
          <p:nvPr/>
        </p:nvSpPr>
        <p:spPr>
          <a:xfrm>
            <a:off x="6629400" y="4498848"/>
            <a:ext cx="2880360" cy="1051560"/>
          </a:xfrm>
          <a:prstGeom prst="roundRect">
            <a:avLst/>
          </a:prstGeom>
          <a:solidFill>
            <a:srgbClr val="1B1D25"/>
          </a:solidFill>
          <a:ln>
            <a:solidFill>
              <a:srgbClr val="343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inear_lint_title"/>
          <p:cNvSpPr txBox="1"/>
          <p:nvPr/>
        </p:nvSpPr>
        <p:spPr>
          <a:xfrm>
            <a:off x="6839712" y="46817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4F5F8"/>
                </a:solidFill>
              </a:rPr>
              <a:t>Coherence lint</a:t>
            </a:r>
          </a:p>
        </p:txBody>
      </p:sp>
      <p:sp>
        <p:nvSpPr>
          <p:cNvPr id="29" name="linear_lint_body"/>
          <p:cNvSpPr txBox="1"/>
          <p:nvPr/>
        </p:nvSpPr>
        <p:spPr>
          <a:xfrm>
            <a:off x="6839712" y="50109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A5ADBA"/>
                </a:solidFill>
              </a:rPr>
              <a:t>raw hex: pass · z-order: pass</a:t>
            </a:r>
          </a:p>
        </p:txBody>
      </p:sp>
      <p:sp>
        <p:nvSpPr>
          <p:cNvPr id="30" name="linear_badge"/>
          <p:cNvSpPr/>
          <p:nvPr/>
        </p:nvSpPr>
        <p:spPr>
          <a:xfrm>
            <a:off x="9418320" y="438912"/>
            <a:ext cx="1920240" cy="329184"/>
          </a:xfrm>
          <a:prstGeom prst="roundRect">
            <a:avLst/>
          </a:prstGeom>
          <a:solidFill>
            <a:srgbClr val="5E6AD2"/>
          </a:solidFill>
          <a:ln>
            <a:solidFill>
              <a:srgbClr val="5E6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linear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ripe_z00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e_title"/>
          <p:cNvSpPr txBox="1"/>
          <p:nvPr/>
        </p:nvSpPr>
        <p:spPr>
          <a:xfrm>
            <a:off x="658368" y="384048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0242C"/>
                </a:solidFill>
              </a:rPr>
              <a:t>Layered Product Launch</a:t>
            </a:r>
          </a:p>
        </p:txBody>
      </p:sp>
      <p:sp>
        <p:nvSpPr>
          <p:cNvPr id="4" name="stripe_subtitle"/>
          <p:cNvSpPr txBox="1"/>
          <p:nvPr/>
        </p:nvSpPr>
        <p:spPr>
          <a:xfrm>
            <a:off x="676656" y="841248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Stripe-style layered depth · pricing, conversion, and rollout components</a:t>
            </a:r>
          </a:p>
        </p:txBody>
      </p:sp>
      <p:sp>
        <p:nvSpPr>
          <p:cNvPr id="5" name="stripe_hero_surface"/>
          <p:cNvSpPr/>
          <p:nvPr/>
        </p:nvSpPr>
        <p:spPr>
          <a:xfrm>
            <a:off x="713232" y="1444752"/>
            <a:ext cx="5029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ipe_gradient_band"/>
          <p:cNvSpPr/>
          <p:nvPr/>
        </p:nvSpPr>
        <p:spPr>
          <a:xfrm>
            <a:off x="713232" y="1444752"/>
            <a:ext cx="5029200" cy="841248"/>
          </a:xfrm>
          <a:prstGeom prst="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ipe_hero_label"/>
          <p:cNvSpPr txBox="1"/>
          <p:nvPr/>
        </p:nvSpPr>
        <p:spPr>
          <a:xfrm>
            <a:off x="1005840" y="16916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REVENUE ENGINE</a:t>
            </a:r>
          </a:p>
        </p:txBody>
      </p:sp>
      <p:sp>
        <p:nvSpPr>
          <p:cNvPr id="8" name="stripe_hero_value"/>
          <p:cNvSpPr txBox="1"/>
          <p:nvPr/>
        </p:nvSpPr>
        <p:spPr>
          <a:xfrm>
            <a:off x="1005840" y="2578608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20242C"/>
                </a:solidFill>
              </a:rPr>
              <a:t>$1.28M</a:t>
            </a:r>
          </a:p>
        </p:txBody>
      </p:sp>
      <p:sp>
        <p:nvSpPr>
          <p:cNvPr id="9" name="stripe_hero_caption"/>
          <p:cNvSpPr txBox="1"/>
          <p:nvPr/>
        </p:nvSpPr>
        <p:spPr>
          <a:xfrm>
            <a:off x="1024128" y="32004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Projected ARR from rule-based deck variants</a:t>
            </a:r>
          </a:p>
        </p:txBody>
      </p:sp>
      <p:sp>
        <p:nvSpPr>
          <p:cNvPr id="10" name="stripe_progress_track_0"/>
          <p:cNvSpPr/>
          <p:nvPr/>
        </p:nvSpPr>
        <p:spPr>
          <a:xfrm>
            <a:off x="1005840" y="3794760"/>
            <a:ext cx="3474720" cy="12801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ipe_progress_fill_0"/>
          <p:cNvSpPr/>
          <p:nvPr/>
        </p:nvSpPr>
        <p:spPr>
          <a:xfrm>
            <a:off x="1005840" y="3794760"/>
            <a:ext cx="2501798" cy="12801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ipe_progress_label_0"/>
          <p:cNvSpPr txBox="1"/>
          <p:nvPr/>
        </p:nvSpPr>
        <p:spPr>
          <a:xfrm>
            <a:off x="4590288" y="37307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0242C"/>
                </a:solidFill>
              </a:rPr>
              <a:t>72%</a:t>
            </a:r>
          </a:p>
        </p:txBody>
      </p:sp>
      <p:sp>
        <p:nvSpPr>
          <p:cNvPr id="13" name="stripe_progress_track_1"/>
          <p:cNvSpPr/>
          <p:nvPr/>
        </p:nvSpPr>
        <p:spPr>
          <a:xfrm>
            <a:off x="1005840" y="4142232"/>
            <a:ext cx="3474720" cy="12801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ipe_progress_fill_1"/>
          <p:cNvSpPr/>
          <p:nvPr/>
        </p:nvSpPr>
        <p:spPr>
          <a:xfrm>
            <a:off x="1005840" y="4142232"/>
            <a:ext cx="2015337" cy="12801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ipe_progress_label_1"/>
          <p:cNvSpPr txBox="1"/>
          <p:nvPr/>
        </p:nvSpPr>
        <p:spPr>
          <a:xfrm>
            <a:off x="4590288" y="40782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0242C"/>
                </a:solidFill>
              </a:rPr>
              <a:t>58%</a:t>
            </a:r>
          </a:p>
        </p:txBody>
      </p:sp>
      <p:sp>
        <p:nvSpPr>
          <p:cNvPr id="16" name="stripe_progress_track_2"/>
          <p:cNvSpPr/>
          <p:nvPr/>
        </p:nvSpPr>
        <p:spPr>
          <a:xfrm>
            <a:off x="1005840" y="4489704"/>
            <a:ext cx="3474720" cy="12801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ipe_progress_fill_2"/>
          <p:cNvSpPr/>
          <p:nvPr/>
        </p:nvSpPr>
        <p:spPr>
          <a:xfrm>
            <a:off x="1005840" y="4489704"/>
            <a:ext cx="2918764" cy="12801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ipe_progress_label_2"/>
          <p:cNvSpPr txBox="1"/>
          <p:nvPr/>
        </p:nvSpPr>
        <p:spPr>
          <a:xfrm>
            <a:off x="4590288" y="442569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0242C"/>
                </a:solidFill>
              </a:rPr>
              <a:t>84%</a:t>
            </a:r>
          </a:p>
        </p:txBody>
      </p:sp>
      <p:sp>
        <p:nvSpPr>
          <p:cNvPr id="19" name="stripe_progress_track_3"/>
          <p:cNvSpPr/>
          <p:nvPr/>
        </p:nvSpPr>
        <p:spPr>
          <a:xfrm>
            <a:off x="1005840" y="4837176"/>
            <a:ext cx="3474720" cy="128016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ipe_progress_fill_3"/>
          <p:cNvSpPr/>
          <p:nvPr/>
        </p:nvSpPr>
        <p:spPr>
          <a:xfrm>
            <a:off x="1005840" y="4837176"/>
            <a:ext cx="2189073" cy="128016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ipe_progress_label_3"/>
          <p:cNvSpPr txBox="1"/>
          <p:nvPr/>
        </p:nvSpPr>
        <p:spPr>
          <a:xfrm>
            <a:off x="4590288" y="47731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0242C"/>
                </a:solidFill>
              </a:rPr>
              <a:t>63%</a:t>
            </a:r>
          </a:p>
        </p:txBody>
      </p:sp>
      <p:sp>
        <p:nvSpPr>
          <p:cNvPr id="22" name="stripe_chart_card"/>
          <p:cNvSpPr/>
          <p:nvPr/>
        </p:nvSpPr>
        <p:spPr>
          <a:xfrm>
            <a:off x="5989320" y="1298448"/>
            <a:ext cx="46634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ipe_chart_title"/>
          <p:cNvSpPr txBox="1"/>
          <p:nvPr/>
        </p:nvSpPr>
        <p:spPr>
          <a:xfrm>
            <a:off x="6227064" y="1499616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0242C"/>
                </a:solidFill>
              </a:rPr>
              <a:t>Weekly activation</a:t>
            </a:r>
          </a:p>
        </p:txBody>
      </p:sp>
      <p:sp>
        <p:nvSpPr>
          <p:cNvPr id="24" name="stripe_period_7D"/>
          <p:cNvSpPr/>
          <p:nvPr/>
        </p:nvSpPr>
        <p:spPr>
          <a:xfrm>
            <a:off x="8860536" y="1499616"/>
            <a:ext cx="475488" cy="237744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7D</a:t>
            </a:r>
          </a:p>
        </p:txBody>
      </p:sp>
      <p:sp>
        <p:nvSpPr>
          <p:cNvPr id="25" name="stripe_period_30D"/>
          <p:cNvSpPr/>
          <p:nvPr/>
        </p:nvSpPr>
        <p:spPr>
          <a:xfrm>
            <a:off x="9427463" y="1499616"/>
            <a:ext cx="475488" cy="237744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30D</a:t>
            </a:r>
          </a:p>
        </p:txBody>
      </p:sp>
      <p:sp>
        <p:nvSpPr>
          <p:cNvPr id="26" name="stripe_period_90D"/>
          <p:cNvSpPr/>
          <p:nvPr/>
        </p:nvSpPr>
        <p:spPr>
          <a:xfrm>
            <a:off x="9994392" y="1499616"/>
            <a:ext cx="475488" cy="237744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90D</a:t>
            </a:r>
          </a:p>
        </p:txBody>
      </p:sp>
      <p:sp>
        <p:nvSpPr>
          <p:cNvPr id="27" name="stripe_chart_bar_0"/>
          <p:cNvSpPr/>
          <p:nvPr/>
        </p:nvSpPr>
        <p:spPr>
          <a:xfrm>
            <a:off x="6373368" y="2944368"/>
            <a:ext cx="292608" cy="50292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ipe_chart_bar_1"/>
          <p:cNvSpPr/>
          <p:nvPr/>
        </p:nvSpPr>
        <p:spPr>
          <a:xfrm>
            <a:off x="6903720" y="2670048"/>
            <a:ext cx="292608" cy="77724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ipe_chart_bar_2"/>
          <p:cNvSpPr/>
          <p:nvPr/>
        </p:nvSpPr>
        <p:spPr>
          <a:xfrm>
            <a:off x="7434071" y="3008376"/>
            <a:ext cx="292608" cy="438912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ipe_chart_bar_3"/>
          <p:cNvSpPr/>
          <p:nvPr/>
        </p:nvSpPr>
        <p:spPr>
          <a:xfrm>
            <a:off x="7964423" y="2395728"/>
            <a:ext cx="292608" cy="1051560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ipe_chart_bar_4"/>
          <p:cNvSpPr/>
          <p:nvPr/>
        </p:nvSpPr>
        <p:spPr>
          <a:xfrm>
            <a:off x="8494776" y="2606040"/>
            <a:ext cx="292608" cy="841248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ipe_chart_bar_5"/>
          <p:cNvSpPr/>
          <p:nvPr/>
        </p:nvSpPr>
        <p:spPr>
          <a:xfrm>
            <a:off x="9025128" y="2185416"/>
            <a:ext cx="292608" cy="1261872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ipe_chart_bar_6"/>
          <p:cNvSpPr/>
          <p:nvPr/>
        </p:nvSpPr>
        <p:spPr>
          <a:xfrm>
            <a:off x="9555480" y="2487168"/>
            <a:ext cx="292608" cy="960120"/>
          </a:xfrm>
          <a:prstGeom prst="roundRect">
            <a:avLst/>
          </a:prstGeom>
          <a:solidFill>
            <a:srgbClr val="EEF4FF"/>
          </a:solidFill>
          <a:ln>
            <a:solidFill>
              <a:srgbClr val="EE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ripe_chart_stat_a"/>
          <p:cNvSpPr txBox="1"/>
          <p:nvPr/>
        </p:nvSpPr>
        <p:spPr>
          <a:xfrm>
            <a:off x="6318504" y="36393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Conversion 18.4%</a:t>
            </a:r>
          </a:p>
        </p:txBody>
      </p:sp>
      <p:sp>
        <p:nvSpPr>
          <p:cNvPr id="35" name="stripe_chart_stat_b"/>
          <p:cNvSpPr txBox="1"/>
          <p:nvPr/>
        </p:nvSpPr>
        <p:spPr>
          <a:xfrm>
            <a:off x="7818120" y="36393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</a:rPr>
              <a:t>Retention 42%</a:t>
            </a:r>
          </a:p>
        </p:txBody>
      </p:sp>
      <p:sp>
        <p:nvSpPr>
          <p:cNvPr id="36" name="stripe_insight_card"/>
          <p:cNvSpPr/>
          <p:nvPr/>
        </p:nvSpPr>
        <p:spPr>
          <a:xfrm>
            <a:off x="5989320" y="4434840"/>
            <a:ext cx="2926080" cy="1371600"/>
          </a:xfrm>
          <a:prstGeom prst="roundRect">
            <a:avLst/>
          </a:prstGeom>
          <a:solidFill>
            <a:srgbClr val="EEF4FF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ripe_insight_title"/>
          <p:cNvSpPr txBox="1"/>
          <p:nvPr/>
        </p:nvSpPr>
        <p:spPr>
          <a:xfrm>
            <a:off x="6190488" y="461772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0242C"/>
                </a:solidFill>
              </a:rPr>
              <a:t>Coherence lock</a:t>
            </a:r>
          </a:p>
        </p:txBody>
      </p:sp>
      <p:sp>
        <p:nvSpPr>
          <p:cNvPr id="38" name="stripe_insight_body"/>
          <p:cNvSpPr txBox="1"/>
          <p:nvPr/>
        </p:nvSpPr>
        <p:spPr>
          <a:xfrm>
            <a:off x="6190488" y="4937759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One radius, one shadow family, one accent role per deck.</a:t>
            </a:r>
          </a:p>
        </p:txBody>
      </p:sp>
      <p:sp>
        <p:nvSpPr>
          <p:cNvPr id="39" name="stripe_tag_0"/>
          <p:cNvSpPr/>
          <p:nvPr/>
        </p:nvSpPr>
        <p:spPr>
          <a:xfrm>
            <a:off x="6190488" y="5440679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radius</a:t>
            </a:r>
          </a:p>
        </p:txBody>
      </p:sp>
      <p:sp>
        <p:nvSpPr>
          <p:cNvPr id="40" name="stripe_tag_1"/>
          <p:cNvSpPr/>
          <p:nvPr/>
        </p:nvSpPr>
        <p:spPr>
          <a:xfrm>
            <a:off x="6848855" y="5440679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shadow</a:t>
            </a:r>
          </a:p>
        </p:txBody>
      </p:sp>
      <p:sp>
        <p:nvSpPr>
          <p:cNvPr id="41" name="stripe_tag_2"/>
          <p:cNvSpPr/>
          <p:nvPr/>
        </p:nvSpPr>
        <p:spPr>
          <a:xfrm>
            <a:off x="7507223" y="5440679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D9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4748B"/>
                </a:solidFill>
              </a:rPr>
              <a:t>accent</a:t>
            </a:r>
          </a:p>
        </p:txBody>
      </p:sp>
      <p:sp>
        <p:nvSpPr>
          <p:cNvPr id="42" name="stripe_badge"/>
          <p:cNvSpPr/>
          <p:nvPr/>
        </p:nvSpPr>
        <p:spPr>
          <a:xfrm>
            <a:off x="9418320" y="438912"/>
            <a:ext cx="1920240" cy="329184"/>
          </a:xfrm>
          <a:prstGeom prst="roundRect">
            <a:avLst/>
          </a:prstGeom>
          <a:solidFill>
            <a:srgbClr val="533AFD"/>
          </a:solidFill>
          <a:ln>
            <a:solidFill>
              <a:srgbClr val="533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stripe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ss_z00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oss_title"/>
          <p:cNvSpPr txBox="1"/>
          <p:nvPr/>
        </p:nvSpPr>
        <p:spPr>
          <a:xfrm>
            <a:off x="658368" y="384048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A2A2A"/>
                </a:solidFill>
              </a:rPr>
              <a:t>Friendly Dashboard</a:t>
            </a:r>
          </a:p>
        </p:txBody>
      </p:sp>
      <p:sp>
        <p:nvSpPr>
          <p:cNvPr id="4" name="toss_subtitle"/>
          <p:cNvSpPr txBox="1"/>
          <p:nvPr/>
        </p:nvSpPr>
        <p:spPr>
          <a:xfrm>
            <a:off x="676656" y="841248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A6A6A"/>
                </a:solidFill>
              </a:rPr>
              <a:t>Design Components skin: toss · editable PPT shapes · coherent soft depth</a:t>
            </a:r>
          </a:p>
        </p:txBody>
      </p:sp>
      <p:sp>
        <p:nvSpPr>
          <p:cNvPr id="5" name="toss_stat_1_card"/>
          <p:cNvSpPr/>
          <p:nvPr/>
        </p:nvSpPr>
        <p:spPr>
          <a:xfrm>
            <a:off x="713232" y="137160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ss_stat_1_icon"/>
          <p:cNvSpPr/>
          <p:nvPr/>
        </p:nvSpPr>
        <p:spPr>
          <a:xfrm>
            <a:off x="859536" y="1517904"/>
            <a:ext cx="310896" cy="310896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1200" b="1">
                <a:solidFill>
                  <a:srgbClr val="721FE5"/>
                </a:solidFill>
              </a:rPr>
              <a:t>•</a:t>
            </a:r>
          </a:p>
        </p:txBody>
      </p:sp>
      <p:sp>
        <p:nvSpPr>
          <p:cNvPr id="7" name="toss_stat_1_label"/>
          <p:cNvSpPr txBox="1"/>
          <p:nvPr/>
        </p:nvSpPr>
        <p:spPr>
          <a:xfrm>
            <a:off x="1243584" y="15453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A6A6A"/>
                </a:solidFill>
              </a:rPr>
              <a:t>REVENUE</a:t>
            </a:r>
          </a:p>
        </p:txBody>
      </p:sp>
      <p:sp>
        <p:nvSpPr>
          <p:cNvPr id="8" name="toss_stat_1_value"/>
          <p:cNvSpPr txBox="1"/>
          <p:nvPr/>
        </p:nvSpPr>
        <p:spPr>
          <a:xfrm>
            <a:off x="877824" y="186537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2A2A2A"/>
                </a:solidFill>
              </a:rPr>
              <a:t>$128K</a:t>
            </a:r>
          </a:p>
        </p:txBody>
      </p:sp>
      <p:sp>
        <p:nvSpPr>
          <p:cNvPr id="9" name="toss_stat_1_trend"/>
          <p:cNvSpPr txBox="1"/>
          <p:nvPr/>
        </p:nvSpPr>
        <p:spPr>
          <a:xfrm>
            <a:off x="877824" y="22677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9D63"/>
                </a:solidFill>
              </a:rPr>
              <a:t>+18.4%</a:t>
            </a:r>
          </a:p>
        </p:txBody>
      </p:sp>
      <p:sp>
        <p:nvSpPr>
          <p:cNvPr id="10" name="toss_stat_2_card"/>
          <p:cNvSpPr/>
          <p:nvPr/>
        </p:nvSpPr>
        <p:spPr>
          <a:xfrm>
            <a:off x="2944368" y="1371600"/>
            <a:ext cx="205740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ss_stat_2_icon"/>
          <p:cNvSpPr/>
          <p:nvPr/>
        </p:nvSpPr>
        <p:spPr>
          <a:xfrm>
            <a:off x="3090672" y="1517904"/>
            <a:ext cx="310896" cy="310896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1200" b="1">
                <a:solidFill>
                  <a:srgbClr val="721FE5"/>
                </a:solidFill>
              </a:rPr>
              <a:t>•</a:t>
            </a:r>
          </a:p>
        </p:txBody>
      </p:sp>
      <p:sp>
        <p:nvSpPr>
          <p:cNvPr id="12" name="toss_stat_2_label"/>
          <p:cNvSpPr txBox="1"/>
          <p:nvPr/>
        </p:nvSpPr>
        <p:spPr>
          <a:xfrm>
            <a:off x="3474720" y="154533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A6A6A"/>
                </a:solidFill>
              </a:rPr>
              <a:t>RETENTION</a:t>
            </a:r>
          </a:p>
        </p:txBody>
      </p:sp>
      <p:sp>
        <p:nvSpPr>
          <p:cNvPr id="13" name="toss_stat_2_value"/>
          <p:cNvSpPr txBox="1"/>
          <p:nvPr/>
        </p:nvSpPr>
        <p:spPr>
          <a:xfrm>
            <a:off x="3108960" y="186537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2A2A2A"/>
                </a:solidFill>
              </a:rPr>
              <a:t>42%</a:t>
            </a:r>
          </a:p>
        </p:txBody>
      </p:sp>
      <p:sp>
        <p:nvSpPr>
          <p:cNvPr id="14" name="toss_stat_2_trend"/>
          <p:cNvSpPr txBox="1"/>
          <p:nvPr/>
        </p:nvSpPr>
        <p:spPr>
          <a:xfrm>
            <a:off x="3108960" y="22677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E9D63"/>
                </a:solidFill>
              </a:rPr>
              <a:t>+6.1%</a:t>
            </a:r>
          </a:p>
        </p:txBody>
      </p:sp>
      <p:sp>
        <p:nvSpPr>
          <p:cNvPr id="15" name="toss_chart_card"/>
          <p:cNvSpPr/>
          <p:nvPr/>
        </p:nvSpPr>
        <p:spPr>
          <a:xfrm>
            <a:off x="713232" y="2788920"/>
            <a:ext cx="46634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ss_chart_title"/>
          <p:cNvSpPr txBox="1"/>
          <p:nvPr/>
        </p:nvSpPr>
        <p:spPr>
          <a:xfrm>
            <a:off x="950976" y="2990088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2A2A2A"/>
                </a:solidFill>
              </a:rPr>
              <a:t>Weekly activation</a:t>
            </a:r>
          </a:p>
        </p:txBody>
      </p:sp>
      <p:sp>
        <p:nvSpPr>
          <p:cNvPr id="17" name="toss_period_7D"/>
          <p:cNvSpPr/>
          <p:nvPr/>
        </p:nvSpPr>
        <p:spPr>
          <a:xfrm>
            <a:off x="3584448" y="2990088"/>
            <a:ext cx="475488" cy="237744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7D</a:t>
            </a:r>
          </a:p>
        </p:txBody>
      </p:sp>
      <p:sp>
        <p:nvSpPr>
          <p:cNvPr id="18" name="toss_period_30D"/>
          <p:cNvSpPr/>
          <p:nvPr/>
        </p:nvSpPr>
        <p:spPr>
          <a:xfrm>
            <a:off x="4151376" y="2990088"/>
            <a:ext cx="475488" cy="237744"/>
          </a:xfrm>
          <a:prstGeom prst="roundRect">
            <a:avLst/>
          </a:prstGeom>
          <a:solidFill>
            <a:srgbClr val="721FE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30D</a:t>
            </a:r>
          </a:p>
        </p:txBody>
      </p:sp>
      <p:sp>
        <p:nvSpPr>
          <p:cNvPr id="19" name="toss_period_90D"/>
          <p:cNvSpPr/>
          <p:nvPr/>
        </p:nvSpPr>
        <p:spPr>
          <a:xfrm>
            <a:off x="4718304" y="2990088"/>
            <a:ext cx="475488" cy="237744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90D</a:t>
            </a:r>
          </a:p>
        </p:txBody>
      </p:sp>
      <p:sp>
        <p:nvSpPr>
          <p:cNvPr id="20" name="toss_chart_bar_0"/>
          <p:cNvSpPr/>
          <p:nvPr/>
        </p:nvSpPr>
        <p:spPr>
          <a:xfrm>
            <a:off x="1097280" y="4434840"/>
            <a:ext cx="292608" cy="502920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oss_chart_bar_1"/>
          <p:cNvSpPr/>
          <p:nvPr/>
        </p:nvSpPr>
        <p:spPr>
          <a:xfrm>
            <a:off x="1627631" y="4160520"/>
            <a:ext cx="292608" cy="777240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ss_chart_bar_2"/>
          <p:cNvSpPr/>
          <p:nvPr/>
        </p:nvSpPr>
        <p:spPr>
          <a:xfrm>
            <a:off x="2157984" y="4498848"/>
            <a:ext cx="292608" cy="438912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ss_chart_bar_3"/>
          <p:cNvSpPr/>
          <p:nvPr/>
        </p:nvSpPr>
        <p:spPr>
          <a:xfrm>
            <a:off x="2688335" y="3886200"/>
            <a:ext cx="292608" cy="1051560"/>
          </a:xfrm>
          <a:prstGeom prst="roundRect">
            <a:avLst/>
          </a:prstGeom>
          <a:solidFill>
            <a:srgbClr val="721FE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oss_chart_bar_4"/>
          <p:cNvSpPr/>
          <p:nvPr/>
        </p:nvSpPr>
        <p:spPr>
          <a:xfrm>
            <a:off x="3218687" y="4096512"/>
            <a:ext cx="292608" cy="841248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ss_chart_bar_5"/>
          <p:cNvSpPr/>
          <p:nvPr/>
        </p:nvSpPr>
        <p:spPr>
          <a:xfrm>
            <a:off x="3749039" y="3675888"/>
            <a:ext cx="292608" cy="1261872"/>
          </a:xfrm>
          <a:prstGeom prst="roundRect">
            <a:avLst/>
          </a:prstGeom>
          <a:solidFill>
            <a:srgbClr val="721FE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ss_chart_bar_6"/>
          <p:cNvSpPr/>
          <p:nvPr/>
        </p:nvSpPr>
        <p:spPr>
          <a:xfrm>
            <a:off x="4279392" y="3977640"/>
            <a:ext cx="292608" cy="960120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ss_chart_stat_a"/>
          <p:cNvSpPr txBox="1"/>
          <p:nvPr/>
        </p:nvSpPr>
        <p:spPr>
          <a:xfrm>
            <a:off x="1042416" y="512978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A6A6A"/>
                </a:solidFill>
              </a:rPr>
              <a:t>Conversion 18.4%</a:t>
            </a:r>
          </a:p>
        </p:txBody>
      </p:sp>
      <p:sp>
        <p:nvSpPr>
          <p:cNvPr id="28" name="toss_chart_stat_b"/>
          <p:cNvSpPr txBox="1"/>
          <p:nvPr/>
        </p:nvSpPr>
        <p:spPr>
          <a:xfrm>
            <a:off x="2542032" y="512978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A6A6A"/>
                </a:solidFill>
              </a:rPr>
              <a:t>Retention 42%</a:t>
            </a:r>
          </a:p>
        </p:txBody>
      </p:sp>
      <p:sp>
        <p:nvSpPr>
          <p:cNvPr id="29" name="toss_rank_card"/>
          <p:cNvSpPr/>
          <p:nvPr/>
        </p:nvSpPr>
        <p:spPr>
          <a:xfrm>
            <a:off x="5687568" y="1371600"/>
            <a:ext cx="28803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oss_rank_title"/>
          <p:cNvSpPr txBox="1"/>
          <p:nvPr/>
        </p:nvSpPr>
        <p:spPr>
          <a:xfrm>
            <a:off x="5907024" y="159105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A2A2A"/>
                </a:solidFill>
              </a:rPr>
              <a:t>Top slide patterns</a:t>
            </a:r>
          </a:p>
        </p:txBody>
      </p:sp>
      <p:sp>
        <p:nvSpPr>
          <p:cNvPr id="31" name="toss_rank_0_row"/>
          <p:cNvSpPr/>
          <p:nvPr/>
        </p:nvSpPr>
        <p:spPr>
          <a:xfrm>
            <a:off x="5888736" y="2066543"/>
            <a:ext cx="2450592" cy="438912"/>
          </a:xfrm>
          <a:prstGeom prst="roundRect">
            <a:avLst/>
          </a:prstGeom>
          <a:solidFill>
            <a:srgbClr val="721FE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ss_rank_0_num"/>
          <p:cNvSpPr/>
          <p:nvPr/>
        </p:nvSpPr>
        <p:spPr>
          <a:xfrm>
            <a:off x="6016752" y="2157984"/>
            <a:ext cx="256032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721FE5"/>
                </a:solidFill>
              </a:rPr>
              <a:t>1</a:t>
            </a:r>
          </a:p>
        </p:txBody>
      </p:sp>
      <p:sp>
        <p:nvSpPr>
          <p:cNvPr id="33" name="toss_rank_0_name"/>
          <p:cNvSpPr txBox="1"/>
          <p:nvPr/>
        </p:nvSpPr>
        <p:spPr>
          <a:xfrm>
            <a:off x="6373368" y="220370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stat-card</a:t>
            </a:r>
          </a:p>
        </p:txBody>
      </p:sp>
      <p:sp>
        <p:nvSpPr>
          <p:cNvPr id="34" name="toss_rank_0_score"/>
          <p:cNvSpPr txBox="1"/>
          <p:nvPr/>
        </p:nvSpPr>
        <p:spPr>
          <a:xfrm>
            <a:off x="7845552" y="2203703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35" name="toss_rank_1_row"/>
          <p:cNvSpPr/>
          <p:nvPr/>
        </p:nvSpPr>
        <p:spPr>
          <a:xfrm>
            <a:off x="5888736" y="2651760"/>
            <a:ext cx="2450592" cy="438912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oss_rank_1_num"/>
          <p:cNvSpPr/>
          <p:nvPr/>
        </p:nvSpPr>
        <p:spPr>
          <a:xfrm>
            <a:off x="6016752" y="2743200"/>
            <a:ext cx="256032" cy="256032"/>
          </a:xfrm>
          <a:prstGeom prst="roundRect">
            <a:avLst/>
          </a:prstGeom>
          <a:solidFill>
            <a:srgbClr val="E8E6E1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2</a:t>
            </a:r>
          </a:p>
        </p:txBody>
      </p:sp>
      <p:sp>
        <p:nvSpPr>
          <p:cNvPr id="37" name="toss_rank_1_name"/>
          <p:cNvSpPr txBox="1"/>
          <p:nvPr/>
        </p:nvSpPr>
        <p:spPr>
          <a:xfrm>
            <a:off x="6373368" y="278892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A2A2A"/>
                </a:solidFill>
              </a:rPr>
              <a:t>chart-card</a:t>
            </a:r>
          </a:p>
        </p:txBody>
      </p:sp>
      <p:sp>
        <p:nvSpPr>
          <p:cNvPr id="38" name="toss_rank_1_score"/>
          <p:cNvSpPr txBox="1"/>
          <p:nvPr/>
        </p:nvSpPr>
        <p:spPr>
          <a:xfrm>
            <a:off x="7845552" y="27889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A2A2A"/>
                </a:solidFill>
              </a:rPr>
              <a:t>87</a:t>
            </a:r>
          </a:p>
        </p:txBody>
      </p:sp>
      <p:sp>
        <p:nvSpPr>
          <p:cNvPr id="39" name="toss_rank_2_row"/>
          <p:cNvSpPr/>
          <p:nvPr/>
        </p:nvSpPr>
        <p:spPr>
          <a:xfrm>
            <a:off x="5888736" y="3236976"/>
            <a:ext cx="2450592" cy="438912"/>
          </a:xfrm>
          <a:prstGeom prst="roundRect">
            <a:avLst/>
          </a:prstGeom>
          <a:solidFill>
            <a:srgbClr val="F3F4F5"/>
          </a:solidFill>
          <a:ln>
            <a:solidFill>
              <a:srgbClr val="F3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oss_rank_2_num"/>
          <p:cNvSpPr/>
          <p:nvPr/>
        </p:nvSpPr>
        <p:spPr>
          <a:xfrm>
            <a:off x="6016752" y="3328416"/>
            <a:ext cx="256032" cy="256032"/>
          </a:xfrm>
          <a:prstGeom prst="roundRect">
            <a:avLst/>
          </a:prstGeom>
          <a:solidFill>
            <a:srgbClr val="E8E6E1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3</a:t>
            </a:r>
          </a:p>
        </p:txBody>
      </p:sp>
      <p:sp>
        <p:nvSpPr>
          <p:cNvPr id="41" name="toss_rank_2_name"/>
          <p:cNvSpPr txBox="1"/>
          <p:nvPr/>
        </p:nvSpPr>
        <p:spPr>
          <a:xfrm>
            <a:off x="6373368" y="3374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A2A2A"/>
                </a:solidFill>
              </a:rPr>
              <a:t>insight-card</a:t>
            </a:r>
          </a:p>
        </p:txBody>
      </p:sp>
      <p:sp>
        <p:nvSpPr>
          <p:cNvPr id="42" name="toss_rank_2_score"/>
          <p:cNvSpPr txBox="1"/>
          <p:nvPr/>
        </p:nvSpPr>
        <p:spPr>
          <a:xfrm>
            <a:off x="7845552" y="33741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A2A2A"/>
                </a:solidFill>
              </a:rPr>
              <a:t>76</a:t>
            </a:r>
          </a:p>
        </p:txBody>
      </p:sp>
      <p:sp>
        <p:nvSpPr>
          <p:cNvPr id="43" name="toss_insight_card"/>
          <p:cNvSpPr/>
          <p:nvPr/>
        </p:nvSpPr>
        <p:spPr>
          <a:xfrm>
            <a:off x="5687568" y="4343400"/>
            <a:ext cx="2926080" cy="1371600"/>
          </a:xfrm>
          <a:prstGeom prst="roundRect">
            <a:avLst/>
          </a:prstGeom>
          <a:solidFill>
            <a:srgbClr val="F3F4F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oss_insight_title"/>
          <p:cNvSpPr txBox="1"/>
          <p:nvPr/>
        </p:nvSpPr>
        <p:spPr>
          <a:xfrm>
            <a:off x="5888736" y="45262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A2A2A"/>
                </a:solidFill>
              </a:rPr>
              <a:t>Coherence lock</a:t>
            </a:r>
          </a:p>
        </p:txBody>
      </p:sp>
      <p:sp>
        <p:nvSpPr>
          <p:cNvPr id="45" name="toss_insight_body"/>
          <p:cNvSpPr txBox="1"/>
          <p:nvPr/>
        </p:nvSpPr>
        <p:spPr>
          <a:xfrm>
            <a:off x="5888736" y="4846320"/>
            <a:ext cx="23591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A6A6A"/>
                </a:solidFill>
              </a:rPr>
              <a:t>One radius, one shadow family, one accent role per deck.</a:t>
            </a:r>
          </a:p>
        </p:txBody>
      </p:sp>
      <p:sp>
        <p:nvSpPr>
          <p:cNvPr id="46" name="toss_tag_0"/>
          <p:cNvSpPr/>
          <p:nvPr/>
        </p:nvSpPr>
        <p:spPr>
          <a:xfrm>
            <a:off x="5888736" y="534924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radius</a:t>
            </a:r>
          </a:p>
        </p:txBody>
      </p:sp>
      <p:sp>
        <p:nvSpPr>
          <p:cNvPr id="47" name="toss_tag_1"/>
          <p:cNvSpPr/>
          <p:nvPr/>
        </p:nvSpPr>
        <p:spPr>
          <a:xfrm>
            <a:off x="6547103" y="534924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shadow</a:t>
            </a:r>
          </a:p>
        </p:txBody>
      </p:sp>
      <p:sp>
        <p:nvSpPr>
          <p:cNvPr id="48" name="toss_tag_2"/>
          <p:cNvSpPr/>
          <p:nvPr/>
        </p:nvSpPr>
        <p:spPr>
          <a:xfrm>
            <a:off x="7205471" y="5349240"/>
            <a:ext cx="530352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E8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800" b="1">
                <a:solidFill>
                  <a:srgbClr val="6A6A6A"/>
                </a:solidFill>
              </a:rPr>
              <a:t>accent</a:t>
            </a:r>
          </a:p>
        </p:txBody>
      </p:sp>
      <p:sp>
        <p:nvSpPr>
          <p:cNvPr id="49" name="toss_z90_profile_badge"/>
          <p:cNvSpPr/>
          <p:nvPr/>
        </p:nvSpPr>
        <p:spPr>
          <a:xfrm>
            <a:off x="9418320" y="438912"/>
            <a:ext cx="1920240" cy="329184"/>
          </a:xfrm>
          <a:prstGeom prst="roundRect">
            <a:avLst/>
          </a:prstGeom>
          <a:solidFill>
            <a:srgbClr val="721FE5"/>
          </a:solidFill>
          <a:ln>
            <a:solidFill>
              <a:srgbClr val="721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toss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