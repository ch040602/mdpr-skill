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image" Target="../media/image-13-7.png"/><Relationship Id="rId8" Type="http://schemas.openxmlformats.org/officeDocument/2006/relationships/image" Target="../media/image-1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image" Target="../media/image-16-7.png"/><Relationship Id="rId8" Type="http://schemas.openxmlformats.org/officeDocument/2006/relationships/image" Target="../media/image-1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7" Type="http://schemas.openxmlformats.org/officeDocument/2006/relationships/image" Target="../media/image-23-7.png"/><Relationship Id="rId8" Type="http://schemas.openxmlformats.org/officeDocument/2006/relationships/image" Target="../media/image-2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image" Target="../media/image-29-11.png"/><Relationship Id="rId12" Type="http://schemas.openxmlformats.org/officeDocument/2006/relationships/image" Target="../media/image-2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image" Target="../media/image-30-3.png"/><Relationship Id="rId4" Type="http://schemas.openxmlformats.org/officeDocument/2006/relationships/image" Target="../media/image-30-4.svg"/><Relationship Id="rId5" Type="http://schemas.openxmlformats.org/officeDocument/2006/relationships/image" Target="../media/image-30-5.png"/><Relationship Id="rId6" Type="http://schemas.openxmlformats.org/officeDocument/2006/relationships/image" Target="../media/image-30-6.svg"/><Relationship Id="rId7" Type="http://schemas.openxmlformats.org/officeDocument/2006/relationships/image" Target="../media/image-30-7.png"/><Relationship Id="rId8" Type="http://schemas.openxmlformats.org/officeDocument/2006/relationships/image" Target="../media/image-30-8.svg"/><Relationship Id="rId9" Type="http://schemas.openxmlformats.org/officeDocument/2006/relationships/image" Target="../media/image-30-9.png"/><Relationship Id="rId10" Type="http://schemas.openxmlformats.org/officeDocument/2006/relationships/image" Target="../media/image-30-10.sv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image" Target="../media/image-32-3.png"/><Relationship Id="rId4" Type="http://schemas.openxmlformats.org/officeDocument/2006/relationships/image" Target="../media/image-32-4.svg"/><Relationship Id="rId5" Type="http://schemas.openxmlformats.org/officeDocument/2006/relationships/image" Target="../media/image-32-5.png"/><Relationship Id="rId6" Type="http://schemas.openxmlformats.org/officeDocument/2006/relationships/image" Target="../media/image-32-6.svg"/><Relationship Id="rId7" Type="http://schemas.openxmlformats.org/officeDocument/2006/relationships/image" Target="../media/image-32-7.png"/><Relationship Id="rId8" Type="http://schemas.openxmlformats.org/officeDocument/2006/relationships/image" Target="../media/image-3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image" Target="../media/image-34-3.png"/><Relationship Id="rId4" Type="http://schemas.openxmlformats.org/officeDocument/2006/relationships/image" Target="../media/image-34-4.svg"/><Relationship Id="rId5" Type="http://schemas.openxmlformats.org/officeDocument/2006/relationships/image" Target="../media/image-34-5.png"/><Relationship Id="rId6" Type="http://schemas.openxmlformats.org/officeDocument/2006/relationships/image" Target="../media/image-34-6.svg"/><Relationship Id="rId7" Type="http://schemas.openxmlformats.org/officeDocument/2006/relationships/image" Target="../media/image-34-7.png"/><Relationship Id="rId8" Type="http://schemas.openxmlformats.org/officeDocument/2006/relationships/image" Target="../media/image-3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8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9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20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21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22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23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24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25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  <p:sp>
        <p:nvSpPr>
          <p:cNvPr id="26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Example: examples/basic/deck.md</a:t>
            </a:r>
            <a:endParaRPr lang="en-US" sz="1800" dirty="0"/>
          </a:p>
        </p:txBody>
      </p:sp>
      <p:sp>
        <p:nvSpPr>
          <p:cNvPr id="27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Example: examples/comparison/deck.md</a:t>
            </a:r>
            <a:endParaRPr lang="en-US" sz="1800" dirty="0"/>
          </a:p>
        </p:txBody>
      </p:sp>
      <p:sp>
        <p:nvSpPr>
          <p:cNvPr id="28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examples/pipeline/deck.md</a:t>
            </a:r>
            <a:endParaRPr lang="en-US" sz="1800" dirty="0"/>
          </a:p>
        </p:txBody>
      </p:sp>
      <p:sp>
        <p:nvSpPr>
          <p:cNvPr id="29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examples/diagram-arrangements/deck.md</a:t>
            </a:r>
            <a:endParaRPr lang="en-US" sz="1800" dirty="0"/>
          </a:p>
        </p:txBody>
      </p:sp>
      <p:sp>
        <p:nvSpPr>
          <p:cNvPr id="30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examples/five-methods/deck.md</a:t>
            </a:r>
            <a:endParaRPr lang="en-US" sz="1800" dirty="0"/>
          </a:p>
        </p:txBody>
      </p:sp>
      <p:sp>
        <p:nvSpPr>
          <p:cNvPr id="31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examples/theme-preview-en/deck.md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5" name="mdpr:2-2-7bfb60:toc-item-1:toc-item-15"/>
          <p:cNvSpPr txBox="1"/>
          <p:nvPr/>
        </p:nvSpPr>
        <p:spPr>
          <a:xfrm>
            <a:off x="1042416" y="2871216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Current skill output expectations</a:t>
            </a:r>
            <a:endParaRPr lang="en-US" sz="2200" dirty="0"/>
          </a:p>
        </p:txBody>
      </p:sp>
      <p:sp>
        <p:nvSpPr>
          <p:cNvPr id="6" name="mdpr:2-2-7bfb60:toc-item-2:toc-item-16"/>
          <p:cNvSpPr txBox="1"/>
          <p:nvPr/>
        </p:nvSpPr>
        <p:spPr>
          <a:xfrm>
            <a:off x="1042416" y="3913632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End state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103620" y="2802407"/>
            <a:ext cx="0" cy="43022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6103620" y="4439183"/>
            <a:ext cx="0" cy="43022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169871" y="1536192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169871" y="15361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34463" y="1997964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34463" y="19979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883103" y="1664208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169871" y="3172968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169871" y="31729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34463" y="3634740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4463" y="36347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883103" y="3300984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169871" y="4809744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169871" y="48097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5271516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52715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83103" y="4937760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15" name="mdpr:1-3-c49d80:item-1:block-1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2200" dirty="0"/>
          </a:p>
        </p:txBody>
      </p:sp>
      <p:sp>
        <p:nvSpPr>
          <p:cNvPr id="16" name="mdpr:1-3-c49d80:item-2:block-1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17" name="mdpr:1-3-c49d80:item-3:block-1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18" name="mdpr:1-3-c49d80:item-4:block-12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 (Cont. 2/3)</a:t>
            </a:r>
            <a:endParaRPr lang="en-US" sz="3400" dirty="0"/>
          </a:p>
        </p:txBody>
      </p:sp>
      <p:sp>
        <p:nvSpPr>
          <p:cNvPr id="15" name="mdpr:2-3-2107ad:item-1:block-12-chunk-2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16" name="mdpr:2-3-2107ad:item-2:block-12-chunk-2"/>
          <p:cNvSpPr txBox="1"/>
          <p:nvPr/>
        </p:nvSpPr>
        <p:spPr>
          <a:xfrm>
            <a:off x="65288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  <p:sp>
        <p:nvSpPr>
          <p:cNvPr id="17" name="mdpr:2-3-2107ad:item-3:block-12-chunk-2"/>
          <p:cNvSpPr txBox="1"/>
          <p:nvPr/>
        </p:nvSpPr>
        <p:spPr>
          <a:xfrm>
            <a:off x="1042416" y="4160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Convert the AST into MDPR BlockIR while preserving presentation-relevant</a:t>
            </a:r>
            <a:endParaRPr lang="en-US" sz="2200" dirty="0"/>
          </a:p>
        </p:txBody>
      </p:sp>
      <p:sp>
        <p:nvSpPr>
          <p:cNvPr id="18" name="mdpr:2-3-2107ad:item-4:block-12-chunk-2"/>
          <p:cNvSpPr txBox="1"/>
          <p:nvPr/>
        </p:nvSpPr>
        <p:spPr>
          <a:xfrm>
            <a:off x="6528816" y="4160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Normalize Pandoc JSON into BlockIR when --parser pandoc is selected.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 (Cont. 3/3)</a:t>
            </a:r>
            <a:endParaRPr lang="en-US" sz="3400" dirty="0"/>
          </a:p>
        </p:txBody>
      </p:sp>
      <p:sp>
        <p:nvSpPr>
          <p:cNvPr id="6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5" name="mdpr:1-3-c0cf7e:item-1:block-16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2200" dirty="0"/>
          </a:p>
        </p:txBody>
      </p:sp>
      <p:sp>
        <p:nvSpPr>
          <p:cNvPr id="16" name="mdpr:1-3-c0cf7e:item-2:block-16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7" name="mdpr:1-3-c0cf7e:item-3:block-16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  <p:sp>
        <p:nvSpPr>
          <p:cNvPr id="18" name="mdpr:1-3-c0cf7e:item-4:block-16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 (Cont. 2/3)</a:t>
            </a:r>
            <a:endParaRPr lang="en-US" sz="3400" dirty="0"/>
          </a:p>
        </p:txBody>
      </p:sp>
      <p:sp>
        <p:nvSpPr>
          <p:cNvPr id="15" name="mdpr:2-3-500204:item-1:block-16-chunk-2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6" name="mdpr:2-3-500204:item-2:block-16-chunk-2"/>
          <p:cNvSpPr txBox="1"/>
          <p:nvPr/>
        </p:nvSpPr>
        <p:spPr>
          <a:xfrm>
            <a:off x="65288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  <p:sp>
        <p:nvSpPr>
          <p:cNvPr id="17" name="mdpr:2-3-500204:item-3:block-16-chunk-2"/>
          <p:cNvSpPr txBox="1"/>
          <p:nvPr/>
        </p:nvSpPr>
        <p:spPr>
          <a:xfrm>
            <a:off x="1042416" y="4160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 the first pipeline diagram in source order as the hero object.</a:t>
            </a:r>
            <a:endParaRPr lang="en-US" sz="2200" dirty="0"/>
          </a:p>
        </p:txBody>
      </p:sp>
      <p:sp>
        <p:nvSpPr>
          <p:cNvPr id="18" name="mdpr:2-3-500204:item-4:block-16-chunk-2"/>
          <p:cNvSpPr txBox="1"/>
          <p:nvPr/>
        </p:nvSpPr>
        <p:spPr>
          <a:xfrm>
            <a:off x="6528816" y="4160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Synthesize one *-teaser-overview bullet list from up to four source sections.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 (Cont. 3/3)</a:t>
            </a:r>
            <a:endParaRPr lang="en-US" sz="3400" dirty="0"/>
          </a:p>
        </p:txBody>
      </p:sp>
      <p:sp>
        <p:nvSpPr>
          <p:cNvPr id="6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15" name="mdpr:1-3-0466ef:item-1:block-20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2200" dirty="0"/>
          </a:p>
        </p:txBody>
      </p:sp>
      <p:sp>
        <p:nvSpPr>
          <p:cNvPr id="16" name="mdpr:1-3-0466ef:item-2:block-20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Shared Renderer Contract</a:t>
            </a:r>
            <a:endParaRPr lang="en-US" sz="2200" dirty="0"/>
          </a:p>
        </p:txBody>
      </p:sp>
      <p:sp>
        <p:nvSpPr>
          <p:cNvPr id="17" name="mdpr:1-3-0466ef:item-3:block-20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2200" dirty="0"/>
          </a:p>
        </p:txBody>
      </p:sp>
      <p:sp>
        <p:nvSpPr>
          <p:cNvPr id="18" name="mdpr:1-3-0466ef:item-4:block-20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 (Cont. 2/3)</a:t>
            </a:r>
            <a:endParaRPr lang="en-US" sz="3400" dirty="0"/>
          </a:p>
        </p:txBody>
      </p:sp>
      <p:sp>
        <p:nvSpPr>
          <p:cNvPr id="15" name="mdpr:2-3-068207:item-1:block-20-chunk-2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16" name="mdpr:2-3-068207:item-2:block-20-chunk-2"/>
          <p:cNvSpPr txBox="1"/>
          <p:nvPr/>
        </p:nvSpPr>
        <p:spPr>
          <a:xfrm>
            <a:off x="65288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  <p:sp>
        <p:nvSpPr>
          <p:cNvPr id="17" name="mdpr:2-3-068207:item-3:block-20-chunk-2"/>
          <p:cNvSpPr txBox="1"/>
          <p:nvPr/>
        </p:nvSpPr>
        <p:spPr>
          <a:xfrm>
            <a:off x="1042416" y="4160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uses Layout IR slide size, regions, theme fonts, colors, z-order, and overflow policy</a:t>
            </a:r>
            <a:endParaRPr lang="en-US" sz="2200" dirty="0"/>
          </a:p>
        </p:txBody>
      </p:sp>
      <p:sp>
        <p:nvSpPr>
          <p:cNvPr id="18" name="mdpr:2-3-068207:item-4:block-20-chunk-2"/>
          <p:cNvSpPr txBox="1"/>
          <p:nvPr/>
        </p:nvSpPr>
        <p:spPr>
          <a:xfrm>
            <a:off x="6528816" y="4160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emits editable text boxes for titles, paragraphs, lists, code, and fallback text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1417320"/>
            <a:ext cx="10652760" cy="4800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1417320"/>
            <a:ext cx="1065276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1563624"/>
            <a:ext cx="10323576" cy="45079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15" name="mdpr:1-3-4b2f30:item-1:block-23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2200" dirty="0"/>
          </a:p>
        </p:txBody>
      </p:sp>
      <p:sp>
        <p:nvSpPr>
          <p:cNvPr id="16" name="mdpr:1-3-4b2f30:item-2:block-23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17" name="mdpr:1-3-4b2f30:item-3:block-23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18" name="mdpr:1-3-4b2f30:item-4:block-23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 (Cont. 2/3)</a:t>
            </a:r>
            <a:endParaRPr lang="en-US" sz="3400" dirty="0"/>
          </a:p>
        </p:txBody>
      </p:sp>
      <p:sp>
        <p:nvSpPr>
          <p:cNvPr id="15" name="mdpr:2-3-fe6c97:item-1:block-23-chunk-2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6" name="mdpr:2-3-fe6c97:item-2:block-23-chunk-2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  <p:sp>
        <p:nvSpPr>
          <p:cNvPr id="17" name="mdpr:2-3-fe6c97:item-3:block-23-chunk-2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overflow</a:t>
            </a:r>
            <a:endParaRPr lang="en-US" sz="2200" dirty="0"/>
          </a:p>
        </p:txBody>
      </p:sp>
      <p:sp>
        <p:nvSpPr>
          <p:cNvPr id="18" name="mdpr:2-3-fe6c97:item-4:block-23-chunk-2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missing images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1417320"/>
            <a:ext cx="10652760" cy="4800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1417320"/>
            <a:ext cx="1065276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1563624"/>
            <a:ext cx="10323576" cy="45079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606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6" name="mdpr:example-decks-from-mdpr-1f8782:left:block-26-block-26-block-26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7" name="mdpr:example-decks-from-mdpr-1f8782:left:block-26-block-26-block-26"/>
          <p:cNvSpPr txBox="1"/>
          <p:nvPr/>
        </p:nvSpPr>
        <p:spPr>
          <a:xfrm>
            <a:off x="896112" y="4130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8" name="mdpr:example-decks-from-mdpr-1f8782:right:block-26-block-26"/>
          <p:cNvSpPr txBox="1"/>
          <p:nvPr/>
        </p:nvSpPr>
        <p:spPr>
          <a:xfrm>
            <a:off x="6473952" y="2819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9" name="mdpr:example-decks-from-mdpr-1f8782:right:block-26-block-26"/>
          <p:cNvSpPr txBox="1"/>
          <p:nvPr/>
        </p:nvSpPr>
        <p:spPr>
          <a:xfrm>
            <a:off x="6473952" y="391668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7e86e7:title:__title:1-3-7e86e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sp>
        <p:nvSpPr>
          <p:cNvPr id="15" name="mdpr:1-3-7e86e7:item-1:block-2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 Automation Proposal</a:t>
            </a:r>
            <a:endParaRPr lang="en-US" sz="2200" dirty="0"/>
          </a:p>
        </p:txBody>
      </p:sp>
      <p:sp>
        <p:nvSpPr>
          <p:cNvPr id="16" name="mdpr:1-3-7e86e7:item-2:block-2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 Definition</a:t>
            </a:r>
            <a:endParaRPr lang="en-US" sz="2200" dirty="0"/>
          </a:p>
        </p:txBody>
      </p:sp>
      <p:sp>
        <p:nvSpPr>
          <p:cNvPr id="17" name="mdpr:1-3-7e86e7:item-3:block-2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Repetitive Work Is Growing</a:t>
            </a:r>
            <a:endParaRPr lang="en-US" sz="2200" dirty="0"/>
          </a:p>
        </p:txBody>
      </p:sp>
      <p:sp>
        <p:nvSpPr>
          <p:cNvPr id="18" name="mdpr:1-3-7e86e7:item-4:block-2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Costs Are Growing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2-3-4f52c2:title:__title:2-3-4f52c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2/3)</a:t>
            </a:r>
            <a:endParaRPr lang="en-US" sz="3400" dirty="0"/>
          </a:p>
        </p:txBody>
      </p:sp>
      <p:sp>
        <p:nvSpPr>
          <p:cNvPr id="15" name="mdpr:2-3-4f52c2:item-1:block-28-chunk-2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6" name="mdpr:2-3-4f52c2:item-2:block-28-chunk-2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7" name="mdpr:2-3-4f52c2:item-3:block-28-chunk-2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Meeting note cleanup</a:t>
            </a:r>
            <a:endParaRPr lang="en-US" sz="2200" dirty="0"/>
          </a:p>
        </p:txBody>
      </p:sp>
      <p:sp>
        <p:nvSpPr>
          <p:cNvPr id="18" name="mdpr:2-3-4f52c2:item-4:block-28-chunk-2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Report draft writing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mdpr:3-3-9304f5:title:__title:3-3-9304f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3/3)</a:t>
            </a:r>
            <a:endParaRPr lang="en-US" sz="3400" dirty="0"/>
          </a:p>
        </p:txBody>
      </p:sp>
      <p:sp>
        <p:nvSpPr>
          <p:cNvPr id="5" name="mdpr:3-3-9304f5:left:block-28-chunk-3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collection</a:t>
            </a:r>
            <a:endParaRPr lang="en-US" sz="2200" dirty="0"/>
          </a:p>
        </p:txBody>
      </p:sp>
      <p:sp>
        <p:nvSpPr>
          <p:cNvPr id="6" name="mdpr:3-3-9304f5:right:block-28-chunk-3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location is unclear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d8deb6:title:__title:1-2-d8deb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sp>
        <p:nvSpPr>
          <p:cNvPr id="15" name="mdpr:1-2-d8deb6:item-1:block-30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 Structure Example</a:t>
            </a:r>
            <a:endParaRPr lang="en-US" sz="2200" dirty="0"/>
          </a:p>
        </p:txBody>
      </p:sp>
      <p:sp>
        <p:nvSpPr>
          <p:cNvPr id="16" name="mdpr:1-2-d8deb6:item-2:block-30-chunk-1"/>
          <p:cNvSpPr txBox="1"/>
          <p:nvPr/>
        </p:nvSpPr>
        <p:spPr>
          <a:xfrm>
            <a:off x="65288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7" name="mdpr:1-2-d8deb6:item-3:block-30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8" name="mdpr:1-2-d8deb6:item-4:block-30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Improved Approach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2-2-447582:title:__title:2-2-4475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 (Cont. 2/2)</a:t>
            </a:r>
            <a:endParaRPr lang="en-US" sz="3400" dirty="0"/>
          </a:p>
        </p:txBody>
      </p:sp>
      <p:sp>
        <p:nvSpPr>
          <p:cNvPr id="15" name="mdpr:2-2-447582:item-1:block-30-chunk-2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Documents are written manually</a:t>
            </a:r>
            <a:endParaRPr lang="en-US" sz="2200" dirty="0"/>
          </a:p>
        </p:txBody>
      </p:sp>
      <p:sp>
        <p:nvSpPr>
          <p:cNvPr id="16" name="mdpr:2-2-447582:item-2:block-30-chunk-2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 varies by person</a:t>
            </a:r>
            <a:endParaRPr lang="en-US" sz="2200" dirty="0"/>
          </a:p>
        </p:txBody>
      </p:sp>
      <p:sp>
        <p:nvSpPr>
          <p:cNvPr id="17" name="mdpr:2-2-447582:item-3:block-30-chunk-2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is difficult</a:t>
            </a:r>
            <a:endParaRPr lang="en-US" sz="2200" dirty="0"/>
          </a:p>
        </p:txBody>
      </p:sp>
      <p:sp>
        <p:nvSpPr>
          <p:cNvPr id="18" name="mdpr:2-2-447582:item-4:block-30-chunk-2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Drafts are generated automatically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 (Cont. 2/2)</a:t>
            </a:r>
            <a:endParaRPr lang="en-US" sz="3400" dirty="0"/>
          </a:p>
        </p:txBody>
      </p:sp>
      <p:sp>
        <p:nvSpPr>
          <p:cNvPr id="13" name="mdpr:2-2-a2c94a:item-1:block-32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structure</a:t>
            </a:r>
            <a:endParaRPr lang="en-US" sz="2200" dirty="0"/>
          </a:p>
        </p:txBody>
      </p:sp>
      <p:sp>
        <p:nvSpPr>
          <p:cNvPr id="14" name="mdpr:2-2-a2c94a:item-2:block-32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 layout</a:t>
            </a:r>
            <a:endParaRPr lang="en-US" sz="2200" dirty="0"/>
          </a:p>
        </p:txBody>
      </p:sp>
      <p:sp>
        <p:nvSpPr>
          <p:cNvPr id="15" name="mdpr:2-2-a2c94a:item-3:block-32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04241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56285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08329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2/3)</a:t>
            </a:r>
            <a:endParaRPr lang="en-US" sz="3400" dirty="0"/>
          </a:p>
        </p:txBody>
      </p:sp>
      <p:sp>
        <p:nvSpPr>
          <p:cNvPr id="15" name="mdpr:2-3-298275:item-1:block-38-chunk-2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16" name="mdpr:2-3-298275:item-2:block-38-chunk-2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7" name="mdpr:2-3-298275:item-3:block-38-chunk-2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</p:txBody>
      </p:sp>
      <p:sp>
        <p:nvSpPr>
          <p:cNvPr id="18" name="mdpr:2-3-298275:item-4:block-38-chunk-2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3/3)</a:t>
            </a:r>
            <a:endParaRPr lang="en-US" sz="3400" dirty="0"/>
          </a:p>
        </p:txBody>
      </p:sp>
      <p:sp>
        <p:nvSpPr>
          <p:cNvPr id="5" name="mdpr:3-3-bec926:left:block-38-chunk-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</p:txBody>
      </p:sp>
      <p:sp>
        <p:nvSpPr>
          <p:cNvPr id="6" name="mdpr:3-3-bec926:right:block-38-chunk-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2026-07-13T13:57:49Z</dcterms:created>
  <dcterms:modified xsi:type="dcterms:W3CDTF">2026-07-13T13:57:49Z</dcterms:modified>
</cp:coreProperties>
</file>