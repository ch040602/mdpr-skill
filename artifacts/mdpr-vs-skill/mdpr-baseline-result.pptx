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7" Type="http://schemas.openxmlformats.org/officeDocument/2006/relationships/image" Target="../media/image-24-7.png"/><Relationship Id="rId8" Type="http://schemas.openxmlformats.org/officeDocument/2006/relationships/image" Target="../media/image-2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image" Target="../media/image-26-5.png"/><Relationship Id="rId6" Type="http://schemas.openxmlformats.org/officeDocument/2006/relationships/image" Target="../media/image-26-6.svg"/><Relationship Id="rId7" Type="http://schemas.openxmlformats.org/officeDocument/2006/relationships/image" Target="../media/image-26-7.png"/><Relationship Id="rId8" Type="http://schemas.openxmlformats.org/officeDocument/2006/relationships/image" Target="../media/image-26-8.svg"/><Relationship Id="rId9" Type="http://schemas.openxmlformats.org/officeDocument/2006/relationships/image" Target="../media/image-26-9.png"/><Relationship Id="rId10" Type="http://schemas.openxmlformats.org/officeDocument/2006/relationships/image" Target="../media/image-26-10.svg"/><Relationship Id="rId11" Type="http://schemas.openxmlformats.org/officeDocument/2006/relationships/image" Target="../media/image-26-11.png"/><Relationship Id="rId12" Type="http://schemas.openxmlformats.org/officeDocument/2006/relationships/image" Target="../media/image-2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image" Target="../media/image-27-5.png"/><Relationship Id="rId6" Type="http://schemas.openxmlformats.org/officeDocument/2006/relationships/image" Target="../media/image-27-6.svg"/><Relationship Id="rId7" Type="http://schemas.openxmlformats.org/officeDocument/2006/relationships/image" Target="../media/image-27-7.png"/><Relationship Id="rId8" Type="http://schemas.openxmlformats.org/officeDocument/2006/relationships/image" Target="../media/image-27-8.svg"/><Relationship Id="rId9" Type="http://schemas.openxmlformats.org/officeDocument/2006/relationships/image" Target="../media/image-27-9.png"/><Relationship Id="rId10" Type="http://schemas.openxmlformats.org/officeDocument/2006/relationships/image" Target="../media/image-27-10.svg"/><Relationship Id="rId11" Type="http://schemas.openxmlformats.org/officeDocument/2006/relationships/image" Target="../media/image-27-11.png"/><Relationship Id="rId12" Type="http://schemas.openxmlformats.org/officeDocument/2006/relationships/image" Target="../media/image-2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image" Target="../media/image-28-3.png"/><Relationship Id="rId4" Type="http://schemas.openxmlformats.org/officeDocument/2006/relationships/image" Target="../media/image-28-4.svg"/><Relationship Id="rId5" Type="http://schemas.openxmlformats.org/officeDocument/2006/relationships/image" Target="../media/image-28-5.png"/><Relationship Id="rId6" Type="http://schemas.openxmlformats.org/officeDocument/2006/relationships/image" Target="../media/image-28-6.svg"/><Relationship Id="rId7" Type="http://schemas.openxmlformats.org/officeDocument/2006/relationships/image" Target="../media/image-28-7.png"/><Relationship Id="rId8" Type="http://schemas.openxmlformats.org/officeDocument/2006/relationships/image" Target="../media/image-2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image" Target="../media/image-31-5.png"/><Relationship Id="rId6" Type="http://schemas.openxmlformats.org/officeDocument/2006/relationships/image" Target="../media/image-31-6.svg"/><Relationship Id="rId7" Type="http://schemas.openxmlformats.org/officeDocument/2006/relationships/image" Target="../media/image-31-7.png"/><Relationship Id="rId8" Type="http://schemas.openxmlformats.org/officeDocument/2006/relationships/image" Target="../media/image-3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3" name="mdpr:mdpr-corpus-runtime-vs-review-evidence-0ca23d:title:__title:mdpr-corpus-runtime-vs-review-evidence-0ca23d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Corpus: Runtime vs Review Evidence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11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Difference at a glance</a:t>
            </a:r>
            <a:endParaRPr lang="en-US" sz="1800" dirty="0"/>
          </a:p>
        </p:txBody>
      </p:sp>
      <p:sp>
        <p:nvSpPr>
          <p:cNvPr id="12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Pipeline boundary</a:t>
            </a:r>
            <a:endParaRPr lang="en-US" sz="1800" dirty="0"/>
          </a:p>
        </p:txBody>
      </p:sp>
      <p:sp>
        <p:nvSpPr>
          <p:cNvPr id="13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Architecture</a:t>
            </a:r>
            <a:endParaRPr lang="en-US" sz="1800" dirty="0"/>
          </a:p>
        </p:txBody>
      </p:sp>
      <p:sp>
        <p:nvSpPr>
          <p:cNvPr id="14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Page Splitting Rules</a:t>
            </a:r>
            <a:endParaRPr lang="en-US" sz="1800" dirty="0"/>
          </a:p>
        </p:txBody>
      </p:sp>
      <p:sp>
        <p:nvSpPr>
          <p:cNvPr id="15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Layout Selection Rules</a:t>
            </a:r>
            <a:endParaRPr lang="en-US" sz="1800" dirty="0"/>
          </a:p>
        </p:txBody>
      </p:sp>
      <p:sp>
        <p:nvSpPr>
          <p:cNvPr id="16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Rendering Rules</a:t>
            </a:r>
            <a:endParaRPr lang="en-US" sz="1800" dirty="0"/>
          </a:p>
        </p:txBody>
      </p:sp>
      <p:sp>
        <p:nvSpPr>
          <p:cNvPr id="17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Validation and Overflow Policy</a:t>
            </a:r>
            <a:endParaRPr lang="en-US" sz="1800" dirty="0"/>
          </a:p>
        </p:txBody>
      </p:sp>
      <p:sp>
        <p:nvSpPr>
          <p:cNvPr id="18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Example decks from MDPR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800" dirty="0"/>
          </a:p>
        </p:txBody>
      </p:sp>
      <p:sp>
        <p:nvSpPr>
          <p:cNvPr id="11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Example: examples/basic/deck.md</a:t>
            </a:r>
            <a:endParaRPr lang="en-US" sz="1800" dirty="0"/>
          </a:p>
        </p:txBody>
      </p:sp>
      <p:sp>
        <p:nvSpPr>
          <p:cNvPr id="12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Example: examples/comparison/deck.md</a:t>
            </a:r>
            <a:endParaRPr lang="en-US" sz="1800" dirty="0"/>
          </a:p>
        </p:txBody>
      </p:sp>
      <p:sp>
        <p:nvSpPr>
          <p:cNvPr id="13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Example: examples/pipeline/deck.md</a:t>
            </a:r>
            <a:endParaRPr lang="en-US" sz="1800" dirty="0"/>
          </a:p>
        </p:txBody>
      </p:sp>
      <p:sp>
        <p:nvSpPr>
          <p:cNvPr id="14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Example: examples/diagram-arrangements/deck.md</a:t>
            </a:r>
            <a:endParaRPr lang="en-US" sz="1800" dirty="0"/>
          </a:p>
        </p:txBody>
      </p:sp>
      <p:sp>
        <p:nvSpPr>
          <p:cNvPr id="15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Example: examples/five-methods/deck.md</a:t>
            </a:r>
            <a:endParaRPr lang="en-US" sz="1800" dirty="0"/>
          </a:p>
        </p:txBody>
      </p:sp>
      <p:sp>
        <p:nvSpPr>
          <p:cNvPr id="16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Example: examples/theme-preview-en/deck.md</a:t>
            </a:r>
            <a:endParaRPr lang="en-US" sz="1800" dirty="0"/>
          </a:p>
        </p:txBody>
      </p:sp>
      <p:sp>
        <p:nvSpPr>
          <p:cNvPr id="17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Current skill output expectations</a:t>
            </a:r>
            <a:endParaRPr lang="en-US" sz="1800" dirty="0"/>
          </a:p>
        </p:txBody>
      </p:sp>
      <p:sp>
        <p:nvSpPr>
          <p:cNvPr id="18" name="mdpr:2-2-7bfb60:toc-item-8:toc-item-16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 End state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difference-at-a-glance-e2e4df:title:__title:difference-at-a-glance-e2e4d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Difference at a glance</a:t>
            </a:r>
            <a:endParaRPr lang="en-US" sz="3400" dirty="0"/>
          </a:p>
        </p:txBody>
      </p:sp>
      <p:graphicFrame>
        <p:nvGraphicFramePr>
          <p:cNvPr id="5" name="mdpr:difference-at-a-glance-e2e4df:table:block-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1234440"/>
                <a:gridCol w="4503420"/>
                <a:gridCol w="45034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Area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 runtime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mdpr-skill review companion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Role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Markdown to Presentation IR and rendered 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Optional semantic hints, review findings, and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Built-in parser or Pandoc parser mode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parse Markdown; reads MDPR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Owns deterministic layout, typography, and theme rules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Does not set final coordinates, font sizes, or theme values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Output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 PPTX, HTML, PDF, manifests, and previews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JSON hints, review reports, and comparison evidence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2-cbec28:title:__title:1-2-cbec2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2354580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230624" y="2354580"/>
            <a:ext cx="0" cy="1481328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386072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132064" y="4732020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132064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132064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6072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1769364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86072" y="3250692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002024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748016" y="5317236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849612" y="4368455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9849612" y="2887127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7748016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4002024" y="2354580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9" name="Shape 17"/>
          <p:cNvSpPr/>
          <p:nvPr/>
        </p:nvSpPr>
        <p:spPr>
          <a:xfrm>
            <a:off x="4230624" y="3835908"/>
            <a:ext cx="2286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40080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325514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386072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50664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550664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071506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parser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8132064" y="4732020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5129967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5129967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4860036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BlockIR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96656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96656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8817498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Tree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8132064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96656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296656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8817498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386072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0664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550664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5071506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640080" y="1769364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4672" y="2167311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04672" y="2167311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325514" y="1897380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IR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386072" y="3250692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50664" y="3648639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4550664" y="3648639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5071506" y="3378708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Renderer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9dab57:title:__title:2-2-9dab5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boundary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2169871" y="2221992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2169871" y="3401568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169871" y="4581144"/>
            <a:ext cx="7867498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103620" y="3051581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6103620" y="4231157"/>
            <a:ext cx="0" cy="389077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169871" y="2221992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34463" y="2482596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34463" y="24825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828239" y="2350008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manifest and previews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169871" y="3401568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34463" y="3662172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34463" y="36621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828239" y="3529584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mdpr-skill hints or review findings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169871" y="4581144"/>
            <a:ext cx="7867498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34463" y="4841748"/>
            <a:ext cx="347472" cy="347472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34463" y="48417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828239" y="4709160"/>
            <a:ext cx="7044538" cy="6126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only renderer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c51ee9:title:__title:1-2-c51ee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endParaRPr lang="en-US" sz="3400" dirty="0"/>
          </a:p>
        </p:txBody>
      </p:sp>
      <p:sp>
        <p:nvSpPr>
          <p:cNvPr id="15" name="mdpr:1-2-c51ee9:item-1:block-9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Flow</a:t>
            </a:r>
            <a:endParaRPr lang="en-US" sz="2200" dirty="0"/>
          </a:p>
        </p:txBody>
      </p:sp>
      <p:sp>
        <p:nvSpPr>
          <p:cNvPr id="16" name="mdpr:1-2-c51ee9:item-2:block-9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Package Roles</a:t>
            </a:r>
            <a:endParaRPr lang="en-US" sz="2200" dirty="0"/>
          </a:p>
        </p:txBody>
      </p:sp>
      <p:sp>
        <p:nvSpPr>
          <p:cNvPr id="17" name="mdpr:1-2-c51ee9:item-3:block-9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Design Principles</a:t>
            </a:r>
            <a:endParaRPr lang="en-US" sz="2200" dirty="0"/>
          </a:p>
        </p:txBody>
      </p:sp>
      <p:sp>
        <p:nvSpPr>
          <p:cNvPr id="18" name="mdpr:1-2-c51ee9:item-4:block-9-chunk-1"/>
          <p:cNvSpPr txBox="1"/>
          <p:nvPr/>
        </p:nvSpPr>
        <p:spPr>
          <a:xfrm>
            <a:off x="6528816" y="4328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core does not know renderers. It emits Presentation IR only.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2-2-6d3a3b:title:__title:2-2-6d3a3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Architecture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Parser (simple Markdown or Pandoc JSON)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Outline Builder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Planner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Grouping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Presentation IR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c49d80:title:__title:1-3-c49d8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endParaRPr lang="en-US" sz="3400" dirty="0"/>
          </a:p>
        </p:txBody>
      </p:sp>
      <p:sp>
        <p:nvSpPr>
          <p:cNvPr id="6" name="mdpr:1-3-c49d80:item-1:block-12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 Rules</a:t>
            </a:r>
            <a:endParaRPr lang="en-US" sz="2200" dirty="0"/>
          </a:p>
        </p:txBody>
      </p:sp>
      <p:sp>
        <p:nvSpPr>
          <p:cNvPr id="7" name="mdpr:1-3-c49d80:item-2:block-12-chunk-1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or section</a:t>
            </a:r>
            <a:endParaRPr lang="en-US" sz="2200" dirty="0"/>
          </a:p>
        </p:txBody>
      </p:sp>
      <p:sp>
        <p:nvSpPr>
          <p:cNvPr id="8" name="mdpr:1-3-c49d80:item-3:block-12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 candidate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107ad:title:__title:2-3-2107a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107ad:item-1:block-12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subsection or autosplit boundary</a:t>
            </a:r>
            <a:endParaRPr lang="en-US" sz="2200" dirty="0"/>
          </a:p>
        </p:txBody>
      </p:sp>
      <p:sp>
        <p:nvSpPr>
          <p:cNvPr id="7" name="mdpr:2-3-2107ad:item-2:block-12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Procedure</a:t>
            </a:r>
            <a:endParaRPr lang="en-US" sz="2200" dirty="0"/>
          </a:p>
        </p:txBody>
      </p:sp>
      <p:sp>
        <p:nvSpPr>
          <p:cNvPr id="8" name="mdpr:2-3-2107ad:item-3:block-12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CommonMark/GFM Markdown into an AST.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a4649c:title:__title:3-3-a4649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Page Splitting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a4649c:body:block-12-chunk-3-block-14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Convert the AST into MDPR BlockIR while preserving presentation-relevant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Normalize Pandoc JSON into BlockIR when --parser pandoc is selected.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Build the heading tree.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  cover or section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   slide candidate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  subsection or autosplit boundary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 in-body heading</a:t>
            </a:r>
            <a:endParaRPr lang="en-US" sz="1800" dirty="0"/>
          </a:p>
        </p:txBody>
      </p:sp>
      <p:graphicFrame>
        <p:nvGraphicFramePr>
          <p:cNvPr id="12" name="mdpr:3-3-a4649c:table:block-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Element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Default Score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Short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Long paragraph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Bullet item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1-3-c0cf7e:title:__title:1-3-c0cf7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endParaRPr lang="en-US" sz="3400" dirty="0"/>
          </a:p>
        </p:txBody>
      </p:sp>
      <p:sp>
        <p:nvSpPr>
          <p:cNvPr id="12" name="mdpr:1-3-c0cf7e:item-1:block-16-chunk-1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Selection Formula</a:t>
            </a:r>
            <a:endParaRPr lang="en-US" sz="2200" dirty="0"/>
          </a:p>
        </p:txBody>
      </p:sp>
      <p:sp>
        <p:nvSpPr>
          <p:cNvPr id="13" name="mdpr:1-3-c0cf7e:item-2:block-16-chunk-1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Intent Detection</a:t>
            </a:r>
            <a:endParaRPr lang="en-US" sz="2200" dirty="0"/>
          </a:p>
        </p:txBody>
      </p:sp>
      <p:sp>
        <p:nvSpPr>
          <p:cNvPr id="14" name="mdpr:1-3-c0cf7e:item-3:block-16-chunk-1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Count-Based Layouts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500204:title:__title:2-3-50020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500204:item-1:block-16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Presets</a:t>
            </a:r>
            <a:endParaRPr lang="en-US" sz="2200" dirty="0"/>
          </a:p>
        </p:txBody>
      </p:sp>
      <p:sp>
        <p:nvSpPr>
          <p:cNvPr id="13" name="mdpr:2-3-500204:item-2:block-16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 Routing</a:t>
            </a:r>
            <a:endParaRPr lang="en-US" sz="2200" dirty="0"/>
          </a:p>
        </p:txBody>
      </p:sp>
      <p:sp>
        <p:nvSpPr>
          <p:cNvPr id="14" name="mdpr:2-3-500204:item-3:block-16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Use the deck title as the single header.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83480" y="1417320"/>
            <a:ext cx="626364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3480" y="1417320"/>
            <a:ext cx="62636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5eedd2:title:__title:3-3-5eedd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Selection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5eedd2:body:block-16-chunk-3-block-18"/>
          <p:cNvSpPr txBox="1"/>
          <p:nvPr/>
        </p:nvSpPr>
        <p:spPr>
          <a:xfrm>
            <a:off x="896112" y="1527048"/>
            <a:ext cx="36484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Select the first pipeline diagram in source order as the hero object.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Synthesize one *-teaser-overview bullet list from up to four source sections.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Keep the first chart, table, and image in source order as proof objects.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SlideIntentScoreProfile + itemCount + blockType + density =&gt; candidate LayoutPresets =&gt; deterministic score + bounded recent-geometry reuse penalty =&gt; selected LayoutPreset</a:t>
            </a:r>
            <a:endParaRPr lang="en-US" sz="1800" dirty="0"/>
          </a:p>
        </p:txBody>
      </p:sp>
      <p:graphicFrame>
        <p:nvGraphicFramePr>
          <p:cNvPr id="15" name="mdpr:3-3-5eedd2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417320"/>
          <a:ext cx="6263640" cy="4526280"/>
        </p:xfrm>
        <a:graphic>
          <a:graphicData uri="http://schemas.openxmlformats.org/drawingml/2006/table">
            <a:tbl>
              <a:tblPr/>
              <a:tblGrid>
                <a:gridCol w="3131820"/>
                <a:gridCol w="313182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Field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Value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Condition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Intent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Before/After, As-Is/To-Be, pros/cons, two opposed groups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comparison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Dates, stages, phases, repeated steps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timeline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Large 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1-3-0466ef:title:__title:1-3-0466e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endParaRPr lang="en-US" sz="3400" dirty="0"/>
          </a:p>
        </p:txBody>
      </p:sp>
      <p:sp>
        <p:nvSpPr>
          <p:cNvPr id="3" name="mdpr:1-3-0466ef:body:block-20-chunk-1"/>
          <p:cNvSpPr txBox="1"/>
          <p:nvPr/>
        </p:nvSpPr>
        <p:spPr>
          <a:xfrm>
            <a:off x="987552" y="306324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Shared Renderer Contract</a:t>
            </a:r>
            <a:endParaRPr lang="en-US" sz="2200" dirty="0"/>
          </a:p>
        </p:txBody>
      </p:sp>
      <p:sp>
        <p:nvSpPr>
          <p:cNvPr id="4" name="mdpr:1-3-0466ef:body:block-20-chunk-1"/>
          <p:cNvSpPr txBox="1"/>
          <p:nvPr/>
        </p:nvSpPr>
        <p:spPr>
          <a:xfrm>
            <a:off x="987552" y="348996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PPTX Renderer</a:t>
            </a:r>
            <a:endParaRPr lang="en-US" sz="2200" dirty="0"/>
          </a:p>
        </p:txBody>
      </p:sp>
      <p:sp>
        <p:nvSpPr>
          <p:cNvPr id="5" name="mdpr:1-3-0466ef:body:block-20-chunk-1"/>
          <p:cNvSpPr txBox="1"/>
          <p:nvPr/>
        </p:nvSpPr>
        <p:spPr>
          <a:xfrm>
            <a:off x="987552" y="3916680"/>
            <a:ext cx="100949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Decoration Styles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068207:title:__title:2-3-0682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068207:item-1:block-20-chunk-2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Color and Theme Policy</a:t>
            </a:r>
            <a:endParaRPr lang="en-US" sz="2200" dirty="0"/>
          </a:p>
        </p:txBody>
      </p:sp>
      <p:sp>
        <p:nvSpPr>
          <p:cNvPr id="7" name="mdpr:2-3-068207:item-2:block-20-chunk-2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 Policy</a:t>
            </a:r>
            <a:endParaRPr lang="en-US" sz="2200" dirty="0"/>
          </a:p>
        </p:txBody>
      </p:sp>
      <p:sp>
        <p:nvSpPr>
          <p:cNvPr id="8" name="mdpr:2-3-068207:item-3:block-20-chunk-2"/>
          <p:cNvSpPr txBox="1"/>
          <p:nvPr/>
        </p:nvSpPr>
        <p:spPr>
          <a:xfrm>
            <a:off x="8083296" y="2647188"/>
            <a:ext cx="282549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consumes { Presentation IR, Layout IR }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3035808"/>
            <a:ext cx="10652760" cy="15727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3035808"/>
            <a:ext cx="10652760" cy="157276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983be2:title:__title:3-3-983be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Rendering Rules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983be2:code:block-21"/>
          <p:cNvSpPr txBox="1"/>
          <p:nvPr/>
        </p:nvSpPr>
        <p:spPr>
          <a:xfrm>
            <a:off x="941832" y="3182112"/>
            <a:ext cx="10323576" cy="12801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PPTX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HTML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Presentation IR, Layout IR } -&gt; PDF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1-3-4b2f30:title:__title:1-3-4b2f3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endParaRPr lang="en-US" sz="3400" dirty="0"/>
          </a:p>
        </p:txBody>
      </p:sp>
      <p:sp>
        <p:nvSpPr>
          <p:cNvPr id="6" name="mdpr:1-3-4b2f30:item-1:block-23-chunk-1"/>
          <p:cNvSpPr txBox="1"/>
          <p:nvPr/>
        </p:nvSpPr>
        <p:spPr>
          <a:xfrm>
            <a:off x="104241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Checks</a:t>
            </a:r>
            <a:endParaRPr lang="en-US" sz="2200" dirty="0"/>
          </a:p>
        </p:txBody>
      </p:sp>
      <p:sp>
        <p:nvSpPr>
          <p:cNvPr id="7" name="mdpr:1-3-4b2f30:item-2:block-23-chunk-1"/>
          <p:cNvSpPr txBox="1"/>
          <p:nvPr/>
        </p:nvSpPr>
        <p:spPr>
          <a:xfrm>
            <a:off x="456285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Resolution Order</a:t>
            </a:r>
            <a:endParaRPr lang="en-US" sz="2200" dirty="0"/>
          </a:p>
        </p:txBody>
      </p:sp>
      <p:sp>
        <p:nvSpPr>
          <p:cNvPr id="8" name="mdpr:1-3-4b2f30:item-3:block-23-chunk-1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Diagnostics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3-fe6c97:title:__title:2-3-fe6c9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12" name="mdpr:2-3-fe6c97:item-1:block-23-chunk-2"/>
          <p:cNvSpPr txBox="1"/>
          <p:nvPr/>
        </p:nvSpPr>
        <p:spPr>
          <a:xfrm>
            <a:off x="1133856" y="216408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Normalization</a:t>
            </a:r>
            <a:endParaRPr lang="en-US" sz="2200" dirty="0"/>
          </a:p>
        </p:txBody>
      </p:sp>
      <p:sp>
        <p:nvSpPr>
          <p:cNvPr id="13" name="mdpr:2-3-fe6c97:item-2:block-23-chunk-2"/>
          <p:cNvSpPr txBox="1"/>
          <p:nvPr/>
        </p:nvSpPr>
        <p:spPr>
          <a:xfrm>
            <a:off x="1133856" y="3489960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Title Regions</a:t>
            </a:r>
            <a:endParaRPr lang="en-US" sz="2200" dirty="0"/>
          </a:p>
        </p:txBody>
      </p:sp>
      <p:sp>
        <p:nvSpPr>
          <p:cNvPr id="14" name="mdpr:2-3-fe6c97:item-3:block-23-chunk-2"/>
          <p:cNvSpPr txBox="1"/>
          <p:nvPr/>
        </p:nvSpPr>
        <p:spPr>
          <a:xfrm>
            <a:off x="1133856" y="4806696"/>
            <a:ext cx="982065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overflow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7240" y="2560320"/>
            <a:ext cx="10652760" cy="25054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77240" y="2560320"/>
            <a:ext cx="10652760" cy="250545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3-3-d74d2e:title:__title:3-3-d74d2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Validation and Overflow Policy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5" name="mdpr:3-3-d74d2e:code:block-24"/>
          <p:cNvSpPr txBox="1"/>
          <p:nvPr/>
        </p:nvSpPr>
        <p:spPr>
          <a:xfrm>
            <a:off x="941832" y="2706624"/>
            <a:ext cx="10323576" cy="2212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text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table overflow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missing images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invalid asset paths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overlapping page numbers</a:t>
            </a:r>
            <a:endParaRPr lang="en-US" sz="18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safe-area violations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dpr:example-decks-from-mdpr-1f8782:title:__title:example-decks-from-mdpr-1f878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 decks from MDPR</a:t>
            </a:r>
            <a:endParaRPr lang="en-US" sz="3400" dirty="0"/>
          </a:p>
        </p:txBody>
      </p:sp>
      <p:sp>
        <p:nvSpPr>
          <p:cNvPr id="3" name="mdpr:example-decks-from-mdpr-1f8782:left:block-26-block-26-block-26"/>
          <p:cNvSpPr txBox="1"/>
          <p:nvPr/>
        </p:nvSpPr>
        <p:spPr>
          <a:xfrm>
            <a:off x="896112" y="1463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basic/deck.md covers core flow and expected effects.</a:t>
            </a:r>
            <a:endParaRPr lang="en-US" sz="2200" dirty="0"/>
          </a:p>
        </p:txBody>
      </p:sp>
      <p:sp>
        <p:nvSpPr>
          <p:cNvPr id="4" name="mdpr:example-decks-from-mdpr-1f8782:left:block-26-block-26-block-26"/>
          <p:cNvSpPr txBox="1"/>
          <p:nvPr/>
        </p:nvSpPr>
        <p:spPr>
          <a:xfrm>
            <a:off x="896112" y="2225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comparison/deck.md exercises before/after content.</a:t>
            </a:r>
            <a:endParaRPr lang="en-US" sz="2200" dirty="0"/>
          </a:p>
        </p:txBody>
      </p:sp>
      <p:sp>
        <p:nvSpPr>
          <p:cNvPr id="5" name="mdpr:example-decks-from-mdpr-1f8782:left:block-26-block-26-block-26"/>
          <p:cNvSpPr txBox="1"/>
          <p:nvPr/>
        </p:nvSpPr>
        <p:spPr>
          <a:xfrm>
            <a:off x="896112" y="298704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pipeline/deck.md exercises diagram conversion.</a:t>
            </a:r>
            <a:endParaRPr lang="en-US" sz="2200" dirty="0"/>
          </a:p>
        </p:txBody>
      </p:sp>
      <p:sp>
        <p:nvSpPr>
          <p:cNvPr id="6" name="mdpr:example-decks-from-mdpr-1f8782:right:block-26-block-26"/>
          <p:cNvSpPr txBox="1"/>
          <p:nvPr/>
        </p:nvSpPr>
        <p:spPr>
          <a:xfrm>
            <a:off x="6473952" y="1463040"/>
            <a:ext cx="479145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diagram-arrangements/deck.md exercises multiple diagram structures.</a:t>
            </a:r>
            <a:endParaRPr lang="en-US" sz="2200" dirty="0"/>
          </a:p>
        </p:txBody>
      </p:sp>
      <p:sp>
        <p:nvSpPr>
          <p:cNvPr id="7" name="mdpr:example-decks-from-mdpr-1f8782:right:block-26-block-26"/>
          <p:cNvSpPr txBox="1"/>
          <p:nvPr/>
        </p:nvSpPr>
        <p:spPr>
          <a:xfrm>
            <a:off x="6473952" y="2560320"/>
            <a:ext cx="479145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theme-preview decks exercise preset variety.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example-examples-basic-deck-md-90c3cd:title:__title:example-examples-basic-deck-md-90c3cd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examples/basic/deck.md</a:t>
            </a:r>
            <a:endParaRPr lang="en-US" sz="3400" dirty="0"/>
          </a:p>
        </p:txBody>
      </p:sp>
      <p:graphicFrame>
        <p:nvGraphicFramePr>
          <p:cNvPr id="23" name="mdpr:example-examples-basic-deck-md-90c3cd:table:block-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5120640"/>
                <a:gridCol w="512064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Current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Improved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Owners manually prepare documents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Meeting notes and report drafts are generated automatically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Quality depends on individual skill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Documents follow a consistent structure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Search and reuse are difficult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Materials are found with semantic search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mdpr:example-examples-comparison-deck-md-12e155:title:__title:example-examples-comparison-deck-md-12e15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examples/comparison/deck.md</a:t>
            </a:r>
            <a:endParaRPr lang="en-US" sz="3400" dirty="0"/>
          </a:p>
        </p:txBody>
      </p:sp>
      <p:graphicFrame>
        <p:nvGraphicFramePr>
          <p:cNvPr id="24" name="mdpr:example-examples-comparison-deck-md-12e155:table:block-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5120640"/>
                <a:gridCol w="512064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Current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Improved Approach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Documents are written manually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Drafts are generated automatically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Format varies by person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Format is standardized by template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Search is difficult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Semantic search is available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2-1624b4:title:__title:1-2-1624b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endParaRPr lang="en-US" sz="3400" dirty="0"/>
          </a:p>
        </p:txBody>
      </p:sp>
      <p:sp>
        <p:nvSpPr>
          <p:cNvPr id="15" name="mdpr:1-2-1624b4:item-1:block-32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Example</a:t>
            </a:r>
            <a:endParaRPr lang="en-US" sz="2200" dirty="0"/>
          </a:p>
        </p:txBody>
      </p:sp>
      <p:sp>
        <p:nvSpPr>
          <p:cNvPr id="16" name="mdpr:1-2-1624b4:item-2:block-32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Publishing Flow</a:t>
            </a:r>
            <a:endParaRPr lang="en-US" sz="2200" dirty="0"/>
          </a:p>
        </p:txBody>
      </p:sp>
      <p:sp>
        <p:nvSpPr>
          <p:cNvPr id="17" name="mdpr:1-2-1624b4:item-3:block-32-chunk-1"/>
          <p:cNvSpPr txBox="1"/>
          <p:nvPr/>
        </p:nvSpPr>
        <p:spPr>
          <a:xfrm>
            <a:off x="1042416" y="4495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Five-Part Method</a:t>
            </a:r>
            <a:endParaRPr lang="en-US" sz="2200" dirty="0"/>
          </a:p>
        </p:txBody>
      </p:sp>
      <p:sp>
        <p:nvSpPr>
          <p:cNvPr id="18" name="mdpr:1-2-1624b4:item-4:block-32-chunk-1"/>
          <p:cNvSpPr txBox="1"/>
          <p:nvPr/>
        </p:nvSpPr>
        <p:spPr>
          <a:xfrm>
            <a:off x="6729984" y="4495800"/>
            <a:ext cx="440740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Capture source</a:t>
            </a:r>
            <a:endParaRPr lang="en-US" sz="2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8" name="Shape 3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mdpr:2-2-a2c94a:title:__title:2-2-a2c94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examples/pipeline/deck.md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2" name="mdpr:2-2-a2c94a:item-1:block-32-chunk-2"/>
          <p:cNvSpPr txBox="1"/>
          <p:nvPr/>
        </p:nvSpPr>
        <p:spPr>
          <a:xfrm>
            <a:off x="1335024" y="2164080"/>
            <a:ext cx="961948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Split structure</a:t>
            </a:r>
            <a:endParaRPr lang="en-US" sz="2200" dirty="0"/>
          </a:p>
        </p:txBody>
      </p:sp>
      <p:sp>
        <p:nvSpPr>
          <p:cNvPr id="13" name="mdpr:2-2-a2c94a:item-2:block-32-chunk-2"/>
          <p:cNvSpPr txBox="1"/>
          <p:nvPr/>
        </p:nvSpPr>
        <p:spPr>
          <a:xfrm>
            <a:off x="1335024" y="3489960"/>
            <a:ext cx="961948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Plan layout</a:t>
            </a:r>
            <a:endParaRPr lang="en-US" sz="2200" dirty="0"/>
          </a:p>
        </p:txBody>
      </p:sp>
      <p:sp>
        <p:nvSpPr>
          <p:cNvPr id="14" name="mdpr:2-2-a2c94a:item-3:block-32-chunk-2"/>
          <p:cNvSpPr txBox="1"/>
          <p:nvPr/>
        </p:nvSpPr>
        <p:spPr>
          <a:xfrm>
            <a:off x="1335024" y="4806696"/>
            <a:ext cx="9619488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Render outputs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diagram-arrangements-deck-md-adac59:title:__title:example-examples-diagram-arrangements-deck-md-adac5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examples/diagram-arrangements/deck.md</a:t>
            </a:r>
            <a:endParaRPr lang="en-US" sz="3400" dirty="0"/>
          </a:p>
        </p:txBody>
      </p:sp>
      <p:sp>
        <p:nvSpPr>
          <p:cNvPr id="21" name="mdpr:example-examples-diagram-arrangements-deck-md-adac59:item-1:block-34"/>
          <p:cNvSpPr txBox="1"/>
          <p:nvPr/>
        </p:nvSpPr>
        <p:spPr>
          <a:xfrm>
            <a:off x="1042416" y="2103120"/>
            <a:ext cx="2825496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Diagram Arrangement Examples</a:t>
            </a:r>
            <a:endParaRPr lang="en-US" sz="1800" dirty="0"/>
          </a:p>
        </p:txBody>
      </p:sp>
      <p:sp>
        <p:nvSpPr>
          <p:cNvPr id="22" name="mdpr:example-examples-diagram-arrangements-deck-md-adac59:item-2:block-34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Horizontal Flow</a:t>
            </a:r>
            <a:endParaRPr lang="en-US" sz="1800" dirty="0"/>
          </a:p>
        </p:txBody>
      </p:sp>
      <p:sp>
        <p:nvSpPr>
          <p:cNvPr id="23" name="mdpr:example-examples-diagram-arrangements-deck-md-adac59:item-3:block-34"/>
          <p:cNvSpPr txBox="1"/>
          <p:nvPr/>
        </p:nvSpPr>
        <p:spPr>
          <a:xfrm>
            <a:off x="808329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Vertical Flow</a:t>
            </a:r>
            <a:endParaRPr lang="en-US" sz="1800" dirty="0"/>
          </a:p>
        </p:txBody>
      </p:sp>
      <p:sp>
        <p:nvSpPr>
          <p:cNvPr id="24" name="mdpr:example-examples-diagram-arrangements-deck-md-adac59:item-4:block-34"/>
          <p:cNvSpPr txBox="1"/>
          <p:nvPr/>
        </p:nvSpPr>
        <p:spPr>
          <a:xfrm>
            <a:off x="104241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U-Shaped Flow</a:t>
            </a:r>
            <a:endParaRPr lang="en-US" sz="1800" dirty="0"/>
          </a:p>
        </p:txBody>
      </p:sp>
      <p:sp>
        <p:nvSpPr>
          <p:cNvPr id="25" name="mdpr:example-examples-diagram-arrangements-deck-md-adac59:item-5:block-34"/>
          <p:cNvSpPr txBox="1"/>
          <p:nvPr/>
        </p:nvSpPr>
        <p:spPr>
          <a:xfrm>
            <a:off x="456285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Reverse-U Flow</a:t>
            </a:r>
            <a:endParaRPr lang="en-US" sz="1800" dirty="0"/>
          </a:p>
        </p:txBody>
      </p:sp>
      <p:sp>
        <p:nvSpPr>
          <p:cNvPr id="26" name="mdpr:example-examples-diagram-arrangements-deck-md-adac59:item-6:block-34"/>
          <p:cNvSpPr txBox="1"/>
          <p:nvPr/>
        </p:nvSpPr>
        <p:spPr>
          <a:xfrm>
            <a:off x="8083296" y="4526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Cycle-Like Flow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32461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3400" y="1463040"/>
            <a:ext cx="324612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434340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63840" y="1463040"/>
            <a:ext cx="324612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7863840" y="1463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22960" y="3749040"/>
            <a:ext cx="324612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82296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343400" y="3749040"/>
            <a:ext cx="3246120" cy="1920240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434340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863840" y="3749040"/>
            <a:ext cx="3246120" cy="1920240"/>
          </a:xfrm>
          <a:prstGeom prst="rect">
            <a:avLst/>
          </a:prstGeom>
        </p:spPr>
      </p:pic>
      <p:sp>
        <p:nvSpPr>
          <p:cNvPr id="13" name="Shape 5"/>
          <p:cNvSpPr/>
          <p:nvPr/>
        </p:nvSpPr>
        <p:spPr>
          <a:xfrm>
            <a:off x="7863840" y="3749040"/>
            <a:ext cx="32461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4" name="Shape 6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7"/>
          <p:cNvSpPr/>
          <p:nvPr/>
        </p:nvSpPr>
        <p:spPr>
          <a:xfrm>
            <a:off x="434340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6" name="Shape 8"/>
          <p:cNvSpPr/>
          <p:nvPr/>
        </p:nvSpPr>
        <p:spPr>
          <a:xfrm>
            <a:off x="786384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Shape 9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8" name="Shape 10"/>
          <p:cNvSpPr/>
          <p:nvPr/>
        </p:nvSpPr>
        <p:spPr>
          <a:xfrm>
            <a:off x="434340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9" name="Shape 11"/>
          <p:cNvSpPr/>
          <p:nvPr/>
        </p:nvSpPr>
        <p:spPr>
          <a:xfrm>
            <a:off x="786384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20" name="mdpr:example-examples-five-methods-deck-md-6608d8:title:__title:example-examples-five-methods-deck-md-6608d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examples/five-methods/deck.md</a:t>
            </a:r>
            <a:endParaRPr lang="en-US" sz="3400" dirty="0"/>
          </a:p>
        </p:txBody>
      </p:sp>
      <p:sp>
        <p:nvSpPr>
          <p:cNvPr id="21" name="mdpr:example-examples-five-methods-deck-md-6608d8:item-1:block-36"/>
          <p:cNvSpPr txBox="1"/>
          <p:nvPr/>
        </p:nvSpPr>
        <p:spPr>
          <a:xfrm>
            <a:off x="104241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Five-Item Layout Example</a:t>
            </a:r>
            <a:endParaRPr lang="en-US" sz="1800" dirty="0"/>
          </a:p>
        </p:txBody>
      </p:sp>
      <p:sp>
        <p:nvSpPr>
          <p:cNvPr id="22" name="mdpr:example-examples-five-methods-deck-md-6608d8:item-2:block-36"/>
          <p:cNvSpPr txBox="1"/>
          <p:nvPr/>
        </p:nvSpPr>
        <p:spPr>
          <a:xfrm>
            <a:off x="4562856" y="2240280"/>
            <a:ext cx="2825496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Five Execution Steps</a:t>
            </a:r>
            <a:endParaRPr lang="en-US" sz="1800" dirty="0"/>
          </a:p>
        </p:txBody>
      </p:sp>
      <p:sp>
        <p:nvSpPr>
          <p:cNvPr id="23" name="mdpr:example-examples-five-methods-deck-md-6608d8:item-3:block-36"/>
          <p:cNvSpPr txBox="1"/>
          <p:nvPr/>
        </p:nvSpPr>
        <p:spPr>
          <a:xfrm>
            <a:off x="8284464" y="2240280"/>
            <a:ext cx="2624328" cy="3657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Select a pilot team</a:t>
            </a:r>
            <a:endParaRPr lang="en-US" sz="1800" dirty="0"/>
          </a:p>
        </p:txBody>
      </p:sp>
      <p:sp>
        <p:nvSpPr>
          <p:cNvPr id="24" name="mdpr:example-examples-five-methods-deck-md-6608d8:item-4:block-36"/>
          <p:cNvSpPr txBox="1"/>
          <p:nvPr/>
        </p:nvSpPr>
        <p:spPr>
          <a:xfrm>
            <a:off x="124358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Analyze repetitive document types</a:t>
            </a:r>
            <a:endParaRPr lang="en-US" sz="1800" dirty="0"/>
          </a:p>
        </p:txBody>
      </p:sp>
      <p:sp>
        <p:nvSpPr>
          <p:cNvPr id="25" name="mdpr:example-examples-five-methods-deck-md-6608d8:item-5:block-36"/>
          <p:cNvSpPr txBox="1"/>
          <p:nvPr/>
        </p:nvSpPr>
        <p:spPr>
          <a:xfrm>
            <a:off x="476402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Design automation templates</a:t>
            </a:r>
            <a:endParaRPr lang="en-US" sz="1800" dirty="0"/>
          </a:p>
        </p:txBody>
      </p:sp>
      <p:sp>
        <p:nvSpPr>
          <p:cNvPr id="26" name="mdpr:example-examples-five-methods-deck-md-6608d8:item-6:block-36"/>
          <p:cNvSpPr txBox="1"/>
          <p:nvPr/>
        </p:nvSpPr>
        <p:spPr>
          <a:xfrm>
            <a:off x="8284464" y="4389120"/>
            <a:ext cx="2624328" cy="6400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Build a knowledge search index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1-3-9e7dc8:title:__title:1-3-9e7d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endParaRPr lang="en-US" sz="3400" dirty="0"/>
          </a:p>
        </p:txBody>
      </p:sp>
      <p:sp>
        <p:nvSpPr>
          <p:cNvPr id="15" name="mdpr:1-3-9e7dc8:item-1:block-38-chunk-1"/>
          <p:cNvSpPr txBox="1"/>
          <p:nvPr/>
        </p:nvSpPr>
        <p:spPr>
          <a:xfrm>
            <a:off x="10424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2200" dirty="0"/>
          </a:p>
        </p:txBody>
      </p:sp>
      <p:sp>
        <p:nvSpPr>
          <p:cNvPr id="16" name="mdpr:1-3-9e7dc8:item-2:block-38-chunk-1"/>
          <p:cNvSpPr txBox="1"/>
          <p:nvPr/>
        </p:nvSpPr>
        <p:spPr>
          <a:xfrm>
            <a:off x="6528816" y="2209800"/>
            <a:ext cx="460857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2200" dirty="0"/>
          </a:p>
        </p:txBody>
      </p:sp>
      <p:sp>
        <p:nvSpPr>
          <p:cNvPr id="17" name="mdpr:1-3-9e7dc8:item-3:block-38-chunk-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9 distinct decoration grammars, not palette-only swaps.</a:t>
            </a:r>
            <a:endParaRPr lang="en-US" sz="2200" dirty="0"/>
          </a:p>
        </p:txBody>
      </p:sp>
      <p:sp>
        <p:nvSpPr>
          <p:cNvPr id="18" name="mdpr:1-3-9e7dc8:item-4:block-38-chunk-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Pattern range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36+ decoration and layout patterns selected by content role.</a:t>
            </a:r>
            <a:endParaRPr lang="en-US" sz="2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2-3-298275:title:__title:2-3-29827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2/3)</a:t>
            </a:r>
            <a:endParaRPr lang="en-US" sz="3400" dirty="0"/>
          </a:p>
        </p:txBody>
      </p:sp>
      <p:sp>
        <p:nvSpPr>
          <p:cNvPr id="6" name="mdpr:2-3-298275:item-1:block-38-chunk-2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Object support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native tables, charts, proof objects, diagrams, images, and icon slots.</a:t>
            </a:r>
            <a:endParaRPr lang="en-US" sz="2200" dirty="0"/>
          </a:p>
        </p:txBody>
      </p:sp>
      <p:sp>
        <p:nvSpPr>
          <p:cNvPr id="7" name="mdpr:2-3-298275:item-2:block-38-chunk-2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Validation contract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readable text, bounded objects, aligned connectors, and editable PPTX output.</a:t>
            </a:r>
            <a:endParaRPr lang="en-US" sz="2200" dirty="0"/>
          </a:p>
        </p:txBody>
      </p:sp>
      <p:sp>
        <p:nvSpPr>
          <p:cNvPr id="8" name="mdpr:2-3-298275:item-3:block-38-chunk-2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43400" y="2487168"/>
            <a:ext cx="73152" cy="141732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0" y="2487168"/>
            <a:ext cx="73152" cy="14173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3-3-bec926:title:__title:3-3-bec92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Example: examples/theme-preview-en/deck.md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3/3)</a:t>
            </a:r>
            <a:endParaRPr lang="en-US" sz="3400" dirty="0"/>
          </a:p>
        </p:txBody>
      </p:sp>
      <p:sp>
        <p:nvSpPr>
          <p:cNvPr id="6" name="mdpr:3-3-bec926:item-1:block-38-chunk-3"/>
          <p:cNvSpPr txBox="1"/>
          <p:nvPr/>
        </p:nvSpPr>
        <p:spPr>
          <a:xfrm>
            <a:off x="1042416" y="2814828"/>
            <a:ext cx="282549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2200" dirty="0"/>
          </a:p>
        </p:txBody>
      </p:sp>
      <p:sp>
        <p:nvSpPr>
          <p:cNvPr id="7" name="mdpr:3-3-bec926:item-2:block-38-chunk-3"/>
          <p:cNvSpPr txBox="1"/>
          <p:nvPr/>
        </p:nvSpPr>
        <p:spPr>
          <a:xfrm>
            <a:off x="456285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8" name="mdpr:3-3-bec926:item-3:block-38-chunk-3"/>
          <p:cNvSpPr txBox="1"/>
          <p:nvPr/>
        </p:nvSpPr>
        <p:spPr>
          <a:xfrm>
            <a:off x="8083296" y="2982468"/>
            <a:ext cx="2825496" cy="42672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0" name="Shape 4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Shape 5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Shape 7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DBEAFE"/>
          </a:solidFill>
          <a:ln w="12700">
            <a:solidFill>
              <a:srgbClr val="DBEAFE">
                <a:alpha val="0"/>
              </a:srgbClr>
            </a:solidFill>
            <a:prstDash val="solid"/>
          </a:ln>
        </p:spPr>
      </p:sp>
      <p:sp>
        <p:nvSpPr>
          <p:cNvPr id="14" name="mdpr:current-skill-output-expectations-e56835:title:__title:current-skill-output-expectations-e5683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Current skill output expectations</a:t>
            </a:r>
            <a:endParaRPr lang="en-US" sz="3400" dirty="0"/>
          </a:p>
        </p:txBody>
      </p:sp>
      <p:sp>
        <p:nvSpPr>
          <p:cNvPr id="15" name="mdpr:current-skill-output-expectations-e56835:item-1:block-40"/>
          <p:cNvSpPr txBox="1"/>
          <p:nvPr/>
        </p:nvSpPr>
        <p:spPr>
          <a:xfrm>
            <a:off x="1042416" y="2042160"/>
            <a:ext cx="4608576" cy="7620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Text-only slides may receive one quiet monotone-icon-aside slot.</a:t>
            </a:r>
            <a:endParaRPr lang="en-US" sz="2200" dirty="0"/>
          </a:p>
        </p:txBody>
      </p:sp>
      <p:sp>
        <p:nvSpPr>
          <p:cNvPr id="16" name="mdpr:current-skill-output-expectations-e56835:item-2:block-40"/>
          <p:cNvSpPr txBox="1"/>
          <p:nvPr/>
        </p:nvSpPr>
        <p:spPr>
          <a:xfrm>
            <a:off x="6528816" y="1874520"/>
            <a:ext cx="4608576" cy="109728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Dense content should stay readable instead of gaining decorative icons.</a:t>
            </a:r>
            <a:endParaRPr lang="en-US" sz="2200" dirty="0"/>
          </a:p>
        </p:txBody>
      </p:sp>
      <p:sp>
        <p:nvSpPr>
          <p:cNvPr id="17" name="mdpr:current-skill-output-expectations-e56835:item-3:block-40"/>
          <p:cNvSpPr txBox="1"/>
          <p:nvPr/>
        </p:nvSpPr>
        <p:spPr>
          <a:xfrm>
            <a:off x="10424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Infographic families are selected by text length, relation, item count, and importance.</a:t>
            </a:r>
            <a:endParaRPr lang="en-US" sz="2200" dirty="0"/>
          </a:p>
        </p:txBody>
      </p:sp>
      <p:sp>
        <p:nvSpPr>
          <p:cNvPr id="18" name="mdpr:current-skill-output-expectations-e56835:item-4:block-40"/>
          <p:cNvSpPr txBox="1"/>
          <p:nvPr/>
        </p:nvSpPr>
        <p:spPr>
          <a:xfrm>
            <a:off x="6528816" y="3992880"/>
            <a:ext cx="4608576" cy="143256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Coherence validation checks color role, alignment, object variety, font floor, and z-order.</a:t>
            </a:r>
            <a:endParaRPr lang="en-US" sz="2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" y="2011680"/>
            <a:ext cx="9875520" cy="19202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43000" y="2011680"/>
            <a:ext cx="98755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E2E8F0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1289304" y="2157984"/>
            <a:ext cx="73152" cy="1627632"/>
          </a:xfrm>
          <a:prstGeom prst="roundRect">
            <a:avLst>
              <a:gd name="adj" fmla="val 25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mdpr:end-state-9e2e49:title:__title:end-state-9e2e4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End state</a:t>
            </a:r>
            <a:endParaRPr lang="en-US" sz="3400" dirty="0"/>
          </a:p>
        </p:txBody>
      </p:sp>
      <p:sp>
        <p:nvSpPr>
          <p:cNvPr id="6" name="mdpr:end-state-9e2e49:key-message:block-42"/>
          <p:cNvSpPr txBox="1"/>
          <p:nvPr/>
        </p:nvSpPr>
        <p:spPr>
          <a:xfrm>
            <a:off x="1527048" y="2139696"/>
            <a:ext cx="9272016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remains the content and rendering runtime. mdpr-skill adds optional semantic hints, review findings, and evidence without owning final visual decisions.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2563EB"/>
      </a:accent1>
      <a:accent2>
        <a:srgbClr val="DBEAFE"/>
      </a:accent2>
      <a:accent3>
        <a:srgbClr val="2563EB"/>
      </a:accent3>
      <a:accent4>
        <a:srgbClr val="919191"/>
      </a:accent4>
      <a:accent5>
        <a:srgbClr val="E2E8F0"/>
      </a:accent5>
      <a:accent6>
        <a:srgbClr val="111111"/>
      </a:accent6>
      <a:hlink>
        <a:srgbClr val="2563EB"/>
      </a:hlink>
      <a:folHlink>
        <a:srgbClr val="DBEA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Corpus: Runtime vs Review Evidence</dc:title>
  <dc:subject>Generated from Markdown through Presentation IR and Layout IR</dc:subject>
  <dc:creator>mdpresent</dc:creator>
  <cp:lastModifiedBy>mdpresent</cp:lastModifiedBy>
  <cp:revision>1</cp:revision>
  <dcterms:created xsi:type="dcterms:W3CDTF">2026-07-14T13:40:22Z</dcterms:created>
  <dcterms:modified xsi:type="dcterms:W3CDTF">2026-07-14T13:40:22Z</dcterms:modified>
</cp:coreProperties>
</file>