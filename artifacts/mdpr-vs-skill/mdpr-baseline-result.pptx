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image" Target="../media/image-26-5.png"/><Relationship Id="rId6" Type="http://schemas.openxmlformats.org/officeDocument/2006/relationships/image" Target="../media/image-26-6.svg"/><Relationship Id="rId7" Type="http://schemas.openxmlformats.org/officeDocument/2006/relationships/image" Target="../media/image-26-7.png"/><Relationship Id="rId8" Type="http://schemas.openxmlformats.org/officeDocument/2006/relationships/image" Target="../media/image-26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image" Target="../media/image-29-5.png"/><Relationship Id="rId6" Type="http://schemas.openxmlformats.org/officeDocument/2006/relationships/image" Target="../media/image-29-6.svg"/><Relationship Id="rId7" Type="http://schemas.openxmlformats.org/officeDocument/2006/relationships/image" Target="../media/image-29-7.png"/><Relationship Id="rId8" Type="http://schemas.openxmlformats.org/officeDocument/2006/relationships/image" Target="../media/image-29-8.svg"/><Relationship Id="rId9" Type="http://schemas.openxmlformats.org/officeDocument/2006/relationships/image" Target="../media/image-29-9.png"/><Relationship Id="rId10" Type="http://schemas.openxmlformats.org/officeDocument/2006/relationships/image" Target="../media/image-29-10.svg"/><Relationship Id="rId11" Type="http://schemas.openxmlformats.org/officeDocument/2006/relationships/image" Target="../media/image-29-11.png"/><Relationship Id="rId12" Type="http://schemas.openxmlformats.org/officeDocument/2006/relationships/image" Target="../media/image-2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image" Target="../media/image-30-3.png"/><Relationship Id="rId4" Type="http://schemas.openxmlformats.org/officeDocument/2006/relationships/image" Target="../media/image-30-4.svg"/><Relationship Id="rId5" Type="http://schemas.openxmlformats.org/officeDocument/2006/relationships/image" Target="../media/image-30-5.png"/><Relationship Id="rId6" Type="http://schemas.openxmlformats.org/officeDocument/2006/relationships/image" Target="../media/image-30-6.svg"/><Relationship Id="rId7" Type="http://schemas.openxmlformats.org/officeDocument/2006/relationships/image" Target="../media/image-30-7.png"/><Relationship Id="rId8" Type="http://schemas.openxmlformats.org/officeDocument/2006/relationships/image" Target="../media/image-30-8.svg"/><Relationship Id="rId9" Type="http://schemas.openxmlformats.org/officeDocument/2006/relationships/image" Target="../media/image-30-9.png"/><Relationship Id="rId10" Type="http://schemas.openxmlformats.org/officeDocument/2006/relationships/image" Target="../media/image-30-10.svg"/><Relationship Id="rId11" Type="http://schemas.openxmlformats.org/officeDocument/2006/relationships/image" Target="../media/image-30-11.png"/><Relationship Id="rId12" Type="http://schemas.openxmlformats.org/officeDocument/2006/relationships/image" Target="../media/image-3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image" Target="../media/image-32-3.png"/><Relationship Id="rId4" Type="http://schemas.openxmlformats.org/officeDocument/2006/relationships/image" Target="../media/image-32-4.svg"/><Relationship Id="rId5" Type="http://schemas.openxmlformats.org/officeDocument/2006/relationships/image" Target="../media/image-32-5.png"/><Relationship Id="rId6" Type="http://schemas.openxmlformats.org/officeDocument/2006/relationships/image" Target="../media/image-3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svg"/><Relationship Id="rId3" Type="http://schemas.openxmlformats.org/officeDocument/2006/relationships/image" Target="../media/image-33-3.png"/><Relationship Id="rId4" Type="http://schemas.openxmlformats.org/officeDocument/2006/relationships/image" Target="../media/image-33-4.svg"/><Relationship Id="rId5" Type="http://schemas.openxmlformats.org/officeDocument/2006/relationships/image" Target="../media/image-33-5.png"/><Relationship Id="rId6" Type="http://schemas.openxmlformats.org/officeDocument/2006/relationships/image" Target="../media/image-3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svg"/><Relationship Id="rId3" Type="http://schemas.openxmlformats.org/officeDocument/2006/relationships/image" Target="../media/image-34-3.png"/><Relationship Id="rId4" Type="http://schemas.openxmlformats.org/officeDocument/2006/relationships/image" Target="../media/image-34-4.svg"/><Relationship Id="rId5" Type="http://schemas.openxmlformats.org/officeDocument/2006/relationships/image" Target="../media/image-34-5.png"/><Relationship Id="rId6" Type="http://schemas.openxmlformats.org/officeDocument/2006/relationships/image" Target="../media/image-34-6.svg"/><Relationship Id="rId7" Type="http://schemas.openxmlformats.org/officeDocument/2006/relationships/image" Target="../media/image-34-7.png"/><Relationship Id="rId8" Type="http://schemas.openxmlformats.org/officeDocument/2006/relationships/image" Target="../media/image-3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" name="mdpr:mdpr-corpus-runtime-vs-review-evidence-0ca23d:title:__title:mdpr-corpus-runtime-vs-review-evidence-0ca23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Runtime vs Review Evidence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0760" y="1737360"/>
            <a:ext cx="22860" cy="3968496"/>
          </a:xfrm>
          <a:prstGeom prst="rect">
            <a:avLst/>
          </a:prstGeom>
          <a:solidFill>
            <a:srgbClr val="E2E8F0">
              <a:alpha val="90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2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13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boundary</a:t>
            </a:r>
            <a:endParaRPr lang="en-US" sz="1800" dirty="0"/>
          </a:p>
        </p:txBody>
      </p:sp>
      <p:sp>
        <p:nvSpPr>
          <p:cNvPr id="14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Architecture</a:t>
            </a:r>
            <a:endParaRPr lang="en-US" sz="1800" dirty="0"/>
          </a:p>
        </p:txBody>
      </p:sp>
      <p:sp>
        <p:nvSpPr>
          <p:cNvPr id="15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Page Splitting Rules</a:t>
            </a:r>
            <a:endParaRPr lang="en-US" sz="1800" dirty="0"/>
          </a:p>
        </p:txBody>
      </p:sp>
      <p:sp>
        <p:nvSpPr>
          <p:cNvPr id="16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Layout Selection Rules</a:t>
            </a:r>
            <a:endParaRPr lang="en-US" sz="1800" dirty="0"/>
          </a:p>
        </p:txBody>
      </p:sp>
      <p:sp>
        <p:nvSpPr>
          <p:cNvPr id="17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Rendering Rules</a:t>
            </a:r>
            <a:endParaRPr lang="en-US" sz="1800" dirty="0"/>
          </a:p>
        </p:txBody>
      </p:sp>
      <p:sp>
        <p:nvSpPr>
          <p:cNvPr id="18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Validation and Overflow Policy</a:t>
            </a:r>
            <a:endParaRPr lang="en-US" sz="1800" dirty="0"/>
          </a:p>
        </p:txBody>
      </p:sp>
      <p:sp>
        <p:nvSpPr>
          <p:cNvPr id="19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Example decks from MDPR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0760" y="1737360"/>
            <a:ext cx="22860" cy="3968496"/>
          </a:xfrm>
          <a:prstGeom prst="rect">
            <a:avLst/>
          </a:prstGeom>
          <a:solidFill>
            <a:srgbClr val="E2E8F0">
              <a:alpha val="90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2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Example: examples/basic/deck.md</a:t>
            </a:r>
            <a:endParaRPr lang="en-US" sz="1800" dirty="0"/>
          </a:p>
        </p:txBody>
      </p:sp>
      <p:sp>
        <p:nvSpPr>
          <p:cNvPr id="13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Example: examples/comparison/deck.md</a:t>
            </a:r>
            <a:endParaRPr lang="en-US" sz="1800" dirty="0"/>
          </a:p>
        </p:txBody>
      </p:sp>
      <p:sp>
        <p:nvSpPr>
          <p:cNvPr id="14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Example: examples/pipeline/deck.md</a:t>
            </a:r>
            <a:endParaRPr lang="en-US" sz="1800" dirty="0"/>
          </a:p>
        </p:txBody>
      </p:sp>
      <p:sp>
        <p:nvSpPr>
          <p:cNvPr id="15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Example: examples/diagram-arrangements/deck.md</a:t>
            </a:r>
            <a:endParaRPr lang="en-US" sz="1800" dirty="0"/>
          </a:p>
        </p:txBody>
      </p:sp>
      <p:sp>
        <p:nvSpPr>
          <p:cNvPr id="16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Example: examples/five-methods/deck.md</a:t>
            </a:r>
            <a:endParaRPr lang="en-US" sz="1800" dirty="0"/>
          </a:p>
        </p:txBody>
      </p:sp>
      <p:sp>
        <p:nvSpPr>
          <p:cNvPr id="17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Example: examples/theme-preview-en/deck.md</a:t>
            </a:r>
            <a:endParaRPr lang="en-US" sz="1800" dirty="0"/>
          </a:p>
        </p:txBody>
      </p:sp>
      <p:sp>
        <p:nvSpPr>
          <p:cNvPr id="18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Current skill output expectations</a:t>
            </a:r>
            <a:endParaRPr lang="en-US" sz="1800" dirty="0"/>
          </a:p>
        </p:txBody>
      </p:sp>
      <p:sp>
        <p:nvSpPr>
          <p:cNvPr id="19" name="mdpr:2-2-7bfb60:toc-item-8:toc-item-16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End state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difference-at-a-glance-e2e4df:title:__title:difference-at-a-glance-e2e4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mdpr:difference-at-a-glance-e2e4df:table:block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runtime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mdpr-skill review companion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rendered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Optional semantic hints, review findings, and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reads MDPR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Owns deterministic layout, typography, and theme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set final coordinates, font sizes, or theme values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PPTX, HTML, PDF, manifests, and previews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hints, review reports, and comparison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2-cbec28:title:__title:1-2-cbec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9dab57:title:__title:2-2-9dab5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103620" y="2802407"/>
            <a:ext cx="0" cy="43022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6103620" y="4439183"/>
            <a:ext cx="0" cy="43022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169871" y="1536192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169871" y="1536192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34463" y="1997964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34463" y="19979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883103" y="1664208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manifest and previews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169871" y="3172968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169871" y="3172968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34463" y="3634740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34463" y="36347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883103" y="3300984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 hints or review findings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169871" y="4809744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169871" y="4809744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34463" y="5271516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4463" y="52715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883103" y="4937760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only renderer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c51ee9:title:__title:1-2-c51ee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15" name="mdpr:1-2-c51ee9:item-1:block-9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16" name="mdpr:1-2-c51ee9:item-2:block-9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17" name="mdpr:1-2-c51ee9:item-3:block-9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  <p:sp>
        <p:nvSpPr>
          <p:cNvPr id="18" name="mdpr:1-2-c51ee9:item-4:block-9-chunk-1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does not know renderers. It emits Presentation IR only.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6d3a3b:title:__title:2-2-6d3a3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1-3-c49d80:title:__title:1-3-c49d8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3400" dirty="0"/>
          </a:p>
        </p:txBody>
      </p:sp>
      <p:sp>
        <p:nvSpPr>
          <p:cNvPr id="13" name="mdpr:1-3-c49d80:item-1:block-12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14" name="mdpr:1-3-c49d80:item-2:block-12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  <p:sp>
        <p:nvSpPr>
          <p:cNvPr id="15" name="mdpr:1-3-c49d80:item-3:block-12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2107ad:title:__title:2-3-2107a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 (Cont. 2/3)</a:t>
            </a:r>
            <a:endParaRPr lang="en-US" sz="3400" dirty="0"/>
          </a:p>
        </p:txBody>
      </p:sp>
      <p:sp>
        <p:nvSpPr>
          <p:cNvPr id="13" name="mdpr:2-3-2107ad:item-1:block-12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14" name="mdpr:2-3-2107ad:item-2:block-12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Procedure</a:t>
            </a:r>
            <a:endParaRPr lang="en-US" sz="2200" dirty="0"/>
          </a:p>
        </p:txBody>
      </p:sp>
      <p:sp>
        <p:nvSpPr>
          <p:cNvPr id="15" name="mdpr:2-3-2107ad:item-3:block-12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822960" y="1417320"/>
            <a:ext cx="3794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a4649c:title:__title:3-3-a464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 (Cont. 3/3)</a:t>
            </a:r>
            <a:endParaRPr lang="en-US" sz="3400" dirty="0"/>
          </a:p>
        </p:txBody>
      </p:sp>
      <p:sp>
        <p:nvSpPr>
          <p:cNvPr id="6" name="mdpr:3-3-a4649c:body:block-12-chunk-3-block-14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 the AST into MDPR BlockIR while preserving presentation-relevant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Normalize Pandoc JSON into BlockIR when --parser pandoc is selected.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heading tree.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cover or section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  slide candidate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  subsection or autosplit boundary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 in-body heading</a:t>
            </a:r>
            <a:endParaRPr lang="en-US" sz="1800" dirty="0"/>
          </a:p>
        </p:txBody>
      </p:sp>
      <p:graphicFrame>
        <p:nvGraphicFramePr>
          <p:cNvPr id="12" name="mdpr:3-3-a4649c:table:block-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1-3-c0cf7e:title:__title:1-3-c0cf7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3400" dirty="0"/>
          </a:p>
        </p:txBody>
      </p:sp>
      <p:sp>
        <p:nvSpPr>
          <p:cNvPr id="13" name="mdpr:1-3-c0cf7e:item-1:block-16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2200" dirty="0"/>
          </a:p>
        </p:txBody>
      </p:sp>
      <p:sp>
        <p:nvSpPr>
          <p:cNvPr id="14" name="mdpr:1-3-c0cf7e:item-2:block-16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2200" dirty="0"/>
          </a:p>
        </p:txBody>
      </p:sp>
      <p:sp>
        <p:nvSpPr>
          <p:cNvPr id="15" name="mdpr:1-3-c0cf7e:item-3:block-16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500204:title:__title:2-3-50020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 (Cont. 2/3)</a:t>
            </a:r>
            <a:endParaRPr lang="en-US" sz="3400" dirty="0"/>
          </a:p>
        </p:txBody>
      </p:sp>
      <p:sp>
        <p:nvSpPr>
          <p:cNvPr id="13" name="mdpr:2-3-500204:item-1:block-16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2200" dirty="0"/>
          </a:p>
        </p:txBody>
      </p:sp>
      <p:sp>
        <p:nvSpPr>
          <p:cNvPr id="14" name="mdpr:2-3-500204:item-2:block-16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 Routing</a:t>
            </a:r>
            <a:endParaRPr lang="en-US" sz="2200" dirty="0"/>
          </a:p>
        </p:txBody>
      </p:sp>
      <p:sp>
        <p:nvSpPr>
          <p:cNvPr id="15" name="mdpr:2-3-500204:item-3:block-16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the deck title as the single header.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822960" y="1417320"/>
            <a:ext cx="3794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5eedd2:title:__title:3-3-5eedd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 (Cont. 3/3)</a:t>
            </a:r>
            <a:endParaRPr lang="en-US" sz="3400" dirty="0"/>
          </a:p>
        </p:txBody>
      </p:sp>
      <p:sp>
        <p:nvSpPr>
          <p:cNvPr id="6" name="mdpr:3-3-5eedd2:body:block-16-chunk-3-block-18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Select the first pipeline diagram in source order as the hero object.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Synthesize one *-teaser-overview bullet list from up to four source sections.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Keep the first chart, table, and image in source order as proof objects.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SlideIntentScoreProfile + itemCount + blockType + density =&gt; candidate LayoutPresets =&gt; deterministic score + bounded recent-geometry reuse penalty =&gt; selected LayoutPreset</a:t>
            </a:r>
            <a:endParaRPr lang="en-US" sz="1800" dirty="0"/>
          </a:p>
        </p:txBody>
      </p:sp>
      <p:graphicFrame>
        <p:nvGraphicFramePr>
          <p:cNvPr id="15" name="mdpr:3-3-5eedd2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1-3-0466ef:title:__title:1-3-0466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3400" dirty="0"/>
          </a:p>
        </p:txBody>
      </p:sp>
      <p:sp>
        <p:nvSpPr>
          <p:cNvPr id="13" name="mdpr:1-3-0466ef:item-1:block-20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Shared Renderer Contract</a:t>
            </a:r>
            <a:endParaRPr lang="en-US" sz="2200" dirty="0"/>
          </a:p>
        </p:txBody>
      </p:sp>
      <p:sp>
        <p:nvSpPr>
          <p:cNvPr id="14" name="mdpr:1-3-0466ef:item-2:block-20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Renderer</a:t>
            </a:r>
            <a:endParaRPr lang="en-US" sz="2200" dirty="0"/>
          </a:p>
        </p:txBody>
      </p:sp>
      <p:sp>
        <p:nvSpPr>
          <p:cNvPr id="15" name="mdpr:1-3-0466ef:item-3:block-20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Styles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068207:title:__title:2-3-0682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 (Cont. 2/3)</a:t>
            </a:r>
            <a:endParaRPr lang="en-US" sz="3400" dirty="0"/>
          </a:p>
        </p:txBody>
      </p:sp>
      <p:sp>
        <p:nvSpPr>
          <p:cNvPr id="13" name="mdpr:2-3-068207:item-1:block-20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14" name="mdpr:2-3-068207:item-2:block-20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 Policy</a:t>
            </a:r>
            <a:endParaRPr lang="en-US" sz="2200" dirty="0"/>
          </a:p>
        </p:txBody>
      </p:sp>
      <p:sp>
        <p:nvSpPr>
          <p:cNvPr id="15" name="mdpr:2-3-068207:item-3:block-20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1417320"/>
            <a:ext cx="10652760" cy="4800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1417320"/>
            <a:ext cx="10652760" cy="4800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983be2:title:__title:3-3-983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 (Cont. 3/3)</a:t>
            </a:r>
            <a:endParaRPr lang="en-US" sz="3400" dirty="0"/>
          </a:p>
        </p:txBody>
      </p:sp>
      <p:sp>
        <p:nvSpPr>
          <p:cNvPr id="5" name="mdpr:3-3-983be2:code:block-21"/>
          <p:cNvSpPr txBox="1"/>
          <p:nvPr/>
        </p:nvSpPr>
        <p:spPr>
          <a:xfrm>
            <a:off x="941832" y="1563624"/>
            <a:ext cx="10323576" cy="45079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1-3-4b2f30:title:__title:1-3-4b2f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3400" dirty="0"/>
          </a:p>
        </p:txBody>
      </p:sp>
      <p:sp>
        <p:nvSpPr>
          <p:cNvPr id="13" name="mdpr:1-3-4b2f30:item-1:block-23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14" name="mdpr:1-3-4b2f30:item-2:block-23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  <p:sp>
        <p:nvSpPr>
          <p:cNvPr id="15" name="mdpr:1-3-4b2f30:item-3:block-23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fe6c97:title:__title:2-3-fe6c9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 (Cont. 2/3)</a:t>
            </a:r>
            <a:endParaRPr lang="en-US" sz="3400" dirty="0"/>
          </a:p>
        </p:txBody>
      </p:sp>
      <p:sp>
        <p:nvSpPr>
          <p:cNvPr id="13" name="mdpr:2-3-fe6c97:item-1:block-23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4" name="mdpr:2-3-fe6c97:item-2:block-23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Title Regions</a:t>
            </a:r>
            <a:endParaRPr lang="en-US" sz="2200" dirty="0"/>
          </a:p>
        </p:txBody>
      </p:sp>
      <p:sp>
        <p:nvSpPr>
          <p:cNvPr id="15" name="mdpr:2-3-fe6c97:item-3:block-23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1417320"/>
            <a:ext cx="10652760" cy="4800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1417320"/>
            <a:ext cx="10652760" cy="4800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d74d2e:title:__title:3-3-d74d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 (Cont. 3/3)</a:t>
            </a:r>
            <a:endParaRPr lang="en-US" sz="3400" dirty="0"/>
          </a:p>
        </p:txBody>
      </p:sp>
      <p:sp>
        <p:nvSpPr>
          <p:cNvPr id="5" name="mdpr:3-3-d74d2e:code:block-24"/>
          <p:cNvSpPr txBox="1"/>
          <p:nvPr/>
        </p:nvSpPr>
        <p:spPr>
          <a:xfrm>
            <a:off x="941832" y="1563624"/>
            <a:ext cx="10323576" cy="45079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example-decks-from-mdpr-1f8782:title:__title:example-decks-from-mdpr-1f87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3" name="mdpr:example-decks-from-mdpr-1f8782:left:block-26-block-26-block-26"/>
          <p:cNvSpPr txBox="1"/>
          <p:nvPr/>
        </p:nvSpPr>
        <p:spPr>
          <a:xfrm>
            <a:off x="896112" y="1463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endParaRPr lang="en-US" sz="2200" dirty="0"/>
          </a:p>
        </p:txBody>
      </p:sp>
      <p:sp>
        <p:nvSpPr>
          <p:cNvPr id="4" name="mdpr:example-decks-from-mdpr-1f8782:left:block-26-block-26-block-26"/>
          <p:cNvSpPr txBox="1"/>
          <p:nvPr/>
        </p:nvSpPr>
        <p:spPr>
          <a:xfrm>
            <a:off x="896112" y="2225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</p:txBody>
      </p:sp>
      <p:sp>
        <p:nvSpPr>
          <p:cNvPr id="5" name="mdpr:example-decks-from-mdpr-1f8782:left:block-26-block-26-block-26"/>
          <p:cNvSpPr txBox="1"/>
          <p:nvPr/>
        </p:nvSpPr>
        <p:spPr>
          <a:xfrm>
            <a:off x="896112" y="2987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6" name="mdpr:example-decks-from-mdpr-1f8782:right:block-26-block-26"/>
          <p:cNvSpPr txBox="1"/>
          <p:nvPr/>
        </p:nvSpPr>
        <p:spPr>
          <a:xfrm>
            <a:off x="6473952" y="146304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endParaRPr lang="en-US" sz="2200" dirty="0"/>
          </a:p>
        </p:txBody>
      </p:sp>
      <p:sp>
        <p:nvSpPr>
          <p:cNvPr id="7" name="mdpr:example-decks-from-mdpr-1f8782:right:block-26-block-26"/>
          <p:cNvSpPr txBox="1"/>
          <p:nvPr/>
        </p:nvSpPr>
        <p:spPr>
          <a:xfrm>
            <a:off x="6473952" y="256032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7e86e7:title:__title:1-3-7e86e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sp>
        <p:nvSpPr>
          <p:cNvPr id="15" name="mdpr:1-3-7e86e7:item-1:block-2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Workflow Automation Proposal</a:t>
            </a:r>
            <a:endParaRPr lang="en-US" sz="2200" dirty="0"/>
          </a:p>
        </p:txBody>
      </p:sp>
      <p:sp>
        <p:nvSpPr>
          <p:cNvPr id="16" name="mdpr:1-3-7e86e7:item-2:block-2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 Definition</a:t>
            </a:r>
            <a:endParaRPr lang="en-US" sz="2200" dirty="0"/>
          </a:p>
        </p:txBody>
      </p:sp>
      <p:sp>
        <p:nvSpPr>
          <p:cNvPr id="17" name="mdpr:1-3-7e86e7:item-3:block-2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Repetitive Work Is Growing</a:t>
            </a:r>
            <a:endParaRPr lang="en-US" sz="2200" dirty="0"/>
          </a:p>
        </p:txBody>
      </p:sp>
      <p:sp>
        <p:nvSpPr>
          <p:cNvPr id="18" name="mdpr:1-3-7e86e7:item-4:block-2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Costs Are Growing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4f52c2:title:__title:2-3-4f52c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 (Cont. 2/3)</a:t>
            </a:r>
            <a:endParaRPr lang="en-US" sz="3400" dirty="0"/>
          </a:p>
        </p:txBody>
      </p:sp>
      <p:sp>
        <p:nvSpPr>
          <p:cNvPr id="13" name="mdpr:2-3-4f52c2:item-1:block-28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4" name="mdpr:2-3-4f52c2:item-2:block-28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5" name="mdpr:2-3-4f52c2:item-3:block-28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Meeting note cleanup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3-3-9304f5:title:__title:3-3-9304f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 (Cont. 3/3)</a:t>
            </a:r>
            <a:endParaRPr lang="en-US" sz="3400" dirty="0"/>
          </a:p>
        </p:txBody>
      </p:sp>
      <p:sp>
        <p:nvSpPr>
          <p:cNvPr id="13" name="mdpr:3-3-9304f5:item-1:block-28-chunk-3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Report draft writing</a:t>
            </a:r>
            <a:endParaRPr lang="en-US" sz="2200" dirty="0"/>
          </a:p>
        </p:txBody>
      </p:sp>
      <p:sp>
        <p:nvSpPr>
          <p:cNvPr id="14" name="mdpr:3-3-9304f5:item-2:block-28-chunk-3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 collection</a:t>
            </a:r>
            <a:endParaRPr lang="en-US" sz="2200" dirty="0"/>
          </a:p>
        </p:txBody>
      </p:sp>
      <p:sp>
        <p:nvSpPr>
          <p:cNvPr id="15" name="mdpr:3-3-9304f5:item-3:block-28-chunk-3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location is unclear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d8deb6:title:__title:1-2-d8deb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sp>
        <p:nvSpPr>
          <p:cNvPr id="15" name="mdpr:1-2-d8deb6:item-1:block-30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 Structure Example</a:t>
            </a:r>
            <a:endParaRPr lang="en-US" sz="2200" dirty="0"/>
          </a:p>
        </p:txBody>
      </p:sp>
      <p:sp>
        <p:nvSpPr>
          <p:cNvPr id="16" name="mdpr:1-2-d8deb6:item-2:block-30-chunk-1"/>
          <p:cNvSpPr txBox="1"/>
          <p:nvPr/>
        </p:nvSpPr>
        <p:spPr>
          <a:xfrm>
            <a:off x="65288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7" name="mdpr:1-2-d8deb6:item-3:block-30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8" name="mdpr:1-2-d8deb6:item-4:block-30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Improved Approach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2-2-447582:title:__title:2-2-4475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 (Cont. 2/2)</a:t>
            </a:r>
            <a:endParaRPr lang="en-US" sz="3400" dirty="0"/>
          </a:p>
        </p:txBody>
      </p:sp>
      <p:sp>
        <p:nvSpPr>
          <p:cNvPr id="15" name="mdpr:2-2-447582:item-1:block-30-chunk-2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Documents are written manually</a:t>
            </a:r>
            <a:endParaRPr lang="en-US" sz="2200" dirty="0"/>
          </a:p>
        </p:txBody>
      </p:sp>
      <p:sp>
        <p:nvSpPr>
          <p:cNvPr id="16" name="mdpr:2-2-447582:item-2:block-30-chunk-2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 varies by person</a:t>
            </a:r>
            <a:endParaRPr lang="en-US" sz="2200" dirty="0"/>
          </a:p>
        </p:txBody>
      </p:sp>
      <p:sp>
        <p:nvSpPr>
          <p:cNvPr id="17" name="mdpr:2-2-447582:item-3:block-30-chunk-2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is difficult</a:t>
            </a:r>
            <a:endParaRPr lang="en-US" sz="2200" dirty="0"/>
          </a:p>
        </p:txBody>
      </p:sp>
      <p:sp>
        <p:nvSpPr>
          <p:cNvPr id="18" name="mdpr:2-2-447582:item-4:block-30-chunk-2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Drafts are generated automatically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1624b4:title:__title:1-2-1624b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5" name="mdpr:1-2-1624b4:item-1:block-3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6" name="mdpr:1-2-1624b4:item-2:block-3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17" name="mdpr:1-2-1624b4:item-3:block-3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18" name="mdpr:1-2-1624b4:item-4:block-32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2-a2c94a:title:__title:2-2-a2c94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 (Cont. 2/2)</a:t>
            </a:r>
            <a:endParaRPr lang="en-US" sz="3400" dirty="0"/>
          </a:p>
        </p:txBody>
      </p:sp>
      <p:sp>
        <p:nvSpPr>
          <p:cNvPr id="13" name="mdpr:2-2-a2c94a:item-1:block-32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structure</a:t>
            </a:r>
            <a:endParaRPr lang="en-US" sz="2200" dirty="0"/>
          </a:p>
        </p:txBody>
      </p:sp>
      <p:sp>
        <p:nvSpPr>
          <p:cNvPr id="14" name="mdpr:2-2-a2c94a:item-2:block-32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 layout</a:t>
            </a:r>
            <a:endParaRPr lang="en-US" sz="2200" dirty="0"/>
          </a:p>
        </p:txBody>
      </p:sp>
      <p:sp>
        <p:nvSpPr>
          <p:cNvPr id="15" name="mdpr:2-2-a2c94a:item-3:block-32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diagram-arrangements-deck-md-adac59:title:__title:example-examples-diagram-arrangements-deck-md-ada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1" name="mdpr:example-examples-diagram-arrangements-deck-md-adac59:item-1:block-34"/>
          <p:cNvSpPr txBox="1"/>
          <p:nvPr/>
        </p:nvSpPr>
        <p:spPr>
          <a:xfrm>
            <a:off x="1042416" y="2103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2" name="mdpr:example-examples-diagram-arrangements-deck-md-adac59:item-2:block-34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3" name="mdpr:example-examples-diagram-arrangements-deck-md-adac59:item-3:block-34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24" name="mdpr:example-examples-diagram-arrangements-deck-md-adac59:item-4:block-34"/>
          <p:cNvSpPr txBox="1"/>
          <p:nvPr/>
        </p:nvSpPr>
        <p:spPr>
          <a:xfrm>
            <a:off x="104241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25" name="mdpr:example-examples-diagram-arrangements-deck-md-adac59:item-5:block-34"/>
          <p:cNvSpPr txBox="1"/>
          <p:nvPr/>
        </p:nvSpPr>
        <p:spPr>
          <a:xfrm>
            <a:off x="456285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26" name="mdpr:example-examples-diagram-arrangements-deck-md-adac59:item-6:block-34"/>
          <p:cNvSpPr txBox="1"/>
          <p:nvPr/>
        </p:nvSpPr>
        <p:spPr>
          <a:xfrm>
            <a:off x="808329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five-methods-deck-md-6608d8:title:__title:example-examples-five-methods-deck-md-6608d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1" name="mdpr:example-examples-five-methods-deck-md-6608d8:item-1:block-36"/>
          <p:cNvSpPr txBox="1"/>
          <p:nvPr/>
        </p:nvSpPr>
        <p:spPr>
          <a:xfrm>
            <a:off x="104241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2" name="mdpr:example-examples-five-methods-deck-md-6608d8:item-2:block-36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3" name="mdpr:example-examples-five-methods-deck-md-6608d8:item-3:block-36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 a pilot team</a:t>
            </a:r>
            <a:endParaRPr lang="en-US" sz="1800" dirty="0"/>
          </a:p>
        </p:txBody>
      </p:sp>
      <p:sp>
        <p:nvSpPr>
          <p:cNvPr id="24" name="mdpr:example-examples-five-methods-deck-md-6608d8:item-4:block-36"/>
          <p:cNvSpPr txBox="1"/>
          <p:nvPr/>
        </p:nvSpPr>
        <p:spPr>
          <a:xfrm>
            <a:off x="104241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Analyze repetitive document types</a:t>
            </a:r>
            <a:endParaRPr lang="en-US" sz="1800" dirty="0"/>
          </a:p>
        </p:txBody>
      </p:sp>
      <p:sp>
        <p:nvSpPr>
          <p:cNvPr id="25" name="mdpr:example-examples-five-methods-deck-md-6608d8:item-5:block-36"/>
          <p:cNvSpPr txBox="1"/>
          <p:nvPr/>
        </p:nvSpPr>
        <p:spPr>
          <a:xfrm>
            <a:off x="456285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automation templates</a:t>
            </a:r>
            <a:endParaRPr lang="en-US" sz="1800" dirty="0"/>
          </a:p>
        </p:txBody>
      </p:sp>
      <p:sp>
        <p:nvSpPr>
          <p:cNvPr id="26" name="mdpr:example-examples-five-methods-deck-md-6608d8:item-6:block-36"/>
          <p:cNvSpPr txBox="1"/>
          <p:nvPr/>
        </p:nvSpPr>
        <p:spPr>
          <a:xfrm>
            <a:off x="808329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9e7dc8:title:__title:1-3-9e7d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5" name="mdpr:1-3-9e7dc8:item-1:block-3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6" name="mdpr:1-3-9e7dc8:item-2:block-3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17" name="mdpr:1-3-9e7dc8:item-3:block-3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18" name="mdpr:1-3-9e7dc8:item-4:block-3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298275:title:__title:2-3-29827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 (Cont. 2/3)</a:t>
            </a:r>
            <a:endParaRPr lang="en-US" sz="3400" dirty="0"/>
          </a:p>
        </p:txBody>
      </p:sp>
      <p:sp>
        <p:nvSpPr>
          <p:cNvPr id="13" name="mdpr:2-3-298275:item-1:block-38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14" name="mdpr:2-3-298275:item-2:block-38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15" name="mdpr:2-3-298275:item-3:block-38-chunk-2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3-3-bec926:title:__title:3-3-bec92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 (Cont. 3/3)</a:t>
            </a:r>
            <a:endParaRPr lang="en-US" sz="3400" dirty="0"/>
          </a:p>
        </p:txBody>
      </p:sp>
      <p:sp>
        <p:nvSpPr>
          <p:cNvPr id="13" name="mdpr:3-3-bec926:item-1:block-38-chunk-3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</p:txBody>
      </p:sp>
      <p:sp>
        <p:nvSpPr>
          <p:cNvPr id="14" name="mdpr:3-3-bec926:item-2:block-38-chunk-3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</p:txBody>
      </p:sp>
      <p:sp>
        <p:nvSpPr>
          <p:cNvPr id="15" name="mdpr:3-3-bec926:item-3:block-38-chunk-3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current-skill-output-expectations-e56835:title:__title:current-skill-output-expectations-e568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5" name="mdpr:current-skill-output-expectations-e56835:item-1:block-40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6" name="mdpr:current-skill-output-expectations-e56835:item-2:block-40"/>
          <p:cNvSpPr txBox="1"/>
          <p:nvPr/>
        </p:nvSpPr>
        <p:spPr>
          <a:xfrm>
            <a:off x="6528816" y="1874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17" name="mdpr:current-skill-output-expectations-e56835:item-3:block-40"/>
          <p:cNvSpPr txBox="1"/>
          <p:nvPr/>
        </p:nvSpPr>
        <p:spPr>
          <a:xfrm>
            <a:off x="10424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18" name="mdpr:current-skill-output-expectations-e56835:item-4:block-40"/>
          <p:cNvSpPr txBox="1"/>
          <p:nvPr/>
        </p:nvSpPr>
        <p:spPr>
          <a:xfrm>
            <a:off x="65288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end-state-9e2e49:title:__title:end-state-9e2e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mdpr:end-state-9e2e49:key-message:block-42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mdpr-skill adds optional semantic hints, review findings, and evidence without owning final visual decisions.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919191"/>
      </a:accent4>
      <a:accent5>
        <a:srgbClr val="E2E8F0"/>
      </a:accent5>
      <a:accent6>
        <a:srgbClr val="111111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Runtime vs Review Evidence</dc:title>
  <dc:subject>Generated from Markdown through Presentation IR and Layout IR</dc:subject>
  <dc:creator>mdpresent</dc:creator>
  <cp:lastModifiedBy>mdpresent</cp:lastModifiedBy>
  <cp:revision>1</cp:revision>
  <dcterms:created xsi:type="dcterms:W3CDTF">2026-07-13T16:57:28Z</dcterms:created>
  <dcterms:modified xsi:type="dcterms:W3CDTF">2026-07-13T16:57:28Z</dcterms:modified>
</cp:coreProperties>
</file>