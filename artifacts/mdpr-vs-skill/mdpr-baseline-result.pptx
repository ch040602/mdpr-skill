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image" Target="../media/image-30-9.png"/><Relationship Id="rId10" Type="http://schemas.openxmlformats.org/officeDocument/2006/relationships/image" Target="../media/image-30-10.sv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image" Target="../media/image-34-7.png"/><Relationship Id="rId8" Type="http://schemas.openxmlformats.org/officeDocument/2006/relationships/image" Target="../media/image-3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" name="mdpr:mdpr-corpus-runtime-vs-review-evidence-0ca23d:title:__title:mdpr-corpus-runtime-vs-review-evidence-0ca23d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Corpus: Runtime vs Review Evidence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1" name="mdpr:1-2-0772f8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Difference at a glance</a:t>
            </a:r>
            <a:endParaRPr lang="en-US" sz="1800" dirty="0"/>
          </a:p>
        </p:txBody>
      </p:sp>
      <p:sp>
        <p:nvSpPr>
          <p:cNvPr id="12" name="mdpr:1-2-0772f8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boundary</a:t>
            </a:r>
            <a:endParaRPr lang="en-US" sz="1800" dirty="0"/>
          </a:p>
        </p:txBody>
      </p:sp>
      <p:sp>
        <p:nvSpPr>
          <p:cNvPr id="13" name="mdpr:1-2-0772f8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Architecture</a:t>
            </a:r>
            <a:endParaRPr lang="en-US" sz="1800" dirty="0"/>
          </a:p>
        </p:txBody>
      </p:sp>
      <p:sp>
        <p:nvSpPr>
          <p:cNvPr id="14" name="mdpr:1-2-0772f8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Page Splitting Rules</a:t>
            </a:r>
            <a:endParaRPr lang="en-US" sz="1800" dirty="0"/>
          </a:p>
        </p:txBody>
      </p:sp>
      <p:sp>
        <p:nvSpPr>
          <p:cNvPr id="15" name="mdpr:1-2-0772f8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Layout Selection Rules</a:t>
            </a:r>
            <a:endParaRPr lang="en-US" sz="1800" dirty="0"/>
          </a:p>
        </p:txBody>
      </p:sp>
      <p:sp>
        <p:nvSpPr>
          <p:cNvPr id="16" name="mdpr:1-2-0772f8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Rendering Rules</a:t>
            </a:r>
            <a:endParaRPr lang="en-US" sz="1800" dirty="0"/>
          </a:p>
        </p:txBody>
      </p:sp>
      <p:sp>
        <p:nvSpPr>
          <p:cNvPr id="17" name="mdpr:1-2-0772f8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Validation and Overflow Policy</a:t>
            </a:r>
            <a:endParaRPr lang="en-US" sz="1800" dirty="0"/>
          </a:p>
        </p:txBody>
      </p:sp>
      <p:sp>
        <p:nvSpPr>
          <p:cNvPr id="18" name="mdpr:1-2-0772f8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Example decks from MDPR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pPr algn="ctr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2/2)</a:t>
            </a:r>
            <a:endParaRPr lang="en-US" sz="3800" dirty="0"/>
          </a:p>
        </p:txBody>
      </p:sp>
      <p:sp>
        <p:nvSpPr>
          <p:cNvPr id="11" name="mdpr:2-2-7bfb60:toc-item-1:toc-item-9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Example: examples/basic/deck.md</a:t>
            </a:r>
            <a:endParaRPr lang="en-US" sz="1800" dirty="0"/>
          </a:p>
        </p:txBody>
      </p:sp>
      <p:sp>
        <p:nvSpPr>
          <p:cNvPr id="12" name="mdpr:2-2-7bfb60:toc-item-2:toc-item-10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Example: examples/comparison/deck.md</a:t>
            </a:r>
            <a:endParaRPr lang="en-US" sz="1800" dirty="0"/>
          </a:p>
        </p:txBody>
      </p:sp>
      <p:sp>
        <p:nvSpPr>
          <p:cNvPr id="13" name="mdpr:2-2-7bfb60:toc-item-3:toc-item-11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Example: examples/pipeline/deck.md</a:t>
            </a:r>
            <a:endParaRPr lang="en-US" sz="1800" dirty="0"/>
          </a:p>
        </p:txBody>
      </p:sp>
      <p:sp>
        <p:nvSpPr>
          <p:cNvPr id="14" name="mdpr:2-2-7bfb60:toc-item-4:toc-item-12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Example: examples/diagram-arrangements/deck.md</a:t>
            </a:r>
            <a:endParaRPr lang="en-US" sz="1800" dirty="0"/>
          </a:p>
        </p:txBody>
      </p:sp>
      <p:sp>
        <p:nvSpPr>
          <p:cNvPr id="15" name="mdpr:2-2-7bfb60:toc-item-5:toc-item-13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Example: examples/five-methods/deck.md</a:t>
            </a:r>
            <a:endParaRPr lang="en-US" sz="1800" dirty="0"/>
          </a:p>
        </p:txBody>
      </p:sp>
      <p:sp>
        <p:nvSpPr>
          <p:cNvPr id="16" name="mdpr:2-2-7bfb60:toc-item-6:toc-item-14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Example: examples/theme-preview-en/deck.md</a:t>
            </a:r>
            <a:endParaRPr lang="en-US" sz="1800" dirty="0"/>
          </a:p>
        </p:txBody>
      </p:sp>
      <p:sp>
        <p:nvSpPr>
          <p:cNvPr id="17" name="mdpr:2-2-7bfb60:toc-item-7:toc-item-15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 Current skill output expectations</a:t>
            </a:r>
            <a:endParaRPr lang="en-US" sz="1800" dirty="0"/>
          </a:p>
        </p:txBody>
      </p:sp>
      <p:sp>
        <p:nvSpPr>
          <p:cNvPr id="18" name="mdpr:2-2-7bfb60:toc-item-8:toc-item-16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 End state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mdpr:difference-at-a-glance-e2e4df:title:__title:difference-at-a-glance-e2e4d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Difference at a glance</a:t>
            </a:r>
            <a:endParaRPr lang="en-US" sz="3400" dirty="0"/>
          </a:p>
        </p:txBody>
      </p:sp>
      <p:graphicFrame>
        <p:nvGraphicFramePr>
          <p:cNvPr id="5" name="mdpr:difference-at-a-glance-e2e4df:table:block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1234440"/>
                <a:gridCol w="4503420"/>
                <a:gridCol w="45034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Area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MDPR runtime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mdpr-skill review companion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Markdown to Presentation IR and rendered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Optional semantic hints, review findings, and evidence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Built-in parser or Pandoc parser mode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Does not parse Markdown; reads MDPR evidence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Owns deterministic layout, typography, and theme rules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Does not set final coordinates, font sizes, or theme values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 PPTX, HTML, PDF, manifests, and previews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hints, review reports, and comparison evidence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pr:1-2-cbec28:title:__title:1-2-cbec2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boundary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235458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0624" y="2354580"/>
            <a:ext cx="0" cy="1481328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0624" y="3835908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BlockIR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Outline Tree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Planner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IR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IR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86072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86072" y="3250692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50664" y="3648639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50664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5071506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pr:2-2-9dab57:title:__title:2-2-9dab5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boundary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103620" y="3051581"/>
            <a:ext cx="0" cy="389077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6103620" y="4231157"/>
            <a:ext cx="0" cy="389077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69871" y="2221992"/>
            <a:ext cx="786749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69871" y="2221992"/>
            <a:ext cx="786749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4463" y="2482596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4463" y="24825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8239" y="2350008"/>
            <a:ext cx="7044538" cy="6126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manifest and previews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69871" y="3401568"/>
            <a:ext cx="786749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69871" y="3401568"/>
            <a:ext cx="786749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4463" y="366217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4463" y="36621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28239" y="3529584"/>
            <a:ext cx="7044538" cy="6126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 hints or review findings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69871" y="4581144"/>
            <a:ext cx="786749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69871" y="4581144"/>
            <a:ext cx="786749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4463" y="484174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4463" y="48417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828239" y="4709160"/>
            <a:ext cx="7044538" cy="6126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remains the only renderer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1-2-c51ee9:title:__title:1-2-c51ee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15" name="mdpr:1-2-c51ee9:item-1:block-9-chunk-1"/>
          <p:cNvSpPr txBox="1"/>
          <p:nvPr/>
        </p:nvSpPr>
        <p:spPr>
          <a:xfrm>
            <a:off x="10424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Flow</a:t>
            </a:r>
            <a:endParaRPr lang="en-US" sz="2200" dirty="0"/>
          </a:p>
        </p:txBody>
      </p:sp>
      <p:sp>
        <p:nvSpPr>
          <p:cNvPr id="16" name="mdpr:1-2-c51ee9:item-2:block-9-chunk-1"/>
          <p:cNvSpPr txBox="1"/>
          <p:nvPr/>
        </p:nvSpPr>
        <p:spPr>
          <a:xfrm>
            <a:off x="65288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Package Roles</a:t>
            </a:r>
            <a:endParaRPr lang="en-US" sz="2200" dirty="0"/>
          </a:p>
        </p:txBody>
      </p:sp>
      <p:sp>
        <p:nvSpPr>
          <p:cNvPr id="17" name="mdpr:1-2-c51ee9:item-3:block-9-chunk-1"/>
          <p:cNvSpPr txBox="1"/>
          <p:nvPr/>
        </p:nvSpPr>
        <p:spPr>
          <a:xfrm>
            <a:off x="10424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2200" dirty="0"/>
          </a:p>
        </p:txBody>
      </p:sp>
      <p:sp>
        <p:nvSpPr>
          <p:cNvPr id="18" name="mdpr:1-2-c51ee9:item-4:block-9-chunk-1"/>
          <p:cNvSpPr txBox="1"/>
          <p:nvPr/>
        </p:nvSpPr>
        <p:spPr>
          <a:xfrm>
            <a:off x="6528816" y="4328160"/>
            <a:ext cx="460857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core does not know renderers. It emits Presentation IR only.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pr:2-2-6d3a3b:title:__title:2-2-6d3a3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7" name="Shape 5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Parser (simple Markdown or Pandoc JSON)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Outline Builder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Planner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Coherence Grouping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Presentation IR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938528"/>
            <a:ext cx="73152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1-3-c49d80:title:__title:1-3-c49d8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Splitting Rules</a:t>
            </a:r>
            <a:endParaRPr lang="en-US" sz="3400" dirty="0"/>
          </a:p>
        </p:txBody>
      </p:sp>
      <p:sp>
        <p:nvSpPr>
          <p:cNvPr id="6" name="mdpr:1-3-c49d80:item-1:block-12-chunk-1"/>
          <p:cNvSpPr txBox="1"/>
          <p:nvPr/>
        </p:nvSpPr>
        <p:spPr>
          <a:xfrm>
            <a:off x="104241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 Rules</a:t>
            </a:r>
            <a:endParaRPr lang="en-US" sz="2200" dirty="0"/>
          </a:p>
        </p:txBody>
      </p:sp>
      <p:sp>
        <p:nvSpPr>
          <p:cNvPr id="7" name="mdpr:1-3-c49d80:item-2:block-12-chunk-1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or section</a:t>
            </a:r>
            <a:endParaRPr lang="en-US" sz="2200" dirty="0"/>
          </a:p>
        </p:txBody>
      </p:sp>
      <p:sp>
        <p:nvSpPr>
          <p:cNvPr id="8" name="mdpr:1-3-c49d80:item-3:block-12-chunk-1"/>
          <p:cNvSpPr txBox="1"/>
          <p:nvPr/>
        </p:nvSpPr>
        <p:spPr>
          <a:xfrm>
            <a:off x="808329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candidate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2487168"/>
            <a:ext cx="73152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2-3-2107ad:title:__title:2-3-2107a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Splitting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6" name="mdpr:2-3-2107ad:item-1:block-12-chunk-2"/>
          <p:cNvSpPr txBox="1"/>
          <p:nvPr/>
        </p:nvSpPr>
        <p:spPr>
          <a:xfrm>
            <a:off x="1042416" y="2814828"/>
            <a:ext cx="28254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subsection or autosplit boundary</a:t>
            </a:r>
            <a:endParaRPr lang="en-US" sz="2200" dirty="0"/>
          </a:p>
        </p:txBody>
      </p:sp>
      <p:sp>
        <p:nvSpPr>
          <p:cNvPr id="7" name="mdpr:2-3-2107ad:item-2:block-12-chunk-2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Procedure</a:t>
            </a:r>
            <a:endParaRPr lang="en-US" sz="2200" dirty="0"/>
          </a:p>
        </p:txBody>
      </p:sp>
      <p:sp>
        <p:nvSpPr>
          <p:cNvPr id="8" name="mdpr:2-3-2107ad:item-3:block-12-chunk-2"/>
          <p:cNvSpPr txBox="1"/>
          <p:nvPr/>
        </p:nvSpPr>
        <p:spPr>
          <a:xfrm>
            <a:off x="8083296" y="2647188"/>
            <a:ext cx="282549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CommonMark/GFM Markdown into an AST.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3480" y="1417320"/>
            <a:ext cx="626364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83480" y="1417320"/>
            <a:ext cx="62636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mdpr:3-3-a4649c:title:__title:3-3-a4649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 Splitting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5" name="mdpr:3-3-a4649c:body:block-12-chunk-3-block-14"/>
          <p:cNvSpPr txBox="1"/>
          <p:nvPr/>
        </p:nvSpPr>
        <p:spPr>
          <a:xfrm>
            <a:off x="896112" y="1527048"/>
            <a:ext cx="36484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Convert the AST into MDPR BlockIR while preserving presentation-relevant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Normalize Pandoc JSON into BlockIR when --parser pandoc is selected.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Build the heading tree.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cover or section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   slide candidate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  subsection or autosplit boundary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####  in-body heading</a:t>
            </a:r>
            <a:endParaRPr lang="en-US" sz="1800" dirty="0"/>
          </a:p>
        </p:txBody>
      </p:sp>
      <p:graphicFrame>
        <p:nvGraphicFramePr>
          <p:cNvPr id="12" name="mdpr:3-3-a4649c:table:block-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417320"/>
          <a:ext cx="6263640" cy="4526280"/>
        </p:xfrm>
        <a:graphic>
          <a:graphicData uri="http://schemas.openxmlformats.org/drawingml/2006/table">
            <a:tbl>
              <a:tblPr/>
              <a:tblGrid>
                <a:gridCol w="3131820"/>
                <a:gridCol w="31318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Field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Element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Default Score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Short paragraph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Long paragraph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item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mdpr:1-3-c0cf7e:title:__title:1-3-c0cf7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Selection Rules</a:t>
            </a:r>
            <a:endParaRPr lang="en-US" sz="3400" dirty="0"/>
          </a:p>
        </p:txBody>
      </p:sp>
      <p:sp>
        <p:nvSpPr>
          <p:cNvPr id="12" name="mdpr:1-3-c0cf7e:item-1:block-16-chunk-1"/>
          <p:cNvSpPr txBox="1"/>
          <p:nvPr/>
        </p:nvSpPr>
        <p:spPr>
          <a:xfrm>
            <a:off x="1133856" y="216408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Selection Formula</a:t>
            </a:r>
            <a:endParaRPr lang="en-US" sz="2200" dirty="0"/>
          </a:p>
        </p:txBody>
      </p:sp>
      <p:sp>
        <p:nvSpPr>
          <p:cNvPr id="13" name="mdpr:1-3-c0cf7e:item-2:block-16-chunk-1"/>
          <p:cNvSpPr txBox="1"/>
          <p:nvPr/>
        </p:nvSpPr>
        <p:spPr>
          <a:xfrm>
            <a:off x="1133856" y="348996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Intent Detection</a:t>
            </a:r>
            <a:endParaRPr lang="en-US" sz="2200" dirty="0"/>
          </a:p>
        </p:txBody>
      </p:sp>
      <p:sp>
        <p:nvSpPr>
          <p:cNvPr id="14" name="mdpr:1-3-c0cf7e:item-3:block-16-chunk-1"/>
          <p:cNvSpPr txBox="1"/>
          <p:nvPr/>
        </p:nvSpPr>
        <p:spPr>
          <a:xfrm>
            <a:off x="1133856" y="4806696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Count-Based Layouts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mdpr:2-3-500204:title:__title:2-3-50020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Selection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12" name="mdpr:2-3-500204:item-1:block-16-chunk-2"/>
          <p:cNvSpPr txBox="1"/>
          <p:nvPr/>
        </p:nvSpPr>
        <p:spPr>
          <a:xfrm>
            <a:off x="1133856" y="216408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Presets</a:t>
            </a:r>
            <a:endParaRPr lang="en-US" sz="2200" dirty="0"/>
          </a:p>
        </p:txBody>
      </p:sp>
      <p:sp>
        <p:nvSpPr>
          <p:cNvPr id="13" name="mdpr:2-3-500204:item-2:block-16-chunk-2"/>
          <p:cNvSpPr txBox="1"/>
          <p:nvPr/>
        </p:nvSpPr>
        <p:spPr>
          <a:xfrm>
            <a:off x="1133856" y="348996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 Routing</a:t>
            </a:r>
            <a:endParaRPr lang="en-US" sz="2200" dirty="0"/>
          </a:p>
        </p:txBody>
      </p:sp>
      <p:sp>
        <p:nvSpPr>
          <p:cNvPr id="14" name="mdpr:2-3-500204:item-3:block-16-chunk-2"/>
          <p:cNvSpPr txBox="1"/>
          <p:nvPr/>
        </p:nvSpPr>
        <p:spPr>
          <a:xfrm>
            <a:off x="1133856" y="4806696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 the deck title as the single header.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3480" y="1417320"/>
            <a:ext cx="6263640" cy="4526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83480" y="1417320"/>
            <a:ext cx="62636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mdpr:3-3-5eedd2:title:__title:3-3-5eedd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Selection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5" name="mdpr:3-3-5eedd2:body:block-16-chunk-3-block-18"/>
          <p:cNvSpPr txBox="1"/>
          <p:nvPr/>
        </p:nvSpPr>
        <p:spPr>
          <a:xfrm>
            <a:off x="896112" y="1527048"/>
            <a:ext cx="3648456" cy="43068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Select the first pipeline diagram in source order as the hero object.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Synthesize one *-teaser-overview bullet list from up to four source sections.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Keep the first chart, table, and image in source order as proof objects.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SlideIntentScoreProfile + itemCount + blockType + density =&gt; candidate LayoutPresets =&gt; deterministic score + bounded recent-geometry reuse penalty =&gt; selected LayoutPreset</a:t>
            </a:r>
            <a:endParaRPr lang="en-US" sz="1800" dirty="0"/>
          </a:p>
        </p:txBody>
      </p:sp>
      <p:graphicFrame>
        <p:nvGraphicFramePr>
          <p:cNvPr id="15" name="mdpr:3-3-5eedd2:table:block-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417320"/>
          <a:ext cx="6263640" cy="4526280"/>
        </p:xfrm>
        <a:graphic>
          <a:graphicData uri="http://schemas.openxmlformats.org/drawingml/2006/table">
            <a:tbl>
              <a:tblPr/>
              <a:tblGrid>
                <a:gridCol w="3131820"/>
                <a:gridCol w="31318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Field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Condition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Before/After, As-Is/To-Be, pros/cons, two opposed groups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comparison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Dates, stages, phases, repeated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Large 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pr:1-3-0466ef:title:__title:1-3-0466e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Rendering Rules</a:t>
            </a:r>
            <a:endParaRPr lang="en-US" sz="3400" dirty="0"/>
          </a:p>
        </p:txBody>
      </p:sp>
      <p:sp>
        <p:nvSpPr>
          <p:cNvPr id="3" name="mdpr:1-3-0466ef:body:block-20-chunk-1"/>
          <p:cNvSpPr txBox="1"/>
          <p:nvPr/>
        </p:nvSpPr>
        <p:spPr>
          <a:xfrm>
            <a:off x="987552" y="30632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Shared Renderer Contract</a:t>
            </a:r>
            <a:endParaRPr lang="en-US" sz="2200" dirty="0"/>
          </a:p>
        </p:txBody>
      </p:sp>
      <p:sp>
        <p:nvSpPr>
          <p:cNvPr id="4" name="mdpr:1-3-0466ef:body:block-20-chunk-1"/>
          <p:cNvSpPr txBox="1"/>
          <p:nvPr/>
        </p:nvSpPr>
        <p:spPr>
          <a:xfrm>
            <a:off x="987552" y="34899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PPTX Renderer</a:t>
            </a:r>
            <a:endParaRPr lang="en-US" sz="2200" dirty="0"/>
          </a:p>
        </p:txBody>
      </p:sp>
      <p:sp>
        <p:nvSpPr>
          <p:cNvPr id="5" name="mdpr:1-3-0466ef:body:block-20-chunk-1"/>
          <p:cNvSpPr txBox="1"/>
          <p:nvPr/>
        </p:nvSpPr>
        <p:spPr>
          <a:xfrm>
            <a:off x="987552" y="39166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2487168"/>
            <a:ext cx="73152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2-3-068207:title:__title:2-3-06820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Rendering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6" name="mdpr:2-3-068207:item-1:block-20-chunk-2"/>
          <p:cNvSpPr txBox="1"/>
          <p:nvPr/>
        </p:nvSpPr>
        <p:spPr>
          <a:xfrm>
            <a:off x="1042416" y="2814828"/>
            <a:ext cx="28254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and Theme Policy</a:t>
            </a:r>
            <a:endParaRPr lang="en-US" sz="2200" dirty="0"/>
          </a:p>
        </p:txBody>
      </p:sp>
      <p:sp>
        <p:nvSpPr>
          <p:cNvPr id="7" name="mdpr:2-3-068207:item-2:block-20-chunk-2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Surface Policy</a:t>
            </a:r>
            <a:endParaRPr lang="en-US" sz="2200" dirty="0"/>
          </a:p>
        </p:txBody>
      </p:sp>
      <p:sp>
        <p:nvSpPr>
          <p:cNvPr id="8" name="mdpr:2-3-068207:item-3:block-20-chunk-2"/>
          <p:cNvSpPr txBox="1"/>
          <p:nvPr/>
        </p:nvSpPr>
        <p:spPr>
          <a:xfrm>
            <a:off x="8083296" y="2647188"/>
            <a:ext cx="282549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consumes { Presentation IR, Layout IR }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3035808"/>
            <a:ext cx="10652760" cy="1572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3035808"/>
            <a:ext cx="10652760" cy="15727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mdpr:3-3-983be2:title:__title:3-3-983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Rendering Rules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5" name="mdpr:3-3-983be2:code:block-21"/>
          <p:cNvSpPr txBox="1"/>
          <p:nvPr/>
        </p:nvSpPr>
        <p:spPr>
          <a:xfrm>
            <a:off x="941832" y="3182112"/>
            <a:ext cx="10323576" cy="12801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Presentation IR, Layout IR } -&gt; PPTX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Presentation IR, Layout IR } -&gt; HTML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Presentation IR, Layout IR } -&gt; PDF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938528"/>
            <a:ext cx="73152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1-3-4b2f30:title:__title:1-3-4b2f3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and Overflow Policy</a:t>
            </a:r>
            <a:endParaRPr lang="en-US" sz="3400" dirty="0"/>
          </a:p>
        </p:txBody>
      </p:sp>
      <p:sp>
        <p:nvSpPr>
          <p:cNvPr id="6" name="mdpr:1-3-4b2f30:item-1:block-23-chunk-1"/>
          <p:cNvSpPr txBox="1"/>
          <p:nvPr/>
        </p:nvSpPr>
        <p:spPr>
          <a:xfrm>
            <a:off x="104241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Checks</a:t>
            </a:r>
            <a:endParaRPr lang="en-US" sz="2200" dirty="0"/>
          </a:p>
        </p:txBody>
      </p:sp>
      <p:sp>
        <p:nvSpPr>
          <p:cNvPr id="7" name="mdpr:1-3-4b2f30:item-2:block-23-chunk-1"/>
          <p:cNvSpPr txBox="1"/>
          <p:nvPr/>
        </p:nvSpPr>
        <p:spPr>
          <a:xfrm>
            <a:off x="4562856" y="2814828"/>
            <a:ext cx="28254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Resolution Order</a:t>
            </a:r>
            <a:endParaRPr lang="en-US" sz="2200" dirty="0"/>
          </a:p>
        </p:txBody>
      </p:sp>
      <p:sp>
        <p:nvSpPr>
          <p:cNvPr id="8" name="mdpr:1-3-4b2f30:item-3:block-23-chunk-1"/>
          <p:cNvSpPr txBox="1"/>
          <p:nvPr/>
        </p:nvSpPr>
        <p:spPr>
          <a:xfrm>
            <a:off x="808329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Diagnostics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mdpr:2-3-fe6c97:title:__title:2-3-fe6c9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and Overflow Policy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12" name="mdpr:2-3-fe6c97:item-1:block-23-chunk-2"/>
          <p:cNvSpPr txBox="1"/>
          <p:nvPr/>
        </p:nvSpPr>
        <p:spPr>
          <a:xfrm>
            <a:off x="1133856" y="216408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Normalization</a:t>
            </a:r>
            <a:endParaRPr lang="en-US" sz="2200" dirty="0"/>
          </a:p>
        </p:txBody>
      </p:sp>
      <p:sp>
        <p:nvSpPr>
          <p:cNvPr id="13" name="mdpr:2-3-fe6c97:item-2:block-23-chunk-2"/>
          <p:cNvSpPr txBox="1"/>
          <p:nvPr/>
        </p:nvSpPr>
        <p:spPr>
          <a:xfrm>
            <a:off x="1133856" y="348996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Title Regions</a:t>
            </a:r>
            <a:endParaRPr lang="en-US" sz="2200" dirty="0"/>
          </a:p>
        </p:txBody>
      </p:sp>
      <p:sp>
        <p:nvSpPr>
          <p:cNvPr id="14" name="mdpr:2-3-fe6c97:item-3:block-23-chunk-2"/>
          <p:cNvSpPr txBox="1"/>
          <p:nvPr/>
        </p:nvSpPr>
        <p:spPr>
          <a:xfrm>
            <a:off x="1133856" y="4806696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overflow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2560320"/>
            <a:ext cx="10652760" cy="2505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2560320"/>
            <a:ext cx="10652760" cy="2505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mdpr:3-3-d74d2e:title:__title:3-3-d74d2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and Overflow Policy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5" name="mdpr:3-3-d74d2e:code:block-24"/>
          <p:cNvSpPr txBox="1"/>
          <p:nvPr/>
        </p:nvSpPr>
        <p:spPr>
          <a:xfrm>
            <a:off x="941832" y="2706624"/>
            <a:ext cx="10323576" cy="22128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text overflow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table overflow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missing images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invalid asset paths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overlapping page numbers</a:t>
            </a:r>
            <a:endParaRPr lang="en-US" sz="18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safe-area violations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pr:example-decks-from-mdpr-1f8782:title:__title:example-decks-from-mdpr-1f87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 decks from MDPR</a:t>
            </a:r>
            <a:endParaRPr lang="en-US" sz="3400" dirty="0"/>
          </a:p>
        </p:txBody>
      </p:sp>
      <p:sp>
        <p:nvSpPr>
          <p:cNvPr id="3" name="mdpr:example-decks-from-mdpr-1f8782:left:block-26-block-26-block-26"/>
          <p:cNvSpPr txBox="1"/>
          <p:nvPr/>
        </p:nvSpPr>
        <p:spPr>
          <a:xfrm>
            <a:off x="896112" y="1463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basic/deck.md covers core flow and expected effects.</a:t>
            </a:r>
            <a:endParaRPr lang="en-US" sz="2200" dirty="0"/>
          </a:p>
        </p:txBody>
      </p:sp>
      <p:sp>
        <p:nvSpPr>
          <p:cNvPr id="4" name="mdpr:example-decks-from-mdpr-1f8782:left:block-26-block-26-block-26"/>
          <p:cNvSpPr txBox="1"/>
          <p:nvPr/>
        </p:nvSpPr>
        <p:spPr>
          <a:xfrm>
            <a:off x="896112" y="2225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comparison/deck.md exercises before/after content.</a:t>
            </a:r>
            <a:endParaRPr lang="en-US" sz="2200" dirty="0"/>
          </a:p>
        </p:txBody>
      </p:sp>
      <p:sp>
        <p:nvSpPr>
          <p:cNvPr id="5" name="mdpr:example-decks-from-mdpr-1f8782:left:block-26-block-26-block-26"/>
          <p:cNvSpPr txBox="1"/>
          <p:nvPr/>
        </p:nvSpPr>
        <p:spPr>
          <a:xfrm>
            <a:off x="896112" y="2987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pipeline/deck.md exercises diagram conversion.</a:t>
            </a:r>
            <a:endParaRPr lang="en-US" sz="2200" dirty="0"/>
          </a:p>
        </p:txBody>
      </p:sp>
      <p:sp>
        <p:nvSpPr>
          <p:cNvPr id="6" name="mdpr:example-decks-from-mdpr-1f8782:right:block-26-block-26"/>
          <p:cNvSpPr txBox="1"/>
          <p:nvPr/>
        </p:nvSpPr>
        <p:spPr>
          <a:xfrm>
            <a:off x="6473952" y="146304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diagram-arrangements/deck.md exercises multiple diagram structures.</a:t>
            </a:r>
            <a:endParaRPr lang="en-US" sz="2200" dirty="0"/>
          </a:p>
        </p:txBody>
      </p:sp>
      <p:sp>
        <p:nvSpPr>
          <p:cNvPr id="7" name="mdpr:example-decks-from-mdpr-1f8782:right:block-26-block-26"/>
          <p:cNvSpPr txBox="1"/>
          <p:nvPr/>
        </p:nvSpPr>
        <p:spPr>
          <a:xfrm>
            <a:off x="6473952" y="256032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theme-preview decks exercise preset variety.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1-3-7e86e7:title:__title:1-3-7e86e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examples/basic/deck.md</a:t>
            </a:r>
            <a:endParaRPr lang="en-US" sz="3400" dirty="0"/>
          </a:p>
        </p:txBody>
      </p:sp>
      <p:sp>
        <p:nvSpPr>
          <p:cNvPr id="15" name="mdpr:1-3-7e86e7:item-1:block-28-chunk-1"/>
          <p:cNvSpPr txBox="1"/>
          <p:nvPr/>
        </p:nvSpPr>
        <p:spPr>
          <a:xfrm>
            <a:off x="10424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Workflow Automation Proposal</a:t>
            </a:r>
            <a:endParaRPr lang="en-US" sz="2200" dirty="0"/>
          </a:p>
        </p:txBody>
      </p:sp>
      <p:sp>
        <p:nvSpPr>
          <p:cNvPr id="16" name="mdpr:1-3-7e86e7:item-2:block-28-chunk-1"/>
          <p:cNvSpPr txBox="1"/>
          <p:nvPr/>
        </p:nvSpPr>
        <p:spPr>
          <a:xfrm>
            <a:off x="65288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 Definition</a:t>
            </a:r>
            <a:endParaRPr lang="en-US" sz="2200" dirty="0"/>
          </a:p>
        </p:txBody>
      </p:sp>
      <p:sp>
        <p:nvSpPr>
          <p:cNvPr id="17" name="mdpr:1-3-7e86e7:item-3:block-28-chunk-1"/>
          <p:cNvSpPr txBox="1"/>
          <p:nvPr/>
        </p:nvSpPr>
        <p:spPr>
          <a:xfrm>
            <a:off x="10424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Repetitive Work Is Growing</a:t>
            </a:r>
            <a:endParaRPr lang="en-US" sz="2200" dirty="0"/>
          </a:p>
        </p:txBody>
      </p:sp>
      <p:sp>
        <p:nvSpPr>
          <p:cNvPr id="18" name="mdpr:1-3-7e86e7:item-4:block-28-chunk-1"/>
          <p:cNvSpPr txBox="1"/>
          <p:nvPr/>
        </p:nvSpPr>
        <p:spPr>
          <a:xfrm>
            <a:off x="65288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Costs Are Growing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mdpr:2-3-4f52c2:title:__title:2-3-4f52c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examples/basic/deck.md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12" name="mdpr:2-3-4f52c2:item-1:block-28-chunk-2"/>
          <p:cNvSpPr txBox="1"/>
          <p:nvPr/>
        </p:nvSpPr>
        <p:spPr>
          <a:xfrm>
            <a:off x="1133856" y="216408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Approach and Improved Approach</a:t>
            </a:r>
            <a:endParaRPr lang="en-US" sz="2200" dirty="0"/>
          </a:p>
        </p:txBody>
      </p:sp>
      <p:sp>
        <p:nvSpPr>
          <p:cNvPr id="13" name="mdpr:2-3-4f52c2:item-2:block-28-chunk-2"/>
          <p:cNvSpPr txBox="1"/>
          <p:nvPr/>
        </p:nvSpPr>
        <p:spPr>
          <a:xfrm>
            <a:off x="1133856" y="3489960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Approach</a:t>
            </a:r>
            <a:endParaRPr lang="en-US" sz="2200" dirty="0"/>
          </a:p>
        </p:txBody>
      </p:sp>
      <p:sp>
        <p:nvSpPr>
          <p:cNvPr id="14" name="mdpr:2-3-4f52c2:item-3:block-28-chunk-2"/>
          <p:cNvSpPr txBox="1"/>
          <p:nvPr/>
        </p:nvSpPr>
        <p:spPr>
          <a:xfrm>
            <a:off x="1133856" y="4806696"/>
            <a:ext cx="98206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Meeting note cleanup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2487168"/>
            <a:ext cx="73152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3-3-9304f5:title:__title:3-3-9304f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examples/basic/deck.md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6" name="mdpr:3-3-9304f5:item-1:block-28-chunk-3"/>
          <p:cNvSpPr txBox="1"/>
          <p:nvPr/>
        </p:nvSpPr>
        <p:spPr>
          <a:xfrm>
            <a:off x="104241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draft writing</a:t>
            </a:r>
            <a:endParaRPr lang="en-US" sz="2200" dirty="0"/>
          </a:p>
        </p:txBody>
      </p:sp>
      <p:sp>
        <p:nvSpPr>
          <p:cNvPr id="7" name="mdpr:3-3-9304f5:item-2:block-28-chunk-3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collection</a:t>
            </a:r>
            <a:endParaRPr lang="en-US" sz="2200" dirty="0"/>
          </a:p>
        </p:txBody>
      </p:sp>
      <p:sp>
        <p:nvSpPr>
          <p:cNvPr id="8" name="mdpr:3-3-9304f5:item-3:block-28-chunk-3"/>
          <p:cNvSpPr txBox="1"/>
          <p:nvPr/>
        </p:nvSpPr>
        <p:spPr>
          <a:xfrm>
            <a:off x="8083296" y="2814828"/>
            <a:ext cx="28254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 location is unclear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1-2-d8deb6:title:__title:1-2-d8deb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examples/comparison/deck.md</a:t>
            </a:r>
            <a:endParaRPr lang="en-US" sz="3400" dirty="0"/>
          </a:p>
        </p:txBody>
      </p:sp>
      <p:sp>
        <p:nvSpPr>
          <p:cNvPr id="15" name="mdpr:1-2-d8deb6:item-1:block-30-chunk-1"/>
          <p:cNvSpPr txBox="1"/>
          <p:nvPr/>
        </p:nvSpPr>
        <p:spPr>
          <a:xfrm>
            <a:off x="10424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Comparison Structure Example</a:t>
            </a:r>
            <a:endParaRPr lang="en-US" sz="2200" dirty="0"/>
          </a:p>
        </p:txBody>
      </p:sp>
      <p:sp>
        <p:nvSpPr>
          <p:cNvPr id="16" name="mdpr:1-2-d8deb6:item-2:block-30-chunk-1"/>
          <p:cNvSpPr txBox="1"/>
          <p:nvPr/>
        </p:nvSpPr>
        <p:spPr>
          <a:xfrm>
            <a:off x="6528816" y="2042160"/>
            <a:ext cx="460857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Approach and Improved Approach</a:t>
            </a:r>
            <a:endParaRPr lang="en-US" sz="2200" dirty="0"/>
          </a:p>
        </p:txBody>
      </p:sp>
      <p:sp>
        <p:nvSpPr>
          <p:cNvPr id="17" name="mdpr:1-2-d8deb6:item-3:block-30-chunk-1"/>
          <p:cNvSpPr txBox="1"/>
          <p:nvPr/>
        </p:nvSpPr>
        <p:spPr>
          <a:xfrm>
            <a:off x="10424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Approach</a:t>
            </a:r>
            <a:endParaRPr lang="en-US" sz="2200" dirty="0"/>
          </a:p>
        </p:txBody>
      </p:sp>
      <p:sp>
        <p:nvSpPr>
          <p:cNvPr id="18" name="mdpr:1-2-d8deb6:item-4:block-30-chunk-1"/>
          <p:cNvSpPr txBox="1"/>
          <p:nvPr/>
        </p:nvSpPr>
        <p:spPr>
          <a:xfrm>
            <a:off x="65288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Improved Approach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103120"/>
            <a:ext cx="73152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20440" y="2103120"/>
            <a:ext cx="73152" cy="2240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55080" y="2103120"/>
            <a:ext cx="73152" cy="2240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103120"/>
            <a:ext cx="73152" cy="22402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mdpr:2-2-447582:title:__title:2-2-4475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examples/comparison/deck.md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2/2)</a:t>
            </a:r>
            <a:endParaRPr lang="en-US" sz="3400" dirty="0"/>
          </a:p>
        </p:txBody>
      </p:sp>
      <p:sp>
        <p:nvSpPr>
          <p:cNvPr id="7" name="mdpr:2-2-447582:item-1:block-30-chunk-2"/>
          <p:cNvSpPr txBox="1"/>
          <p:nvPr/>
        </p:nvSpPr>
        <p:spPr>
          <a:xfrm>
            <a:off x="905256" y="2674620"/>
            <a:ext cx="191109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Documents are written manually</a:t>
            </a:r>
            <a:endParaRPr lang="en-US" sz="2200" dirty="0"/>
          </a:p>
        </p:txBody>
      </p:sp>
      <p:sp>
        <p:nvSpPr>
          <p:cNvPr id="8" name="mdpr:2-2-447582:item-2:block-30-chunk-2"/>
          <p:cNvSpPr txBox="1"/>
          <p:nvPr/>
        </p:nvSpPr>
        <p:spPr>
          <a:xfrm>
            <a:off x="3739896" y="2842260"/>
            <a:ext cx="19110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 varies by person</a:t>
            </a:r>
            <a:endParaRPr lang="en-US" sz="2200" dirty="0"/>
          </a:p>
        </p:txBody>
      </p:sp>
      <p:sp>
        <p:nvSpPr>
          <p:cNvPr id="9" name="mdpr:2-2-447582:item-3:block-30-chunk-2"/>
          <p:cNvSpPr txBox="1"/>
          <p:nvPr/>
        </p:nvSpPr>
        <p:spPr>
          <a:xfrm>
            <a:off x="6574536" y="2842260"/>
            <a:ext cx="191109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 is difficult</a:t>
            </a:r>
            <a:endParaRPr lang="en-US" sz="2200" dirty="0"/>
          </a:p>
        </p:txBody>
      </p:sp>
      <p:sp>
        <p:nvSpPr>
          <p:cNvPr id="10" name="mdpr:2-2-447582:item-4:block-30-chunk-2"/>
          <p:cNvSpPr txBox="1"/>
          <p:nvPr/>
        </p:nvSpPr>
        <p:spPr>
          <a:xfrm>
            <a:off x="9409176" y="2674620"/>
            <a:ext cx="191109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Drafts are generated automatically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1-2-1624b4:title:__title:1-2-1624b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examples/pipeline/deck.md</a:t>
            </a:r>
            <a:endParaRPr lang="en-US" sz="3400" dirty="0"/>
          </a:p>
        </p:txBody>
      </p:sp>
      <p:sp>
        <p:nvSpPr>
          <p:cNvPr id="15" name="mdpr:1-2-1624b4:item-1:block-32-chunk-1"/>
          <p:cNvSpPr txBox="1"/>
          <p:nvPr/>
        </p:nvSpPr>
        <p:spPr>
          <a:xfrm>
            <a:off x="10424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Example</a:t>
            </a:r>
            <a:endParaRPr lang="en-US" sz="2200" dirty="0"/>
          </a:p>
        </p:txBody>
      </p:sp>
      <p:sp>
        <p:nvSpPr>
          <p:cNvPr id="16" name="mdpr:1-2-1624b4:item-2:block-32-chunk-1"/>
          <p:cNvSpPr txBox="1"/>
          <p:nvPr/>
        </p:nvSpPr>
        <p:spPr>
          <a:xfrm>
            <a:off x="65288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Publishing Flow</a:t>
            </a:r>
            <a:endParaRPr lang="en-US" sz="2200" dirty="0"/>
          </a:p>
        </p:txBody>
      </p:sp>
      <p:sp>
        <p:nvSpPr>
          <p:cNvPr id="17" name="mdpr:1-2-1624b4:item-3:block-32-chunk-1"/>
          <p:cNvSpPr txBox="1"/>
          <p:nvPr/>
        </p:nvSpPr>
        <p:spPr>
          <a:xfrm>
            <a:off x="10424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Five-Part Method</a:t>
            </a:r>
            <a:endParaRPr lang="en-US" sz="2200" dirty="0"/>
          </a:p>
        </p:txBody>
      </p:sp>
      <p:sp>
        <p:nvSpPr>
          <p:cNvPr id="18" name="mdpr:1-2-1624b4:item-4:block-32-chunk-1"/>
          <p:cNvSpPr txBox="1"/>
          <p:nvPr/>
        </p:nvSpPr>
        <p:spPr>
          <a:xfrm>
            <a:off x="65288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Capture source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2487168"/>
            <a:ext cx="73152" cy="1417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487168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2-2-a2c94a:title:__title:2-2-a2c94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examples/pipeline/deck.md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2/2)</a:t>
            </a:r>
            <a:endParaRPr lang="en-US" sz="3400" dirty="0"/>
          </a:p>
        </p:txBody>
      </p:sp>
      <p:sp>
        <p:nvSpPr>
          <p:cNvPr id="6" name="mdpr:2-2-a2c94a:item-1:block-32-chunk-2"/>
          <p:cNvSpPr txBox="1"/>
          <p:nvPr/>
        </p:nvSpPr>
        <p:spPr>
          <a:xfrm>
            <a:off x="104241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structure</a:t>
            </a:r>
            <a:endParaRPr lang="en-US" sz="2200" dirty="0"/>
          </a:p>
        </p:txBody>
      </p:sp>
      <p:sp>
        <p:nvSpPr>
          <p:cNvPr id="7" name="mdpr:2-2-a2c94a:item-2:block-32-chunk-2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 layout</a:t>
            </a:r>
            <a:endParaRPr lang="en-US" sz="2200" dirty="0"/>
          </a:p>
        </p:txBody>
      </p:sp>
      <p:sp>
        <p:nvSpPr>
          <p:cNvPr id="8" name="mdpr:2-2-a2c94a:item-3:block-32-chunk-2"/>
          <p:cNvSpPr txBox="1"/>
          <p:nvPr/>
        </p:nvSpPr>
        <p:spPr>
          <a:xfrm>
            <a:off x="808329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outputs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324612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463040"/>
            <a:ext cx="324612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34340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0" y="1463040"/>
            <a:ext cx="324612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86384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749040"/>
            <a:ext cx="324612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2296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3400" y="3749040"/>
            <a:ext cx="3246120" cy="192024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34340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3840" y="3749040"/>
            <a:ext cx="3246120" cy="192024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86384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434340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786384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434340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786384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mdpr:example-examples-diagram-arrangements-deck-md-adac59:title:__title:example-examples-diagram-arrangements-deck-md-adac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examples/diagram-arrangements/deck.md</a:t>
            </a:r>
            <a:endParaRPr lang="en-US" sz="3400" dirty="0"/>
          </a:p>
        </p:txBody>
      </p:sp>
      <p:sp>
        <p:nvSpPr>
          <p:cNvPr id="21" name="mdpr:example-examples-diagram-arrangements-deck-md-adac59:item-1:block-34"/>
          <p:cNvSpPr txBox="1"/>
          <p:nvPr/>
        </p:nvSpPr>
        <p:spPr>
          <a:xfrm>
            <a:off x="1042416" y="2103120"/>
            <a:ext cx="2825496" cy="6400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Diagram Arrangement Examples</a:t>
            </a:r>
            <a:endParaRPr lang="en-US" sz="1800" dirty="0"/>
          </a:p>
        </p:txBody>
      </p:sp>
      <p:sp>
        <p:nvSpPr>
          <p:cNvPr id="22" name="mdpr:example-examples-diagram-arrangements-deck-md-adac59:item-2:block-34"/>
          <p:cNvSpPr txBox="1"/>
          <p:nvPr/>
        </p:nvSpPr>
        <p:spPr>
          <a:xfrm>
            <a:off x="4562856" y="2240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Horizontal Flow</a:t>
            </a:r>
            <a:endParaRPr lang="en-US" sz="1800" dirty="0"/>
          </a:p>
        </p:txBody>
      </p:sp>
      <p:sp>
        <p:nvSpPr>
          <p:cNvPr id="23" name="mdpr:example-examples-diagram-arrangements-deck-md-adac59:item-3:block-34"/>
          <p:cNvSpPr txBox="1"/>
          <p:nvPr/>
        </p:nvSpPr>
        <p:spPr>
          <a:xfrm>
            <a:off x="8083296" y="2240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Vertical Flow</a:t>
            </a:r>
            <a:endParaRPr lang="en-US" sz="1800" dirty="0"/>
          </a:p>
        </p:txBody>
      </p:sp>
      <p:sp>
        <p:nvSpPr>
          <p:cNvPr id="24" name="mdpr:example-examples-diagram-arrangements-deck-md-adac59:item-4:block-34"/>
          <p:cNvSpPr txBox="1"/>
          <p:nvPr/>
        </p:nvSpPr>
        <p:spPr>
          <a:xfrm>
            <a:off x="1042416" y="4526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U-Shaped Flow</a:t>
            </a:r>
            <a:endParaRPr lang="en-US" sz="1800" dirty="0"/>
          </a:p>
        </p:txBody>
      </p:sp>
      <p:sp>
        <p:nvSpPr>
          <p:cNvPr id="25" name="mdpr:example-examples-diagram-arrangements-deck-md-adac59:item-5:block-34"/>
          <p:cNvSpPr txBox="1"/>
          <p:nvPr/>
        </p:nvSpPr>
        <p:spPr>
          <a:xfrm>
            <a:off x="4562856" y="4526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Reverse-U Flow</a:t>
            </a:r>
            <a:endParaRPr lang="en-US" sz="1800" dirty="0"/>
          </a:p>
        </p:txBody>
      </p:sp>
      <p:sp>
        <p:nvSpPr>
          <p:cNvPr id="26" name="mdpr:example-examples-diagram-arrangements-deck-md-adac59:item-6:block-34"/>
          <p:cNvSpPr txBox="1"/>
          <p:nvPr/>
        </p:nvSpPr>
        <p:spPr>
          <a:xfrm>
            <a:off x="8083296" y="4526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Cycle-Like Flow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324612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3400" y="1463040"/>
            <a:ext cx="324612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34340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3840" y="1463040"/>
            <a:ext cx="324612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7863840" y="1463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749040"/>
            <a:ext cx="324612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2296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3400" y="3749040"/>
            <a:ext cx="3246120" cy="192024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34340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3840" y="3749040"/>
            <a:ext cx="3246120" cy="1920240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863840" y="3749040"/>
            <a:ext cx="32461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434340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Shape 8"/>
          <p:cNvSpPr/>
          <p:nvPr/>
        </p:nvSpPr>
        <p:spPr>
          <a:xfrm>
            <a:off x="786384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434340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786384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mdpr:example-examples-five-methods-deck-md-6608d8:title:__title:example-examples-five-methods-deck-md-6608d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examples/five-methods/deck.md</a:t>
            </a:r>
            <a:endParaRPr lang="en-US" sz="3400" dirty="0"/>
          </a:p>
        </p:txBody>
      </p:sp>
      <p:sp>
        <p:nvSpPr>
          <p:cNvPr id="21" name="mdpr:example-examples-five-methods-deck-md-6608d8:item-1:block-36"/>
          <p:cNvSpPr txBox="1"/>
          <p:nvPr/>
        </p:nvSpPr>
        <p:spPr>
          <a:xfrm>
            <a:off x="1042416" y="2240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Five-Item Layout Example</a:t>
            </a:r>
            <a:endParaRPr lang="en-US" sz="1800" dirty="0"/>
          </a:p>
        </p:txBody>
      </p:sp>
      <p:sp>
        <p:nvSpPr>
          <p:cNvPr id="22" name="mdpr:example-examples-five-methods-deck-md-6608d8:item-2:block-36"/>
          <p:cNvSpPr txBox="1"/>
          <p:nvPr/>
        </p:nvSpPr>
        <p:spPr>
          <a:xfrm>
            <a:off x="4562856" y="2240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Five Execution Steps</a:t>
            </a:r>
            <a:endParaRPr lang="en-US" sz="1800" dirty="0"/>
          </a:p>
        </p:txBody>
      </p:sp>
      <p:sp>
        <p:nvSpPr>
          <p:cNvPr id="23" name="mdpr:example-examples-five-methods-deck-md-6608d8:item-3:block-36"/>
          <p:cNvSpPr txBox="1"/>
          <p:nvPr/>
        </p:nvSpPr>
        <p:spPr>
          <a:xfrm>
            <a:off x="8083296" y="2240280"/>
            <a:ext cx="2825496" cy="3657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Select a pilot team</a:t>
            </a:r>
            <a:endParaRPr lang="en-US" sz="1800" dirty="0"/>
          </a:p>
        </p:txBody>
      </p:sp>
      <p:sp>
        <p:nvSpPr>
          <p:cNvPr id="24" name="mdpr:example-examples-five-methods-deck-md-6608d8:item-4:block-36"/>
          <p:cNvSpPr txBox="1"/>
          <p:nvPr/>
        </p:nvSpPr>
        <p:spPr>
          <a:xfrm>
            <a:off x="1042416" y="4389120"/>
            <a:ext cx="2825496" cy="6400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Analyze repetitive document types</a:t>
            </a:r>
            <a:endParaRPr lang="en-US" sz="1800" dirty="0"/>
          </a:p>
        </p:txBody>
      </p:sp>
      <p:sp>
        <p:nvSpPr>
          <p:cNvPr id="25" name="mdpr:example-examples-five-methods-deck-md-6608d8:item-5:block-36"/>
          <p:cNvSpPr txBox="1"/>
          <p:nvPr/>
        </p:nvSpPr>
        <p:spPr>
          <a:xfrm>
            <a:off x="4562856" y="4389120"/>
            <a:ext cx="2825496" cy="6400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automation templates</a:t>
            </a:r>
            <a:endParaRPr lang="en-US" sz="1800" dirty="0"/>
          </a:p>
        </p:txBody>
      </p:sp>
      <p:sp>
        <p:nvSpPr>
          <p:cNvPr id="26" name="mdpr:example-examples-five-methods-deck-md-6608d8:item-6:block-36"/>
          <p:cNvSpPr txBox="1"/>
          <p:nvPr/>
        </p:nvSpPr>
        <p:spPr>
          <a:xfrm>
            <a:off x="8083296" y="4389120"/>
            <a:ext cx="2825496" cy="6400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a knowledge search index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1-3-9e7dc8:title:__title:1-3-9e7d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examples/theme-preview-en/deck.md</a:t>
            </a:r>
            <a:endParaRPr lang="en-US" sz="3400" dirty="0"/>
          </a:p>
        </p:txBody>
      </p:sp>
      <p:sp>
        <p:nvSpPr>
          <p:cNvPr id="15" name="mdpr:1-3-9e7dc8:item-1:block-38-chunk-1"/>
          <p:cNvSpPr txBox="1"/>
          <p:nvPr/>
        </p:nvSpPr>
        <p:spPr>
          <a:xfrm>
            <a:off x="10424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Design Grammar</a:t>
            </a:r>
            <a:endParaRPr lang="en-US" sz="2200" dirty="0"/>
          </a:p>
        </p:txBody>
      </p:sp>
      <p:sp>
        <p:nvSpPr>
          <p:cNvPr id="16" name="mdpr:1-3-9e7dc8:item-2:block-38-chunk-1"/>
          <p:cNvSpPr txBox="1"/>
          <p:nvPr/>
        </p:nvSpPr>
        <p:spPr>
          <a:xfrm>
            <a:off x="6528816" y="2209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Summary</a:t>
            </a:r>
            <a:endParaRPr lang="en-US" sz="2200" dirty="0"/>
          </a:p>
        </p:txBody>
      </p:sp>
      <p:sp>
        <p:nvSpPr>
          <p:cNvPr id="17" name="mdpr:1-3-9e7dc8:item-3:block-38-chunk-1"/>
          <p:cNvSpPr txBox="1"/>
          <p:nvPr/>
        </p:nvSpPr>
        <p:spPr>
          <a:xfrm>
            <a:off x="10424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2200" dirty="0"/>
          </a:p>
        </p:txBody>
      </p:sp>
      <p:sp>
        <p:nvSpPr>
          <p:cNvPr id="18" name="mdpr:1-3-9e7dc8:item-4:block-38-chunk-1"/>
          <p:cNvSpPr txBox="1"/>
          <p:nvPr/>
        </p:nvSpPr>
        <p:spPr>
          <a:xfrm>
            <a:off x="6528816" y="4495800"/>
            <a:ext cx="46085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Pruned Style Families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938528"/>
            <a:ext cx="73152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2-3-298275:title:__title:2-3-29827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examples/theme-preview-en/deck.md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2/3)</a:t>
            </a:r>
            <a:endParaRPr lang="en-US" sz="3400" dirty="0"/>
          </a:p>
        </p:txBody>
      </p:sp>
      <p:sp>
        <p:nvSpPr>
          <p:cNvPr id="6" name="mdpr:2-3-298275:item-1:block-38-chunk-2"/>
          <p:cNvSpPr txBox="1"/>
          <p:nvPr/>
        </p:nvSpPr>
        <p:spPr>
          <a:xfrm>
            <a:off x="104241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2200" dirty="0"/>
          </a:p>
        </p:txBody>
      </p:sp>
      <p:sp>
        <p:nvSpPr>
          <p:cNvPr id="7" name="mdpr:2-3-298275:item-2:block-38-chunk-2"/>
          <p:cNvSpPr txBox="1"/>
          <p:nvPr/>
        </p:nvSpPr>
        <p:spPr>
          <a:xfrm>
            <a:off x="4562856" y="2982468"/>
            <a:ext cx="282549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2200" dirty="0"/>
          </a:p>
        </p:txBody>
      </p:sp>
      <p:sp>
        <p:nvSpPr>
          <p:cNvPr id="8" name="mdpr:2-3-298275:item-3:block-38-chunk-2"/>
          <p:cNvSpPr txBox="1"/>
          <p:nvPr/>
        </p:nvSpPr>
        <p:spPr>
          <a:xfrm>
            <a:off x="8083296" y="2103120"/>
            <a:ext cx="2825496" cy="21854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styles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distinct decoration grammars, not palette-only swaps.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43400" y="1938528"/>
            <a:ext cx="73152" cy="2514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938528"/>
            <a:ext cx="73152" cy="2514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3-3-bec926:title:__title:3-3-bec92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Example: examples/theme-preview-en/deck.md</a:t>
            </a:r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9191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(Cont. 3/3)</a:t>
            </a:r>
            <a:endParaRPr lang="en-US" sz="3400" dirty="0"/>
          </a:p>
        </p:txBody>
      </p:sp>
      <p:sp>
        <p:nvSpPr>
          <p:cNvPr id="6" name="mdpr:3-3-bec926:item-1:block-38-chunk-3"/>
          <p:cNvSpPr txBox="1"/>
          <p:nvPr/>
        </p:nvSpPr>
        <p:spPr>
          <a:xfrm>
            <a:off x="1042416" y="2103120"/>
            <a:ext cx="2825496" cy="21854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Pattern range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36+ decoration and layout patterns selected by content role.</a:t>
            </a:r>
            <a:endParaRPr lang="en-US" sz="2200" dirty="0"/>
          </a:p>
        </p:txBody>
      </p:sp>
      <p:sp>
        <p:nvSpPr>
          <p:cNvPr id="7" name="mdpr:3-3-bec926:item-2:block-38-chunk-3"/>
          <p:cNvSpPr txBox="1"/>
          <p:nvPr/>
        </p:nvSpPr>
        <p:spPr>
          <a:xfrm>
            <a:off x="4562856" y="2103120"/>
            <a:ext cx="2825496" cy="21854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support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native tables, charts, proof objects, diagrams, images, and icon slots.</a:t>
            </a:r>
            <a:endParaRPr lang="en-US" sz="2200" dirty="0"/>
          </a:p>
        </p:txBody>
      </p:sp>
      <p:sp>
        <p:nvSpPr>
          <p:cNvPr id="8" name="mdpr:3-3-bec926:item-3:block-38-chunk-3"/>
          <p:cNvSpPr txBox="1"/>
          <p:nvPr/>
        </p:nvSpPr>
        <p:spPr>
          <a:xfrm>
            <a:off x="8083296" y="2103120"/>
            <a:ext cx="2825496" cy="218541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contract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 text, bounded objects, aligned connectors, and editable PPTX output.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mdpr:current-skill-output-expectations-e56835:title:__title:current-skill-output-expectations-e5683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skill output expectations</a:t>
            </a:r>
            <a:endParaRPr lang="en-US" sz="3400" dirty="0"/>
          </a:p>
        </p:txBody>
      </p:sp>
      <p:sp>
        <p:nvSpPr>
          <p:cNvPr id="15" name="mdpr:current-skill-output-expectations-e56835:item-1:block-40"/>
          <p:cNvSpPr txBox="1"/>
          <p:nvPr/>
        </p:nvSpPr>
        <p:spPr>
          <a:xfrm>
            <a:off x="1042416" y="2042160"/>
            <a:ext cx="460857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Text-only slides may receive one quiet monotone-icon-aside slot.</a:t>
            </a:r>
            <a:endParaRPr lang="en-US" sz="2200" dirty="0"/>
          </a:p>
        </p:txBody>
      </p:sp>
      <p:sp>
        <p:nvSpPr>
          <p:cNvPr id="16" name="mdpr:current-skill-output-expectations-e56835:item-2:block-40"/>
          <p:cNvSpPr txBox="1"/>
          <p:nvPr/>
        </p:nvSpPr>
        <p:spPr>
          <a:xfrm>
            <a:off x="6528816" y="1874520"/>
            <a:ext cx="460857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Dense content should stay readable instead of gaining decorative icons.</a:t>
            </a:r>
            <a:endParaRPr lang="en-US" sz="2200" dirty="0"/>
          </a:p>
        </p:txBody>
      </p:sp>
      <p:sp>
        <p:nvSpPr>
          <p:cNvPr id="17" name="mdpr:current-skill-output-expectations-e56835:item-3:block-40"/>
          <p:cNvSpPr txBox="1"/>
          <p:nvPr/>
        </p:nvSpPr>
        <p:spPr>
          <a:xfrm>
            <a:off x="1042416" y="3992880"/>
            <a:ext cx="4608576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Infographic families are selected by text length, relation, item count, and importance.</a:t>
            </a:r>
            <a:endParaRPr lang="en-US" sz="2200" dirty="0"/>
          </a:p>
        </p:txBody>
      </p:sp>
      <p:sp>
        <p:nvSpPr>
          <p:cNvPr id="18" name="mdpr:current-skill-output-expectations-e56835:item-4:block-40"/>
          <p:cNvSpPr txBox="1"/>
          <p:nvPr/>
        </p:nvSpPr>
        <p:spPr>
          <a:xfrm>
            <a:off x="6528816" y="3992880"/>
            <a:ext cx="4608576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Coherence validation checks color role, alignment, object variety, font floor, and z-order.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011680"/>
            <a:ext cx="9875520" cy="1920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011680"/>
            <a:ext cx="98755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1289304" y="2157984"/>
            <a:ext cx="73152" cy="162763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mdpr:end-state-9e2e49:title:__title:end-state-9e2e4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 state</a:t>
            </a:r>
            <a:endParaRPr lang="en-US" sz="3400" dirty="0"/>
          </a:p>
        </p:txBody>
      </p:sp>
      <p:sp>
        <p:nvSpPr>
          <p:cNvPr id="6" name="mdpr:end-state-9e2e49:key-message:block-42"/>
          <p:cNvSpPr txBox="1"/>
          <p:nvPr/>
        </p:nvSpPr>
        <p:spPr>
          <a:xfrm>
            <a:off x="1527048" y="2139696"/>
            <a:ext cx="92720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remains the content and rendering runtime. mdpr-skill adds optional semantic hints, review findings, and evidence without owning final visual decisions.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1"/>
      </a:dk1>
      <a:lt1>
        <a:srgbClr val="F8FAFC"/>
      </a:lt1>
      <a:dk2>
        <a:srgbClr val="919191"/>
      </a:dk2>
      <a:lt2>
        <a:srgbClr val="FFFFFF"/>
      </a:lt2>
      <a:accent1>
        <a:srgbClr val="2563EB"/>
      </a:accent1>
      <a:accent2>
        <a:srgbClr val="DBEAFE"/>
      </a:accent2>
      <a:accent3>
        <a:srgbClr val="2563EB"/>
      </a:accent3>
      <a:accent4>
        <a:srgbClr val="919191"/>
      </a:accent4>
      <a:accent5>
        <a:srgbClr val="E2E8F0"/>
      </a:accent5>
      <a:accent6>
        <a:srgbClr val="111111"/>
      </a:accent6>
      <a:hlink>
        <a:srgbClr val="2563EB"/>
      </a:hlink>
      <a:folHlink>
        <a:srgbClr val="DBEA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Corpus: Runtime vs Review Evidence</dc:title>
  <dc:subject>Generated from Markdown through Presentation IR and Layout IR</dc:subject>
  <dc:creator>mdpresent</dc:creator>
  <cp:lastModifiedBy>mdpresent</cp:lastModifiedBy>
  <cp:revision>1</cp:revision>
  <dcterms:created xsi:type="dcterms:W3CDTF">2026-07-14T07:26:24Z</dcterms:created>
  <dcterms:modified xsi:type="dcterms:W3CDTF">2026-07-14T07:26:24Z</dcterms:modified>
</cp:coreProperties>
</file>