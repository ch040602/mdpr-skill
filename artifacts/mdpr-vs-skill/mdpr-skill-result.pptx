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</c:v>
                </c:pt>
                <c:pt idx="1">
                  <c:v>41</c:v>
                </c:pt>
                <c:pt idx="2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FROM ACTUAL MDPR RUN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Actual Markdown Run -&gt; Skill Result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is generated after MDPR has built a real PPTX from the shared Markdown corpus.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card"/>
          <p:cNvSpPr/>
          <p:nvPr/>
        </p:nvSpPr>
        <p:spPr>
          <a:xfrm>
            <a:off x="68580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doc"/>
          <p:cNvSpPr/>
          <p:nvPr/>
        </p:nvSpPr>
        <p:spPr>
          <a:xfrm>
            <a:off x="850392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icon_line_0"/>
          <p:cNvSpPr/>
          <p:nvPr/>
        </p:nvSpPr>
        <p:spPr>
          <a:xfrm>
            <a:off x="921715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ctual_source_icon_line_1"/>
          <p:cNvSpPr/>
          <p:nvPr/>
        </p:nvSpPr>
        <p:spPr>
          <a:xfrm>
            <a:off x="921715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tual_source_icon_line_2"/>
          <p:cNvSpPr/>
          <p:nvPr/>
        </p:nvSpPr>
        <p:spPr>
          <a:xfrm>
            <a:off x="921715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tual_source_title"/>
          <p:cNvSpPr txBox="1"/>
          <p:nvPr/>
        </p:nvSpPr>
        <p:spPr>
          <a:xfrm>
            <a:off x="149047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3" name="actual_source_body_0"/>
          <p:cNvSpPr txBox="1"/>
          <p:nvPr/>
        </p:nvSpPr>
        <p:spPr>
          <a:xfrm>
            <a:off x="149047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21 files from .cache/mdpr</a:t>
            </a:r>
          </a:p>
        </p:txBody>
      </p:sp>
      <p:sp>
        <p:nvSpPr>
          <p:cNvPr id="14" name="actual_source_body_1"/>
          <p:cNvSpPr txBox="1"/>
          <p:nvPr/>
        </p:nvSpPr>
        <p:spPr>
          <a:xfrm>
            <a:off x="149047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180 headings</a:t>
            </a:r>
          </a:p>
        </p:txBody>
      </p:sp>
      <p:sp>
        <p:nvSpPr>
          <p:cNvPr id="15" name="actual_source_body_2"/>
          <p:cNvSpPr txBox="1"/>
          <p:nvPr/>
        </p:nvSpPr>
        <p:spPr>
          <a:xfrm>
            <a:off x="149047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73,034 chars</a:t>
            </a:r>
          </a:p>
        </p:txBody>
      </p:sp>
      <p:sp>
        <p:nvSpPr>
          <p:cNvPr id="16" name="actual_mdpr_card"/>
          <p:cNvSpPr/>
          <p:nvPr/>
        </p:nvSpPr>
        <p:spPr>
          <a:xfrm>
            <a:off x="443484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node_0"/>
          <p:cNvSpPr/>
          <p:nvPr/>
        </p:nvSpPr>
        <p:spPr>
          <a:xfrm>
            <a:off x="4599431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node_1"/>
          <p:cNvSpPr/>
          <p:nvPr/>
        </p:nvSpPr>
        <p:spPr>
          <a:xfrm>
            <a:off x="4825288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icon_node_2"/>
          <p:cNvSpPr/>
          <p:nvPr/>
        </p:nvSpPr>
        <p:spPr>
          <a:xfrm>
            <a:off x="5051145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tual_mdpr_icon_line_0"/>
          <p:cNvSpPr/>
          <p:nvPr/>
        </p:nvSpPr>
        <p:spPr>
          <a:xfrm>
            <a:off x="4700473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ctual_mdpr_icon_line_1"/>
          <p:cNvSpPr/>
          <p:nvPr/>
        </p:nvSpPr>
        <p:spPr>
          <a:xfrm>
            <a:off x="4926329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tual_mdpr_title"/>
          <p:cNvSpPr txBox="1"/>
          <p:nvPr/>
        </p:nvSpPr>
        <p:spPr>
          <a:xfrm>
            <a:off x="523951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2. MDPR execution result</a:t>
            </a:r>
          </a:p>
        </p:txBody>
      </p:sp>
      <p:sp>
        <p:nvSpPr>
          <p:cNvPr id="23" name="actual_mdpr_body_0"/>
          <p:cNvSpPr txBox="1"/>
          <p:nvPr/>
        </p:nvSpPr>
        <p:spPr>
          <a:xfrm>
            <a:off x="523951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46 slides</a:t>
            </a:r>
          </a:p>
        </p:txBody>
      </p:sp>
      <p:sp>
        <p:nvSpPr>
          <p:cNvPr id="24" name="actual_mdpr_body_1"/>
          <p:cNvSpPr txBox="1"/>
          <p:nvPr/>
        </p:nvSpPr>
        <p:spPr>
          <a:xfrm>
            <a:off x="523951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648 editable text frames</a:t>
            </a:r>
          </a:p>
        </p:txBody>
      </p:sp>
      <p:sp>
        <p:nvSpPr>
          <p:cNvPr id="25" name="actual_mdpr_body_2"/>
          <p:cNvSpPr txBox="1"/>
          <p:nvPr/>
        </p:nvSpPr>
        <p:spPr>
          <a:xfrm>
            <a:off x="523951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6" name="actual_skill_card"/>
          <p:cNvSpPr/>
          <p:nvPr/>
        </p:nvSpPr>
        <p:spPr>
          <a:xfrm>
            <a:off x="8183879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icon_v"/>
          <p:cNvSpPr/>
          <p:nvPr/>
        </p:nvSpPr>
        <p:spPr>
          <a:xfrm>
            <a:off x="8491118" y="158191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tual_skill_icon_h"/>
          <p:cNvSpPr/>
          <p:nvPr/>
        </p:nvSpPr>
        <p:spPr>
          <a:xfrm>
            <a:off x="8348471" y="172455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ctual_skill_icon_dot"/>
          <p:cNvSpPr/>
          <p:nvPr/>
        </p:nvSpPr>
        <p:spPr>
          <a:xfrm>
            <a:off x="8609990" y="184343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tual_skill_title"/>
          <p:cNvSpPr txBox="1"/>
          <p:nvPr/>
        </p:nvSpPr>
        <p:spPr>
          <a:xfrm>
            <a:off x="898855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3. Skill generation</a:t>
            </a:r>
          </a:p>
        </p:txBody>
      </p:sp>
      <p:sp>
        <p:nvSpPr>
          <p:cNvPr id="31" name="actual_skill_body_0"/>
          <p:cNvSpPr txBox="1"/>
          <p:nvPr/>
        </p:nvSpPr>
        <p:spPr>
          <a:xfrm>
            <a:off x="898855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uses MDPR source metrics</a:t>
            </a:r>
          </a:p>
        </p:txBody>
      </p:sp>
      <p:sp>
        <p:nvSpPr>
          <p:cNvPr id="32" name="actual_skill_body_1"/>
          <p:cNvSpPr txBox="1"/>
          <p:nvPr/>
        </p:nvSpPr>
        <p:spPr>
          <a:xfrm>
            <a:off x="898855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adds visual rule explanation</a:t>
            </a:r>
          </a:p>
        </p:txBody>
      </p:sp>
      <p:sp>
        <p:nvSpPr>
          <p:cNvPr id="33" name="actual_skill_body_2"/>
          <p:cNvSpPr txBox="1"/>
          <p:nvPr/>
        </p:nvSpPr>
        <p:spPr>
          <a:xfrm>
            <a:off x="898855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keeps parsing/runtime in MDPR</a:t>
            </a:r>
          </a:p>
        </p:txBody>
      </p:sp>
      <p:sp>
        <p:nvSpPr>
          <p:cNvPr id="34" name="actual_arrow_0"/>
          <p:cNvSpPr/>
          <p:nvPr/>
        </p:nvSpPr>
        <p:spPr>
          <a:xfrm>
            <a:off x="404164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tual_arrow_1"/>
          <p:cNvSpPr/>
          <p:nvPr/>
        </p:nvSpPr>
        <p:spPr>
          <a:xfrm>
            <a:off x="779068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tual_boundary"/>
          <p:cNvSpPr/>
          <p:nvPr/>
        </p:nvSpPr>
        <p:spPr>
          <a:xfrm>
            <a:off x="777240" y="3520440"/>
            <a:ext cx="10561320" cy="146304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ctual_boundary_title"/>
          <p:cNvSpPr txBox="1"/>
          <p:nvPr/>
        </p:nvSpPr>
        <p:spPr>
          <a:xfrm>
            <a:off x="1024128" y="3767328"/>
            <a:ext cx="28346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8" name="actual_boundary_body"/>
          <p:cNvSpPr txBox="1"/>
          <p:nvPr/>
        </p:nvSpPr>
        <p:spPr>
          <a:xfrm>
            <a:off x="1024128" y="4160520"/>
            <a:ext cx="9738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MDPR creates the actual presentation output from Markdown first. mdpr-skill then produces a compact explanatory/validation PPTX from that concrete run, source manifest, and metrics.</a:t>
            </a:r>
          </a:p>
        </p:txBody>
      </p:sp>
      <p:sp>
        <p:nvSpPr>
          <p:cNvPr id="39" name="actual_file_note"/>
          <p:cNvSpPr txBox="1"/>
          <p:nvPr/>
        </p:nvSpPr>
        <p:spPr>
          <a:xfrm>
            <a:off x="1024128" y="5440680"/>
            <a:ext cx="9738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Input artifact: artifacts\mdpr-vs-skill\mdpr-source-corpus.md  |  MDPR PPTX: artifacts\mdpr-vs-skill\mdpr-baseline-result.pptx  |  Skill PPTX: artifacts\mdpr-vs-skill\mdpr-skill-from-actual-md-run.pptx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vs Current Skill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Same Markdown corpus, different responsibility boundary and output behavior.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Markdown -&gt; Presentation IR -&gt; 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Visual decisions after MDPR structure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Theme/preset oriented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Recipe, variant, icon, infographic rules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Build and overflow checks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Render comparison, z-order, coherence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baseline objects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styled objects with richer variety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Markdown Corpus Coverage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Docs, ADR, README files, and example decks are used as the shared input basis.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oup_0_card"/>
          <p:cNvSpPr/>
          <p:nvPr/>
        </p:nvSpPr>
        <p:spPr>
          <a:xfrm>
            <a:off x="65836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oup_0_num"/>
          <p:cNvSpPr txBox="1"/>
          <p:nvPr/>
        </p:nvSpPr>
        <p:spPr>
          <a:xfrm>
            <a:off x="85953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9" name="group_0_label"/>
          <p:cNvSpPr txBox="1"/>
          <p:nvPr/>
        </p:nvSpPr>
        <p:spPr>
          <a:xfrm>
            <a:off x="87782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10" name="group_0_chars"/>
          <p:cNvSpPr txBox="1"/>
          <p:nvPr/>
        </p:nvSpPr>
        <p:spPr>
          <a:xfrm>
            <a:off x="87782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49,481 chars</a:t>
            </a:r>
          </a:p>
        </p:txBody>
      </p:sp>
      <p:sp>
        <p:nvSpPr>
          <p:cNvPr id="11" name="group_0_item_0"/>
          <p:cNvSpPr txBox="1"/>
          <p:nvPr/>
        </p:nvSpPr>
        <p:spPr>
          <a:xfrm>
            <a:off x="87782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12" name="group_0_item_1"/>
          <p:cNvSpPr txBox="1"/>
          <p:nvPr/>
        </p:nvSpPr>
        <p:spPr>
          <a:xfrm>
            <a:off x="87782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3" name="group_0_item_2"/>
          <p:cNvSpPr txBox="1"/>
          <p:nvPr/>
        </p:nvSpPr>
        <p:spPr>
          <a:xfrm>
            <a:off x="87782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4" name="group_0_item_3"/>
          <p:cNvSpPr txBox="1"/>
          <p:nvPr/>
        </p:nvSpPr>
        <p:spPr>
          <a:xfrm>
            <a:off x="87782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03-page-splitting.md</a:t>
            </a:r>
          </a:p>
        </p:txBody>
      </p:sp>
      <p:sp>
        <p:nvSpPr>
          <p:cNvPr id="15" name="group_0_item_4"/>
          <p:cNvSpPr txBox="1"/>
          <p:nvPr/>
        </p:nvSpPr>
        <p:spPr>
          <a:xfrm>
            <a:off x="87782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04-layout-rules.md</a:t>
            </a:r>
          </a:p>
        </p:txBody>
      </p:sp>
      <p:sp>
        <p:nvSpPr>
          <p:cNvPr id="16" name="group_1_card"/>
          <p:cNvSpPr/>
          <p:nvPr/>
        </p:nvSpPr>
        <p:spPr>
          <a:xfrm>
            <a:off x="344728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oup_1_num"/>
          <p:cNvSpPr txBox="1"/>
          <p:nvPr/>
        </p:nvSpPr>
        <p:spPr>
          <a:xfrm>
            <a:off x="364845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8" name="group_1_label"/>
          <p:cNvSpPr txBox="1"/>
          <p:nvPr/>
        </p:nvSpPr>
        <p:spPr>
          <a:xfrm>
            <a:off x="366674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9" name="group_1_chars"/>
          <p:cNvSpPr txBox="1"/>
          <p:nvPr/>
        </p:nvSpPr>
        <p:spPr>
          <a:xfrm>
            <a:off x="366674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7,310 chars</a:t>
            </a:r>
          </a:p>
        </p:txBody>
      </p:sp>
      <p:sp>
        <p:nvSpPr>
          <p:cNvPr id="20" name="group_1_item_0"/>
          <p:cNvSpPr txBox="1"/>
          <p:nvPr/>
        </p:nvSpPr>
        <p:spPr>
          <a:xfrm>
            <a:off x="366674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examples/basic/deck.md</a:t>
            </a:r>
          </a:p>
        </p:txBody>
      </p:sp>
      <p:sp>
        <p:nvSpPr>
          <p:cNvPr id="21" name="group_1_item_1"/>
          <p:cNvSpPr txBox="1"/>
          <p:nvPr/>
        </p:nvSpPr>
        <p:spPr>
          <a:xfrm>
            <a:off x="366674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examples/comparison/deck.md</a:t>
            </a:r>
          </a:p>
        </p:txBody>
      </p:sp>
      <p:sp>
        <p:nvSpPr>
          <p:cNvPr id="22" name="group_1_item_2"/>
          <p:cNvSpPr txBox="1"/>
          <p:nvPr/>
        </p:nvSpPr>
        <p:spPr>
          <a:xfrm>
            <a:off x="366674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examples/pipeline/deck.md</a:t>
            </a:r>
          </a:p>
        </p:txBody>
      </p:sp>
      <p:sp>
        <p:nvSpPr>
          <p:cNvPr id="23" name="group_1_item_3"/>
          <p:cNvSpPr txBox="1"/>
          <p:nvPr/>
        </p:nvSpPr>
        <p:spPr>
          <a:xfrm>
            <a:off x="366674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examples/diagram-arrangements/deck.md</a:t>
            </a:r>
          </a:p>
        </p:txBody>
      </p:sp>
      <p:sp>
        <p:nvSpPr>
          <p:cNvPr id="24" name="group_1_item_4"/>
          <p:cNvSpPr txBox="1"/>
          <p:nvPr/>
        </p:nvSpPr>
        <p:spPr>
          <a:xfrm>
            <a:off x="366674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examples/five-methods/deck.md</a:t>
            </a:r>
          </a:p>
        </p:txBody>
      </p:sp>
      <p:sp>
        <p:nvSpPr>
          <p:cNvPr id="25" name="group_2_card"/>
          <p:cNvSpPr/>
          <p:nvPr/>
        </p:nvSpPr>
        <p:spPr>
          <a:xfrm>
            <a:off x="623620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oup_2_num"/>
          <p:cNvSpPr txBox="1"/>
          <p:nvPr/>
        </p:nvSpPr>
        <p:spPr>
          <a:xfrm>
            <a:off x="6437375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7" name="group_2_label"/>
          <p:cNvSpPr txBox="1"/>
          <p:nvPr/>
        </p:nvSpPr>
        <p:spPr>
          <a:xfrm>
            <a:off x="645566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8" name="group_2_chars"/>
          <p:cNvSpPr txBox="1"/>
          <p:nvPr/>
        </p:nvSpPr>
        <p:spPr>
          <a:xfrm>
            <a:off x="645566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15,017 chars</a:t>
            </a:r>
          </a:p>
        </p:txBody>
      </p:sp>
      <p:sp>
        <p:nvSpPr>
          <p:cNvPr id="29" name="group_2_item_0"/>
          <p:cNvSpPr txBox="1"/>
          <p:nvPr/>
        </p:nvSpPr>
        <p:spPr>
          <a:xfrm>
            <a:off x="645566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30" name="group_3_card"/>
          <p:cNvSpPr/>
          <p:nvPr/>
        </p:nvSpPr>
        <p:spPr>
          <a:xfrm>
            <a:off x="902512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group_3_num"/>
          <p:cNvSpPr txBox="1"/>
          <p:nvPr/>
        </p:nvSpPr>
        <p:spPr>
          <a:xfrm>
            <a:off x="922629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32" name="group_3_label"/>
          <p:cNvSpPr txBox="1"/>
          <p:nvPr/>
        </p:nvSpPr>
        <p:spPr>
          <a:xfrm>
            <a:off x="924458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33" name="group_3_chars"/>
          <p:cNvSpPr txBox="1"/>
          <p:nvPr/>
        </p:nvSpPr>
        <p:spPr>
          <a:xfrm>
            <a:off x="924458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34" name="group_3_item_0"/>
          <p:cNvSpPr txBox="1"/>
          <p:nvPr/>
        </p:nvSpPr>
        <p:spPr>
          <a:xfrm>
            <a:off x="924458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adr/0001-presentation-ir-schema-contract.md</a:t>
            </a:r>
          </a:p>
        </p:txBody>
      </p:sp>
      <p:sp>
        <p:nvSpPr>
          <p:cNvPr id="35" name="coverage_band"/>
          <p:cNvSpPr/>
          <p:nvPr/>
        </p:nvSpPr>
        <p:spPr>
          <a:xfrm>
            <a:off x="658368" y="5321808"/>
            <a:ext cx="10789920" cy="530352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overage_note"/>
          <p:cNvSpPr txBox="1"/>
          <p:nvPr/>
        </p:nvSpPr>
        <p:spPr>
          <a:xfrm>
            <a:off x="877824" y="5486400"/>
            <a:ext cx="99669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</a:rPr>
              <a:t>Total: 21 Markdown files, 180 headings, 73,034 source characters.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Responsibility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owns semantic structure; the skill owns optional design diversification.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ode_0"/>
          <p:cNvSpPr/>
          <p:nvPr/>
        </p:nvSpPr>
        <p:spPr>
          <a:xfrm>
            <a:off x="65836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0_title"/>
          <p:cNvSpPr txBox="1"/>
          <p:nvPr/>
        </p:nvSpPr>
        <p:spPr>
          <a:xfrm>
            <a:off x="79552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9" name="node_0_sub"/>
          <p:cNvSpPr txBox="1"/>
          <p:nvPr/>
        </p:nvSpPr>
        <p:spPr>
          <a:xfrm>
            <a:off x="77724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MDPR</a:t>
            </a:r>
          </a:p>
        </p:txBody>
      </p:sp>
      <p:sp>
        <p:nvSpPr>
          <p:cNvPr id="10" name="arrow_0"/>
          <p:cNvSpPr/>
          <p:nvPr/>
        </p:nvSpPr>
        <p:spPr>
          <a:xfrm>
            <a:off x="2011680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de_1"/>
          <p:cNvSpPr/>
          <p:nvPr/>
        </p:nvSpPr>
        <p:spPr>
          <a:xfrm>
            <a:off x="2514600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1_title"/>
          <p:cNvSpPr txBox="1"/>
          <p:nvPr/>
        </p:nvSpPr>
        <p:spPr>
          <a:xfrm>
            <a:off x="2651760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3" name="node_1_sub"/>
          <p:cNvSpPr txBox="1"/>
          <p:nvPr/>
        </p:nvSpPr>
        <p:spPr>
          <a:xfrm>
            <a:off x="2633472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4" name="arrow_1"/>
          <p:cNvSpPr/>
          <p:nvPr/>
        </p:nvSpPr>
        <p:spPr>
          <a:xfrm>
            <a:off x="3867912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ode_2"/>
          <p:cNvSpPr/>
          <p:nvPr/>
        </p:nvSpPr>
        <p:spPr>
          <a:xfrm>
            <a:off x="4370831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2_title"/>
          <p:cNvSpPr txBox="1"/>
          <p:nvPr/>
        </p:nvSpPr>
        <p:spPr>
          <a:xfrm>
            <a:off x="4507992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7" name="node_2_sub"/>
          <p:cNvSpPr txBox="1"/>
          <p:nvPr/>
        </p:nvSpPr>
        <p:spPr>
          <a:xfrm>
            <a:off x="4489703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8" name="arrow_2"/>
          <p:cNvSpPr/>
          <p:nvPr/>
        </p:nvSpPr>
        <p:spPr>
          <a:xfrm>
            <a:off x="5724144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ode_3"/>
          <p:cNvSpPr/>
          <p:nvPr/>
        </p:nvSpPr>
        <p:spPr>
          <a:xfrm>
            <a:off x="6227064" y="2057400"/>
            <a:ext cx="1335024" cy="960120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3_title"/>
          <p:cNvSpPr txBox="1"/>
          <p:nvPr/>
        </p:nvSpPr>
        <p:spPr>
          <a:xfrm>
            <a:off x="6364224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1" name="node_3_sub"/>
          <p:cNvSpPr txBox="1"/>
          <p:nvPr/>
        </p:nvSpPr>
        <p:spPr>
          <a:xfrm>
            <a:off x="6345936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content contract</a:t>
            </a:r>
          </a:p>
        </p:txBody>
      </p:sp>
      <p:sp>
        <p:nvSpPr>
          <p:cNvPr id="22" name="arrow_3"/>
          <p:cNvSpPr/>
          <p:nvPr/>
        </p:nvSpPr>
        <p:spPr>
          <a:xfrm>
            <a:off x="7580375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ode_4"/>
          <p:cNvSpPr/>
          <p:nvPr/>
        </p:nvSpPr>
        <p:spPr>
          <a:xfrm>
            <a:off x="8083296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ode_4_title"/>
          <p:cNvSpPr txBox="1"/>
          <p:nvPr/>
        </p:nvSpPr>
        <p:spPr>
          <a:xfrm>
            <a:off x="8220456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Rule Engine</a:t>
            </a:r>
          </a:p>
        </p:txBody>
      </p:sp>
      <p:sp>
        <p:nvSpPr>
          <p:cNvPr id="25" name="node_4_sub"/>
          <p:cNvSpPr txBox="1"/>
          <p:nvPr/>
        </p:nvSpPr>
        <p:spPr>
          <a:xfrm>
            <a:off x="8202168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recipes/variants</a:t>
            </a:r>
          </a:p>
        </p:txBody>
      </p:sp>
      <p:sp>
        <p:nvSpPr>
          <p:cNvPr id="26" name="arrow_4"/>
          <p:cNvSpPr/>
          <p:nvPr/>
        </p:nvSpPr>
        <p:spPr>
          <a:xfrm>
            <a:off x="9436608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ode_5"/>
          <p:cNvSpPr/>
          <p:nvPr/>
        </p:nvSpPr>
        <p:spPr>
          <a:xfrm>
            <a:off x="993952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ode_5_title"/>
          <p:cNvSpPr txBox="1"/>
          <p:nvPr/>
        </p:nvSpPr>
        <p:spPr>
          <a:xfrm>
            <a:off x="1007668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Styled PPTX</a:t>
            </a:r>
          </a:p>
        </p:txBody>
      </p:sp>
      <p:sp>
        <p:nvSpPr>
          <p:cNvPr id="29" name="node_5_sub"/>
          <p:cNvSpPr txBox="1"/>
          <p:nvPr/>
        </p:nvSpPr>
        <p:spPr>
          <a:xfrm>
            <a:off x="1005840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editable output</a:t>
            </a:r>
          </a:p>
        </p:txBody>
      </p:sp>
      <p:sp>
        <p:nvSpPr>
          <p:cNvPr id="30" name="mdpr_card"/>
          <p:cNvSpPr/>
          <p:nvPr/>
        </p:nvSpPr>
        <p:spPr>
          <a:xfrm>
            <a:off x="74980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_icon_doc"/>
          <p:cNvSpPr/>
          <p:nvPr/>
        </p:nvSpPr>
        <p:spPr>
          <a:xfrm>
            <a:off x="914400" y="4023359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_icon_line_0"/>
          <p:cNvSpPr/>
          <p:nvPr/>
        </p:nvSpPr>
        <p:spPr>
          <a:xfrm>
            <a:off x="985723" y="411845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_icon_line_1"/>
          <p:cNvSpPr/>
          <p:nvPr/>
        </p:nvSpPr>
        <p:spPr>
          <a:xfrm>
            <a:off x="985723" y="419572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_icon_line_2"/>
          <p:cNvSpPr/>
          <p:nvPr/>
        </p:nvSpPr>
        <p:spPr>
          <a:xfrm>
            <a:off x="985723" y="427299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_title"/>
          <p:cNvSpPr txBox="1"/>
          <p:nvPr/>
        </p:nvSpPr>
        <p:spPr>
          <a:xfrm>
            <a:off x="155448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MDPR output</a:t>
            </a:r>
          </a:p>
        </p:txBody>
      </p:sp>
      <p:sp>
        <p:nvSpPr>
          <p:cNvPr id="36" name="mdpr_body_0"/>
          <p:cNvSpPr txBox="1"/>
          <p:nvPr/>
        </p:nvSpPr>
        <p:spPr>
          <a:xfrm>
            <a:off x="155448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consistent baseline deck</a:t>
            </a:r>
          </a:p>
        </p:txBody>
      </p:sp>
      <p:sp>
        <p:nvSpPr>
          <p:cNvPr id="37" name="mdpr_body_1"/>
          <p:cNvSpPr txBox="1"/>
          <p:nvPr/>
        </p:nvSpPr>
        <p:spPr>
          <a:xfrm>
            <a:off x="155448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content split and renderer path</a:t>
            </a:r>
          </a:p>
        </p:txBody>
      </p:sp>
      <p:sp>
        <p:nvSpPr>
          <p:cNvPr id="38" name="mdpr_body_2"/>
          <p:cNvSpPr txBox="1"/>
          <p:nvPr/>
        </p:nvSpPr>
        <p:spPr>
          <a:xfrm>
            <a:off x="155448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theme-preset visual treatment</a:t>
            </a:r>
          </a:p>
        </p:txBody>
      </p:sp>
      <p:sp>
        <p:nvSpPr>
          <p:cNvPr id="39" name="skill_card"/>
          <p:cNvSpPr/>
          <p:nvPr/>
        </p:nvSpPr>
        <p:spPr>
          <a:xfrm>
            <a:off x="614476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kill_icon_v"/>
          <p:cNvSpPr/>
          <p:nvPr/>
        </p:nvSpPr>
        <p:spPr>
          <a:xfrm>
            <a:off x="6452006" y="4023359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kill_icon_h"/>
          <p:cNvSpPr/>
          <p:nvPr/>
        </p:nvSpPr>
        <p:spPr>
          <a:xfrm>
            <a:off x="6309359" y="416600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kill_icon_dot"/>
          <p:cNvSpPr/>
          <p:nvPr/>
        </p:nvSpPr>
        <p:spPr>
          <a:xfrm>
            <a:off x="6570878" y="428487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kill_title"/>
          <p:cNvSpPr txBox="1"/>
          <p:nvPr/>
        </p:nvSpPr>
        <p:spPr>
          <a:xfrm>
            <a:off x="694944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Skill output</a:t>
            </a:r>
          </a:p>
        </p:txBody>
      </p:sp>
      <p:sp>
        <p:nvSpPr>
          <p:cNvPr id="44" name="skill_body_0"/>
          <p:cNvSpPr txBox="1"/>
          <p:nvPr/>
        </p:nvSpPr>
        <p:spPr>
          <a:xfrm>
            <a:off x="694944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recipe selection</a:t>
            </a:r>
          </a:p>
        </p:txBody>
      </p:sp>
      <p:sp>
        <p:nvSpPr>
          <p:cNvPr id="45" name="skill_body_1"/>
          <p:cNvSpPr txBox="1"/>
          <p:nvPr/>
        </p:nvSpPr>
        <p:spPr>
          <a:xfrm>
            <a:off x="694944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monotone icon aside</a:t>
            </a:r>
          </a:p>
        </p:txBody>
      </p:sp>
      <p:sp>
        <p:nvSpPr>
          <p:cNvPr id="46" name="skill_body_2"/>
          <p:cNvSpPr txBox="1"/>
          <p:nvPr/>
        </p:nvSpPr>
        <p:spPr>
          <a:xfrm>
            <a:off x="694944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infographic and coherence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What the MDPR Docs Contribute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Each source family feeds a different content shape into the generated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card"/>
          <p:cNvSpPr/>
          <p:nvPr/>
        </p:nvSpPr>
        <p:spPr>
          <a:xfrm>
            <a:off x="6858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doc"/>
          <p:cNvSpPr/>
          <p:nvPr/>
        </p:nvSpPr>
        <p:spPr>
          <a:xfrm>
            <a:off x="850392" y="1645920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icon_line_0"/>
          <p:cNvSpPr/>
          <p:nvPr/>
        </p:nvSpPr>
        <p:spPr>
          <a:xfrm>
            <a:off x="921715" y="174101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cmap_0_icon_line_1"/>
          <p:cNvSpPr/>
          <p:nvPr/>
        </p:nvSpPr>
        <p:spPr>
          <a:xfrm>
            <a:off x="921715" y="181828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cmap_0_icon_line_2"/>
          <p:cNvSpPr/>
          <p:nvPr/>
        </p:nvSpPr>
        <p:spPr>
          <a:xfrm>
            <a:off x="921715" y="189555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cmap_0_title"/>
          <p:cNvSpPr txBox="1"/>
          <p:nvPr/>
        </p:nvSpPr>
        <p:spPr>
          <a:xfrm>
            <a:off x="14904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3" name="docmap_0_body_0"/>
          <p:cNvSpPr txBox="1"/>
          <p:nvPr/>
        </p:nvSpPr>
        <p:spPr>
          <a:xfrm>
            <a:off x="14904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flow, packages, renderer boundary</a:t>
            </a:r>
          </a:p>
        </p:txBody>
      </p:sp>
      <p:sp>
        <p:nvSpPr>
          <p:cNvPr id="14" name="docmap_0_body_1"/>
          <p:cNvSpPr txBox="1"/>
          <p:nvPr/>
        </p:nvSpPr>
        <p:spPr>
          <a:xfrm>
            <a:off x="14904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pipeline cards</a:t>
            </a:r>
          </a:p>
        </p:txBody>
      </p:sp>
      <p:sp>
        <p:nvSpPr>
          <p:cNvPr id="15" name="docmap_1_card"/>
          <p:cNvSpPr/>
          <p:nvPr/>
        </p:nvSpPr>
        <p:spPr>
          <a:xfrm>
            <a:off x="43434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node_0"/>
          <p:cNvSpPr/>
          <p:nvPr/>
        </p:nvSpPr>
        <p:spPr>
          <a:xfrm>
            <a:off x="450799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node_1"/>
          <p:cNvSpPr/>
          <p:nvPr/>
        </p:nvSpPr>
        <p:spPr>
          <a:xfrm>
            <a:off x="4733848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icon_node_2"/>
          <p:cNvSpPr/>
          <p:nvPr/>
        </p:nvSpPr>
        <p:spPr>
          <a:xfrm>
            <a:off x="4959705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cmap_1_icon_line_0"/>
          <p:cNvSpPr/>
          <p:nvPr/>
        </p:nvSpPr>
        <p:spPr>
          <a:xfrm>
            <a:off x="4609033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map_1_icon_line_1"/>
          <p:cNvSpPr/>
          <p:nvPr/>
        </p:nvSpPr>
        <p:spPr>
          <a:xfrm>
            <a:off x="4834890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cmap_1_title"/>
          <p:cNvSpPr txBox="1"/>
          <p:nvPr/>
        </p:nvSpPr>
        <p:spPr>
          <a:xfrm>
            <a:off x="51480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22" name="docmap_1_body_0"/>
          <p:cNvSpPr txBox="1"/>
          <p:nvPr/>
        </p:nvSpPr>
        <p:spPr>
          <a:xfrm>
            <a:off x="51480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headings, density, slide breaks</a:t>
            </a:r>
          </a:p>
        </p:txBody>
      </p:sp>
      <p:sp>
        <p:nvSpPr>
          <p:cNvPr id="23" name="docmap_1_body_1"/>
          <p:cNvSpPr txBox="1"/>
          <p:nvPr/>
        </p:nvSpPr>
        <p:spPr>
          <a:xfrm>
            <a:off x="51480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rules and examples</a:t>
            </a:r>
          </a:p>
        </p:txBody>
      </p:sp>
      <p:sp>
        <p:nvSpPr>
          <p:cNvPr id="24" name="docmap_2_card"/>
          <p:cNvSpPr/>
          <p:nvPr/>
        </p:nvSpPr>
        <p:spPr>
          <a:xfrm>
            <a:off x="80010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cmap_2_icon_body"/>
          <p:cNvSpPr/>
          <p:nvPr/>
        </p:nvSpPr>
        <p:spPr>
          <a:xfrm>
            <a:off x="8165592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cmap_2_icon_cut"/>
          <p:cNvSpPr/>
          <p:nvPr/>
        </p:nvSpPr>
        <p:spPr>
          <a:xfrm>
            <a:off x="8296351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cmap_2_title"/>
          <p:cNvSpPr txBox="1"/>
          <p:nvPr/>
        </p:nvSpPr>
        <p:spPr>
          <a:xfrm>
            <a:off x="88056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8" name="docmap_2_body_0"/>
          <p:cNvSpPr txBox="1"/>
          <p:nvPr/>
        </p:nvSpPr>
        <p:spPr>
          <a:xfrm>
            <a:off x="88056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regions, safe area, overflow</a:t>
            </a:r>
          </a:p>
        </p:txBody>
      </p:sp>
      <p:sp>
        <p:nvSpPr>
          <p:cNvPr id="29" name="docmap_2_body_1"/>
          <p:cNvSpPr txBox="1"/>
          <p:nvPr/>
        </p:nvSpPr>
        <p:spPr>
          <a:xfrm>
            <a:off x="88056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grid and cards</a:t>
            </a:r>
          </a:p>
        </p:txBody>
      </p:sp>
      <p:sp>
        <p:nvSpPr>
          <p:cNvPr id="30" name="docmap_3_card"/>
          <p:cNvSpPr/>
          <p:nvPr/>
        </p:nvSpPr>
        <p:spPr>
          <a:xfrm>
            <a:off x="6858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doc"/>
          <p:cNvSpPr/>
          <p:nvPr/>
        </p:nvSpPr>
        <p:spPr>
          <a:xfrm>
            <a:off x="850392" y="3310128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icon_line_0"/>
          <p:cNvSpPr/>
          <p:nvPr/>
        </p:nvSpPr>
        <p:spPr>
          <a:xfrm>
            <a:off x="921715" y="340522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cmap_3_icon_line_1"/>
          <p:cNvSpPr/>
          <p:nvPr/>
        </p:nvSpPr>
        <p:spPr>
          <a:xfrm>
            <a:off x="921715" y="3482492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cmap_3_icon_line_2"/>
          <p:cNvSpPr/>
          <p:nvPr/>
        </p:nvSpPr>
        <p:spPr>
          <a:xfrm>
            <a:off x="921715" y="355975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cmap_3_title"/>
          <p:cNvSpPr txBox="1"/>
          <p:nvPr/>
        </p:nvSpPr>
        <p:spPr>
          <a:xfrm>
            <a:off x="14904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6" name="docmap_3_body_0"/>
          <p:cNvSpPr txBox="1"/>
          <p:nvPr/>
        </p:nvSpPr>
        <p:spPr>
          <a:xfrm>
            <a:off x="14904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PPTX/PDF/HTML behavior</a:t>
            </a:r>
          </a:p>
        </p:txBody>
      </p:sp>
      <p:sp>
        <p:nvSpPr>
          <p:cNvPr id="37" name="docmap_3_body_1"/>
          <p:cNvSpPr txBox="1"/>
          <p:nvPr/>
        </p:nvSpPr>
        <p:spPr>
          <a:xfrm>
            <a:off x="14904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format matrix</a:t>
            </a:r>
          </a:p>
        </p:txBody>
      </p:sp>
      <p:sp>
        <p:nvSpPr>
          <p:cNvPr id="38" name="docmap_4_card"/>
          <p:cNvSpPr/>
          <p:nvPr/>
        </p:nvSpPr>
        <p:spPr>
          <a:xfrm>
            <a:off x="43434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node_0"/>
          <p:cNvSpPr/>
          <p:nvPr/>
        </p:nvSpPr>
        <p:spPr>
          <a:xfrm>
            <a:off x="4507992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node_1"/>
          <p:cNvSpPr/>
          <p:nvPr/>
        </p:nvSpPr>
        <p:spPr>
          <a:xfrm>
            <a:off x="4733848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icon_node_2"/>
          <p:cNvSpPr/>
          <p:nvPr/>
        </p:nvSpPr>
        <p:spPr>
          <a:xfrm>
            <a:off x="4959705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cmap_4_icon_line_0"/>
          <p:cNvSpPr/>
          <p:nvPr/>
        </p:nvSpPr>
        <p:spPr>
          <a:xfrm>
            <a:off x="4609033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ocmap_4_icon_line_1"/>
          <p:cNvSpPr/>
          <p:nvPr/>
        </p:nvSpPr>
        <p:spPr>
          <a:xfrm>
            <a:off x="4834890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ocmap_4_title"/>
          <p:cNvSpPr txBox="1"/>
          <p:nvPr/>
        </p:nvSpPr>
        <p:spPr>
          <a:xfrm>
            <a:off x="51480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5" name="docmap_4_body_0"/>
          <p:cNvSpPr txBox="1"/>
          <p:nvPr/>
        </p:nvSpPr>
        <p:spPr>
          <a:xfrm>
            <a:off x="51480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LLM/human adjustment boundary</a:t>
            </a:r>
          </a:p>
        </p:txBody>
      </p:sp>
      <p:sp>
        <p:nvSpPr>
          <p:cNvPr id="46" name="docmap_4_body_1"/>
          <p:cNvSpPr txBox="1"/>
          <p:nvPr/>
        </p:nvSpPr>
        <p:spPr>
          <a:xfrm>
            <a:off x="51480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annotation panel</a:t>
            </a:r>
          </a:p>
        </p:txBody>
      </p:sp>
      <p:sp>
        <p:nvSpPr>
          <p:cNvPr id="47" name="docmap_5_card"/>
          <p:cNvSpPr/>
          <p:nvPr/>
        </p:nvSpPr>
        <p:spPr>
          <a:xfrm>
            <a:off x="80010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cmap_5_icon_body"/>
          <p:cNvSpPr/>
          <p:nvPr/>
        </p:nvSpPr>
        <p:spPr>
          <a:xfrm>
            <a:off x="8165592" y="3310128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cmap_5_icon_cut"/>
          <p:cNvSpPr/>
          <p:nvPr/>
        </p:nvSpPr>
        <p:spPr>
          <a:xfrm>
            <a:off x="8296351" y="3381451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cmap_5_title"/>
          <p:cNvSpPr txBox="1"/>
          <p:nvPr/>
        </p:nvSpPr>
        <p:spPr>
          <a:xfrm>
            <a:off x="88056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51" name="docmap_5_body_0"/>
          <p:cNvSpPr txBox="1"/>
          <p:nvPr/>
        </p:nvSpPr>
        <p:spPr>
          <a:xfrm>
            <a:off x="88056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52" name="docmap_5_body_1"/>
          <p:cNvSpPr txBox="1"/>
          <p:nvPr/>
        </p:nvSpPr>
        <p:spPr>
          <a:xfrm>
            <a:off x="88056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varied slide intents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Skill Visual Rules Added on Top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changes visual choices, not MDPR's Markdown parsing role.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card"/>
          <p:cNvSpPr/>
          <p:nvPr/>
        </p:nvSpPr>
        <p:spPr>
          <a:xfrm>
            <a:off x="713232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icon_v"/>
          <p:cNvSpPr/>
          <p:nvPr/>
        </p:nvSpPr>
        <p:spPr>
          <a:xfrm>
            <a:off x="1020470" y="1645920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_icon_h"/>
          <p:cNvSpPr/>
          <p:nvPr/>
        </p:nvSpPr>
        <p:spPr>
          <a:xfrm>
            <a:off x="877824" y="178856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_icon_dot"/>
          <p:cNvSpPr/>
          <p:nvPr/>
        </p:nvSpPr>
        <p:spPr>
          <a:xfrm>
            <a:off x="1139342" y="190743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_title"/>
          <p:cNvSpPr txBox="1"/>
          <p:nvPr/>
        </p:nvSpPr>
        <p:spPr>
          <a:xfrm>
            <a:off x="1517904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Monotone icon aside</a:t>
            </a:r>
          </a:p>
        </p:txBody>
      </p:sp>
      <p:sp>
        <p:nvSpPr>
          <p:cNvPr id="12" name="icon_body_0"/>
          <p:cNvSpPr txBox="1"/>
          <p:nvPr/>
        </p:nvSpPr>
        <p:spPr>
          <a:xfrm>
            <a:off x="1517904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text-only slides only</a:t>
            </a:r>
          </a:p>
        </p:txBody>
      </p:sp>
      <p:sp>
        <p:nvSpPr>
          <p:cNvPr id="13" name="icon_body_1"/>
          <p:cNvSpPr txBox="1"/>
          <p:nvPr/>
        </p:nvSpPr>
        <p:spPr>
          <a:xfrm>
            <a:off x="1517904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PowerPoint icon or licensed free SVG</a:t>
            </a:r>
          </a:p>
        </p:txBody>
      </p:sp>
      <p:sp>
        <p:nvSpPr>
          <p:cNvPr id="14" name="icon_body_2"/>
          <p:cNvSpPr txBox="1"/>
          <p:nvPr/>
        </p:nvSpPr>
        <p:spPr>
          <a:xfrm>
            <a:off x="1517904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one black or white icon</a:t>
            </a:r>
          </a:p>
        </p:txBody>
      </p:sp>
      <p:sp>
        <p:nvSpPr>
          <p:cNvPr id="15" name="info_card"/>
          <p:cNvSpPr/>
          <p:nvPr/>
        </p:nvSpPr>
        <p:spPr>
          <a:xfrm>
            <a:off x="4443984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node_0"/>
          <p:cNvSpPr/>
          <p:nvPr/>
        </p:nvSpPr>
        <p:spPr>
          <a:xfrm>
            <a:off x="4608576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node_1"/>
          <p:cNvSpPr/>
          <p:nvPr/>
        </p:nvSpPr>
        <p:spPr>
          <a:xfrm>
            <a:off x="483443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icon_node_2"/>
          <p:cNvSpPr/>
          <p:nvPr/>
        </p:nvSpPr>
        <p:spPr>
          <a:xfrm>
            <a:off x="5060289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nfo_icon_line_0"/>
          <p:cNvSpPr/>
          <p:nvPr/>
        </p:nvSpPr>
        <p:spPr>
          <a:xfrm>
            <a:off x="4709617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nfo_icon_line_1"/>
          <p:cNvSpPr/>
          <p:nvPr/>
        </p:nvSpPr>
        <p:spPr>
          <a:xfrm>
            <a:off x="4935474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nfo_title"/>
          <p:cNvSpPr txBox="1"/>
          <p:nvPr/>
        </p:nvSpPr>
        <p:spPr>
          <a:xfrm>
            <a:off x="5248656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Infographic seeds</a:t>
            </a:r>
          </a:p>
        </p:txBody>
      </p:sp>
      <p:sp>
        <p:nvSpPr>
          <p:cNvPr id="22" name="info_body_0"/>
          <p:cNvSpPr txBox="1"/>
          <p:nvPr/>
        </p:nvSpPr>
        <p:spPr>
          <a:xfrm>
            <a:off x="5248656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cycle-loop</a:t>
            </a:r>
          </a:p>
        </p:txBody>
      </p:sp>
      <p:sp>
        <p:nvSpPr>
          <p:cNvPr id="23" name="info_body_1"/>
          <p:cNvSpPr txBox="1"/>
          <p:nvPr/>
        </p:nvSpPr>
        <p:spPr>
          <a:xfrm>
            <a:off x="5248656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ordered-rail</a:t>
            </a:r>
          </a:p>
        </p:txBody>
      </p:sp>
      <p:sp>
        <p:nvSpPr>
          <p:cNvPr id="24" name="info_body_2"/>
          <p:cNvSpPr txBox="1"/>
          <p:nvPr/>
        </p:nvSpPr>
        <p:spPr>
          <a:xfrm>
            <a:off x="5248656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ranked-stack</a:t>
            </a:r>
          </a:p>
        </p:txBody>
      </p:sp>
      <p:sp>
        <p:nvSpPr>
          <p:cNvPr id="25" name="info_body_3"/>
          <p:cNvSpPr txBox="1"/>
          <p:nvPr/>
        </p:nvSpPr>
        <p:spPr>
          <a:xfrm>
            <a:off x="5248656" y="2935224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chart-like families</a:t>
            </a:r>
          </a:p>
        </p:txBody>
      </p:sp>
      <p:sp>
        <p:nvSpPr>
          <p:cNvPr id="26" name="qa_card"/>
          <p:cNvSpPr/>
          <p:nvPr/>
        </p:nvSpPr>
        <p:spPr>
          <a:xfrm>
            <a:off x="8174736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qa_icon_body"/>
          <p:cNvSpPr/>
          <p:nvPr/>
        </p:nvSpPr>
        <p:spPr>
          <a:xfrm>
            <a:off x="8339327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qa_icon_cut"/>
          <p:cNvSpPr/>
          <p:nvPr/>
        </p:nvSpPr>
        <p:spPr>
          <a:xfrm>
            <a:off x="8470087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qa_title"/>
          <p:cNvSpPr txBox="1"/>
          <p:nvPr/>
        </p:nvSpPr>
        <p:spPr>
          <a:xfrm>
            <a:off x="8979408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Coherence validation</a:t>
            </a:r>
          </a:p>
        </p:txBody>
      </p:sp>
      <p:sp>
        <p:nvSpPr>
          <p:cNvPr id="30" name="qa_body_0"/>
          <p:cNvSpPr txBox="1"/>
          <p:nvPr/>
        </p:nvSpPr>
        <p:spPr>
          <a:xfrm>
            <a:off x="8979408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minimum font size</a:t>
            </a:r>
          </a:p>
        </p:txBody>
      </p:sp>
      <p:sp>
        <p:nvSpPr>
          <p:cNvPr id="31" name="qa_body_1"/>
          <p:cNvSpPr txBox="1"/>
          <p:nvPr/>
        </p:nvSpPr>
        <p:spPr>
          <a:xfrm>
            <a:off x="8979408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aligned icon midpoint</a:t>
            </a:r>
          </a:p>
        </p:txBody>
      </p:sp>
      <p:sp>
        <p:nvSpPr>
          <p:cNvPr id="32" name="qa_body_2"/>
          <p:cNvSpPr txBox="1"/>
          <p:nvPr/>
        </p:nvSpPr>
        <p:spPr>
          <a:xfrm>
            <a:off x="8979408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z-order and object variety</a:t>
            </a:r>
          </a:p>
        </p:txBody>
      </p:sp>
      <p:sp>
        <p:nvSpPr>
          <p:cNvPr id="33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5" name="step_0_label"/>
          <p:cNvSpPr txBox="1"/>
          <p:nvPr/>
        </p:nvSpPr>
        <p:spPr>
          <a:xfrm>
            <a:off x="67665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6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tep_1_label"/>
          <p:cNvSpPr txBox="1"/>
          <p:nvPr/>
        </p:nvSpPr>
        <p:spPr>
          <a:xfrm>
            <a:off x="332841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8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step_2_label"/>
          <p:cNvSpPr txBox="1"/>
          <p:nvPr/>
        </p:nvSpPr>
        <p:spPr>
          <a:xfrm>
            <a:off x="598017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40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step_3_label"/>
          <p:cNvSpPr txBox="1"/>
          <p:nvPr/>
        </p:nvSpPr>
        <p:spPr>
          <a:xfrm>
            <a:off x="863193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Example Decks Used as Content Variety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same source set exercises comparison, pipeline, theme, and process-like slide types.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card"/>
          <p:cNvSpPr/>
          <p:nvPr/>
        </p:nvSpPr>
        <p:spPr>
          <a:xfrm>
            <a:off x="6583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doc"/>
          <p:cNvSpPr/>
          <p:nvPr/>
        </p:nvSpPr>
        <p:spPr>
          <a:xfrm>
            <a:off x="8229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icon_line_0"/>
          <p:cNvSpPr/>
          <p:nvPr/>
        </p:nvSpPr>
        <p:spPr>
          <a:xfrm>
            <a:off x="8942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xample_0_icon_line_1"/>
          <p:cNvSpPr/>
          <p:nvPr/>
        </p:nvSpPr>
        <p:spPr>
          <a:xfrm>
            <a:off x="8942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xample_0_icon_line_2"/>
          <p:cNvSpPr/>
          <p:nvPr/>
        </p:nvSpPr>
        <p:spPr>
          <a:xfrm>
            <a:off x="8942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0_title"/>
          <p:cNvSpPr txBox="1"/>
          <p:nvPr/>
        </p:nvSpPr>
        <p:spPr>
          <a:xfrm>
            <a:off x="14630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basic/deck.md</a:t>
            </a:r>
          </a:p>
        </p:txBody>
      </p:sp>
      <p:sp>
        <p:nvSpPr>
          <p:cNvPr id="13" name="example_0_body_0"/>
          <p:cNvSpPr txBox="1"/>
          <p:nvPr/>
        </p:nvSpPr>
        <p:spPr>
          <a:xfrm>
            <a:off x="14630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4" name="example_0_body_1"/>
          <p:cNvSpPr txBox="1"/>
          <p:nvPr/>
        </p:nvSpPr>
        <p:spPr>
          <a:xfrm>
            <a:off x="14630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Problem Definition</a:t>
            </a:r>
          </a:p>
        </p:txBody>
      </p:sp>
      <p:sp>
        <p:nvSpPr>
          <p:cNvPr id="15" name="example_1_card"/>
          <p:cNvSpPr/>
          <p:nvPr/>
        </p:nvSpPr>
        <p:spPr>
          <a:xfrm>
            <a:off x="43159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doc"/>
          <p:cNvSpPr/>
          <p:nvPr/>
        </p:nvSpPr>
        <p:spPr>
          <a:xfrm>
            <a:off x="44805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icon_line_0"/>
          <p:cNvSpPr/>
          <p:nvPr/>
        </p:nvSpPr>
        <p:spPr>
          <a:xfrm>
            <a:off x="45518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_1_icon_line_1"/>
          <p:cNvSpPr/>
          <p:nvPr/>
        </p:nvSpPr>
        <p:spPr>
          <a:xfrm>
            <a:off x="45518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1_icon_line_2"/>
          <p:cNvSpPr/>
          <p:nvPr/>
        </p:nvSpPr>
        <p:spPr>
          <a:xfrm>
            <a:off x="45518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1_title"/>
          <p:cNvSpPr txBox="1"/>
          <p:nvPr/>
        </p:nvSpPr>
        <p:spPr>
          <a:xfrm>
            <a:off x="51206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comparison/deck.md</a:t>
            </a:r>
          </a:p>
        </p:txBody>
      </p:sp>
      <p:sp>
        <p:nvSpPr>
          <p:cNvPr id="21" name="example_1_body_0"/>
          <p:cNvSpPr txBox="1"/>
          <p:nvPr/>
        </p:nvSpPr>
        <p:spPr>
          <a:xfrm>
            <a:off x="51206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22" name="example_1_body_1"/>
          <p:cNvSpPr txBox="1"/>
          <p:nvPr/>
        </p:nvSpPr>
        <p:spPr>
          <a:xfrm>
            <a:off x="51206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Current Approach and Improved Approach</a:t>
            </a:r>
          </a:p>
        </p:txBody>
      </p:sp>
      <p:sp>
        <p:nvSpPr>
          <p:cNvPr id="23" name="example_2_card"/>
          <p:cNvSpPr/>
          <p:nvPr/>
        </p:nvSpPr>
        <p:spPr>
          <a:xfrm>
            <a:off x="79735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doc"/>
          <p:cNvSpPr/>
          <p:nvPr/>
        </p:nvSpPr>
        <p:spPr>
          <a:xfrm>
            <a:off x="8138160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icon_line_0"/>
          <p:cNvSpPr/>
          <p:nvPr/>
        </p:nvSpPr>
        <p:spPr>
          <a:xfrm>
            <a:off x="82094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2_icon_line_1"/>
          <p:cNvSpPr/>
          <p:nvPr/>
        </p:nvSpPr>
        <p:spPr>
          <a:xfrm>
            <a:off x="82094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2_icon_line_2"/>
          <p:cNvSpPr/>
          <p:nvPr/>
        </p:nvSpPr>
        <p:spPr>
          <a:xfrm>
            <a:off x="82094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2_title"/>
          <p:cNvSpPr txBox="1"/>
          <p:nvPr/>
        </p:nvSpPr>
        <p:spPr>
          <a:xfrm>
            <a:off x="87782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pipeline/deck.md</a:t>
            </a:r>
          </a:p>
        </p:txBody>
      </p:sp>
      <p:sp>
        <p:nvSpPr>
          <p:cNvPr id="29" name="example_2_body_0"/>
          <p:cNvSpPr txBox="1"/>
          <p:nvPr/>
        </p:nvSpPr>
        <p:spPr>
          <a:xfrm>
            <a:off x="87782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30" name="example_2_body_1"/>
          <p:cNvSpPr txBox="1"/>
          <p:nvPr/>
        </p:nvSpPr>
        <p:spPr>
          <a:xfrm>
            <a:off x="87782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Publishing Flow</a:t>
            </a:r>
          </a:p>
        </p:txBody>
      </p:sp>
      <p:sp>
        <p:nvSpPr>
          <p:cNvPr id="31" name="example_3_card"/>
          <p:cNvSpPr/>
          <p:nvPr/>
        </p:nvSpPr>
        <p:spPr>
          <a:xfrm>
            <a:off x="6583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doc"/>
          <p:cNvSpPr/>
          <p:nvPr/>
        </p:nvSpPr>
        <p:spPr>
          <a:xfrm>
            <a:off x="8229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icon_line_0"/>
          <p:cNvSpPr/>
          <p:nvPr/>
        </p:nvSpPr>
        <p:spPr>
          <a:xfrm>
            <a:off x="8942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3_icon_line_1"/>
          <p:cNvSpPr/>
          <p:nvPr/>
        </p:nvSpPr>
        <p:spPr>
          <a:xfrm>
            <a:off x="8942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3_icon_line_2"/>
          <p:cNvSpPr/>
          <p:nvPr/>
        </p:nvSpPr>
        <p:spPr>
          <a:xfrm>
            <a:off x="8942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3_title"/>
          <p:cNvSpPr txBox="1"/>
          <p:nvPr/>
        </p:nvSpPr>
        <p:spPr>
          <a:xfrm>
            <a:off x="14630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diagram-arrangements/deck.md</a:t>
            </a:r>
          </a:p>
        </p:txBody>
      </p:sp>
      <p:sp>
        <p:nvSpPr>
          <p:cNvPr id="37" name="example_3_body_0"/>
          <p:cNvSpPr txBox="1"/>
          <p:nvPr/>
        </p:nvSpPr>
        <p:spPr>
          <a:xfrm>
            <a:off x="14630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8" name="example_3_body_1"/>
          <p:cNvSpPr txBox="1"/>
          <p:nvPr/>
        </p:nvSpPr>
        <p:spPr>
          <a:xfrm>
            <a:off x="14630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Horizontal Flow</a:t>
            </a:r>
          </a:p>
        </p:txBody>
      </p:sp>
      <p:sp>
        <p:nvSpPr>
          <p:cNvPr id="39" name="example_4_card"/>
          <p:cNvSpPr/>
          <p:nvPr/>
        </p:nvSpPr>
        <p:spPr>
          <a:xfrm>
            <a:off x="43159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doc"/>
          <p:cNvSpPr/>
          <p:nvPr/>
        </p:nvSpPr>
        <p:spPr>
          <a:xfrm>
            <a:off x="44805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icon_line_0"/>
          <p:cNvSpPr/>
          <p:nvPr/>
        </p:nvSpPr>
        <p:spPr>
          <a:xfrm>
            <a:off x="45518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4_icon_line_1"/>
          <p:cNvSpPr/>
          <p:nvPr/>
        </p:nvSpPr>
        <p:spPr>
          <a:xfrm>
            <a:off x="45518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4_icon_line_2"/>
          <p:cNvSpPr/>
          <p:nvPr/>
        </p:nvSpPr>
        <p:spPr>
          <a:xfrm>
            <a:off x="45518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xample_4_title"/>
          <p:cNvSpPr txBox="1"/>
          <p:nvPr/>
        </p:nvSpPr>
        <p:spPr>
          <a:xfrm>
            <a:off x="51206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five-methods/deck.md</a:t>
            </a:r>
          </a:p>
        </p:txBody>
      </p:sp>
      <p:sp>
        <p:nvSpPr>
          <p:cNvPr id="45" name="example_4_body_0"/>
          <p:cNvSpPr txBox="1"/>
          <p:nvPr/>
        </p:nvSpPr>
        <p:spPr>
          <a:xfrm>
            <a:off x="51206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6" name="example_4_body_1"/>
          <p:cNvSpPr txBox="1"/>
          <p:nvPr/>
        </p:nvSpPr>
        <p:spPr>
          <a:xfrm>
            <a:off x="51206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Five Execution Steps</a:t>
            </a:r>
          </a:p>
        </p:txBody>
      </p:sp>
      <p:sp>
        <p:nvSpPr>
          <p:cNvPr id="47" name="example_5_card"/>
          <p:cNvSpPr/>
          <p:nvPr/>
        </p:nvSpPr>
        <p:spPr>
          <a:xfrm>
            <a:off x="79735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doc"/>
          <p:cNvSpPr/>
          <p:nvPr/>
        </p:nvSpPr>
        <p:spPr>
          <a:xfrm>
            <a:off x="8138160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icon_line_0"/>
          <p:cNvSpPr/>
          <p:nvPr/>
        </p:nvSpPr>
        <p:spPr>
          <a:xfrm>
            <a:off x="82094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xample_5_icon_line_1"/>
          <p:cNvSpPr/>
          <p:nvPr/>
        </p:nvSpPr>
        <p:spPr>
          <a:xfrm>
            <a:off x="82094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xample_5_icon_line_2"/>
          <p:cNvSpPr/>
          <p:nvPr/>
        </p:nvSpPr>
        <p:spPr>
          <a:xfrm>
            <a:off x="82094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xample_5_title"/>
          <p:cNvSpPr txBox="1"/>
          <p:nvPr/>
        </p:nvSpPr>
        <p:spPr>
          <a:xfrm>
            <a:off x="87782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theme-preview-en/deck.md</a:t>
            </a:r>
          </a:p>
        </p:txBody>
      </p:sp>
      <p:sp>
        <p:nvSpPr>
          <p:cNvPr id="53" name="example_5_body_0"/>
          <p:cNvSpPr txBox="1"/>
          <p:nvPr/>
        </p:nvSpPr>
        <p:spPr>
          <a:xfrm>
            <a:off x="87782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4" name="example_5_body_1"/>
          <p:cNvSpPr txBox="1"/>
          <p:nvPr/>
        </p:nvSpPr>
        <p:spPr>
          <a:xfrm>
            <a:off x="87782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Teaser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Shape Summary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can introduce native chart/table objects while staying tied to MDPR source metadata.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664208"/>
          <a:ext cx="4709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502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126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50,707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7,310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15,017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9" name="chart_note_card"/>
          <p:cNvSpPr/>
          <p:nvPr/>
        </p:nvSpPr>
        <p:spPr>
          <a:xfrm>
            <a:off x="6263640" y="4160520"/>
            <a:ext cx="4709160" cy="914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art_note_icon_body"/>
          <p:cNvSpPr/>
          <p:nvPr/>
        </p:nvSpPr>
        <p:spPr>
          <a:xfrm>
            <a:off x="6428231" y="4325112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art_note_icon_cut"/>
          <p:cNvSpPr/>
          <p:nvPr/>
        </p:nvSpPr>
        <p:spPr>
          <a:xfrm>
            <a:off x="6558991" y="4396435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rt_note_title"/>
          <p:cNvSpPr txBox="1"/>
          <p:nvPr/>
        </p:nvSpPr>
        <p:spPr>
          <a:xfrm>
            <a:off x="7068312" y="4361688"/>
            <a:ext cx="37216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Why this matters</a:t>
            </a:r>
          </a:p>
        </p:txBody>
      </p:sp>
      <p:sp>
        <p:nvSpPr>
          <p:cNvPr id="13" name="chart_note_body_0"/>
          <p:cNvSpPr txBox="1"/>
          <p:nvPr/>
        </p:nvSpPr>
        <p:spPr>
          <a:xfrm>
            <a:off x="7068312" y="4736592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baseline proves broad Markdown coverage.</a:t>
            </a:r>
          </a:p>
        </p:txBody>
      </p:sp>
      <p:sp>
        <p:nvSpPr>
          <p:cNvPr id="14" name="chart_note_body_1"/>
          <p:cNvSpPr txBox="1"/>
          <p:nvPr/>
        </p:nvSpPr>
        <p:spPr>
          <a:xfrm>
            <a:off x="7068312" y="5029200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 skill deck proves richer object variety from the same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Text-Only Relief: Monotone Icon Slot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A quiet icon is used only when content is otherwise all text.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_panel"/>
          <p:cNvSpPr/>
          <p:nvPr/>
        </p:nvSpPr>
        <p:spPr>
          <a:xfrm>
            <a:off x="822960" y="1536192"/>
            <a:ext cx="6400800" cy="340156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heading"/>
          <p:cNvSpPr txBox="1"/>
          <p:nvPr/>
        </p:nvSpPr>
        <p:spPr>
          <a:xfrm>
            <a:off x="1115568" y="1828800"/>
            <a:ext cx="5303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Current skill behavior</a:t>
            </a:r>
          </a:p>
        </p:txBody>
      </p:sp>
      <p:sp>
        <p:nvSpPr>
          <p:cNvPr id="9" name="icon_bullet_0"/>
          <p:cNvSpPr txBox="1"/>
          <p:nvPr/>
        </p:nvSpPr>
        <p:spPr>
          <a:xfrm>
            <a:off x="1170432" y="2331720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Reserve an aside/corner region, not a primary region.</a:t>
            </a:r>
          </a:p>
        </p:txBody>
      </p:sp>
      <p:sp>
        <p:nvSpPr>
          <p:cNvPr id="10" name="icon_bullet_1"/>
          <p:cNvSpPr txBox="1"/>
          <p:nvPr/>
        </p:nvSpPr>
        <p:spPr>
          <a:xfrm>
            <a:off x="1170432" y="2724912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Use one black or white icon.</a:t>
            </a:r>
          </a:p>
        </p:txBody>
      </p:sp>
      <p:sp>
        <p:nvSpPr>
          <p:cNvPr id="11" name="icon_bullet_2"/>
          <p:cNvSpPr txBox="1"/>
          <p:nvPr/>
        </p:nvSpPr>
        <p:spPr>
          <a:xfrm>
            <a:off x="1170432" y="3118103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Prefer PowerPoint built-in icons.</a:t>
            </a:r>
          </a:p>
        </p:txBody>
      </p:sp>
      <p:sp>
        <p:nvSpPr>
          <p:cNvPr id="12" name="icon_bullet_3"/>
          <p:cNvSpPr txBox="1"/>
          <p:nvPr/>
        </p:nvSpPr>
        <p:spPr>
          <a:xfrm>
            <a:off x="1170432" y="3511296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Allow free SVG only with license record.</a:t>
            </a:r>
          </a:p>
        </p:txBody>
      </p:sp>
      <p:sp>
        <p:nvSpPr>
          <p:cNvPr id="13" name="icon_bullet_4"/>
          <p:cNvSpPr txBox="1"/>
          <p:nvPr/>
        </p:nvSpPr>
        <p:spPr>
          <a:xfrm>
            <a:off x="1170432" y="3904487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Validate icon center against text midpoint.</a:t>
            </a:r>
          </a:p>
        </p:txBody>
      </p:sp>
      <p:sp>
        <p:nvSpPr>
          <p:cNvPr id="14" name="icon_slot"/>
          <p:cNvSpPr/>
          <p:nvPr/>
        </p:nvSpPr>
        <p:spPr>
          <a:xfrm>
            <a:off x="7818120" y="1965960"/>
            <a:ext cx="2212848" cy="221284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side_icon_v"/>
          <p:cNvSpPr/>
          <p:nvPr/>
        </p:nvSpPr>
        <p:spPr>
          <a:xfrm>
            <a:off x="8745321" y="2487168"/>
            <a:ext cx="87782" cy="848563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side_icon_h"/>
          <p:cNvSpPr/>
          <p:nvPr/>
        </p:nvSpPr>
        <p:spPr>
          <a:xfrm>
            <a:off x="8394192" y="2838297"/>
            <a:ext cx="848563" cy="8778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ide_icon_dot"/>
          <p:cNvSpPr/>
          <p:nvPr/>
        </p:nvSpPr>
        <p:spPr>
          <a:xfrm>
            <a:off x="9037929" y="3130905"/>
            <a:ext cx="146304" cy="14630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_caption"/>
          <p:cNvSpPr txBox="1"/>
          <p:nvPr/>
        </p:nvSpPr>
        <p:spPr>
          <a:xfrm>
            <a:off x="7653527" y="448056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</a:rPr>
              <a:t>monotone-icon-aside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Appendix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Markdown files used for both generated result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ppendix_0"/>
          <p:cNvSpPr txBox="1"/>
          <p:nvPr/>
        </p:nvSpPr>
        <p:spPr>
          <a:xfrm>
            <a:off x="74980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01. README.md</a:t>
            </a:r>
          </a:p>
        </p:txBody>
      </p:sp>
      <p:sp>
        <p:nvSpPr>
          <p:cNvPr id="8" name="appendix_1"/>
          <p:cNvSpPr txBox="1"/>
          <p:nvPr/>
        </p:nvSpPr>
        <p:spPr>
          <a:xfrm>
            <a:off x="74980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02. docs/00-product-definition.md</a:t>
            </a:r>
          </a:p>
        </p:txBody>
      </p:sp>
      <p:sp>
        <p:nvSpPr>
          <p:cNvPr id="9" name="appendix_2"/>
          <p:cNvSpPr txBox="1"/>
          <p:nvPr/>
        </p:nvSpPr>
        <p:spPr>
          <a:xfrm>
            <a:off x="74980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03. docs/01-architecture.md</a:t>
            </a:r>
          </a:p>
        </p:txBody>
      </p:sp>
      <p:sp>
        <p:nvSpPr>
          <p:cNvPr id="10" name="appendix_3"/>
          <p:cNvSpPr txBox="1"/>
          <p:nvPr/>
        </p:nvSpPr>
        <p:spPr>
          <a:xfrm>
            <a:off x="74980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04. docs/02-requirements.md</a:t>
            </a:r>
          </a:p>
        </p:txBody>
      </p:sp>
      <p:sp>
        <p:nvSpPr>
          <p:cNvPr id="11" name="appendix_4"/>
          <p:cNvSpPr txBox="1"/>
          <p:nvPr/>
        </p:nvSpPr>
        <p:spPr>
          <a:xfrm>
            <a:off x="74980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05. docs/03-page-splitting.md</a:t>
            </a:r>
          </a:p>
        </p:txBody>
      </p:sp>
      <p:sp>
        <p:nvSpPr>
          <p:cNvPr id="12" name="appendix_5"/>
          <p:cNvSpPr txBox="1"/>
          <p:nvPr/>
        </p:nvSpPr>
        <p:spPr>
          <a:xfrm>
            <a:off x="74980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06. docs/04-layout-rules.md</a:t>
            </a:r>
          </a:p>
        </p:txBody>
      </p:sp>
      <p:sp>
        <p:nvSpPr>
          <p:cNvPr id="13" name="appendix_6"/>
          <p:cNvSpPr txBox="1"/>
          <p:nvPr/>
        </p:nvSpPr>
        <p:spPr>
          <a:xfrm>
            <a:off x="74980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07. docs/05-overrides-for-llm.md</a:t>
            </a:r>
          </a:p>
        </p:txBody>
      </p:sp>
      <p:sp>
        <p:nvSpPr>
          <p:cNvPr id="14" name="appendix_7"/>
          <p:cNvSpPr txBox="1"/>
          <p:nvPr/>
        </p:nvSpPr>
        <p:spPr>
          <a:xfrm>
            <a:off x="74980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08. docs/06-cli-spec.md</a:t>
            </a:r>
          </a:p>
        </p:txBody>
      </p:sp>
      <p:sp>
        <p:nvSpPr>
          <p:cNvPr id="15" name="appendix_8"/>
          <p:cNvSpPr txBox="1"/>
          <p:nvPr/>
        </p:nvSpPr>
        <p:spPr>
          <a:xfrm>
            <a:off x="74980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09. docs/07-rendering-rules.md</a:t>
            </a:r>
          </a:p>
        </p:txBody>
      </p:sp>
      <p:sp>
        <p:nvSpPr>
          <p:cNvPr id="16" name="appendix_9"/>
          <p:cNvSpPr txBox="1"/>
          <p:nvPr/>
        </p:nvSpPr>
        <p:spPr>
          <a:xfrm>
            <a:off x="614476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10. docs/08-roadmap.md</a:t>
            </a:r>
          </a:p>
        </p:txBody>
      </p:sp>
      <p:sp>
        <p:nvSpPr>
          <p:cNvPr id="17" name="appendix_10"/>
          <p:cNvSpPr txBox="1"/>
          <p:nvPr/>
        </p:nvSpPr>
        <p:spPr>
          <a:xfrm>
            <a:off x="614476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11. docs/09-codex-implementation-guide.md</a:t>
            </a:r>
          </a:p>
        </p:txBody>
      </p:sp>
      <p:sp>
        <p:nvSpPr>
          <p:cNvPr id="18" name="appendix_11"/>
          <p:cNvSpPr txBox="1"/>
          <p:nvPr/>
        </p:nvSpPr>
        <p:spPr>
          <a:xfrm>
            <a:off x="614476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12. docs/10-template-and-master-policy.md</a:t>
            </a:r>
          </a:p>
        </p:txBody>
      </p:sp>
      <p:sp>
        <p:nvSpPr>
          <p:cNvPr id="19" name="appendix_12"/>
          <p:cNvSpPr txBox="1"/>
          <p:nvPr/>
        </p:nvSpPr>
        <p:spPr>
          <a:xfrm>
            <a:off x="614476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13. docs/11-qa-overflow.md</a:t>
            </a:r>
          </a:p>
        </p:txBody>
      </p:sp>
      <p:sp>
        <p:nvSpPr>
          <p:cNvPr id="20" name="appendix_13"/>
          <p:cNvSpPr txBox="1"/>
          <p:nvPr/>
        </p:nvSpPr>
        <p:spPr>
          <a:xfrm>
            <a:off x="614476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14. docs/references.md</a:t>
            </a:r>
          </a:p>
        </p:txBody>
      </p:sp>
      <p:sp>
        <p:nvSpPr>
          <p:cNvPr id="21" name="appendix_14"/>
          <p:cNvSpPr txBox="1"/>
          <p:nvPr/>
        </p:nvSpPr>
        <p:spPr>
          <a:xfrm>
            <a:off x="614476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15. docs/adr/0001-presentation-ir-schema-contract.md</a:t>
            </a:r>
          </a:p>
        </p:txBody>
      </p:sp>
      <p:sp>
        <p:nvSpPr>
          <p:cNvPr id="22" name="appendix_15"/>
          <p:cNvSpPr txBox="1"/>
          <p:nvPr/>
        </p:nvSpPr>
        <p:spPr>
          <a:xfrm>
            <a:off x="614476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16. examples/basic/deck.md</a:t>
            </a:r>
          </a:p>
        </p:txBody>
      </p:sp>
      <p:sp>
        <p:nvSpPr>
          <p:cNvPr id="23" name="appendix_16"/>
          <p:cNvSpPr txBox="1"/>
          <p:nvPr/>
        </p:nvSpPr>
        <p:spPr>
          <a:xfrm>
            <a:off x="614476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17. examples/comparison/deck.md</a:t>
            </a:r>
          </a:p>
        </p:txBody>
      </p:sp>
      <p:sp>
        <p:nvSpPr>
          <p:cNvPr id="24" name="appendix_17"/>
          <p:cNvSpPr txBox="1"/>
          <p:nvPr/>
        </p:nvSpPr>
        <p:spPr>
          <a:xfrm>
            <a:off x="614476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18. examples/pipeline/deck.md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