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Headings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Docs + ADR</c:v>
                </c:pt>
                <c:pt idx="1">
                  <c:v>Examples</c:v>
                </c:pt>
                <c:pt idx="2">
                  <c:v>Root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130</c:v>
                </c:pt>
                <c:pt idx="1">
                  <c:v>41</c:v>
                </c:pt>
                <c:pt idx="2">
                  <c:v>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z00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594360" y="384048"/>
            <a:ext cx="108813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Evidence starts with an actual MDPR run</a:t>
            </a:r>
          </a:p>
        </p:txBody>
      </p:sp>
      <p:sp>
        <p:nvSpPr>
          <p:cNvPr id="4" name="actual_source_card"/>
          <p:cNvSpPr/>
          <p:nvPr/>
        </p:nvSpPr>
        <p:spPr>
          <a:xfrm>
            <a:off x="685800" y="1325880"/>
            <a:ext cx="3337560" cy="1828800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ctual_source_icon_doc"/>
          <p:cNvSpPr/>
          <p:nvPr/>
        </p:nvSpPr>
        <p:spPr>
          <a:xfrm>
            <a:off x="850392" y="1490472"/>
            <a:ext cx="285292" cy="368503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ctual_source_icon_line_0"/>
          <p:cNvSpPr/>
          <p:nvPr/>
        </p:nvSpPr>
        <p:spPr>
          <a:xfrm>
            <a:off x="921715" y="1585569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ctual_source_icon_line_1"/>
          <p:cNvSpPr/>
          <p:nvPr/>
        </p:nvSpPr>
        <p:spPr>
          <a:xfrm>
            <a:off x="921715" y="1662836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ctual_source_icon_line_2"/>
          <p:cNvSpPr/>
          <p:nvPr/>
        </p:nvSpPr>
        <p:spPr>
          <a:xfrm>
            <a:off x="921715" y="1740103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ctual_source_title"/>
          <p:cNvSpPr txBox="1"/>
          <p:nvPr/>
        </p:nvSpPr>
        <p:spPr>
          <a:xfrm>
            <a:off x="1490472" y="1508760"/>
            <a:ext cx="2350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0F766E"/>
                </a:solidFill>
              </a:rPr>
              <a:t>1. Real Markdown input</a:t>
            </a:r>
          </a:p>
        </p:txBody>
      </p:sp>
      <p:sp>
        <p:nvSpPr>
          <p:cNvPr id="10" name="actual_source_body_0"/>
          <p:cNvSpPr txBox="1"/>
          <p:nvPr/>
        </p:nvSpPr>
        <p:spPr>
          <a:xfrm>
            <a:off x="1490472" y="1965960"/>
            <a:ext cx="23500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21 source files</a:t>
            </a:r>
          </a:p>
        </p:txBody>
      </p:sp>
      <p:sp>
        <p:nvSpPr>
          <p:cNvPr id="11" name="actual_source_body_1"/>
          <p:cNvSpPr txBox="1"/>
          <p:nvPr/>
        </p:nvSpPr>
        <p:spPr>
          <a:xfrm>
            <a:off x="1490472" y="2350008"/>
            <a:ext cx="23500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186 headings</a:t>
            </a:r>
          </a:p>
        </p:txBody>
      </p:sp>
      <p:sp>
        <p:nvSpPr>
          <p:cNvPr id="12" name="actual_source_body_2"/>
          <p:cNvSpPr txBox="1"/>
          <p:nvPr/>
        </p:nvSpPr>
        <p:spPr>
          <a:xfrm>
            <a:off x="1490472" y="2734056"/>
            <a:ext cx="23500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104,352 chars</a:t>
            </a:r>
          </a:p>
        </p:txBody>
      </p:sp>
      <p:sp>
        <p:nvSpPr>
          <p:cNvPr id="13" name="actual_mdpr_card"/>
          <p:cNvSpPr/>
          <p:nvPr/>
        </p:nvSpPr>
        <p:spPr>
          <a:xfrm>
            <a:off x="4434840" y="1325880"/>
            <a:ext cx="3337560" cy="1828800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ctual_mdpr_icon_node_0"/>
          <p:cNvSpPr/>
          <p:nvPr/>
        </p:nvSpPr>
        <p:spPr>
          <a:xfrm>
            <a:off x="4599431" y="1656892"/>
            <a:ext cx="106984" cy="106984"/>
          </a:xfrm>
          <a:prstGeom prst="ellipse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ctual_mdpr_icon_node_1"/>
          <p:cNvSpPr/>
          <p:nvPr/>
        </p:nvSpPr>
        <p:spPr>
          <a:xfrm>
            <a:off x="4825288" y="1656892"/>
            <a:ext cx="106984" cy="106984"/>
          </a:xfrm>
          <a:prstGeom prst="ellipse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ctual_mdpr_icon_node_2"/>
          <p:cNvSpPr/>
          <p:nvPr/>
        </p:nvSpPr>
        <p:spPr>
          <a:xfrm>
            <a:off x="5051145" y="1656892"/>
            <a:ext cx="106984" cy="106984"/>
          </a:xfrm>
          <a:prstGeom prst="ellipse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ctual_mdpr_icon_line_0"/>
          <p:cNvSpPr/>
          <p:nvPr/>
        </p:nvSpPr>
        <p:spPr>
          <a:xfrm>
            <a:off x="4700473" y="1704441"/>
            <a:ext cx="130759" cy="20802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ctual_mdpr_icon_line_1"/>
          <p:cNvSpPr/>
          <p:nvPr/>
        </p:nvSpPr>
        <p:spPr>
          <a:xfrm>
            <a:off x="4926329" y="1704441"/>
            <a:ext cx="130759" cy="20802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ctual_mdpr_title"/>
          <p:cNvSpPr txBox="1"/>
          <p:nvPr/>
        </p:nvSpPr>
        <p:spPr>
          <a:xfrm>
            <a:off x="5239512" y="1508760"/>
            <a:ext cx="2350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0F766E"/>
                </a:solidFill>
              </a:rPr>
              <a:t>2. MDPR output</a:t>
            </a:r>
          </a:p>
        </p:txBody>
      </p:sp>
      <p:sp>
        <p:nvSpPr>
          <p:cNvPr id="20" name="actual_mdpr_body_0"/>
          <p:cNvSpPr txBox="1"/>
          <p:nvPr/>
        </p:nvSpPr>
        <p:spPr>
          <a:xfrm>
            <a:off x="5239512" y="1965960"/>
            <a:ext cx="23500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32 slides</a:t>
            </a:r>
          </a:p>
        </p:txBody>
      </p:sp>
      <p:sp>
        <p:nvSpPr>
          <p:cNvPr id="21" name="actual_mdpr_body_1"/>
          <p:cNvSpPr txBox="1"/>
          <p:nvPr/>
        </p:nvSpPr>
        <p:spPr>
          <a:xfrm>
            <a:off x="5239512" y="2350008"/>
            <a:ext cx="23500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345 editable text frames</a:t>
            </a:r>
          </a:p>
        </p:txBody>
      </p:sp>
      <p:sp>
        <p:nvSpPr>
          <p:cNvPr id="22" name="actual_mdpr_body_2"/>
          <p:cNvSpPr txBox="1"/>
          <p:nvPr/>
        </p:nvSpPr>
        <p:spPr>
          <a:xfrm>
            <a:off x="5239512" y="2734056"/>
            <a:ext cx="23500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5 tables, 0 charts</a:t>
            </a:r>
          </a:p>
        </p:txBody>
      </p:sp>
      <p:sp>
        <p:nvSpPr>
          <p:cNvPr id="23" name="actual_skill_card"/>
          <p:cNvSpPr/>
          <p:nvPr/>
        </p:nvSpPr>
        <p:spPr>
          <a:xfrm>
            <a:off x="8183879" y="1325880"/>
            <a:ext cx="3337560" cy="1828800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actual_skill_icon_v"/>
          <p:cNvSpPr/>
          <p:nvPr/>
        </p:nvSpPr>
        <p:spPr>
          <a:xfrm>
            <a:off x="8491118" y="1490472"/>
            <a:ext cx="35661" cy="344728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ctual_skill_icon_h"/>
          <p:cNvSpPr/>
          <p:nvPr/>
        </p:nvSpPr>
        <p:spPr>
          <a:xfrm>
            <a:off x="8348471" y="1633118"/>
            <a:ext cx="344728" cy="35661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ctual_skill_icon_dot"/>
          <p:cNvSpPr/>
          <p:nvPr/>
        </p:nvSpPr>
        <p:spPr>
          <a:xfrm>
            <a:off x="8609990" y="1751990"/>
            <a:ext cx="59436" cy="59436"/>
          </a:xfrm>
          <a:prstGeom prst="ellipse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ctual_skill_title"/>
          <p:cNvSpPr txBox="1"/>
          <p:nvPr/>
        </p:nvSpPr>
        <p:spPr>
          <a:xfrm>
            <a:off x="8988552" y="1508760"/>
            <a:ext cx="2350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7C3AED"/>
                </a:solidFill>
              </a:rPr>
              <a:t>3. mdpr-skill review</a:t>
            </a:r>
          </a:p>
        </p:txBody>
      </p:sp>
      <p:sp>
        <p:nvSpPr>
          <p:cNvPr id="28" name="actual_skill_body_0"/>
          <p:cNvSpPr txBox="1"/>
          <p:nvPr/>
        </p:nvSpPr>
        <p:spPr>
          <a:xfrm>
            <a:off x="8988552" y="1965960"/>
            <a:ext cx="23500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reads MDPR evidence</a:t>
            </a:r>
          </a:p>
        </p:txBody>
      </p:sp>
      <p:sp>
        <p:nvSpPr>
          <p:cNvPr id="29" name="actual_skill_body_1"/>
          <p:cNvSpPr txBox="1"/>
          <p:nvPr/>
        </p:nvSpPr>
        <p:spPr>
          <a:xfrm>
            <a:off x="8988552" y="2350008"/>
            <a:ext cx="23500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returns optional findings</a:t>
            </a:r>
          </a:p>
        </p:txBody>
      </p:sp>
      <p:sp>
        <p:nvSpPr>
          <p:cNvPr id="30" name="actual_skill_body_2"/>
          <p:cNvSpPr txBox="1"/>
          <p:nvPr/>
        </p:nvSpPr>
        <p:spPr>
          <a:xfrm>
            <a:off x="8988552" y="2734056"/>
            <a:ext cx="23500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does not render final slides</a:t>
            </a:r>
          </a:p>
        </p:txBody>
      </p:sp>
      <p:sp>
        <p:nvSpPr>
          <p:cNvPr id="31" name="actual_arrow_0"/>
          <p:cNvSpPr/>
          <p:nvPr/>
        </p:nvSpPr>
        <p:spPr>
          <a:xfrm>
            <a:off x="4041648" y="2103120"/>
            <a:ext cx="310896" cy="256032"/>
          </a:xfrm>
          <a:prstGeom prst="rightArrow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ctual_arrow_1"/>
          <p:cNvSpPr/>
          <p:nvPr/>
        </p:nvSpPr>
        <p:spPr>
          <a:xfrm>
            <a:off x="7790688" y="2103120"/>
            <a:ext cx="310896" cy="256032"/>
          </a:xfrm>
          <a:prstGeom prst="rightArrow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ctual_boundary"/>
          <p:cNvSpPr/>
          <p:nvPr/>
        </p:nvSpPr>
        <p:spPr>
          <a:xfrm>
            <a:off x="777240" y="3703320"/>
            <a:ext cx="10561320" cy="1508760"/>
          </a:xfrm>
          <a:prstGeom prst="roundRect">
            <a:avLst/>
          </a:prstGeom>
          <a:solidFill>
            <a:srgbClr val="EAF7F3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ctual_boundary_title"/>
          <p:cNvSpPr txBox="1"/>
          <p:nvPr/>
        </p:nvSpPr>
        <p:spPr>
          <a:xfrm>
            <a:off x="1024128" y="3913632"/>
            <a:ext cx="28346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000" b="1">
                <a:solidFill>
                  <a:srgbClr val="111827"/>
                </a:solidFill>
              </a:rPr>
              <a:t>Recorded boundary</a:t>
            </a:r>
          </a:p>
        </p:txBody>
      </p:sp>
      <p:sp>
        <p:nvSpPr>
          <p:cNvPr id="35" name="actual_boundary_body"/>
          <p:cNvSpPr txBox="1"/>
          <p:nvPr/>
        </p:nvSpPr>
        <p:spPr>
          <a:xfrm>
            <a:off x="1024128" y="4370832"/>
            <a:ext cx="97383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MDPR creates the presentation. mdpr-skill may explain or review evidence, but it does not create a second styled runtime output.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z00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594360" y="384048"/>
            <a:ext cx="108813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MDPR runtime and mdpr-skill boundary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1792" y="1481328"/>
          <a:ext cx="1088136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886200"/>
                <a:gridCol w="5440680"/>
              </a:tblGrid>
              <a:tr h="624839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>
                    <a:solidFill>
                      <a:srgbClr val="2024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MDPR</a:t>
                      </a:r>
                    </a:p>
                  </a:txBody>
                  <a:tcPr>
                    <a:solidFill>
                      <a:srgbClr val="2024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Current skill</a:t>
                      </a:r>
                    </a:p>
                  </a:txBody>
                  <a:tcPr>
                    <a:solidFill>
                      <a:srgbClr val="20242C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Core role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Markdown -&gt; editable presentation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Optional hints and review evidence</a:t>
                      </a:r>
                    </a:p>
                  </a:txBody>
                  <a:tcPr>
                    <a:solidFill>
                      <a:srgbClr val="EAF7F3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Parser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Built-in or Pandoc mode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No Markdown parsing</a:t>
                      </a:r>
                    </a:p>
                  </a:txBody>
                  <a:tcPr>
                    <a:solidFill>
                      <a:srgbClr val="EAF7F3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Design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Owns layout and theme binding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Suggests intent; no final geometry</a:t>
                      </a:r>
                    </a:p>
                  </a:txBody>
                  <a:tcPr>
                    <a:solidFill>
                      <a:srgbClr val="EAF7F3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Validation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Owns deterministic pass/fail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Mirrors MDPR findings with evidence</a:t>
                      </a:r>
                    </a:p>
                  </a:txBody>
                  <a:tcPr>
                    <a:solidFill>
                      <a:srgbClr val="EAF7F3"/>
                    </a:solidFill>
                  </a:tcPr>
                </a:tc>
              </a:tr>
              <a:tr h="62484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Output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Editable PPTX, HTML, and PDF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JSON hints, reports, and evidence</a:t>
                      </a:r>
                    </a:p>
                  </a:txBody>
                  <a:tcPr>
                    <a:solidFill>
                      <a:srgbClr val="EAF7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z00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594360" y="384048"/>
            <a:ext cx="108813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The same Markdown corpus grounds both sides</a:t>
            </a:r>
          </a:p>
        </p:txBody>
      </p:sp>
      <p:sp>
        <p:nvSpPr>
          <p:cNvPr id="4" name="group_0_card"/>
          <p:cNvSpPr/>
          <p:nvPr/>
        </p:nvSpPr>
        <p:spPr>
          <a:xfrm>
            <a:off x="658368" y="1353312"/>
            <a:ext cx="2423160" cy="4343400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roup_0_num"/>
          <p:cNvSpPr txBox="1"/>
          <p:nvPr/>
        </p:nvSpPr>
        <p:spPr>
          <a:xfrm>
            <a:off x="859536" y="1627632"/>
            <a:ext cx="1097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000" b="1">
                <a:solidFill>
                  <a:srgbClr val="0F766E"/>
                </a:solidFill>
              </a:rPr>
              <a:t>13</a:t>
            </a:r>
          </a:p>
        </p:txBody>
      </p:sp>
      <p:sp>
        <p:nvSpPr>
          <p:cNvPr id="6" name="group_0_label"/>
          <p:cNvSpPr txBox="1"/>
          <p:nvPr/>
        </p:nvSpPr>
        <p:spPr>
          <a:xfrm>
            <a:off x="877824" y="2267712"/>
            <a:ext cx="16459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000" b="1">
                <a:solidFill>
                  <a:srgbClr val="111827"/>
                </a:solidFill>
              </a:rPr>
              <a:t>Docs</a:t>
            </a:r>
          </a:p>
        </p:txBody>
      </p:sp>
      <p:sp>
        <p:nvSpPr>
          <p:cNvPr id="7" name="group_0_chars"/>
          <p:cNvSpPr txBox="1"/>
          <p:nvPr/>
        </p:nvSpPr>
        <p:spPr>
          <a:xfrm>
            <a:off x="877824" y="2761488"/>
            <a:ext cx="1920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1">
                <a:solidFill>
                  <a:srgbClr val="5F6B7A"/>
                </a:solidFill>
              </a:rPr>
              <a:t>71,930 chars</a:t>
            </a:r>
          </a:p>
        </p:txBody>
      </p:sp>
      <p:sp>
        <p:nvSpPr>
          <p:cNvPr id="8" name="group_0_item_0"/>
          <p:cNvSpPr txBox="1"/>
          <p:nvPr/>
        </p:nvSpPr>
        <p:spPr>
          <a:xfrm>
            <a:off x="877824" y="3383280"/>
            <a:ext cx="19019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00-product-definition.md</a:t>
            </a:r>
          </a:p>
        </p:txBody>
      </p:sp>
      <p:sp>
        <p:nvSpPr>
          <p:cNvPr id="9" name="group_0_item_1"/>
          <p:cNvSpPr txBox="1"/>
          <p:nvPr/>
        </p:nvSpPr>
        <p:spPr>
          <a:xfrm>
            <a:off x="877824" y="3950208"/>
            <a:ext cx="19019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01-architecture.md</a:t>
            </a:r>
          </a:p>
        </p:txBody>
      </p:sp>
      <p:sp>
        <p:nvSpPr>
          <p:cNvPr id="10" name="group_0_item_2"/>
          <p:cNvSpPr txBox="1"/>
          <p:nvPr/>
        </p:nvSpPr>
        <p:spPr>
          <a:xfrm>
            <a:off x="877824" y="4517136"/>
            <a:ext cx="19019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02-requirements.md</a:t>
            </a:r>
          </a:p>
        </p:txBody>
      </p:sp>
      <p:sp>
        <p:nvSpPr>
          <p:cNvPr id="11" name="group_1_card"/>
          <p:cNvSpPr/>
          <p:nvPr/>
        </p:nvSpPr>
        <p:spPr>
          <a:xfrm>
            <a:off x="3447287" y="1353312"/>
            <a:ext cx="2423160" cy="4343400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group_1_num"/>
          <p:cNvSpPr txBox="1"/>
          <p:nvPr/>
        </p:nvSpPr>
        <p:spPr>
          <a:xfrm>
            <a:off x="3648456" y="1627632"/>
            <a:ext cx="1097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000" b="1">
                <a:solidFill>
                  <a:srgbClr val="7C3AED"/>
                </a:solidFill>
              </a:rPr>
              <a:t>6</a:t>
            </a:r>
          </a:p>
        </p:txBody>
      </p:sp>
      <p:sp>
        <p:nvSpPr>
          <p:cNvPr id="13" name="group_1_label"/>
          <p:cNvSpPr txBox="1"/>
          <p:nvPr/>
        </p:nvSpPr>
        <p:spPr>
          <a:xfrm>
            <a:off x="3666744" y="2267712"/>
            <a:ext cx="16459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000" b="1">
                <a:solidFill>
                  <a:srgbClr val="111827"/>
                </a:solidFill>
              </a:rPr>
              <a:t>Examples</a:t>
            </a:r>
          </a:p>
        </p:txBody>
      </p:sp>
      <p:sp>
        <p:nvSpPr>
          <p:cNvPr id="14" name="group_1_chars"/>
          <p:cNvSpPr txBox="1"/>
          <p:nvPr/>
        </p:nvSpPr>
        <p:spPr>
          <a:xfrm>
            <a:off x="3666744" y="2761488"/>
            <a:ext cx="1920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1">
                <a:solidFill>
                  <a:srgbClr val="5F6B7A"/>
                </a:solidFill>
              </a:rPr>
              <a:t>7,439 chars</a:t>
            </a:r>
          </a:p>
        </p:txBody>
      </p:sp>
      <p:sp>
        <p:nvSpPr>
          <p:cNvPr id="15" name="group_1_item_0"/>
          <p:cNvSpPr txBox="1"/>
          <p:nvPr/>
        </p:nvSpPr>
        <p:spPr>
          <a:xfrm>
            <a:off x="3666744" y="3383280"/>
            <a:ext cx="19019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deck.md</a:t>
            </a:r>
          </a:p>
        </p:txBody>
      </p:sp>
      <p:sp>
        <p:nvSpPr>
          <p:cNvPr id="16" name="group_1_item_1"/>
          <p:cNvSpPr txBox="1"/>
          <p:nvPr/>
        </p:nvSpPr>
        <p:spPr>
          <a:xfrm>
            <a:off x="3666744" y="3950208"/>
            <a:ext cx="19019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deck.md</a:t>
            </a:r>
          </a:p>
        </p:txBody>
      </p:sp>
      <p:sp>
        <p:nvSpPr>
          <p:cNvPr id="17" name="group_1_item_2"/>
          <p:cNvSpPr txBox="1"/>
          <p:nvPr/>
        </p:nvSpPr>
        <p:spPr>
          <a:xfrm>
            <a:off x="3666744" y="4517136"/>
            <a:ext cx="19019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deck.md</a:t>
            </a:r>
          </a:p>
        </p:txBody>
      </p:sp>
      <p:sp>
        <p:nvSpPr>
          <p:cNvPr id="18" name="group_2_card"/>
          <p:cNvSpPr/>
          <p:nvPr/>
        </p:nvSpPr>
        <p:spPr>
          <a:xfrm>
            <a:off x="6236207" y="1353312"/>
            <a:ext cx="2423160" cy="4343400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group_2_num"/>
          <p:cNvSpPr txBox="1"/>
          <p:nvPr/>
        </p:nvSpPr>
        <p:spPr>
          <a:xfrm>
            <a:off x="6437375" y="1627632"/>
            <a:ext cx="1097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000" b="1">
                <a:solidFill>
                  <a:srgbClr val="0F766E"/>
                </a:solidFill>
              </a:rPr>
              <a:t>1</a:t>
            </a:r>
          </a:p>
        </p:txBody>
      </p:sp>
      <p:sp>
        <p:nvSpPr>
          <p:cNvPr id="20" name="group_2_label"/>
          <p:cNvSpPr txBox="1"/>
          <p:nvPr/>
        </p:nvSpPr>
        <p:spPr>
          <a:xfrm>
            <a:off x="6455664" y="2267712"/>
            <a:ext cx="16459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000" b="1">
                <a:solidFill>
                  <a:srgbClr val="111827"/>
                </a:solidFill>
              </a:rPr>
              <a:t>Root</a:t>
            </a:r>
          </a:p>
        </p:txBody>
      </p:sp>
      <p:sp>
        <p:nvSpPr>
          <p:cNvPr id="21" name="group_2_chars"/>
          <p:cNvSpPr txBox="1"/>
          <p:nvPr/>
        </p:nvSpPr>
        <p:spPr>
          <a:xfrm>
            <a:off x="6455664" y="2761488"/>
            <a:ext cx="1920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1">
                <a:solidFill>
                  <a:srgbClr val="5F6B7A"/>
                </a:solidFill>
              </a:rPr>
              <a:t>23,757 chars</a:t>
            </a:r>
          </a:p>
        </p:txBody>
      </p:sp>
      <p:sp>
        <p:nvSpPr>
          <p:cNvPr id="22" name="group_2_item_0"/>
          <p:cNvSpPr txBox="1"/>
          <p:nvPr/>
        </p:nvSpPr>
        <p:spPr>
          <a:xfrm>
            <a:off x="6455664" y="3383280"/>
            <a:ext cx="19019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README.md</a:t>
            </a:r>
          </a:p>
        </p:txBody>
      </p:sp>
      <p:sp>
        <p:nvSpPr>
          <p:cNvPr id="23" name="group_3_card"/>
          <p:cNvSpPr/>
          <p:nvPr/>
        </p:nvSpPr>
        <p:spPr>
          <a:xfrm>
            <a:off x="9025128" y="1353312"/>
            <a:ext cx="2423160" cy="4343400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group_3_num"/>
          <p:cNvSpPr txBox="1"/>
          <p:nvPr/>
        </p:nvSpPr>
        <p:spPr>
          <a:xfrm>
            <a:off x="9226296" y="1627632"/>
            <a:ext cx="1097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000" b="1">
                <a:solidFill>
                  <a:srgbClr val="0F766E"/>
                </a:solidFill>
              </a:rPr>
              <a:t>1</a:t>
            </a:r>
          </a:p>
        </p:txBody>
      </p:sp>
      <p:sp>
        <p:nvSpPr>
          <p:cNvPr id="25" name="group_3_label"/>
          <p:cNvSpPr txBox="1"/>
          <p:nvPr/>
        </p:nvSpPr>
        <p:spPr>
          <a:xfrm>
            <a:off x="9244584" y="2267712"/>
            <a:ext cx="16459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000" b="1">
                <a:solidFill>
                  <a:srgbClr val="111827"/>
                </a:solidFill>
              </a:rPr>
              <a:t>ADR</a:t>
            </a:r>
          </a:p>
        </p:txBody>
      </p:sp>
      <p:sp>
        <p:nvSpPr>
          <p:cNvPr id="26" name="group_3_chars"/>
          <p:cNvSpPr txBox="1"/>
          <p:nvPr/>
        </p:nvSpPr>
        <p:spPr>
          <a:xfrm>
            <a:off x="9244584" y="2761488"/>
            <a:ext cx="1920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1">
                <a:solidFill>
                  <a:srgbClr val="5F6B7A"/>
                </a:solidFill>
              </a:rPr>
              <a:t>1,226 chars</a:t>
            </a:r>
          </a:p>
        </p:txBody>
      </p:sp>
      <p:sp>
        <p:nvSpPr>
          <p:cNvPr id="27" name="group_3_item_0"/>
          <p:cNvSpPr txBox="1"/>
          <p:nvPr/>
        </p:nvSpPr>
        <p:spPr>
          <a:xfrm>
            <a:off x="9244584" y="3383280"/>
            <a:ext cx="19019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0001-presentation-ir-schema-contract.md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z00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594360" y="384048"/>
            <a:ext cx="108813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One runtime, one optional review companion</a:t>
            </a:r>
          </a:p>
        </p:txBody>
      </p:sp>
      <p:sp>
        <p:nvSpPr>
          <p:cNvPr id="4" name="node_0"/>
          <p:cNvSpPr/>
          <p:nvPr/>
        </p:nvSpPr>
        <p:spPr>
          <a:xfrm>
            <a:off x="658368" y="2057400"/>
            <a:ext cx="1664208" cy="1024128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_0_title"/>
          <p:cNvSpPr txBox="1"/>
          <p:nvPr/>
        </p:nvSpPr>
        <p:spPr>
          <a:xfrm>
            <a:off x="768096" y="2194560"/>
            <a:ext cx="14447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11827"/>
                </a:solidFill>
              </a:rPr>
              <a:t>Markdown</a:t>
            </a:r>
          </a:p>
        </p:txBody>
      </p:sp>
      <p:sp>
        <p:nvSpPr>
          <p:cNvPr id="6" name="node_0_sub"/>
          <p:cNvSpPr txBox="1"/>
          <p:nvPr/>
        </p:nvSpPr>
        <p:spPr>
          <a:xfrm>
            <a:off x="768096" y="2615184"/>
            <a:ext cx="14447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F6B7A"/>
                </a:solidFill>
              </a:rPr>
              <a:t>source</a:t>
            </a:r>
          </a:p>
        </p:txBody>
      </p:sp>
      <p:sp>
        <p:nvSpPr>
          <p:cNvPr id="7" name="arrow_0"/>
          <p:cNvSpPr/>
          <p:nvPr/>
        </p:nvSpPr>
        <p:spPr>
          <a:xfrm>
            <a:off x="2359152" y="2395728"/>
            <a:ext cx="438912" cy="292608"/>
          </a:xfrm>
          <a:prstGeom prst="rightArrow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_1"/>
          <p:cNvSpPr/>
          <p:nvPr/>
        </p:nvSpPr>
        <p:spPr>
          <a:xfrm>
            <a:off x="2898648" y="2057400"/>
            <a:ext cx="1664208" cy="1024128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_1_title"/>
          <p:cNvSpPr txBox="1"/>
          <p:nvPr/>
        </p:nvSpPr>
        <p:spPr>
          <a:xfrm>
            <a:off x="3008376" y="2194560"/>
            <a:ext cx="14447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11827"/>
                </a:solidFill>
              </a:rPr>
              <a:t>Parser</a:t>
            </a:r>
          </a:p>
        </p:txBody>
      </p:sp>
      <p:sp>
        <p:nvSpPr>
          <p:cNvPr id="10" name="node_1_sub"/>
          <p:cNvSpPr txBox="1"/>
          <p:nvPr/>
        </p:nvSpPr>
        <p:spPr>
          <a:xfrm>
            <a:off x="3008376" y="2615184"/>
            <a:ext cx="14447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F6B7A"/>
                </a:solidFill>
              </a:rPr>
              <a:t>simple/Pandoc</a:t>
            </a:r>
          </a:p>
        </p:txBody>
      </p:sp>
      <p:sp>
        <p:nvSpPr>
          <p:cNvPr id="11" name="arrow_1"/>
          <p:cNvSpPr/>
          <p:nvPr/>
        </p:nvSpPr>
        <p:spPr>
          <a:xfrm>
            <a:off x="4599432" y="2395728"/>
            <a:ext cx="438912" cy="292608"/>
          </a:xfrm>
          <a:prstGeom prst="rightArrow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ode_2"/>
          <p:cNvSpPr/>
          <p:nvPr/>
        </p:nvSpPr>
        <p:spPr>
          <a:xfrm>
            <a:off x="5138928" y="2057400"/>
            <a:ext cx="1664208" cy="1024128"/>
          </a:xfrm>
          <a:prstGeom prst="roundRect">
            <a:avLst/>
          </a:prstGeom>
          <a:solidFill>
            <a:srgbClr val="EAF7F3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ode_2_title"/>
          <p:cNvSpPr txBox="1"/>
          <p:nvPr/>
        </p:nvSpPr>
        <p:spPr>
          <a:xfrm>
            <a:off x="5248656" y="2194560"/>
            <a:ext cx="14447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11827"/>
                </a:solidFill>
              </a:rPr>
              <a:t>Presentation IR</a:t>
            </a:r>
          </a:p>
        </p:txBody>
      </p:sp>
      <p:sp>
        <p:nvSpPr>
          <p:cNvPr id="14" name="node_2_sub"/>
          <p:cNvSpPr txBox="1"/>
          <p:nvPr/>
        </p:nvSpPr>
        <p:spPr>
          <a:xfrm>
            <a:off x="5248656" y="2615184"/>
            <a:ext cx="14447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F6B7A"/>
                </a:solidFill>
              </a:rPr>
              <a:t>semantic slides</a:t>
            </a:r>
          </a:p>
        </p:txBody>
      </p:sp>
      <p:sp>
        <p:nvSpPr>
          <p:cNvPr id="15" name="arrow_2"/>
          <p:cNvSpPr/>
          <p:nvPr/>
        </p:nvSpPr>
        <p:spPr>
          <a:xfrm>
            <a:off x="6839712" y="2395728"/>
            <a:ext cx="438912" cy="292608"/>
          </a:xfrm>
          <a:prstGeom prst="rightArrow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ode_3"/>
          <p:cNvSpPr/>
          <p:nvPr/>
        </p:nvSpPr>
        <p:spPr>
          <a:xfrm>
            <a:off x="7379208" y="2057400"/>
            <a:ext cx="1664208" cy="1024128"/>
          </a:xfrm>
          <a:prstGeom prst="roundRect">
            <a:avLst/>
          </a:prstGeom>
          <a:solidFill>
            <a:srgbClr val="EAF7F3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ode_3_title"/>
          <p:cNvSpPr txBox="1"/>
          <p:nvPr/>
        </p:nvSpPr>
        <p:spPr>
          <a:xfrm>
            <a:off x="7488936" y="2194560"/>
            <a:ext cx="14447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11827"/>
                </a:solidFill>
              </a:rPr>
              <a:t>MDPR rules</a:t>
            </a:r>
          </a:p>
        </p:txBody>
      </p:sp>
      <p:sp>
        <p:nvSpPr>
          <p:cNvPr id="18" name="node_3_sub"/>
          <p:cNvSpPr txBox="1"/>
          <p:nvPr/>
        </p:nvSpPr>
        <p:spPr>
          <a:xfrm>
            <a:off x="7488936" y="2615184"/>
            <a:ext cx="14447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F6B7A"/>
                </a:solidFill>
              </a:rPr>
              <a:t>layout/theme</a:t>
            </a:r>
          </a:p>
        </p:txBody>
      </p:sp>
      <p:sp>
        <p:nvSpPr>
          <p:cNvPr id="19" name="arrow_3"/>
          <p:cNvSpPr/>
          <p:nvPr/>
        </p:nvSpPr>
        <p:spPr>
          <a:xfrm>
            <a:off x="9079992" y="2395728"/>
            <a:ext cx="438912" cy="292608"/>
          </a:xfrm>
          <a:prstGeom prst="rightArrow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ode_4"/>
          <p:cNvSpPr/>
          <p:nvPr/>
        </p:nvSpPr>
        <p:spPr>
          <a:xfrm>
            <a:off x="9619488" y="2057400"/>
            <a:ext cx="1664208" cy="1024128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ode_4_title"/>
          <p:cNvSpPr txBox="1"/>
          <p:nvPr/>
        </p:nvSpPr>
        <p:spPr>
          <a:xfrm>
            <a:off x="9729216" y="2194560"/>
            <a:ext cx="14447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11827"/>
                </a:solidFill>
              </a:rPr>
              <a:t>Editable PPTX</a:t>
            </a:r>
          </a:p>
        </p:txBody>
      </p:sp>
      <p:sp>
        <p:nvSpPr>
          <p:cNvPr id="22" name="node_4_sub"/>
          <p:cNvSpPr txBox="1"/>
          <p:nvPr/>
        </p:nvSpPr>
        <p:spPr>
          <a:xfrm>
            <a:off x="9729216" y="2615184"/>
            <a:ext cx="14447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F6B7A"/>
                </a:solidFill>
              </a:rPr>
              <a:t>runtime output</a:t>
            </a:r>
          </a:p>
        </p:txBody>
      </p:sp>
      <p:sp>
        <p:nvSpPr>
          <p:cNvPr id="23" name="mdpr_card"/>
          <p:cNvSpPr/>
          <p:nvPr/>
        </p:nvSpPr>
        <p:spPr>
          <a:xfrm>
            <a:off x="749808" y="3730752"/>
            <a:ext cx="4892040" cy="1874519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mdpr_icon_doc"/>
          <p:cNvSpPr/>
          <p:nvPr/>
        </p:nvSpPr>
        <p:spPr>
          <a:xfrm>
            <a:off x="914400" y="3895344"/>
            <a:ext cx="285292" cy="368503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mdpr_icon_line_0"/>
          <p:cNvSpPr/>
          <p:nvPr/>
        </p:nvSpPr>
        <p:spPr>
          <a:xfrm>
            <a:off x="985723" y="3990441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dpr_icon_line_1"/>
          <p:cNvSpPr/>
          <p:nvPr/>
        </p:nvSpPr>
        <p:spPr>
          <a:xfrm>
            <a:off x="985723" y="4067708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mdpr_icon_line_2"/>
          <p:cNvSpPr/>
          <p:nvPr/>
        </p:nvSpPr>
        <p:spPr>
          <a:xfrm>
            <a:off x="985723" y="4144975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mdpr_title"/>
          <p:cNvSpPr txBox="1"/>
          <p:nvPr/>
        </p:nvSpPr>
        <p:spPr>
          <a:xfrm>
            <a:off x="1554480" y="3913632"/>
            <a:ext cx="3904487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0F766E"/>
                </a:solidFill>
              </a:rPr>
              <a:t>MDPR owns</a:t>
            </a:r>
          </a:p>
        </p:txBody>
      </p:sp>
      <p:sp>
        <p:nvSpPr>
          <p:cNvPr id="29" name="mdpr_body_0"/>
          <p:cNvSpPr txBox="1"/>
          <p:nvPr/>
        </p:nvSpPr>
        <p:spPr>
          <a:xfrm>
            <a:off x="1554480" y="4370832"/>
            <a:ext cx="390448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layout and typography</a:t>
            </a:r>
          </a:p>
        </p:txBody>
      </p:sp>
      <p:sp>
        <p:nvSpPr>
          <p:cNvPr id="30" name="mdpr_body_1"/>
          <p:cNvSpPr txBox="1"/>
          <p:nvPr/>
        </p:nvSpPr>
        <p:spPr>
          <a:xfrm>
            <a:off x="1554480" y="4754880"/>
            <a:ext cx="390448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editable rendering</a:t>
            </a:r>
          </a:p>
        </p:txBody>
      </p:sp>
      <p:sp>
        <p:nvSpPr>
          <p:cNvPr id="31" name="mdpr_body_2"/>
          <p:cNvSpPr txBox="1"/>
          <p:nvPr/>
        </p:nvSpPr>
        <p:spPr>
          <a:xfrm>
            <a:off x="1554480" y="5138928"/>
            <a:ext cx="390448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deterministic pass/fail</a:t>
            </a:r>
          </a:p>
        </p:txBody>
      </p:sp>
      <p:sp>
        <p:nvSpPr>
          <p:cNvPr id="32" name="skill_card"/>
          <p:cNvSpPr/>
          <p:nvPr/>
        </p:nvSpPr>
        <p:spPr>
          <a:xfrm>
            <a:off x="6144768" y="3730752"/>
            <a:ext cx="4892040" cy="1874519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kill_icon_v"/>
          <p:cNvSpPr/>
          <p:nvPr/>
        </p:nvSpPr>
        <p:spPr>
          <a:xfrm>
            <a:off x="6452006" y="3895344"/>
            <a:ext cx="35661" cy="344728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kill_icon_h"/>
          <p:cNvSpPr/>
          <p:nvPr/>
        </p:nvSpPr>
        <p:spPr>
          <a:xfrm>
            <a:off x="6309359" y="4037990"/>
            <a:ext cx="344728" cy="35661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kill_icon_dot"/>
          <p:cNvSpPr/>
          <p:nvPr/>
        </p:nvSpPr>
        <p:spPr>
          <a:xfrm>
            <a:off x="6570878" y="4156862"/>
            <a:ext cx="59436" cy="59436"/>
          </a:xfrm>
          <a:prstGeom prst="ellipse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kill_title"/>
          <p:cNvSpPr txBox="1"/>
          <p:nvPr/>
        </p:nvSpPr>
        <p:spPr>
          <a:xfrm>
            <a:off x="6949440" y="3913632"/>
            <a:ext cx="3904487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7C3AED"/>
                </a:solidFill>
              </a:rPr>
              <a:t>mdpr-skill assists</a:t>
            </a:r>
          </a:p>
        </p:txBody>
      </p:sp>
      <p:sp>
        <p:nvSpPr>
          <p:cNvPr id="37" name="skill_body_0"/>
          <p:cNvSpPr txBox="1"/>
          <p:nvPr/>
        </p:nvSpPr>
        <p:spPr>
          <a:xfrm>
            <a:off x="6949440" y="4370832"/>
            <a:ext cx="390448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semantic hints</a:t>
            </a:r>
          </a:p>
        </p:txBody>
      </p:sp>
      <p:sp>
        <p:nvSpPr>
          <p:cNvPr id="38" name="skill_body_1"/>
          <p:cNvSpPr txBox="1"/>
          <p:nvPr/>
        </p:nvSpPr>
        <p:spPr>
          <a:xfrm>
            <a:off x="6949440" y="4754880"/>
            <a:ext cx="390448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review explanations</a:t>
            </a:r>
          </a:p>
        </p:txBody>
      </p:sp>
      <p:sp>
        <p:nvSpPr>
          <p:cNvPr id="39" name="skill_body_2"/>
          <p:cNvSpPr txBox="1"/>
          <p:nvPr/>
        </p:nvSpPr>
        <p:spPr>
          <a:xfrm>
            <a:off x="6949440" y="5138928"/>
            <a:ext cx="390448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evidence routing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z00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594360" y="384048"/>
            <a:ext cx="108813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Source families exercise different runtime paths</a:t>
            </a:r>
          </a:p>
        </p:txBody>
      </p:sp>
      <p:sp>
        <p:nvSpPr>
          <p:cNvPr id="4" name="docmap_0_card"/>
          <p:cNvSpPr/>
          <p:nvPr/>
        </p:nvSpPr>
        <p:spPr>
          <a:xfrm>
            <a:off x="685800" y="1353312"/>
            <a:ext cx="3154680" cy="1737360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cmap_0_icon_doc"/>
          <p:cNvSpPr/>
          <p:nvPr/>
        </p:nvSpPr>
        <p:spPr>
          <a:xfrm>
            <a:off x="850392" y="1517904"/>
            <a:ext cx="285292" cy="368503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cmap_0_icon_line_0"/>
          <p:cNvSpPr/>
          <p:nvPr/>
        </p:nvSpPr>
        <p:spPr>
          <a:xfrm>
            <a:off x="921715" y="1613001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cmap_0_icon_line_1"/>
          <p:cNvSpPr/>
          <p:nvPr/>
        </p:nvSpPr>
        <p:spPr>
          <a:xfrm>
            <a:off x="921715" y="1690268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cmap_0_icon_line_2"/>
          <p:cNvSpPr/>
          <p:nvPr/>
        </p:nvSpPr>
        <p:spPr>
          <a:xfrm>
            <a:off x="921715" y="1767535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cmap_0_title"/>
          <p:cNvSpPr txBox="1"/>
          <p:nvPr/>
        </p:nvSpPr>
        <p:spPr>
          <a:xfrm>
            <a:off x="1490472" y="1536192"/>
            <a:ext cx="216712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0F766E"/>
                </a:solidFill>
              </a:rPr>
              <a:t>Architecture</a:t>
            </a:r>
          </a:p>
        </p:txBody>
      </p:sp>
      <p:sp>
        <p:nvSpPr>
          <p:cNvPr id="10" name="docmap_0_body_0"/>
          <p:cNvSpPr txBox="1"/>
          <p:nvPr/>
        </p:nvSpPr>
        <p:spPr>
          <a:xfrm>
            <a:off x="1490472" y="1993391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packages and renderer</a:t>
            </a:r>
          </a:p>
        </p:txBody>
      </p:sp>
      <p:sp>
        <p:nvSpPr>
          <p:cNvPr id="11" name="docmap_0_body_1"/>
          <p:cNvSpPr txBox="1"/>
          <p:nvPr/>
        </p:nvSpPr>
        <p:spPr>
          <a:xfrm>
            <a:off x="1490472" y="2377439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pipeline evidence</a:t>
            </a:r>
          </a:p>
        </p:txBody>
      </p:sp>
      <p:sp>
        <p:nvSpPr>
          <p:cNvPr id="12" name="docmap_1_card"/>
          <p:cNvSpPr/>
          <p:nvPr/>
        </p:nvSpPr>
        <p:spPr>
          <a:xfrm>
            <a:off x="4343400" y="1353312"/>
            <a:ext cx="3154680" cy="1737360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cmap_1_icon_node_0"/>
          <p:cNvSpPr/>
          <p:nvPr/>
        </p:nvSpPr>
        <p:spPr>
          <a:xfrm>
            <a:off x="4507992" y="1684324"/>
            <a:ext cx="106984" cy="106984"/>
          </a:xfrm>
          <a:prstGeom prst="ellipse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cmap_1_icon_node_1"/>
          <p:cNvSpPr/>
          <p:nvPr/>
        </p:nvSpPr>
        <p:spPr>
          <a:xfrm>
            <a:off x="4733848" y="1684324"/>
            <a:ext cx="106984" cy="106984"/>
          </a:xfrm>
          <a:prstGeom prst="ellipse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cmap_1_icon_node_2"/>
          <p:cNvSpPr/>
          <p:nvPr/>
        </p:nvSpPr>
        <p:spPr>
          <a:xfrm>
            <a:off x="4959705" y="1684324"/>
            <a:ext cx="106984" cy="106984"/>
          </a:xfrm>
          <a:prstGeom prst="ellipse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cmap_1_icon_line_0"/>
          <p:cNvSpPr/>
          <p:nvPr/>
        </p:nvSpPr>
        <p:spPr>
          <a:xfrm>
            <a:off x="4609033" y="1731873"/>
            <a:ext cx="130759" cy="20802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cmap_1_icon_line_1"/>
          <p:cNvSpPr/>
          <p:nvPr/>
        </p:nvSpPr>
        <p:spPr>
          <a:xfrm>
            <a:off x="4834890" y="1731873"/>
            <a:ext cx="130759" cy="20802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cmap_1_title"/>
          <p:cNvSpPr txBox="1"/>
          <p:nvPr/>
        </p:nvSpPr>
        <p:spPr>
          <a:xfrm>
            <a:off x="5148072" y="1536192"/>
            <a:ext cx="216712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7C3AED"/>
                </a:solidFill>
              </a:rPr>
              <a:t>Page splitting</a:t>
            </a:r>
          </a:p>
        </p:txBody>
      </p:sp>
      <p:sp>
        <p:nvSpPr>
          <p:cNvPr id="19" name="docmap_1_body_0"/>
          <p:cNvSpPr txBox="1"/>
          <p:nvPr/>
        </p:nvSpPr>
        <p:spPr>
          <a:xfrm>
            <a:off x="5148072" y="1993391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headings and density</a:t>
            </a:r>
          </a:p>
        </p:txBody>
      </p:sp>
      <p:sp>
        <p:nvSpPr>
          <p:cNvPr id="20" name="docmap_1_body_1"/>
          <p:cNvSpPr txBox="1"/>
          <p:nvPr/>
        </p:nvSpPr>
        <p:spPr>
          <a:xfrm>
            <a:off x="5148072" y="2377439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split-rule evidence</a:t>
            </a:r>
          </a:p>
        </p:txBody>
      </p:sp>
      <p:sp>
        <p:nvSpPr>
          <p:cNvPr id="21" name="docmap_2_card"/>
          <p:cNvSpPr/>
          <p:nvPr/>
        </p:nvSpPr>
        <p:spPr>
          <a:xfrm>
            <a:off x="8001000" y="1353312"/>
            <a:ext cx="3154680" cy="1737360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cmap_2_icon_body"/>
          <p:cNvSpPr/>
          <p:nvPr/>
        </p:nvSpPr>
        <p:spPr>
          <a:xfrm>
            <a:off x="8165592" y="1517904"/>
            <a:ext cx="326898" cy="386334"/>
          </a:xfrm>
          <a:prstGeom prst="homePlate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cmap_2_icon_cut"/>
          <p:cNvSpPr/>
          <p:nvPr/>
        </p:nvSpPr>
        <p:spPr>
          <a:xfrm>
            <a:off x="8296351" y="1589227"/>
            <a:ext cx="59436" cy="166420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cmap_2_title"/>
          <p:cNvSpPr txBox="1"/>
          <p:nvPr/>
        </p:nvSpPr>
        <p:spPr>
          <a:xfrm>
            <a:off x="8805672" y="1536192"/>
            <a:ext cx="216712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0F766E"/>
                </a:solidFill>
              </a:rPr>
              <a:t>Layout rules</a:t>
            </a:r>
          </a:p>
        </p:txBody>
      </p:sp>
      <p:sp>
        <p:nvSpPr>
          <p:cNvPr id="25" name="docmap_2_body_0"/>
          <p:cNvSpPr txBox="1"/>
          <p:nvPr/>
        </p:nvSpPr>
        <p:spPr>
          <a:xfrm>
            <a:off x="8805672" y="1993391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regions and overflow</a:t>
            </a:r>
          </a:p>
        </p:txBody>
      </p:sp>
      <p:sp>
        <p:nvSpPr>
          <p:cNvPr id="26" name="docmap_2_body_1"/>
          <p:cNvSpPr txBox="1"/>
          <p:nvPr/>
        </p:nvSpPr>
        <p:spPr>
          <a:xfrm>
            <a:off x="8805672" y="2377439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grid evidence</a:t>
            </a:r>
          </a:p>
        </p:txBody>
      </p:sp>
      <p:sp>
        <p:nvSpPr>
          <p:cNvPr id="27" name="docmap_3_card"/>
          <p:cNvSpPr/>
          <p:nvPr/>
        </p:nvSpPr>
        <p:spPr>
          <a:xfrm>
            <a:off x="685800" y="3410712"/>
            <a:ext cx="3154680" cy="1737360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ocmap_3_icon_doc"/>
          <p:cNvSpPr/>
          <p:nvPr/>
        </p:nvSpPr>
        <p:spPr>
          <a:xfrm>
            <a:off x="850392" y="3575304"/>
            <a:ext cx="285292" cy="368503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ocmap_3_icon_line_0"/>
          <p:cNvSpPr/>
          <p:nvPr/>
        </p:nvSpPr>
        <p:spPr>
          <a:xfrm>
            <a:off x="921715" y="3670401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ocmap_3_icon_line_1"/>
          <p:cNvSpPr/>
          <p:nvPr/>
        </p:nvSpPr>
        <p:spPr>
          <a:xfrm>
            <a:off x="921715" y="3747668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ocmap_3_icon_line_2"/>
          <p:cNvSpPr/>
          <p:nvPr/>
        </p:nvSpPr>
        <p:spPr>
          <a:xfrm>
            <a:off x="921715" y="3824935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ocmap_3_title"/>
          <p:cNvSpPr txBox="1"/>
          <p:nvPr/>
        </p:nvSpPr>
        <p:spPr>
          <a:xfrm>
            <a:off x="1490472" y="3593592"/>
            <a:ext cx="216712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7C3AED"/>
                </a:solidFill>
              </a:rPr>
              <a:t>Rendering rules</a:t>
            </a:r>
          </a:p>
        </p:txBody>
      </p:sp>
      <p:sp>
        <p:nvSpPr>
          <p:cNvPr id="33" name="docmap_3_body_0"/>
          <p:cNvSpPr txBox="1"/>
          <p:nvPr/>
        </p:nvSpPr>
        <p:spPr>
          <a:xfrm>
            <a:off x="1490472" y="4050791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PPTX, PDF, and HTML</a:t>
            </a:r>
          </a:p>
        </p:txBody>
      </p:sp>
      <p:sp>
        <p:nvSpPr>
          <p:cNvPr id="34" name="docmap_3_body_1"/>
          <p:cNvSpPr txBox="1"/>
          <p:nvPr/>
        </p:nvSpPr>
        <p:spPr>
          <a:xfrm>
            <a:off x="1490472" y="4434840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format evidence</a:t>
            </a:r>
          </a:p>
        </p:txBody>
      </p:sp>
      <p:sp>
        <p:nvSpPr>
          <p:cNvPr id="35" name="docmap_4_card"/>
          <p:cNvSpPr/>
          <p:nvPr/>
        </p:nvSpPr>
        <p:spPr>
          <a:xfrm>
            <a:off x="4343400" y="3410712"/>
            <a:ext cx="3154680" cy="1737360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ocmap_4_icon_node_0"/>
          <p:cNvSpPr/>
          <p:nvPr/>
        </p:nvSpPr>
        <p:spPr>
          <a:xfrm>
            <a:off x="4507992" y="3741724"/>
            <a:ext cx="106984" cy="106984"/>
          </a:xfrm>
          <a:prstGeom prst="ellipse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ocmap_4_icon_node_1"/>
          <p:cNvSpPr/>
          <p:nvPr/>
        </p:nvSpPr>
        <p:spPr>
          <a:xfrm>
            <a:off x="4733848" y="3741724"/>
            <a:ext cx="106984" cy="106984"/>
          </a:xfrm>
          <a:prstGeom prst="ellipse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ocmap_4_icon_node_2"/>
          <p:cNvSpPr/>
          <p:nvPr/>
        </p:nvSpPr>
        <p:spPr>
          <a:xfrm>
            <a:off x="4959705" y="3741724"/>
            <a:ext cx="106984" cy="106984"/>
          </a:xfrm>
          <a:prstGeom prst="ellipse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ocmap_4_icon_line_0"/>
          <p:cNvSpPr/>
          <p:nvPr/>
        </p:nvSpPr>
        <p:spPr>
          <a:xfrm>
            <a:off x="4609033" y="3789273"/>
            <a:ext cx="130759" cy="20802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ocmap_4_icon_line_1"/>
          <p:cNvSpPr/>
          <p:nvPr/>
        </p:nvSpPr>
        <p:spPr>
          <a:xfrm>
            <a:off x="4834890" y="3789273"/>
            <a:ext cx="130759" cy="20802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ocmap_4_title"/>
          <p:cNvSpPr txBox="1"/>
          <p:nvPr/>
        </p:nvSpPr>
        <p:spPr>
          <a:xfrm>
            <a:off x="5148072" y="3593592"/>
            <a:ext cx="216712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0F766E"/>
                </a:solidFill>
              </a:rPr>
              <a:t>Overrides</a:t>
            </a:r>
          </a:p>
        </p:txBody>
      </p:sp>
      <p:sp>
        <p:nvSpPr>
          <p:cNvPr id="42" name="docmap_4_body_0"/>
          <p:cNvSpPr txBox="1"/>
          <p:nvPr/>
        </p:nvSpPr>
        <p:spPr>
          <a:xfrm>
            <a:off x="5148072" y="4050791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human and LLM boundary</a:t>
            </a:r>
          </a:p>
        </p:txBody>
      </p:sp>
      <p:sp>
        <p:nvSpPr>
          <p:cNvPr id="43" name="docmap_4_body_1"/>
          <p:cNvSpPr txBox="1"/>
          <p:nvPr/>
        </p:nvSpPr>
        <p:spPr>
          <a:xfrm>
            <a:off x="5148072" y="4434840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annotation evidence</a:t>
            </a:r>
          </a:p>
        </p:txBody>
      </p:sp>
      <p:sp>
        <p:nvSpPr>
          <p:cNvPr id="44" name="docmap_5_card"/>
          <p:cNvSpPr/>
          <p:nvPr/>
        </p:nvSpPr>
        <p:spPr>
          <a:xfrm>
            <a:off x="8001000" y="3410712"/>
            <a:ext cx="3154680" cy="1737360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ocmap_5_icon_body"/>
          <p:cNvSpPr/>
          <p:nvPr/>
        </p:nvSpPr>
        <p:spPr>
          <a:xfrm>
            <a:off x="8165592" y="3575304"/>
            <a:ext cx="326898" cy="386334"/>
          </a:xfrm>
          <a:prstGeom prst="homePlate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ocmap_5_icon_cut"/>
          <p:cNvSpPr/>
          <p:nvPr/>
        </p:nvSpPr>
        <p:spPr>
          <a:xfrm>
            <a:off x="8296351" y="3646627"/>
            <a:ext cx="59436" cy="166420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ocmap_5_title"/>
          <p:cNvSpPr txBox="1"/>
          <p:nvPr/>
        </p:nvSpPr>
        <p:spPr>
          <a:xfrm>
            <a:off x="8805672" y="3593592"/>
            <a:ext cx="216712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7C3AED"/>
                </a:solidFill>
              </a:rPr>
              <a:t>Examples</a:t>
            </a:r>
          </a:p>
        </p:txBody>
      </p:sp>
      <p:sp>
        <p:nvSpPr>
          <p:cNvPr id="48" name="docmap_5_body_0"/>
          <p:cNvSpPr txBox="1"/>
          <p:nvPr/>
        </p:nvSpPr>
        <p:spPr>
          <a:xfrm>
            <a:off x="8805672" y="4050791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actual deck Markdown</a:t>
            </a:r>
          </a:p>
        </p:txBody>
      </p:sp>
      <p:sp>
        <p:nvSpPr>
          <p:cNvPr id="49" name="docmap_5_body_1"/>
          <p:cNvSpPr txBox="1"/>
          <p:nvPr/>
        </p:nvSpPr>
        <p:spPr>
          <a:xfrm>
            <a:off x="8805672" y="4434840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intent evidence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z00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594360" y="384048"/>
            <a:ext cx="108813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mdpr-skill narrows review, not rendering</a:t>
            </a:r>
          </a:p>
        </p:txBody>
      </p:sp>
      <p:sp>
        <p:nvSpPr>
          <p:cNvPr id="4" name="icon_card"/>
          <p:cNvSpPr/>
          <p:nvPr/>
        </p:nvSpPr>
        <p:spPr>
          <a:xfrm>
            <a:off x="713232" y="1353312"/>
            <a:ext cx="3337560" cy="1755648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con_icon_v"/>
          <p:cNvSpPr/>
          <p:nvPr/>
        </p:nvSpPr>
        <p:spPr>
          <a:xfrm>
            <a:off x="1020470" y="1517904"/>
            <a:ext cx="35661" cy="344728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con_icon_h"/>
          <p:cNvSpPr/>
          <p:nvPr/>
        </p:nvSpPr>
        <p:spPr>
          <a:xfrm>
            <a:off x="877824" y="1660550"/>
            <a:ext cx="344728" cy="35661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con_icon_dot"/>
          <p:cNvSpPr/>
          <p:nvPr/>
        </p:nvSpPr>
        <p:spPr>
          <a:xfrm>
            <a:off x="1139342" y="1779422"/>
            <a:ext cx="59436" cy="59436"/>
          </a:xfrm>
          <a:prstGeom prst="ellipse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con_title"/>
          <p:cNvSpPr txBox="1"/>
          <p:nvPr/>
        </p:nvSpPr>
        <p:spPr>
          <a:xfrm>
            <a:off x="1517904" y="1536192"/>
            <a:ext cx="2350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111827"/>
                </a:solidFill>
              </a:rPr>
              <a:t>Semantic hints</a:t>
            </a:r>
          </a:p>
        </p:txBody>
      </p:sp>
      <p:sp>
        <p:nvSpPr>
          <p:cNvPr id="9" name="icon_body_0"/>
          <p:cNvSpPr txBox="1"/>
          <p:nvPr/>
        </p:nvSpPr>
        <p:spPr>
          <a:xfrm>
            <a:off x="1517904" y="1993391"/>
            <a:ext cx="23500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grouping and intent</a:t>
            </a:r>
          </a:p>
        </p:txBody>
      </p:sp>
      <p:sp>
        <p:nvSpPr>
          <p:cNvPr id="10" name="icon_body_1"/>
          <p:cNvSpPr txBox="1"/>
          <p:nvPr/>
        </p:nvSpPr>
        <p:spPr>
          <a:xfrm>
            <a:off x="1517904" y="2377439"/>
            <a:ext cx="23500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source-bound keywords</a:t>
            </a:r>
          </a:p>
        </p:txBody>
      </p:sp>
      <p:sp>
        <p:nvSpPr>
          <p:cNvPr id="11" name="icon_body_2"/>
          <p:cNvSpPr txBox="1"/>
          <p:nvPr/>
        </p:nvSpPr>
        <p:spPr>
          <a:xfrm>
            <a:off x="1517904" y="2761487"/>
            <a:ext cx="23500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content split candidates</a:t>
            </a:r>
          </a:p>
        </p:txBody>
      </p:sp>
      <p:sp>
        <p:nvSpPr>
          <p:cNvPr id="12" name="info_card"/>
          <p:cNvSpPr/>
          <p:nvPr/>
        </p:nvSpPr>
        <p:spPr>
          <a:xfrm>
            <a:off x="4443984" y="1353312"/>
            <a:ext cx="3337560" cy="1755648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nfo_icon_node_0"/>
          <p:cNvSpPr/>
          <p:nvPr/>
        </p:nvSpPr>
        <p:spPr>
          <a:xfrm>
            <a:off x="4608576" y="1684324"/>
            <a:ext cx="106984" cy="106984"/>
          </a:xfrm>
          <a:prstGeom prst="ellipse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nfo_icon_node_1"/>
          <p:cNvSpPr/>
          <p:nvPr/>
        </p:nvSpPr>
        <p:spPr>
          <a:xfrm>
            <a:off x="4834432" y="1684324"/>
            <a:ext cx="106984" cy="106984"/>
          </a:xfrm>
          <a:prstGeom prst="ellipse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nfo_icon_node_2"/>
          <p:cNvSpPr/>
          <p:nvPr/>
        </p:nvSpPr>
        <p:spPr>
          <a:xfrm>
            <a:off x="5060289" y="1684324"/>
            <a:ext cx="106984" cy="106984"/>
          </a:xfrm>
          <a:prstGeom prst="ellipse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nfo_icon_line_0"/>
          <p:cNvSpPr/>
          <p:nvPr/>
        </p:nvSpPr>
        <p:spPr>
          <a:xfrm>
            <a:off x="4709617" y="1731873"/>
            <a:ext cx="130759" cy="20802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nfo_icon_line_1"/>
          <p:cNvSpPr/>
          <p:nvPr/>
        </p:nvSpPr>
        <p:spPr>
          <a:xfrm>
            <a:off x="4935474" y="1731873"/>
            <a:ext cx="130759" cy="20802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nfo_title"/>
          <p:cNvSpPr txBox="1"/>
          <p:nvPr/>
        </p:nvSpPr>
        <p:spPr>
          <a:xfrm>
            <a:off x="5248656" y="1536192"/>
            <a:ext cx="2350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0F766E"/>
                </a:solidFill>
              </a:rPr>
              <a:t>Review evidence</a:t>
            </a:r>
          </a:p>
        </p:txBody>
      </p:sp>
      <p:sp>
        <p:nvSpPr>
          <p:cNvPr id="19" name="info_body_0"/>
          <p:cNvSpPr txBox="1"/>
          <p:nvPr/>
        </p:nvSpPr>
        <p:spPr>
          <a:xfrm>
            <a:off x="5248656" y="1993391"/>
            <a:ext cx="23500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rendered preview paths</a:t>
            </a:r>
          </a:p>
        </p:txBody>
      </p:sp>
      <p:sp>
        <p:nvSpPr>
          <p:cNvPr id="20" name="info_body_1"/>
          <p:cNvSpPr txBox="1"/>
          <p:nvPr/>
        </p:nvSpPr>
        <p:spPr>
          <a:xfrm>
            <a:off x="5248656" y="2377439"/>
            <a:ext cx="23500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MDPR finding IDs</a:t>
            </a:r>
          </a:p>
        </p:txBody>
      </p:sp>
      <p:sp>
        <p:nvSpPr>
          <p:cNvPr id="21" name="info_body_2"/>
          <p:cNvSpPr txBox="1"/>
          <p:nvPr/>
        </p:nvSpPr>
        <p:spPr>
          <a:xfrm>
            <a:off x="5248656" y="2761487"/>
            <a:ext cx="23500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manifest status</a:t>
            </a:r>
          </a:p>
        </p:txBody>
      </p:sp>
      <p:sp>
        <p:nvSpPr>
          <p:cNvPr id="22" name="qa_card"/>
          <p:cNvSpPr/>
          <p:nvPr/>
        </p:nvSpPr>
        <p:spPr>
          <a:xfrm>
            <a:off x="8174736" y="1353312"/>
            <a:ext cx="3337560" cy="1755648"/>
          </a:xfrm>
          <a:prstGeom prst="roundRect">
            <a:avLst/>
          </a:prstGeom>
          <a:solidFill>
            <a:srgbClr val="FFFDF8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qa_icon_body"/>
          <p:cNvSpPr/>
          <p:nvPr/>
        </p:nvSpPr>
        <p:spPr>
          <a:xfrm>
            <a:off x="8339327" y="1517904"/>
            <a:ext cx="326898" cy="386334"/>
          </a:xfrm>
          <a:prstGeom prst="homePlate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qa_icon_cut"/>
          <p:cNvSpPr/>
          <p:nvPr/>
        </p:nvSpPr>
        <p:spPr>
          <a:xfrm>
            <a:off x="8470087" y="1589227"/>
            <a:ext cx="59436" cy="166420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qa_title"/>
          <p:cNvSpPr txBox="1"/>
          <p:nvPr/>
        </p:nvSpPr>
        <p:spPr>
          <a:xfrm>
            <a:off x="8979408" y="1536192"/>
            <a:ext cx="2350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BE123C"/>
                </a:solidFill>
              </a:rPr>
              <a:t>Hard boundary</a:t>
            </a:r>
          </a:p>
        </p:txBody>
      </p:sp>
      <p:sp>
        <p:nvSpPr>
          <p:cNvPr id="26" name="qa_body_0"/>
          <p:cNvSpPr txBox="1"/>
          <p:nvPr/>
        </p:nvSpPr>
        <p:spPr>
          <a:xfrm>
            <a:off x="8979408" y="1993391"/>
            <a:ext cx="23500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no coordinates</a:t>
            </a:r>
          </a:p>
        </p:txBody>
      </p:sp>
      <p:sp>
        <p:nvSpPr>
          <p:cNvPr id="27" name="qa_body_1"/>
          <p:cNvSpPr txBox="1"/>
          <p:nvPr/>
        </p:nvSpPr>
        <p:spPr>
          <a:xfrm>
            <a:off x="8979408" y="2377439"/>
            <a:ext cx="23500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no exact typography</a:t>
            </a:r>
          </a:p>
        </p:txBody>
      </p:sp>
      <p:sp>
        <p:nvSpPr>
          <p:cNvPr id="28" name="qa_body_2"/>
          <p:cNvSpPr txBox="1"/>
          <p:nvPr/>
        </p:nvSpPr>
        <p:spPr>
          <a:xfrm>
            <a:off x="8979408" y="2761487"/>
            <a:ext cx="23500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no pass/fail override</a:t>
            </a:r>
          </a:p>
        </p:txBody>
      </p:sp>
      <p:sp>
        <p:nvSpPr>
          <p:cNvPr id="29" name="line"/>
          <p:cNvSpPr/>
          <p:nvPr/>
        </p:nvSpPr>
        <p:spPr>
          <a:xfrm>
            <a:off x="960120" y="3685032"/>
            <a:ext cx="10012680" cy="36576"/>
          </a:xfrm>
          <a:prstGeom prst="rect">
            <a:avLst/>
          </a:prstGeom>
          <a:solidFill>
            <a:srgbClr val="D7CDBD"/>
          </a:solidFill>
          <a:ln>
            <a:solidFill>
              <a:srgbClr val="D7C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ep_0_num"/>
          <p:cNvSpPr/>
          <p:nvPr/>
        </p:nvSpPr>
        <p:spPr>
          <a:xfrm>
            <a:off x="1005840" y="3438144"/>
            <a:ext cx="420624" cy="420624"/>
          </a:xfrm>
          <a:prstGeom prst="ellipse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1" name="step_0_label"/>
          <p:cNvSpPr txBox="1"/>
          <p:nvPr/>
        </p:nvSpPr>
        <p:spPr>
          <a:xfrm>
            <a:off x="420624" y="4023360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11827"/>
                </a:solidFill>
              </a:rPr>
              <a:t>Detect text-only</a:t>
            </a:r>
          </a:p>
        </p:txBody>
      </p:sp>
      <p:sp>
        <p:nvSpPr>
          <p:cNvPr id="32" name="step_1_num"/>
          <p:cNvSpPr/>
          <p:nvPr/>
        </p:nvSpPr>
        <p:spPr>
          <a:xfrm>
            <a:off x="3657600" y="3438144"/>
            <a:ext cx="420624" cy="420624"/>
          </a:xfrm>
          <a:prstGeom prst="ellipse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3" name="step_1_label"/>
          <p:cNvSpPr txBox="1"/>
          <p:nvPr/>
        </p:nvSpPr>
        <p:spPr>
          <a:xfrm>
            <a:off x="3072384" y="4023360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11827"/>
                </a:solidFill>
              </a:rPr>
              <a:t>Reserve aside slot</a:t>
            </a:r>
          </a:p>
        </p:txBody>
      </p:sp>
      <p:sp>
        <p:nvSpPr>
          <p:cNvPr id="34" name="step_2_num"/>
          <p:cNvSpPr/>
          <p:nvPr/>
        </p:nvSpPr>
        <p:spPr>
          <a:xfrm>
            <a:off x="6309360" y="3438144"/>
            <a:ext cx="420624" cy="420624"/>
          </a:xfrm>
          <a:prstGeom prst="ellipse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5" name="step_2_label"/>
          <p:cNvSpPr txBox="1"/>
          <p:nvPr/>
        </p:nvSpPr>
        <p:spPr>
          <a:xfrm>
            <a:off x="5724144" y="4023360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11827"/>
                </a:solidFill>
              </a:rPr>
              <a:t>Pick monotone source</a:t>
            </a:r>
          </a:p>
        </p:txBody>
      </p:sp>
      <p:sp>
        <p:nvSpPr>
          <p:cNvPr id="36" name="step_3_num"/>
          <p:cNvSpPr/>
          <p:nvPr/>
        </p:nvSpPr>
        <p:spPr>
          <a:xfrm>
            <a:off x="8961119" y="3438144"/>
            <a:ext cx="420624" cy="420624"/>
          </a:xfrm>
          <a:prstGeom prst="ellipse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7" name="step_3_label"/>
          <p:cNvSpPr txBox="1"/>
          <p:nvPr/>
        </p:nvSpPr>
        <p:spPr>
          <a:xfrm>
            <a:off x="8375903" y="4023360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11827"/>
                </a:solidFill>
              </a:rPr>
              <a:t>Validate alignment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z00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594360" y="384048"/>
            <a:ext cx="108813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Examples broaden content without changing ownership</a:t>
            </a:r>
          </a:p>
        </p:txBody>
      </p:sp>
      <p:sp>
        <p:nvSpPr>
          <p:cNvPr id="4" name="example_0_icon_doc"/>
          <p:cNvSpPr/>
          <p:nvPr/>
        </p:nvSpPr>
        <p:spPr>
          <a:xfrm>
            <a:off x="822959" y="1517904"/>
            <a:ext cx="285292" cy="368503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xample_0_icon_line_0"/>
          <p:cNvSpPr/>
          <p:nvPr/>
        </p:nvSpPr>
        <p:spPr>
          <a:xfrm>
            <a:off x="894283" y="1613001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mple_0_icon_line_1"/>
          <p:cNvSpPr/>
          <p:nvPr/>
        </p:nvSpPr>
        <p:spPr>
          <a:xfrm>
            <a:off x="894283" y="1690268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xample_0_icon_line_2"/>
          <p:cNvSpPr/>
          <p:nvPr/>
        </p:nvSpPr>
        <p:spPr>
          <a:xfrm>
            <a:off x="894283" y="1767535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ample_0_title"/>
          <p:cNvSpPr txBox="1"/>
          <p:nvPr/>
        </p:nvSpPr>
        <p:spPr>
          <a:xfrm>
            <a:off x="1463040" y="1536192"/>
            <a:ext cx="216712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0F766E"/>
                </a:solidFill>
              </a:rPr>
              <a:t>Basic</a:t>
            </a:r>
          </a:p>
        </p:txBody>
      </p:sp>
      <p:sp>
        <p:nvSpPr>
          <p:cNvPr id="9" name="example_0_body_0"/>
          <p:cNvSpPr txBox="1"/>
          <p:nvPr/>
        </p:nvSpPr>
        <p:spPr>
          <a:xfrm>
            <a:off x="1463040" y="1993391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AI Workflow Automation Proposal</a:t>
            </a:r>
          </a:p>
        </p:txBody>
      </p:sp>
      <p:sp>
        <p:nvSpPr>
          <p:cNvPr id="10" name="example_0_body_1"/>
          <p:cNvSpPr txBox="1"/>
          <p:nvPr/>
        </p:nvSpPr>
        <p:spPr>
          <a:xfrm>
            <a:off x="1463040" y="2377439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10 headings · 1,255 chars</a:t>
            </a:r>
          </a:p>
        </p:txBody>
      </p:sp>
      <p:sp>
        <p:nvSpPr>
          <p:cNvPr id="11" name="example_1_icon_doc"/>
          <p:cNvSpPr/>
          <p:nvPr/>
        </p:nvSpPr>
        <p:spPr>
          <a:xfrm>
            <a:off x="4480559" y="1517904"/>
            <a:ext cx="285292" cy="368503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xample_1_icon_line_0"/>
          <p:cNvSpPr/>
          <p:nvPr/>
        </p:nvSpPr>
        <p:spPr>
          <a:xfrm>
            <a:off x="4551883" y="1613001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xample_1_icon_line_1"/>
          <p:cNvSpPr/>
          <p:nvPr/>
        </p:nvSpPr>
        <p:spPr>
          <a:xfrm>
            <a:off x="4551883" y="1690268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ample_1_icon_line_2"/>
          <p:cNvSpPr/>
          <p:nvPr/>
        </p:nvSpPr>
        <p:spPr>
          <a:xfrm>
            <a:off x="4551883" y="1767535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xample_1_title"/>
          <p:cNvSpPr txBox="1"/>
          <p:nvPr/>
        </p:nvSpPr>
        <p:spPr>
          <a:xfrm>
            <a:off x="5120640" y="1536192"/>
            <a:ext cx="216712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7C3AED"/>
                </a:solidFill>
              </a:rPr>
              <a:t>Comparison</a:t>
            </a:r>
          </a:p>
        </p:txBody>
      </p:sp>
      <p:sp>
        <p:nvSpPr>
          <p:cNvPr id="16" name="example_1_body_0"/>
          <p:cNvSpPr txBox="1"/>
          <p:nvPr/>
        </p:nvSpPr>
        <p:spPr>
          <a:xfrm>
            <a:off x="5120640" y="1993391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Comparison Structure Example</a:t>
            </a:r>
          </a:p>
        </p:txBody>
      </p:sp>
      <p:sp>
        <p:nvSpPr>
          <p:cNvPr id="17" name="example_1_body_1"/>
          <p:cNvSpPr txBox="1"/>
          <p:nvPr/>
        </p:nvSpPr>
        <p:spPr>
          <a:xfrm>
            <a:off x="5120640" y="2377439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4 headings · 307 chars</a:t>
            </a:r>
          </a:p>
        </p:txBody>
      </p:sp>
      <p:sp>
        <p:nvSpPr>
          <p:cNvPr id="18" name="example_2_icon_doc"/>
          <p:cNvSpPr/>
          <p:nvPr/>
        </p:nvSpPr>
        <p:spPr>
          <a:xfrm>
            <a:off x="8138160" y="1517904"/>
            <a:ext cx="285292" cy="368503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xample_2_icon_line_0"/>
          <p:cNvSpPr/>
          <p:nvPr/>
        </p:nvSpPr>
        <p:spPr>
          <a:xfrm>
            <a:off x="8209483" y="1613001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xample_2_icon_line_1"/>
          <p:cNvSpPr/>
          <p:nvPr/>
        </p:nvSpPr>
        <p:spPr>
          <a:xfrm>
            <a:off x="8209483" y="1690268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xample_2_icon_line_2"/>
          <p:cNvSpPr/>
          <p:nvPr/>
        </p:nvSpPr>
        <p:spPr>
          <a:xfrm>
            <a:off x="8209483" y="1767535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ample_2_title"/>
          <p:cNvSpPr txBox="1"/>
          <p:nvPr/>
        </p:nvSpPr>
        <p:spPr>
          <a:xfrm>
            <a:off x="8778240" y="1536192"/>
            <a:ext cx="216712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0F766E"/>
                </a:solidFill>
              </a:rPr>
              <a:t>Pipeline</a:t>
            </a:r>
          </a:p>
        </p:txBody>
      </p:sp>
      <p:sp>
        <p:nvSpPr>
          <p:cNvPr id="23" name="example_2_body_0"/>
          <p:cNvSpPr txBox="1"/>
          <p:nvPr/>
        </p:nvSpPr>
        <p:spPr>
          <a:xfrm>
            <a:off x="8778240" y="1993391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Pipeline Example</a:t>
            </a:r>
          </a:p>
        </p:txBody>
      </p:sp>
      <p:sp>
        <p:nvSpPr>
          <p:cNvPr id="24" name="example_2_body_1"/>
          <p:cNvSpPr txBox="1"/>
          <p:nvPr/>
        </p:nvSpPr>
        <p:spPr>
          <a:xfrm>
            <a:off x="8778240" y="2377439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3 headings · 186 chars</a:t>
            </a:r>
          </a:p>
        </p:txBody>
      </p:sp>
      <p:sp>
        <p:nvSpPr>
          <p:cNvPr id="25" name="example_3_icon_doc"/>
          <p:cNvSpPr/>
          <p:nvPr/>
        </p:nvSpPr>
        <p:spPr>
          <a:xfrm>
            <a:off x="822959" y="3575304"/>
            <a:ext cx="285292" cy="368503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xample_3_icon_line_0"/>
          <p:cNvSpPr/>
          <p:nvPr/>
        </p:nvSpPr>
        <p:spPr>
          <a:xfrm>
            <a:off x="894283" y="3670401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xample_3_icon_line_1"/>
          <p:cNvSpPr/>
          <p:nvPr/>
        </p:nvSpPr>
        <p:spPr>
          <a:xfrm>
            <a:off x="894283" y="3747668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xample_3_icon_line_2"/>
          <p:cNvSpPr/>
          <p:nvPr/>
        </p:nvSpPr>
        <p:spPr>
          <a:xfrm>
            <a:off x="894283" y="3824935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xample_3_title"/>
          <p:cNvSpPr txBox="1"/>
          <p:nvPr/>
        </p:nvSpPr>
        <p:spPr>
          <a:xfrm>
            <a:off x="1463040" y="3593592"/>
            <a:ext cx="216712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7C3AED"/>
                </a:solidFill>
              </a:rPr>
              <a:t>Diagram</a:t>
            </a:r>
          </a:p>
        </p:txBody>
      </p:sp>
      <p:sp>
        <p:nvSpPr>
          <p:cNvPr id="30" name="example_3_body_0"/>
          <p:cNvSpPr txBox="1"/>
          <p:nvPr/>
        </p:nvSpPr>
        <p:spPr>
          <a:xfrm>
            <a:off x="1463040" y="4050791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Diagram Arrangement Examples</a:t>
            </a:r>
          </a:p>
        </p:txBody>
      </p:sp>
      <p:sp>
        <p:nvSpPr>
          <p:cNvPr id="31" name="example_3_body_1"/>
          <p:cNvSpPr txBox="1"/>
          <p:nvPr/>
        </p:nvSpPr>
        <p:spPr>
          <a:xfrm>
            <a:off x="1463040" y="4434840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6 headings · 457 chars</a:t>
            </a:r>
          </a:p>
        </p:txBody>
      </p:sp>
      <p:sp>
        <p:nvSpPr>
          <p:cNvPr id="32" name="example_4_icon_doc"/>
          <p:cNvSpPr/>
          <p:nvPr/>
        </p:nvSpPr>
        <p:spPr>
          <a:xfrm>
            <a:off x="4480559" y="3575304"/>
            <a:ext cx="285292" cy="368503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xample_4_icon_line_0"/>
          <p:cNvSpPr/>
          <p:nvPr/>
        </p:nvSpPr>
        <p:spPr>
          <a:xfrm>
            <a:off x="4551883" y="3670401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xample_4_icon_line_1"/>
          <p:cNvSpPr/>
          <p:nvPr/>
        </p:nvSpPr>
        <p:spPr>
          <a:xfrm>
            <a:off x="4551883" y="3747668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xample_4_icon_line_2"/>
          <p:cNvSpPr/>
          <p:nvPr/>
        </p:nvSpPr>
        <p:spPr>
          <a:xfrm>
            <a:off x="4551883" y="3824935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xample_4_title"/>
          <p:cNvSpPr txBox="1"/>
          <p:nvPr/>
        </p:nvSpPr>
        <p:spPr>
          <a:xfrm>
            <a:off x="5120640" y="3593592"/>
            <a:ext cx="216712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0F766E"/>
                </a:solidFill>
              </a:rPr>
              <a:t>Five Methods</a:t>
            </a:r>
          </a:p>
        </p:txBody>
      </p:sp>
      <p:sp>
        <p:nvSpPr>
          <p:cNvPr id="37" name="example_4_body_0"/>
          <p:cNvSpPr txBox="1"/>
          <p:nvPr/>
        </p:nvSpPr>
        <p:spPr>
          <a:xfrm>
            <a:off x="5120640" y="4050791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Five-Item Layout Example</a:t>
            </a:r>
          </a:p>
        </p:txBody>
      </p:sp>
      <p:sp>
        <p:nvSpPr>
          <p:cNvPr id="38" name="example_4_body_1"/>
          <p:cNvSpPr txBox="1"/>
          <p:nvPr/>
        </p:nvSpPr>
        <p:spPr>
          <a:xfrm>
            <a:off x="5120640" y="4434840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2 headings · 200 chars</a:t>
            </a:r>
          </a:p>
        </p:txBody>
      </p:sp>
      <p:sp>
        <p:nvSpPr>
          <p:cNvPr id="39" name="example_5_icon_doc"/>
          <p:cNvSpPr/>
          <p:nvPr/>
        </p:nvSpPr>
        <p:spPr>
          <a:xfrm>
            <a:off x="8138160" y="3575304"/>
            <a:ext cx="285292" cy="368503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xample_5_icon_line_0"/>
          <p:cNvSpPr/>
          <p:nvPr/>
        </p:nvSpPr>
        <p:spPr>
          <a:xfrm>
            <a:off x="8209483" y="3670401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xample_5_icon_line_1"/>
          <p:cNvSpPr/>
          <p:nvPr/>
        </p:nvSpPr>
        <p:spPr>
          <a:xfrm>
            <a:off x="8209483" y="3747668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xample_5_icon_line_2"/>
          <p:cNvSpPr/>
          <p:nvPr/>
        </p:nvSpPr>
        <p:spPr>
          <a:xfrm>
            <a:off x="8209483" y="3824935"/>
            <a:ext cx="148590" cy="20802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xample_5_title"/>
          <p:cNvSpPr txBox="1"/>
          <p:nvPr/>
        </p:nvSpPr>
        <p:spPr>
          <a:xfrm>
            <a:off x="8778240" y="3593592"/>
            <a:ext cx="216712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7C3AED"/>
                </a:solidFill>
              </a:rPr>
              <a:t>Theme Preview</a:t>
            </a:r>
          </a:p>
        </p:txBody>
      </p:sp>
      <p:sp>
        <p:nvSpPr>
          <p:cNvPr id="44" name="example_5_body_0"/>
          <p:cNvSpPr txBox="1"/>
          <p:nvPr/>
        </p:nvSpPr>
        <p:spPr>
          <a:xfrm>
            <a:off x="8778240" y="4050791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MDPR Design Grammar</a:t>
            </a:r>
          </a:p>
        </p:txBody>
      </p:sp>
      <p:sp>
        <p:nvSpPr>
          <p:cNvPr id="45" name="example_5_body_1"/>
          <p:cNvSpPr txBox="1"/>
          <p:nvPr/>
        </p:nvSpPr>
        <p:spPr>
          <a:xfrm>
            <a:off x="8778240" y="4434840"/>
            <a:ext cx="21671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16 headings · 5,034 chars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z00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594360" y="384048"/>
            <a:ext cx="108813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Corpus shape is evidence, not a second renderer</a:t>
            </a:r>
          </a:p>
        </p:txBody>
      </p:sp>
      <p:graphicFrame>
        <p:nvGraphicFramePr>
          <p:cNvPr id="4" name="native_heading_chart"/>
          <p:cNvGraphicFramePr>
            <a:graphicFrameLocks noGrp="1"/>
          </p:cNvGraphicFramePr>
          <p:nvPr/>
        </p:nvGraphicFramePr>
        <p:xfrm>
          <a:off x="841248" y="1600200"/>
          <a:ext cx="489204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63640" y="1664208"/>
          <a:ext cx="470916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7290"/>
                <a:gridCol w="1177290"/>
                <a:gridCol w="1177290"/>
                <a:gridCol w="1177290"/>
              </a:tblGrid>
              <a:tr h="69723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11827"/>
                          </a:solidFill>
                        </a:rPr>
                        <a:t>Group</a:t>
                      </a:r>
                    </a:p>
                  </a:txBody>
                  <a:tcPr>
                    <a:solidFill>
                      <a:srgbClr val="EA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11827"/>
                          </a:solidFill>
                        </a:rPr>
                        <a:t>Files</a:t>
                      </a:r>
                    </a:p>
                  </a:txBody>
                  <a:tcPr>
                    <a:solidFill>
                      <a:srgbClr val="EA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11827"/>
                          </a:solidFill>
                        </a:rPr>
                        <a:t>Headings</a:t>
                      </a:r>
                    </a:p>
                  </a:txBody>
                  <a:tcPr>
                    <a:solidFill>
                      <a:srgbClr val="EA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11827"/>
                          </a:solidFill>
                        </a:rPr>
                        <a:t>Chars</a:t>
                      </a:r>
                    </a:p>
                  </a:txBody>
                  <a:tcPr>
                    <a:solidFill>
                      <a:srgbClr val="EAF7F3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Docs + ADR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130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73,156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Examples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7,439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Root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827"/>
                          </a:solidFill>
                        </a:rPr>
                        <a:t>23,757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z00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solidFill>
              <a:srgbClr val="F7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594360" y="384048"/>
            <a:ext cx="108813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Suggestions stop before geometry</a:t>
            </a:r>
          </a:p>
        </p:txBody>
      </p:sp>
      <p:sp>
        <p:nvSpPr>
          <p:cNvPr id="4" name="suggestion_heading"/>
          <p:cNvSpPr txBox="1"/>
          <p:nvPr/>
        </p:nvSpPr>
        <p:spPr>
          <a:xfrm>
            <a:off x="804672" y="1417320"/>
            <a:ext cx="4800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000" b="1">
                <a:solidFill>
                  <a:srgbClr val="7C3AED"/>
                </a:solidFill>
              </a:rPr>
              <a:t>mdpr-skill may suggest</a:t>
            </a:r>
          </a:p>
        </p:txBody>
      </p:sp>
      <p:sp>
        <p:nvSpPr>
          <p:cNvPr id="5" name="suggestion_0_mark"/>
          <p:cNvSpPr/>
          <p:nvPr/>
        </p:nvSpPr>
        <p:spPr>
          <a:xfrm>
            <a:off x="822960" y="2103120"/>
            <a:ext cx="164592" cy="53035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uggestion_0_label"/>
          <p:cNvSpPr txBox="1"/>
          <p:nvPr/>
        </p:nvSpPr>
        <p:spPr>
          <a:xfrm>
            <a:off x="1170432" y="2057400"/>
            <a:ext cx="1143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1">
                <a:solidFill>
                  <a:srgbClr val="111827"/>
                </a:solidFill>
              </a:rPr>
              <a:t>PLACEMENT</a:t>
            </a:r>
          </a:p>
        </p:txBody>
      </p:sp>
      <p:sp>
        <p:nvSpPr>
          <p:cNvPr id="7" name="suggestion_0_body"/>
          <p:cNvSpPr txBox="1"/>
          <p:nvPr/>
        </p:nvSpPr>
        <p:spPr>
          <a:xfrm>
            <a:off x="2359152" y="2039112"/>
            <a:ext cx="32461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Reserve an aside or corner region.</a:t>
            </a:r>
          </a:p>
        </p:txBody>
      </p:sp>
      <p:sp>
        <p:nvSpPr>
          <p:cNvPr id="8" name="suggestion_1_mark"/>
          <p:cNvSpPr/>
          <p:nvPr/>
        </p:nvSpPr>
        <p:spPr>
          <a:xfrm>
            <a:off x="822960" y="3182111"/>
            <a:ext cx="164592" cy="53035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uggestion_1_label"/>
          <p:cNvSpPr txBox="1"/>
          <p:nvPr/>
        </p:nvSpPr>
        <p:spPr>
          <a:xfrm>
            <a:off x="1170432" y="3136391"/>
            <a:ext cx="1143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1">
                <a:solidFill>
                  <a:srgbClr val="111827"/>
                </a:solidFill>
              </a:rPr>
              <a:t>SOURCE</a:t>
            </a:r>
          </a:p>
        </p:txBody>
      </p:sp>
      <p:sp>
        <p:nvSpPr>
          <p:cNvPr id="10" name="suggestion_1_body"/>
          <p:cNvSpPr txBox="1"/>
          <p:nvPr/>
        </p:nvSpPr>
        <p:spPr>
          <a:xfrm>
            <a:off x="2359152" y="3118103"/>
            <a:ext cx="32461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Use one licensed monochrome icon.</a:t>
            </a:r>
          </a:p>
        </p:txBody>
      </p:sp>
      <p:sp>
        <p:nvSpPr>
          <p:cNvPr id="11" name="suggestion_2_mark"/>
          <p:cNvSpPr/>
          <p:nvPr/>
        </p:nvSpPr>
        <p:spPr>
          <a:xfrm>
            <a:off x="822960" y="4261103"/>
            <a:ext cx="164592" cy="53035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uggestion_2_label"/>
          <p:cNvSpPr txBox="1"/>
          <p:nvPr/>
        </p:nvSpPr>
        <p:spPr>
          <a:xfrm>
            <a:off x="1170432" y="4215383"/>
            <a:ext cx="1143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1">
                <a:solidFill>
                  <a:srgbClr val="111827"/>
                </a:solidFill>
              </a:rPr>
              <a:t>CHECK</a:t>
            </a:r>
          </a:p>
        </p:txBody>
      </p:sp>
      <p:sp>
        <p:nvSpPr>
          <p:cNvPr id="13" name="suggestion_2_body"/>
          <p:cNvSpPr txBox="1"/>
          <p:nvPr/>
        </p:nvSpPr>
        <p:spPr>
          <a:xfrm>
            <a:off x="2359152" y="4197096"/>
            <a:ext cx="32461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Compare visual center with the text midpoint.</a:t>
            </a:r>
          </a:p>
        </p:txBody>
      </p:sp>
      <p:sp>
        <p:nvSpPr>
          <p:cNvPr id="14" name="runtime_field"/>
          <p:cNvSpPr/>
          <p:nvPr/>
        </p:nvSpPr>
        <p:spPr>
          <a:xfrm>
            <a:off x="6144768" y="1298448"/>
            <a:ext cx="5394960" cy="4526280"/>
          </a:xfrm>
          <a:prstGeom prst="rect">
            <a:avLst/>
          </a:prstGeom>
          <a:solidFill>
            <a:srgbClr val="EAF7F3"/>
          </a:solidFill>
          <a:ln>
            <a:solidFill>
              <a:srgbClr val="EAF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untime_heading"/>
          <p:cNvSpPr txBox="1"/>
          <p:nvPr/>
        </p:nvSpPr>
        <p:spPr>
          <a:xfrm>
            <a:off x="6565392" y="1417320"/>
            <a:ext cx="4434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000" b="1">
                <a:solidFill>
                  <a:srgbClr val="0F766E"/>
                </a:solidFill>
              </a:rPr>
              <a:t>MDPR still decides</a:t>
            </a:r>
          </a:p>
        </p:txBody>
      </p:sp>
      <p:sp>
        <p:nvSpPr>
          <p:cNvPr id="16" name="decision_0_num"/>
          <p:cNvSpPr txBox="1"/>
          <p:nvPr/>
        </p:nvSpPr>
        <p:spPr>
          <a:xfrm>
            <a:off x="6565392" y="2029968"/>
            <a:ext cx="5303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0F766E"/>
                </a:solidFill>
              </a:rPr>
              <a:t>01</a:t>
            </a:r>
          </a:p>
        </p:txBody>
      </p:sp>
      <p:sp>
        <p:nvSpPr>
          <p:cNvPr id="17" name="decision_0_title"/>
          <p:cNvSpPr txBox="1"/>
          <p:nvPr/>
        </p:nvSpPr>
        <p:spPr>
          <a:xfrm>
            <a:off x="7242048" y="2029968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111827"/>
                </a:solidFill>
              </a:rPr>
              <a:t>Exact geometry</a:t>
            </a:r>
          </a:p>
        </p:txBody>
      </p:sp>
      <p:sp>
        <p:nvSpPr>
          <p:cNvPr id="18" name="decision_0_body"/>
          <p:cNvSpPr txBox="1"/>
          <p:nvPr/>
        </p:nvSpPr>
        <p:spPr>
          <a:xfrm>
            <a:off x="7242048" y="2414016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regions and coordinates</a:t>
            </a:r>
          </a:p>
        </p:txBody>
      </p:sp>
      <p:sp>
        <p:nvSpPr>
          <p:cNvPr id="19" name="decision_1_num"/>
          <p:cNvSpPr txBox="1"/>
          <p:nvPr/>
        </p:nvSpPr>
        <p:spPr>
          <a:xfrm>
            <a:off x="6565392" y="3127248"/>
            <a:ext cx="5303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0F766E"/>
                </a:solidFill>
              </a:rPr>
              <a:t>02</a:t>
            </a:r>
          </a:p>
        </p:txBody>
      </p:sp>
      <p:sp>
        <p:nvSpPr>
          <p:cNvPr id="20" name="decision_1_title"/>
          <p:cNvSpPr txBox="1"/>
          <p:nvPr/>
        </p:nvSpPr>
        <p:spPr>
          <a:xfrm>
            <a:off x="7242048" y="3127248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111827"/>
                </a:solidFill>
              </a:rPr>
              <a:t>Typography</a:t>
            </a:r>
          </a:p>
        </p:txBody>
      </p:sp>
      <p:sp>
        <p:nvSpPr>
          <p:cNvPr id="21" name="decision_1_body"/>
          <p:cNvSpPr txBox="1"/>
          <p:nvPr/>
        </p:nvSpPr>
        <p:spPr>
          <a:xfrm>
            <a:off x="7242048" y="3511296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font family, size, and wrapping</a:t>
            </a:r>
          </a:p>
        </p:txBody>
      </p:sp>
      <p:sp>
        <p:nvSpPr>
          <p:cNvPr id="22" name="decision_2_num"/>
          <p:cNvSpPr txBox="1"/>
          <p:nvPr/>
        </p:nvSpPr>
        <p:spPr>
          <a:xfrm>
            <a:off x="6565392" y="4224528"/>
            <a:ext cx="5303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0F766E"/>
                </a:solidFill>
              </a:rPr>
              <a:t>03</a:t>
            </a:r>
          </a:p>
        </p:txBody>
      </p:sp>
      <p:sp>
        <p:nvSpPr>
          <p:cNvPr id="23" name="decision_2_title"/>
          <p:cNvSpPr txBox="1"/>
          <p:nvPr/>
        </p:nvSpPr>
        <p:spPr>
          <a:xfrm>
            <a:off x="7242048" y="4224528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>
                <a:solidFill>
                  <a:srgbClr val="111827"/>
                </a:solidFill>
              </a:rPr>
              <a:t>Pass or fail</a:t>
            </a:r>
          </a:p>
        </p:txBody>
      </p:sp>
      <p:sp>
        <p:nvSpPr>
          <p:cNvPr id="24" name="decision_2_body"/>
          <p:cNvSpPr txBox="1"/>
          <p:nvPr/>
        </p:nvSpPr>
        <p:spPr>
          <a:xfrm>
            <a:off x="7242048" y="4608576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0">
                <a:solidFill>
                  <a:srgbClr val="5F6B7A"/>
                </a:solidFill>
              </a:rPr>
              <a:t>deterministic validation result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