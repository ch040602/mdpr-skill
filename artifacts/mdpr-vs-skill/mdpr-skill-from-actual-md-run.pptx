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Headings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Docs</c:v>
                </c:pt>
                <c:pt idx="1">
                  <c:v>Examples</c:v>
                </c:pt>
                <c:pt idx="2">
                  <c:v>Root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126</c:v>
                </c:pt>
                <c:pt idx="1">
                  <c:v>41</c:v>
                </c:pt>
                <c:pt idx="2">
                  <c:v>13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FROM ACTUAL MDPR RUN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Actual Markdown Run -&gt; Skill Result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The skill deck is generated after MDPR has built a real PPTX from the shared Markdown corpus.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ctual_source_card"/>
          <p:cNvSpPr/>
          <p:nvPr/>
        </p:nvSpPr>
        <p:spPr>
          <a:xfrm>
            <a:off x="685800" y="1417320"/>
            <a:ext cx="333756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tual_source_icon_doc"/>
          <p:cNvSpPr/>
          <p:nvPr/>
        </p:nvSpPr>
        <p:spPr>
          <a:xfrm>
            <a:off x="850392" y="158191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ctual_source_icon_line_0"/>
          <p:cNvSpPr/>
          <p:nvPr/>
        </p:nvSpPr>
        <p:spPr>
          <a:xfrm>
            <a:off x="921715" y="167700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ctual_source_icon_line_1"/>
          <p:cNvSpPr/>
          <p:nvPr/>
        </p:nvSpPr>
        <p:spPr>
          <a:xfrm>
            <a:off x="921715" y="175427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ctual_source_icon_line_2"/>
          <p:cNvSpPr/>
          <p:nvPr/>
        </p:nvSpPr>
        <p:spPr>
          <a:xfrm>
            <a:off x="921715" y="183154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ctual_source_title"/>
          <p:cNvSpPr txBox="1"/>
          <p:nvPr/>
        </p:nvSpPr>
        <p:spPr>
          <a:xfrm>
            <a:off x="1490472" y="1618488"/>
            <a:ext cx="23500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1. Real Markdown input</a:t>
            </a:r>
          </a:p>
        </p:txBody>
      </p:sp>
      <p:sp>
        <p:nvSpPr>
          <p:cNvPr id="13" name="actual_source_body_0"/>
          <p:cNvSpPr txBox="1"/>
          <p:nvPr/>
        </p:nvSpPr>
        <p:spPr>
          <a:xfrm>
            <a:off x="1490472" y="1993392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21 files from .cache/mdpr</a:t>
            </a:r>
          </a:p>
        </p:txBody>
      </p:sp>
      <p:sp>
        <p:nvSpPr>
          <p:cNvPr id="14" name="actual_source_body_1"/>
          <p:cNvSpPr txBox="1"/>
          <p:nvPr/>
        </p:nvSpPr>
        <p:spPr>
          <a:xfrm>
            <a:off x="1490472" y="2286000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180 headings</a:t>
            </a:r>
          </a:p>
        </p:txBody>
      </p:sp>
      <p:sp>
        <p:nvSpPr>
          <p:cNvPr id="15" name="actual_source_body_2"/>
          <p:cNvSpPr txBox="1"/>
          <p:nvPr/>
        </p:nvSpPr>
        <p:spPr>
          <a:xfrm>
            <a:off x="1490472" y="2578608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70,768 chars</a:t>
            </a:r>
          </a:p>
        </p:txBody>
      </p:sp>
      <p:sp>
        <p:nvSpPr>
          <p:cNvPr id="16" name="actual_mdpr_card"/>
          <p:cNvSpPr/>
          <p:nvPr/>
        </p:nvSpPr>
        <p:spPr>
          <a:xfrm>
            <a:off x="4434840" y="1417320"/>
            <a:ext cx="333756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ctual_mdpr_icon_node_0"/>
          <p:cNvSpPr/>
          <p:nvPr/>
        </p:nvSpPr>
        <p:spPr>
          <a:xfrm>
            <a:off x="4599431" y="174833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tual_mdpr_icon_node_1"/>
          <p:cNvSpPr/>
          <p:nvPr/>
        </p:nvSpPr>
        <p:spPr>
          <a:xfrm>
            <a:off x="4825288" y="174833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ctual_mdpr_icon_node_2"/>
          <p:cNvSpPr/>
          <p:nvPr/>
        </p:nvSpPr>
        <p:spPr>
          <a:xfrm>
            <a:off x="5051145" y="174833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ctual_mdpr_icon_line_0"/>
          <p:cNvSpPr/>
          <p:nvPr/>
        </p:nvSpPr>
        <p:spPr>
          <a:xfrm>
            <a:off x="4700473" y="179588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ctual_mdpr_icon_line_1"/>
          <p:cNvSpPr/>
          <p:nvPr/>
        </p:nvSpPr>
        <p:spPr>
          <a:xfrm>
            <a:off x="4926329" y="179588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ctual_mdpr_title"/>
          <p:cNvSpPr txBox="1"/>
          <p:nvPr/>
        </p:nvSpPr>
        <p:spPr>
          <a:xfrm>
            <a:off x="5239512" y="1618488"/>
            <a:ext cx="23500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2. MDPR execution result</a:t>
            </a:r>
          </a:p>
        </p:txBody>
      </p:sp>
      <p:sp>
        <p:nvSpPr>
          <p:cNvPr id="23" name="actual_mdpr_body_0"/>
          <p:cNvSpPr txBox="1"/>
          <p:nvPr/>
        </p:nvSpPr>
        <p:spPr>
          <a:xfrm>
            <a:off x="5239512" y="1993392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46 slides</a:t>
            </a:r>
          </a:p>
        </p:txBody>
      </p:sp>
      <p:sp>
        <p:nvSpPr>
          <p:cNvPr id="24" name="actual_mdpr_body_1"/>
          <p:cNvSpPr txBox="1"/>
          <p:nvPr/>
        </p:nvSpPr>
        <p:spPr>
          <a:xfrm>
            <a:off x="5239512" y="2286000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648 editable text frames</a:t>
            </a:r>
          </a:p>
        </p:txBody>
      </p:sp>
      <p:sp>
        <p:nvSpPr>
          <p:cNvPr id="25" name="actual_mdpr_body_2"/>
          <p:cNvSpPr txBox="1"/>
          <p:nvPr/>
        </p:nvSpPr>
        <p:spPr>
          <a:xfrm>
            <a:off x="5239512" y="2578608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3 tables, 0 charts</a:t>
            </a:r>
          </a:p>
        </p:txBody>
      </p:sp>
      <p:sp>
        <p:nvSpPr>
          <p:cNvPr id="26" name="actual_skill_card"/>
          <p:cNvSpPr/>
          <p:nvPr/>
        </p:nvSpPr>
        <p:spPr>
          <a:xfrm>
            <a:off x="8183879" y="1417320"/>
            <a:ext cx="333756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ctual_skill_icon_v"/>
          <p:cNvSpPr/>
          <p:nvPr/>
        </p:nvSpPr>
        <p:spPr>
          <a:xfrm>
            <a:off x="8491118" y="1581912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ctual_skill_icon_h"/>
          <p:cNvSpPr/>
          <p:nvPr/>
        </p:nvSpPr>
        <p:spPr>
          <a:xfrm>
            <a:off x="8348471" y="1724558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ctual_skill_icon_dot"/>
          <p:cNvSpPr/>
          <p:nvPr/>
        </p:nvSpPr>
        <p:spPr>
          <a:xfrm>
            <a:off x="8609990" y="1843430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ctual_skill_title"/>
          <p:cNvSpPr txBox="1"/>
          <p:nvPr/>
        </p:nvSpPr>
        <p:spPr>
          <a:xfrm>
            <a:off x="8988552" y="1618488"/>
            <a:ext cx="23500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BE123C"/>
                </a:solidFill>
              </a:rPr>
              <a:t>3. Skill generation</a:t>
            </a:r>
          </a:p>
        </p:txBody>
      </p:sp>
      <p:sp>
        <p:nvSpPr>
          <p:cNvPr id="31" name="actual_skill_body_0"/>
          <p:cNvSpPr txBox="1"/>
          <p:nvPr/>
        </p:nvSpPr>
        <p:spPr>
          <a:xfrm>
            <a:off x="8988552" y="1993392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uses MDPR source metrics</a:t>
            </a:r>
          </a:p>
        </p:txBody>
      </p:sp>
      <p:sp>
        <p:nvSpPr>
          <p:cNvPr id="32" name="actual_skill_body_1"/>
          <p:cNvSpPr txBox="1"/>
          <p:nvPr/>
        </p:nvSpPr>
        <p:spPr>
          <a:xfrm>
            <a:off x="8988552" y="2286000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adds visual rule explanation</a:t>
            </a:r>
          </a:p>
        </p:txBody>
      </p:sp>
      <p:sp>
        <p:nvSpPr>
          <p:cNvPr id="33" name="actual_skill_body_2"/>
          <p:cNvSpPr txBox="1"/>
          <p:nvPr/>
        </p:nvSpPr>
        <p:spPr>
          <a:xfrm>
            <a:off x="8988552" y="2578608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keeps parsing/runtime in MDPR</a:t>
            </a:r>
          </a:p>
        </p:txBody>
      </p:sp>
      <p:sp>
        <p:nvSpPr>
          <p:cNvPr id="34" name="actual_arrow_0"/>
          <p:cNvSpPr/>
          <p:nvPr/>
        </p:nvSpPr>
        <p:spPr>
          <a:xfrm>
            <a:off x="4041648" y="196596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actual_arrow_1"/>
          <p:cNvSpPr/>
          <p:nvPr/>
        </p:nvSpPr>
        <p:spPr>
          <a:xfrm>
            <a:off x="7790688" y="196596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actual_boundary"/>
          <p:cNvSpPr/>
          <p:nvPr/>
        </p:nvSpPr>
        <p:spPr>
          <a:xfrm>
            <a:off x="777240" y="3520440"/>
            <a:ext cx="10561320" cy="146304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ctual_boundary_title"/>
          <p:cNvSpPr txBox="1"/>
          <p:nvPr/>
        </p:nvSpPr>
        <p:spPr>
          <a:xfrm>
            <a:off x="1024128" y="3767328"/>
            <a:ext cx="28346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Recorded boundary</a:t>
            </a:r>
          </a:p>
        </p:txBody>
      </p:sp>
      <p:sp>
        <p:nvSpPr>
          <p:cNvPr id="38" name="actual_boundary_body"/>
          <p:cNvSpPr txBox="1"/>
          <p:nvPr/>
        </p:nvSpPr>
        <p:spPr>
          <a:xfrm>
            <a:off x="1024128" y="4160520"/>
            <a:ext cx="9738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>
                <a:solidFill>
                  <a:srgbClr val="5F6B7A"/>
                </a:solidFill>
              </a:rPr>
              <a:t>MDPR creates the actual presentation output from Markdown first. mdpr-skill then produces a compact explanatory/validation PPTX from that concrete run, source manifest, and metrics.</a:t>
            </a:r>
          </a:p>
        </p:txBody>
      </p:sp>
      <p:sp>
        <p:nvSpPr>
          <p:cNvPr id="39" name="actual_file_note"/>
          <p:cNvSpPr txBox="1"/>
          <p:nvPr/>
        </p:nvSpPr>
        <p:spPr>
          <a:xfrm>
            <a:off x="1024128" y="5440680"/>
            <a:ext cx="9738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Input artifact: artifacts\mdpr-vs-skill\mdpr-source-corpus.md  |  MDPR PPTX: artifacts\mdpr-vs-skill\mdpr-baseline-result.pptx  |  Skill PPTX: artifacts\mdpr-vs-skill\mdpr-skill-from-actual-md-run.pptx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MDPR vs Current Skill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Same Markdown corpus, different responsibility boundary and output behavior.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" y="1481328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  <a:gridCol w="5440680"/>
              </a:tblGrid>
              <a:tr h="624839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MDPR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Current skill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Core role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Markdown -&gt; Presentation IR -&gt; PPTX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Visual decisions after MDPR structure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Parser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Built-in or Pandoc mode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No Markdown parsing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Design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Theme/preset oriented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Recipe, variant, icon, infographic rules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Build and overflow checks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Render comparison, z-order, coherence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PPTX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Editable baseline objects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Editable styled objects with richer variety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MDPR Markdown Corpus Coverage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Docs, ADR, README files, and example decks are used as the shared input basis.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oup_0_card"/>
          <p:cNvSpPr/>
          <p:nvPr/>
        </p:nvSpPr>
        <p:spPr>
          <a:xfrm>
            <a:off x="658368" y="1481328"/>
            <a:ext cx="2423160" cy="34747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oup_0_num"/>
          <p:cNvSpPr txBox="1"/>
          <p:nvPr/>
        </p:nvSpPr>
        <p:spPr>
          <a:xfrm>
            <a:off x="859536" y="1737360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0F766E"/>
                </a:solidFill>
              </a:rPr>
              <a:t>13</a:t>
            </a:r>
          </a:p>
        </p:txBody>
      </p:sp>
      <p:sp>
        <p:nvSpPr>
          <p:cNvPr id="9" name="group_0_label"/>
          <p:cNvSpPr txBox="1"/>
          <p:nvPr/>
        </p:nvSpPr>
        <p:spPr>
          <a:xfrm>
            <a:off x="877824" y="230428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11827"/>
                </a:solidFill>
              </a:rPr>
              <a:t>Docs</a:t>
            </a:r>
          </a:p>
        </p:txBody>
      </p:sp>
      <p:sp>
        <p:nvSpPr>
          <p:cNvPr id="10" name="group_0_chars"/>
          <p:cNvSpPr txBox="1"/>
          <p:nvPr/>
        </p:nvSpPr>
        <p:spPr>
          <a:xfrm>
            <a:off x="877824" y="2651760"/>
            <a:ext cx="17373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>
                <a:solidFill>
                  <a:srgbClr val="5F6B7A"/>
                </a:solidFill>
              </a:rPr>
              <a:t>47,619 chars</a:t>
            </a:r>
          </a:p>
        </p:txBody>
      </p:sp>
      <p:sp>
        <p:nvSpPr>
          <p:cNvPr id="11" name="group_0_item_0"/>
          <p:cNvSpPr txBox="1"/>
          <p:nvPr/>
        </p:nvSpPr>
        <p:spPr>
          <a:xfrm>
            <a:off x="877824" y="3035808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00-product-definition.md</a:t>
            </a:r>
          </a:p>
        </p:txBody>
      </p:sp>
      <p:sp>
        <p:nvSpPr>
          <p:cNvPr id="12" name="group_0_item_1"/>
          <p:cNvSpPr txBox="1"/>
          <p:nvPr/>
        </p:nvSpPr>
        <p:spPr>
          <a:xfrm>
            <a:off x="877824" y="3319272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01-architecture.md</a:t>
            </a:r>
          </a:p>
        </p:txBody>
      </p:sp>
      <p:sp>
        <p:nvSpPr>
          <p:cNvPr id="13" name="group_0_item_2"/>
          <p:cNvSpPr txBox="1"/>
          <p:nvPr/>
        </p:nvSpPr>
        <p:spPr>
          <a:xfrm>
            <a:off x="877824" y="3602736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02-requirements.md</a:t>
            </a:r>
          </a:p>
        </p:txBody>
      </p:sp>
      <p:sp>
        <p:nvSpPr>
          <p:cNvPr id="14" name="group_0_item_3"/>
          <p:cNvSpPr txBox="1"/>
          <p:nvPr/>
        </p:nvSpPr>
        <p:spPr>
          <a:xfrm>
            <a:off x="877824" y="3886200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03-page-splitting.md</a:t>
            </a:r>
          </a:p>
        </p:txBody>
      </p:sp>
      <p:sp>
        <p:nvSpPr>
          <p:cNvPr id="15" name="group_0_item_4"/>
          <p:cNvSpPr txBox="1"/>
          <p:nvPr/>
        </p:nvSpPr>
        <p:spPr>
          <a:xfrm>
            <a:off x="877824" y="4169663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04-layout-rules.md</a:t>
            </a:r>
          </a:p>
        </p:txBody>
      </p:sp>
      <p:sp>
        <p:nvSpPr>
          <p:cNvPr id="16" name="group_1_card"/>
          <p:cNvSpPr/>
          <p:nvPr/>
        </p:nvSpPr>
        <p:spPr>
          <a:xfrm>
            <a:off x="3447287" y="1481328"/>
            <a:ext cx="2423160" cy="34747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oup_1_num"/>
          <p:cNvSpPr txBox="1"/>
          <p:nvPr/>
        </p:nvSpPr>
        <p:spPr>
          <a:xfrm>
            <a:off x="3648456" y="1737360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6</a:t>
            </a:r>
          </a:p>
        </p:txBody>
      </p:sp>
      <p:sp>
        <p:nvSpPr>
          <p:cNvPr id="18" name="group_1_label"/>
          <p:cNvSpPr txBox="1"/>
          <p:nvPr/>
        </p:nvSpPr>
        <p:spPr>
          <a:xfrm>
            <a:off x="3666744" y="230428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11827"/>
                </a:solidFill>
              </a:rPr>
              <a:t>Examples</a:t>
            </a:r>
          </a:p>
        </p:txBody>
      </p:sp>
      <p:sp>
        <p:nvSpPr>
          <p:cNvPr id="19" name="group_1_chars"/>
          <p:cNvSpPr txBox="1"/>
          <p:nvPr/>
        </p:nvSpPr>
        <p:spPr>
          <a:xfrm>
            <a:off x="3666744" y="2651760"/>
            <a:ext cx="17373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>
                <a:solidFill>
                  <a:srgbClr val="5F6B7A"/>
                </a:solidFill>
              </a:rPr>
              <a:t>7,310 chars</a:t>
            </a:r>
          </a:p>
        </p:txBody>
      </p:sp>
      <p:sp>
        <p:nvSpPr>
          <p:cNvPr id="20" name="group_1_item_0"/>
          <p:cNvSpPr txBox="1"/>
          <p:nvPr/>
        </p:nvSpPr>
        <p:spPr>
          <a:xfrm>
            <a:off x="3666744" y="3035808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examples/basic/deck.md</a:t>
            </a:r>
          </a:p>
        </p:txBody>
      </p:sp>
      <p:sp>
        <p:nvSpPr>
          <p:cNvPr id="21" name="group_1_item_1"/>
          <p:cNvSpPr txBox="1"/>
          <p:nvPr/>
        </p:nvSpPr>
        <p:spPr>
          <a:xfrm>
            <a:off x="3666744" y="3319272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examples/comparison/deck.md</a:t>
            </a:r>
          </a:p>
        </p:txBody>
      </p:sp>
      <p:sp>
        <p:nvSpPr>
          <p:cNvPr id="22" name="group_1_item_2"/>
          <p:cNvSpPr txBox="1"/>
          <p:nvPr/>
        </p:nvSpPr>
        <p:spPr>
          <a:xfrm>
            <a:off x="3666744" y="3602736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examples/pipeline/deck.md</a:t>
            </a:r>
          </a:p>
        </p:txBody>
      </p:sp>
      <p:sp>
        <p:nvSpPr>
          <p:cNvPr id="23" name="group_1_item_3"/>
          <p:cNvSpPr txBox="1"/>
          <p:nvPr/>
        </p:nvSpPr>
        <p:spPr>
          <a:xfrm>
            <a:off x="3666744" y="3886200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examples/diagram-arrangements/deck.md</a:t>
            </a:r>
          </a:p>
        </p:txBody>
      </p:sp>
      <p:sp>
        <p:nvSpPr>
          <p:cNvPr id="24" name="group_1_item_4"/>
          <p:cNvSpPr txBox="1"/>
          <p:nvPr/>
        </p:nvSpPr>
        <p:spPr>
          <a:xfrm>
            <a:off x="3666744" y="4169663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examples/five-methods/deck.md</a:t>
            </a:r>
          </a:p>
        </p:txBody>
      </p:sp>
      <p:sp>
        <p:nvSpPr>
          <p:cNvPr id="25" name="group_2_card"/>
          <p:cNvSpPr/>
          <p:nvPr/>
        </p:nvSpPr>
        <p:spPr>
          <a:xfrm>
            <a:off x="6236207" y="1481328"/>
            <a:ext cx="2423160" cy="34747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oup_2_num"/>
          <p:cNvSpPr txBox="1"/>
          <p:nvPr/>
        </p:nvSpPr>
        <p:spPr>
          <a:xfrm>
            <a:off x="6437375" y="1737360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7" name="group_2_label"/>
          <p:cNvSpPr txBox="1"/>
          <p:nvPr/>
        </p:nvSpPr>
        <p:spPr>
          <a:xfrm>
            <a:off x="6455664" y="230428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11827"/>
                </a:solidFill>
              </a:rPr>
              <a:t>Root</a:t>
            </a:r>
          </a:p>
        </p:txBody>
      </p:sp>
      <p:sp>
        <p:nvSpPr>
          <p:cNvPr id="28" name="group_2_chars"/>
          <p:cNvSpPr txBox="1"/>
          <p:nvPr/>
        </p:nvSpPr>
        <p:spPr>
          <a:xfrm>
            <a:off x="6455664" y="2651760"/>
            <a:ext cx="17373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>
                <a:solidFill>
                  <a:srgbClr val="5F6B7A"/>
                </a:solidFill>
              </a:rPr>
              <a:t>14,613 chars</a:t>
            </a:r>
          </a:p>
        </p:txBody>
      </p:sp>
      <p:sp>
        <p:nvSpPr>
          <p:cNvPr id="29" name="group_2_item_0"/>
          <p:cNvSpPr txBox="1"/>
          <p:nvPr/>
        </p:nvSpPr>
        <p:spPr>
          <a:xfrm>
            <a:off x="6455664" y="3035808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README.md</a:t>
            </a:r>
          </a:p>
        </p:txBody>
      </p:sp>
      <p:sp>
        <p:nvSpPr>
          <p:cNvPr id="30" name="group_3_card"/>
          <p:cNvSpPr/>
          <p:nvPr/>
        </p:nvSpPr>
        <p:spPr>
          <a:xfrm>
            <a:off x="9025128" y="1481328"/>
            <a:ext cx="2423160" cy="34747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oup_3_num"/>
          <p:cNvSpPr txBox="1"/>
          <p:nvPr/>
        </p:nvSpPr>
        <p:spPr>
          <a:xfrm>
            <a:off x="9226296" y="1737360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32" name="group_3_label"/>
          <p:cNvSpPr txBox="1"/>
          <p:nvPr/>
        </p:nvSpPr>
        <p:spPr>
          <a:xfrm>
            <a:off x="9244584" y="230428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11827"/>
                </a:solidFill>
              </a:rPr>
              <a:t>ADR</a:t>
            </a:r>
          </a:p>
        </p:txBody>
      </p:sp>
      <p:sp>
        <p:nvSpPr>
          <p:cNvPr id="33" name="group_3_chars"/>
          <p:cNvSpPr txBox="1"/>
          <p:nvPr/>
        </p:nvSpPr>
        <p:spPr>
          <a:xfrm>
            <a:off x="9244584" y="2651760"/>
            <a:ext cx="17373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>
                <a:solidFill>
                  <a:srgbClr val="5F6B7A"/>
                </a:solidFill>
              </a:rPr>
              <a:t>1,226 chars</a:t>
            </a:r>
          </a:p>
        </p:txBody>
      </p:sp>
      <p:sp>
        <p:nvSpPr>
          <p:cNvPr id="34" name="group_3_item_0"/>
          <p:cNvSpPr txBox="1"/>
          <p:nvPr/>
        </p:nvSpPr>
        <p:spPr>
          <a:xfrm>
            <a:off x="9244584" y="3035808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adr/0001-presentation-ir-schema-contract.md</a:t>
            </a:r>
          </a:p>
        </p:txBody>
      </p:sp>
      <p:sp>
        <p:nvSpPr>
          <p:cNvPr id="35" name="coverage_band"/>
          <p:cNvSpPr/>
          <p:nvPr/>
        </p:nvSpPr>
        <p:spPr>
          <a:xfrm>
            <a:off x="658368" y="5321808"/>
            <a:ext cx="10789920" cy="530352"/>
          </a:xfrm>
          <a:prstGeom prst="roundRect">
            <a:avLst/>
          </a:prstGeom>
          <a:solidFill>
            <a:srgbClr val="F1F0FA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overage_note"/>
          <p:cNvSpPr txBox="1"/>
          <p:nvPr/>
        </p:nvSpPr>
        <p:spPr>
          <a:xfrm>
            <a:off x="877824" y="5486400"/>
            <a:ext cx="99669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>
                <a:solidFill>
                  <a:srgbClr val="111827"/>
                </a:solidFill>
              </a:rPr>
              <a:t>Total: 21 Markdown files, 180 headings, 70,768 source characters.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Responsibility Pipeline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MDPR owns semantic structure; the skill owns optional design diversification.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ode_0"/>
          <p:cNvSpPr/>
          <p:nvPr/>
        </p:nvSpPr>
        <p:spPr>
          <a:xfrm>
            <a:off x="658368" y="2057400"/>
            <a:ext cx="1335024" cy="9601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ode_0_title"/>
          <p:cNvSpPr txBox="1"/>
          <p:nvPr/>
        </p:nvSpPr>
        <p:spPr>
          <a:xfrm>
            <a:off x="795528" y="2267712"/>
            <a:ext cx="106070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</a:rPr>
              <a:t>Markdown</a:t>
            </a:r>
          </a:p>
        </p:txBody>
      </p:sp>
      <p:sp>
        <p:nvSpPr>
          <p:cNvPr id="9" name="node_0_sub"/>
          <p:cNvSpPr txBox="1"/>
          <p:nvPr/>
        </p:nvSpPr>
        <p:spPr>
          <a:xfrm>
            <a:off x="777240" y="2578608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B7A"/>
                </a:solidFill>
              </a:rPr>
              <a:t>MDPR</a:t>
            </a:r>
          </a:p>
        </p:txBody>
      </p:sp>
      <p:sp>
        <p:nvSpPr>
          <p:cNvPr id="10" name="arrow_0"/>
          <p:cNvSpPr/>
          <p:nvPr/>
        </p:nvSpPr>
        <p:spPr>
          <a:xfrm>
            <a:off x="2011680" y="2359152"/>
            <a:ext cx="402336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ode_1"/>
          <p:cNvSpPr/>
          <p:nvPr/>
        </p:nvSpPr>
        <p:spPr>
          <a:xfrm>
            <a:off x="2514600" y="2057400"/>
            <a:ext cx="1335024" cy="9601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ode_1_title"/>
          <p:cNvSpPr txBox="1"/>
          <p:nvPr/>
        </p:nvSpPr>
        <p:spPr>
          <a:xfrm>
            <a:off x="2651760" y="2267712"/>
            <a:ext cx="106070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</a:rPr>
              <a:t>Parser</a:t>
            </a:r>
          </a:p>
        </p:txBody>
      </p:sp>
      <p:sp>
        <p:nvSpPr>
          <p:cNvPr id="13" name="node_1_sub"/>
          <p:cNvSpPr txBox="1"/>
          <p:nvPr/>
        </p:nvSpPr>
        <p:spPr>
          <a:xfrm>
            <a:off x="2633472" y="2578608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B7A"/>
                </a:solidFill>
              </a:rPr>
              <a:t>simple/pandoc</a:t>
            </a:r>
          </a:p>
        </p:txBody>
      </p:sp>
      <p:sp>
        <p:nvSpPr>
          <p:cNvPr id="14" name="arrow_1"/>
          <p:cNvSpPr/>
          <p:nvPr/>
        </p:nvSpPr>
        <p:spPr>
          <a:xfrm>
            <a:off x="3867912" y="2359152"/>
            <a:ext cx="402336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node_2"/>
          <p:cNvSpPr/>
          <p:nvPr/>
        </p:nvSpPr>
        <p:spPr>
          <a:xfrm>
            <a:off x="4370831" y="2057400"/>
            <a:ext cx="1335024" cy="96012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ode_2_title"/>
          <p:cNvSpPr txBox="1"/>
          <p:nvPr/>
        </p:nvSpPr>
        <p:spPr>
          <a:xfrm>
            <a:off x="4507992" y="2267712"/>
            <a:ext cx="106070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</a:rPr>
              <a:t>Presentation IR</a:t>
            </a:r>
          </a:p>
        </p:txBody>
      </p:sp>
      <p:sp>
        <p:nvSpPr>
          <p:cNvPr id="17" name="node_2_sub"/>
          <p:cNvSpPr txBox="1"/>
          <p:nvPr/>
        </p:nvSpPr>
        <p:spPr>
          <a:xfrm>
            <a:off x="4489703" y="2578608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B7A"/>
                </a:solidFill>
              </a:rPr>
              <a:t>semantic slides</a:t>
            </a:r>
          </a:p>
        </p:txBody>
      </p:sp>
      <p:sp>
        <p:nvSpPr>
          <p:cNvPr id="18" name="arrow_2"/>
          <p:cNvSpPr/>
          <p:nvPr/>
        </p:nvSpPr>
        <p:spPr>
          <a:xfrm>
            <a:off x="5724144" y="2359152"/>
            <a:ext cx="402336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node_3"/>
          <p:cNvSpPr/>
          <p:nvPr/>
        </p:nvSpPr>
        <p:spPr>
          <a:xfrm>
            <a:off x="6227064" y="2057400"/>
            <a:ext cx="1335024" cy="960120"/>
          </a:xfrm>
          <a:prstGeom prst="roundRect">
            <a:avLst/>
          </a:prstGeom>
          <a:solidFill>
            <a:srgbClr val="F1F0FA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ode_3_title"/>
          <p:cNvSpPr txBox="1"/>
          <p:nvPr/>
        </p:nvSpPr>
        <p:spPr>
          <a:xfrm>
            <a:off x="6364224" y="2267712"/>
            <a:ext cx="106070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</a:rPr>
              <a:t>Slide Element IR</a:t>
            </a:r>
          </a:p>
        </p:txBody>
      </p:sp>
      <p:sp>
        <p:nvSpPr>
          <p:cNvPr id="21" name="node_3_sub"/>
          <p:cNvSpPr txBox="1"/>
          <p:nvPr/>
        </p:nvSpPr>
        <p:spPr>
          <a:xfrm>
            <a:off x="6345936" y="2578608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B7A"/>
                </a:solidFill>
              </a:rPr>
              <a:t>content contract</a:t>
            </a:r>
          </a:p>
        </p:txBody>
      </p:sp>
      <p:sp>
        <p:nvSpPr>
          <p:cNvPr id="22" name="arrow_3"/>
          <p:cNvSpPr/>
          <p:nvPr/>
        </p:nvSpPr>
        <p:spPr>
          <a:xfrm>
            <a:off x="7580375" y="2359152"/>
            <a:ext cx="402336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node_4"/>
          <p:cNvSpPr/>
          <p:nvPr/>
        </p:nvSpPr>
        <p:spPr>
          <a:xfrm>
            <a:off x="8083296" y="2057400"/>
            <a:ext cx="1335024" cy="96012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node_4_title"/>
          <p:cNvSpPr txBox="1"/>
          <p:nvPr/>
        </p:nvSpPr>
        <p:spPr>
          <a:xfrm>
            <a:off x="8220456" y="2267712"/>
            <a:ext cx="106070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</a:rPr>
              <a:t>Rule Engine</a:t>
            </a:r>
          </a:p>
        </p:txBody>
      </p:sp>
      <p:sp>
        <p:nvSpPr>
          <p:cNvPr id="25" name="node_4_sub"/>
          <p:cNvSpPr txBox="1"/>
          <p:nvPr/>
        </p:nvSpPr>
        <p:spPr>
          <a:xfrm>
            <a:off x="8202168" y="2578608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B7A"/>
                </a:solidFill>
              </a:rPr>
              <a:t>recipes/variants</a:t>
            </a:r>
          </a:p>
        </p:txBody>
      </p:sp>
      <p:sp>
        <p:nvSpPr>
          <p:cNvPr id="26" name="arrow_4"/>
          <p:cNvSpPr/>
          <p:nvPr/>
        </p:nvSpPr>
        <p:spPr>
          <a:xfrm>
            <a:off x="9436608" y="2359152"/>
            <a:ext cx="402336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node_5"/>
          <p:cNvSpPr/>
          <p:nvPr/>
        </p:nvSpPr>
        <p:spPr>
          <a:xfrm>
            <a:off x="9939528" y="2057400"/>
            <a:ext cx="1335024" cy="9601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node_5_title"/>
          <p:cNvSpPr txBox="1"/>
          <p:nvPr/>
        </p:nvSpPr>
        <p:spPr>
          <a:xfrm>
            <a:off x="10076688" y="2267712"/>
            <a:ext cx="106070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</a:rPr>
              <a:t>Styled PPTX</a:t>
            </a:r>
          </a:p>
        </p:txBody>
      </p:sp>
      <p:sp>
        <p:nvSpPr>
          <p:cNvPr id="29" name="node_5_sub"/>
          <p:cNvSpPr txBox="1"/>
          <p:nvPr/>
        </p:nvSpPr>
        <p:spPr>
          <a:xfrm>
            <a:off x="10058400" y="2578608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B7A"/>
                </a:solidFill>
              </a:rPr>
              <a:t>editable output</a:t>
            </a:r>
          </a:p>
        </p:txBody>
      </p:sp>
      <p:sp>
        <p:nvSpPr>
          <p:cNvPr id="30" name="mdpr_card"/>
          <p:cNvSpPr/>
          <p:nvPr/>
        </p:nvSpPr>
        <p:spPr>
          <a:xfrm>
            <a:off x="749808" y="3858768"/>
            <a:ext cx="4892040" cy="12984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mdpr_icon_doc"/>
          <p:cNvSpPr/>
          <p:nvPr/>
        </p:nvSpPr>
        <p:spPr>
          <a:xfrm>
            <a:off x="914400" y="4023359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mdpr_icon_line_0"/>
          <p:cNvSpPr/>
          <p:nvPr/>
        </p:nvSpPr>
        <p:spPr>
          <a:xfrm>
            <a:off x="985723" y="4118457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mdpr_icon_line_1"/>
          <p:cNvSpPr/>
          <p:nvPr/>
        </p:nvSpPr>
        <p:spPr>
          <a:xfrm>
            <a:off x="985723" y="4195724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mdpr_icon_line_2"/>
          <p:cNvSpPr/>
          <p:nvPr/>
        </p:nvSpPr>
        <p:spPr>
          <a:xfrm>
            <a:off x="985723" y="427299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mdpr_title"/>
          <p:cNvSpPr txBox="1"/>
          <p:nvPr/>
        </p:nvSpPr>
        <p:spPr>
          <a:xfrm>
            <a:off x="1554480" y="4059935"/>
            <a:ext cx="390448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MDPR output</a:t>
            </a:r>
          </a:p>
        </p:txBody>
      </p:sp>
      <p:sp>
        <p:nvSpPr>
          <p:cNvPr id="36" name="mdpr_body_0"/>
          <p:cNvSpPr txBox="1"/>
          <p:nvPr/>
        </p:nvSpPr>
        <p:spPr>
          <a:xfrm>
            <a:off x="1554480" y="4434840"/>
            <a:ext cx="390448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consistent baseline deck</a:t>
            </a:r>
          </a:p>
        </p:txBody>
      </p:sp>
      <p:sp>
        <p:nvSpPr>
          <p:cNvPr id="37" name="mdpr_body_1"/>
          <p:cNvSpPr txBox="1"/>
          <p:nvPr/>
        </p:nvSpPr>
        <p:spPr>
          <a:xfrm>
            <a:off x="1554480" y="4727448"/>
            <a:ext cx="390448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content split and renderer path</a:t>
            </a:r>
          </a:p>
        </p:txBody>
      </p:sp>
      <p:sp>
        <p:nvSpPr>
          <p:cNvPr id="38" name="mdpr_body_2"/>
          <p:cNvSpPr txBox="1"/>
          <p:nvPr/>
        </p:nvSpPr>
        <p:spPr>
          <a:xfrm>
            <a:off x="1554480" y="5020055"/>
            <a:ext cx="390448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theme-preset visual treatment</a:t>
            </a:r>
          </a:p>
        </p:txBody>
      </p:sp>
      <p:sp>
        <p:nvSpPr>
          <p:cNvPr id="39" name="skill_card"/>
          <p:cNvSpPr/>
          <p:nvPr/>
        </p:nvSpPr>
        <p:spPr>
          <a:xfrm>
            <a:off x="6144768" y="3858768"/>
            <a:ext cx="4892040" cy="12984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kill_icon_v"/>
          <p:cNvSpPr/>
          <p:nvPr/>
        </p:nvSpPr>
        <p:spPr>
          <a:xfrm>
            <a:off x="6452006" y="4023359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skill_icon_h"/>
          <p:cNvSpPr/>
          <p:nvPr/>
        </p:nvSpPr>
        <p:spPr>
          <a:xfrm>
            <a:off x="6309359" y="4166006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skill_icon_dot"/>
          <p:cNvSpPr/>
          <p:nvPr/>
        </p:nvSpPr>
        <p:spPr>
          <a:xfrm>
            <a:off x="6570878" y="4284878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skill_title"/>
          <p:cNvSpPr txBox="1"/>
          <p:nvPr/>
        </p:nvSpPr>
        <p:spPr>
          <a:xfrm>
            <a:off x="6949440" y="4059935"/>
            <a:ext cx="390448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Skill output</a:t>
            </a:r>
          </a:p>
        </p:txBody>
      </p:sp>
      <p:sp>
        <p:nvSpPr>
          <p:cNvPr id="44" name="skill_body_0"/>
          <p:cNvSpPr txBox="1"/>
          <p:nvPr/>
        </p:nvSpPr>
        <p:spPr>
          <a:xfrm>
            <a:off x="6949440" y="4434840"/>
            <a:ext cx="390448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recipe selection</a:t>
            </a:r>
          </a:p>
        </p:txBody>
      </p:sp>
      <p:sp>
        <p:nvSpPr>
          <p:cNvPr id="45" name="skill_body_1"/>
          <p:cNvSpPr txBox="1"/>
          <p:nvPr/>
        </p:nvSpPr>
        <p:spPr>
          <a:xfrm>
            <a:off x="6949440" y="4727448"/>
            <a:ext cx="390448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monotone icon aside</a:t>
            </a:r>
          </a:p>
        </p:txBody>
      </p:sp>
      <p:sp>
        <p:nvSpPr>
          <p:cNvPr id="46" name="skill_body_2"/>
          <p:cNvSpPr txBox="1"/>
          <p:nvPr/>
        </p:nvSpPr>
        <p:spPr>
          <a:xfrm>
            <a:off x="6949440" y="5020055"/>
            <a:ext cx="390448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infographic and coherence validation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What the MDPR Docs Contribute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Each source family feeds a different content shape into the generated decks.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cmap_0_card"/>
          <p:cNvSpPr/>
          <p:nvPr/>
        </p:nvSpPr>
        <p:spPr>
          <a:xfrm>
            <a:off x="685800" y="1481328"/>
            <a:ext cx="315468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cmap_0_icon_doc"/>
          <p:cNvSpPr/>
          <p:nvPr/>
        </p:nvSpPr>
        <p:spPr>
          <a:xfrm>
            <a:off x="850392" y="1645920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cmap_0_icon_line_0"/>
          <p:cNvSpPr/>
          <p:nvPr/>
        </p:nvSpPr>
        <p:spPr>
          <a:xfrm>
            <a:off x="921715" y="1741017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cmap_0_icon_line_1"/>
          <p:cNvSpPr/>
          <p:nvPr/>
        </p:nvSpPr>
        <p:spPr>
          <a:xfrm>
            <a:off x="921715" y="1818284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ocmap_0_icon_line_2"/>
          <p:cNvSpPr/>
          <p:nvPr/>
        </p:nvSpPr>
        <p:spPr>
          <a:xfrm>
            <a:off x="921715" y="189555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ocmap_0_title"/>
          <p:cNvSpPr txBox="1"/>
          <p:nvPr/>
        </p:nvSpPr>
        <p:spPr>
          <a:xfrm>
            <a:off x="1490472" y="1682496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Architecture</a:t>
            </a:r>
          </a:p>
        </p:txBody>
      </p:sp>
      <p:sp>
        <p:nvSpPr>
          <p:cNvPr id="13" name="docmap_0_body_0"/>
          <p:cNvSpPr txBox="1"/>
          <p:nvPr/>
        </p:nvSpPr>
        <p:spPr>
          <a:xfrm>
            <a:off x="1490472" y="205740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flow, packages, renderer boundary</a:t>
            </a:r>
          </a:p>
        </p:txBody>
      </p:sp>
      <p:sp>
        <p:nvSpPr>
          <p:cNvPr id="14" name="docmap_0_body_1"/>
          <p:cNvSpPr txBox="1"/>
          <p:nvPr/>
        </p:nvSpPr>
        <p:spPr>
          <a:xfrm>
            <a:off x="1490472" y="2350008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Output: pipeline cards</a:t>
            </a:r>
          </a:p>
        </p:txBody>
      </p:sp>
      <p:sp>
        <p:nvSpPr>
          <p:cNvPr id="15" name="docmap_1_card"/>
          <p:cNvSpPr/>
          <p:nvPr/>
        </p:nvSpPr>
        <p:spPr>
          <a:xfrm>
            <a:off x="4343400" y="1481328"/>
            <a:ext cx="315468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cmap_1_icon_node_0"/>
          <p:cNvSpPr/>
          <p:nvPr/>
        </p:nvSpPr>
        <p:spPr>
          <a:xfrm>
            <a:off x="4507992" y="1812340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cmap_1_icon_node_1"/>
          <p:cNvSpPr/>
          <p:nvPr/>
        </p:nvSpPr>
        <p:spPr>
          <a:xfrm>
            <a:off x="4733848" y="1812340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cmap_1_icon_node_2"/>
          <p:cNvSpPr/>
          <p:nvPr/>
        </p:nvSpPr>
        <p:spPr>
          <a:xfrm>
            <a:off x="4959705" y="1812340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ocmap_1_icon_line_0"/>
          <p:cNvSpPr/>
          <p:nvPr/>
        </p:nvSpPr>
        <p:spPr>
          <a:xfrm>
            <a:off x="4609033" y="1859889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cmap_1_icon_line_1"/>
          <p:cNvSpPr/>
          <p:nvPr/>
        </p:nvSpPr>
        <p:spPr>
          <a:xfrm>
            <a:off x="4834890" y="1859889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ocmap_1_title"/>
          <p:cNvSpPr txBox="1"/>
          <p:nvPr/>
        </p:nvSpPr>
        <p:spPr>
          <a:xfrm>
            <a:off x="5148072" y="1682496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Page splitting</a:t>
            </a:r>
          </a:p>
        </p:txBody>
      </p:sp>
      <p:sp>
        <p:nvSpPr>
          <p:cNvPr id="22" name="docmap_1_body_0"/>
          <p:cNvSpPr txBox="1"/>
          <p:nvPr/>
        </p:nvSpPr>
        <p:spPr>
          <a:xfrm>
            <a:off x="5148072" y="205740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headings, density, slide breaks</a:t>
            </a:r>
          </a:p>
        </p:txBody>
      </p:sp>
      <p:sp>
        <p:nvSpPr>
          <p:cNvPr id="23" name="docmap_1_body_1"/>
          <p:cNvSpPr txBox="1"/>
          <p:nvPr/>
        </p:nvSpPr>
        <p:spPr>
          <a:xfrm>
            <a:off x="5148072" y="2350008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Output: rules and examples</a:t>
            </a:r>
          </a:p>
        </p:txBody>
      </p:sp>
      <p:sp>
        <p:nvSpPr>
          <p:cNvPr id="24" name="docmap_2_card"/>
          <p:cNvSpPr/>
          <p:nvPr/>
        </p:nvSpPr>
        <p:spPr>
          <a:xfrm>
            <a:off x="8001000" y="1481328"/>
            <a:ext cx="315468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cmap_2_icon_body"/>
          <p:cNvSpPr/>
          <p:nvPr/>
        </p:nvSpPr>
        <p:spPr>
          <a:xfrm>
            <a:off x="8165592" y="1645920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cmap_2_icon_cut"/>
          <p:cNvSpPr/>
          <p:nvPr/>
        </p:nvSpPr>
        <p:spPr>
          <a:xfrm>
            <a:off x="8296351" y="1717243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ocmap_2_title"/>
          <p:cNvSpPr txBox="1"/>
          <p:nvPr/>
        </p:nvSpPr>
        <p:spPr>
          <a:xfrm>
            <a:off x="8805672" y="1682496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Layout rules</a:t>
            </a:r>
          </a:p>
        </p:txBody>
      </p:sp>
      <p:sp>
        <p:nvSpPr>
          <p:cNvPr id="28" name="docmap_2_body_0"/>
          <p:cNvSpPr txBox="1"/>
          <p:nvPr/>
        </p:nvSpPr>
        <p:spPr>
          <a:xfrm>
            <a:off x="8805672" y="205740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regions, safe area, overflow</a:t>
            </a:r>
          </a:p>
        </p:txBody>
      </p:sp>
      <p:sp>
        <p:nvSpPr>
          <p:cNvPr id="29" name="docmap_2_body_1"/>
          <p:cNvSpPr txBox="1"/>
          <p:nvPr/>
        </p:nvSpPr>
        <p:spPr>
          <a:xfrm>
            <a:off x="8805672" y="2350008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Output: grid and cards</a:t>
            </a:r>
          </a:p>
        </p:txBody>
      </p:sp>
      <p:sp>
        <p:nvSpPr>
          <p:cNvPr id="30" name="docmap_3_card"/>
          <p:cNvSpPr/>
          <p:nvPr/>
        </p:nvSpPr>
        <p:spPr>
          <a:xfrm>
            <a:off x="685800" y="3145536"/>
            <a:ext cx="315468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cmap_3_icon_doc"/>
          <p:cNvSpPr/>
          <p:nvPr/>
        </p:nvSpPr>
        <p:spPr>
          <a:xfrm>
            <a:off x="850392" y="3310128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cmap_3_icon_line_0"/>
          <p:cNvSpPr/>
          <p:nvPr/>
        </p:nvSpPr>
        <p:spPr>
          <a:xfrm>
            <a:off x="921715" y="340522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cmap_3_icon_line_1"/>
          <p:cNvSpPr/>
          <p:nvPr/>
        </p:nvSpPr>
        <p:spPr>
          <a:xfrm>
            <a:off x="921715" y="3482492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cmap_3_icon_line_2"/>
          <p:cNvSpPr/>
          <p:nvPr/>
        </p:nvSpPr>
        <p:spPr>
          <a:xfrm>
            <a:off x="921715" y="355975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ocmap_3_title"/>
          <p:cNvSpPr txBox="1"/>
          <p:nvPr/>
        </p:nvSpPr>
        <p:spPr>
          <a:xfrm>
            <a:off x="1490472" y="3346704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Rendering rules</a:t>
            </a:r>
          </a:p>
        </p:txBody>
      </p:sp>
      <p:sp>
        <p:nvSpPr>
          <p:cNvPr id="36" name="docmap_3_body_0"/>
          <p:cNvSpPr txBox="1"/>
          <p:nvPr/>
        </p:nvSpPr>
        <p:spPr>
          <a:xfrm>
            <a:off x="1490472" y="3721608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PPTX/PDF/HTML behavior</a:t>
            </a:r>
          </a:p>
        </p:txBody>
      </p:sp>
      <p:sp>
        <p:nvSpPr>
          <p:cNvPr id="37" name="docmap_3_body_1"/>
          <p:cNvSpPr txBox="1"/>
          <p:nvPr/>
        </p:nvSpPr>
        <p:spPr>
          <a:xfrm>
            <a:off x="1490472" y="4014216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Output: format matrix</a:t>
            </a:r>
          </a:p>
        </p:txBody>
      </p:sp>
      <p:sp>
        <p:nvSpPr>
          <p:cNvPr id="38" name="docmap_4_card"/>
          <p:cNvSpPr/>
          <p:nvPr/>
        </p:nvSpPr>
        <p:spPr>
          <a:xfrm>
            <a:off x="4343400" y="3145536"/>
            <a:ext cx="315468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cmap_4_icon_node_0"/>
          <p:cNvSpPr/>
          <p:nvPr/>
        </p:nvSpPr>
        <p:spPr>
          <a:xfrm>
            <a:off x="4507992" y="3476548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cmap_4_icon_node_1"/>
          <p:cNvSpPr/>
          <p:nvPr/>
        </p:nvSpPr>
        <p:spPr>
          <a:xfrm>
            <a:off x="4733848" y="3476548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cmap_4_icon_node_2"/>
          <p:cNvSpPr/>
          <p:nvPr/>
        </p:nvSpPr>
        <p:spPr>
          <a:xfrm>
            <a:off x="4959705" y="3476548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ocmap_4_icon_line_0"/>
          <p:cNvSpPr/>
          <p:nvPr/>
        </p:nvSpPr>
        <p:spPr>
          <a:xfrm>
            <a:off x="4609033" y="3524097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ocmap_4_icon_line_1"/>
          <p:cNvSpPr/>
          <p:nvPr/>
        </p:nvSpPr>
        <p:spPr>
          <a:xfrm>
            <a:off x="4834890" y="3524097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ocmap_4_title"/>
          <p:cNvSpPr txBox="1"/>
          <p:nvPr/>
        </p:nvSpPr>
        <p:spPr>
          <a:xfrm>
            <a:off x="5148072" y="3346704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Overrides</a:t>
            </a:r>
          </a:p>
        </p:txBody>
      </p:sp>
      <p:sp>
        <p:nvSpPr>
          <p:cNvPr id="45" name="docmap_4_body_0"/>
          <p:cNvSpPr txBox="1"/>
          <p:nvPr/>
        </p:nvSpPr>
        <p:spPr>
          <a:xfrm>
            <a:off x="5148072" y="3721608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LLM/human adjustment boundary</a:t>
            </a:r>
          </a:p>
        </p:txBody>
      </p:sp>
      <p:sp>
        <p:nvSpPr>
          <p:cNvPr id="46" name="docmap_4_body_1"/>
          <p:cNvSpPr txBox="1"/>
          <p:nvPr/>
        </p:nvSpPr>
        <p:spPr>
          <a:xfrm>
            <a:off x="5148072" y="4014216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Output: annotation panel</a:t>
            </a:r>
          </a:p>
        </p:txBody>
      </p:sp>
      <p:sp>
        <p:nvSpPr>
          <p:cNvPr id="47" name="docmap_5_card"/>
          <p:cNvSpPr/>
          <p:nvPr/>
        </p:nvSpPr>
        <p:spPr>
          <a:xfrm>
            <a:off x="8001000" y="3145536"/>
            <a:ext cx="315468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docmap_5_icon_body"/>
          <p:cNvSpPr/>
          <p:nvPr/>
        </p:nvSpPr>
        <p:spPr>
          <a:xfrm>
            <a:off x="8165592" y="3310128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docmap_5_icon_cut"/>
          <p:cNvSpPr/>
          <p:nvPr/>
        </p:nvSpPr>
        <p:spPr>
          <a:xfrm>
            <a:off x="8296351" y="3381451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docmap_5_title"/>
          <p:cNvSpPr txBox="1"/>
          <p:nvPr/>
        </p:nvSpPr>
        <p:spPr>
          <a:xfrm>
            <a:off x="8805672" y="3346704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Examples</a:t>
            </a:r>
          </a:p>
        </p:txBody>
      </p:sp>
      <p:sp>
        <p:nvSpPr>
          <p:cNvPr id="51" name="docmap_5_body_0"/>
          <p:cNvSpPr txBox="1"/>
          <p:nvPr/>
        </p:nvSpPr>
        <p:spPr>
          <a:xfrm>
            <a:off x="8805672" y="3721608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actual deck Markdown</a:t>
            </a:r>
          </a:p>
        </p:txBody>
      </p:sp>
      <p:sp>
        <p:nvSpPr>
          <p:cNvPr id="52" name="docmap_5_body_1"/>
          <p:cNvSpPr txBox="1"/>
          <p:nvPr/>
        </p:nvSpPr>
        <p:spPr>
          <a:xfrm>
            <a:off x="8805672" y="4014216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Output: varied slide intents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Skill Visual Rules Added on Top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The skill changes visual choices, not MDPR's Markdown parsing role.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con_card"/>
          <p:cNvSpPr/>
          <p:nvPr/>
        </p:nvSpPr>
        <p:spPr>
          <a:xfrm>
            <a:off x="713232" y="1481328"/>
            <a:ext cx="3337560" cy="1353312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con_icon_v"/>
          <p:cNvSpPr/>
          <p:nvPr/>
        </p:nvSpPr>
        <p:spPr>
          <a:xfrm>
            <a:off x="1020470" y="1645920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con_icon_h"/>
          <p:cNvSpPr/>
          <p:nvPr/>
        </p:nvSpPr>
        <p:spPr>
          <a:xfrm>
            <a:off x="877824" y="1788566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con_icon_dot"/>
          <p:cNvSpPr/>
          <p:nvPr/>
        </p:nvSpPr>
        <p:spPr>
          <a:xfrm>
            <a:off x="1139342" y="1907438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con_title"/>
          <p:cNvSpPr txBox="1"/>
          <p:nvPr/>
        </p:nvSpPr>
        <p:spPr>
          <a:xfrm>
            <a:off x="1517904" y="1682496"/>
            <a:ext cx="23500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11827"/>
                </a:solidFill>
              </a:rPr>
              <a:t>Monotone icon aside</a:t>
            </a:r>
          </a:p>
        </p:txBody>
      </p:sp>
      <p:sp>
        <p:nvSpPr>
          <p:cNvPr id="12" name="icon_body_0"/>
          <p:cNvSpPr txBox="1"/>
          <p:nvPr/>
        </p:nvSpPr>
        <p:spPr>
          <a:xfrm>
            <a:off x="1517904" y="2057400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text-only slides only</a:t>
            </a:r>
          </a:p>
        </p:txBody>
      </p:sp>
      <p:sp>
        <p:nvSpPr>
          <p:cNvPr id="13" name="icon_body_1"/>
          <p:cNvSpPr txBox="1"/>
          <p:nvPr/>
        </p:nvSpPr>
        <p:spPr>
          <a:xfrm>
            <a:off x="1517904" y="2350008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PowerPoint icon or licensed free SVG</a:t>
            </a:r>
          </a:p>
        </p:txBody>
      </p:sp>
      <p:sp>
        <p:nvSpPr>
          <p:cNvPr id="14" name="icon_body_2"/>
          <p:cNvSpPr txBox="1"/>
          <p:nvPr/>
        </p:nvSpPr>
        <p:spPr>
          <a:xfrm>
            <a:off x="1517904" y="2642616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one black or white icon</a:t>
            </a:r>
          </a:p>
        </p:txBody>
      </p:sp>
      <p:sp>
        <p:nvSpPr>
          <p:cNvPr id="15" name="info_card"/>
          <p:cNvSpPr/>
          <p:nvPr/>
        </p:nvSpPr>
        <p:spPr>
          <a:xfrm>
            <a:off x="4443984" y="1481328"/>
            <a:ext cx="3337560" cy="1353312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nfo_icon_node_0"/>
          <p:cNvSpPr/>
          <p:nvPr/>
        </p:nvSpPr>
        <p:spPr>
          <a:xfrm>
            <a:off x="4608576" y="1812340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nfo_icon_node_1"/>
          <p:cNvSpPr/>
          <p:nvPr/>
        </p:nvSpPr>
        <p:spPr>
          <a:xfrm>
            <a:off x="4834432" y="1812340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nfo_icon_node_2"/>
          <p:cNvSpPr/>
          <p:nvPr/>
        </p:nvSpPr>
        <p:spPr>
          <a:xfrm>
            <a:off x="5060289" y="1812340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nfo_icon_line_0"/>
          <p:cNvSpPr/>
          <p:nvPr/>
        </p:nvSpPr>
        <p:spPr>
          <a:xfrm>
            <a:off x="4709617" y="1859889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nfo_icon_line_1"/>
          <p:cNvSpPr/>
          <p:nvPr/>
        </p:nvSpPr>
        <p:spPr>
          <a:xfrm>
            <a:off x="4935474" y="1859889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nfo_title"/>
          <p:cNvSpPr txBox="1"/>
          <p:nvPr/>
        </p:nvSpPr>
        <p:spPr>
          <a:xfrm>
            <a:off x="5248656" y="1682496"/>
            <a:ext cx="23500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Infographic seeds</a:t>
            </a:r>
          </a:p>
        </p:txBody>
      </p:sp>
      <p:sp>
        <p:nvSpPr>
          <p:cNvPr id="22" name="info_body_0"/>
          <p:cNvSpPr txBox="1"/>
          <p:nvPr/>
        </p:nvSpPr>
        <p:spPr>
          <a:xfrm>
            <a:off x="5248656" y="2057400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cycle-loop</a:t>
            </a:r>
          </a:p>
        </p:txBody>
      </p:sp>
      <p:sp>
        <p:nvSpPr>
          <p:cNvPr id="23" name="info_body_1"/>
          <p:cNvSpPr txBox="1"/>
          <p:nvPr/>
        </p:nvSpPr>
        <p:spPr>
          <a:xfrm>
            <a:off x="5248656" y="2350008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ordered-rail</a:t>
            </a:r>
          </a:p>
        </p:txBody>
      </p:sp>
      <p:sp>
        <p:nvSpPr>
          <p:cNvPr id="24" name="info_body_2"/>
          <p:cNvSpPr txBox="1"/>
          <p:nvPr/>
        </p:nvSpPr>
        <p:spPr>
          <a:xfrm>
            <a:off x="5248656" y="2642616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ranked-stack</a:t>
            </a:r>
          </a:p>
        </p:txBody>
      </p:sp>
      <p:sp>
        <p:nvSpPr>
          <p:cNvPr id="25" name="info_body_3"/>
          <p:cNvSpPr txBox="1"/>
          <p:nvPr/>
        </p:nvSpPr>
        <p:spPr>
          <a:xfrm>
            <a:off x="5248656" y="2935224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chart-like families</a:t>
            </a:r>
          </a:p>
        </p:txBody>
      </p:sp>
      <p:sp>
        <p:nvSpPr>
          <p:cNvPr id="26" name="qa_card"/>
          <p:cNvSpPr/>
          <p:nvPr/>
        </p:nvSpPr>
        <p:spPr>
          <a:xfrm>
            <a:off x="8174736" y="1481328"/>
            <a:ext cx="3337560" cy="1353312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qa_icon_body"/>
          <p:cNvSpPr/>
          <p:nvPr/>
        </p:nvSpPr>
        <p:spPr>
          <a:xfrm>
            <a:off x="8339327" y="1645920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qa_icon_cut"/>
          <p:cNvSpPr/>
          <p:nvPr/>
        </p:nvSpPr>
        <p:spPr>
          <a:xfrm>
            <a:off x="8470087" y="1717243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qa_title"/>
          <p:cNvSpPr txBox="1"/>
          <p:nvPr/>
        </p:nvSpPr>
        <p:spPr>
          <a:xfrm>
            <a:off x="8979408" y="1682496"/>
            <a:ext cx="23500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BE123C"/>
                </a:solidFill>
              </a:rPr>
              <a:t>Coherence validation</a:t>
            </a:r>
          </a:p>
        </p:txBody>
      </p:sp>
      <p:sp>
        <p:nvSpPr>
          <p:cNvPr id="30" name="qa_body_0"/>
          <p:cNvSpPr txBox="1"/>
          <p:nvPr/>
        </p:nvSpPr>
        <p:spPr>
          <a:xfrm>
            <a:off x="8979408" y="2057400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minimum font size</a:t>
            </a:r>
          </a:p>
        </p:txBody>
      </p:sp>
      <p:sp>
        <p:nvSpPr>
          <p:cNvPr id="31" name="qa_body_1"/>
          <p:cNvSpPr txBox="1"/>
          <p:nvPr/>
        </p:nvSpPr>
        <p:spPr>
          <a:xfrm>
            <a:off x="8979408" y="2350008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aligned icon midpoint</a:t>
            </a:r>
          </a:p>
        </p:txBody>
      </p:sp>
      <p:sp>
        <p:nvSpPr>
          <p:cNvPr id="32" name="qa_body_2"/>
          <p:cNvSpPr txBox="1"/>
          <p:nvPr/>
        </p:nvSpPr>
        <p:spPr>
          <a:xfrm>
            <a:off x="8979408" y="2642616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z-order and object variety</a:t>
            </a:r>
          </a:p>
        </p:txBody>
      </p:sp>
      <p:sp>
        <p:nvSpPr>
          <p:cNvPr id="33" name="line"/>
          <p:cNvSpPr/>
          <p:nvPr/>
        </p:nvSpPr>
        <p:spPr>
          <a:xfrm>
            <a:off x="960120" y="3685032"/>
            <a:ext cx="10012680" cy="36576"/>
          </a:xfrm>
          <a:prstGeom prst="rect">
            <a:avLst/>
          </a:prstGeom>
          <a:solidFill>
            <a:srgbClr val="D7CDBD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tep_0_num"/>
          <p:cNvSpPr/>
          <p:nvPr/>
        </p:nvSpPr>
        <p:spPr>
          <a:xfrm>
            <a:off x="100584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5" name="step_0_label"/>
          <p:cNvSpPr txBox="1"/>
          <p:nvPr/>
        </p:nvSpPr>
        <p:spPr>
          <a:xfrm>
            <a:off x="676656" y="4041648"/>
            <a:ext cx="1143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</a:rPr>
              <a:t>Detect text-only</a:t>
            </a:r>
          </a:p>
        </p:txBody>
      </p:sp>
      <p:sp>
        <p:nvSpPr>
          <p:cNvPr id="36" name="step_1_num"/>
          <p:cNvSpPr/>
          <p:nvPr/>
        </p:nvSpPr>
        <p:spPr>
          <a:xfrm>
            <a:off x="365760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7" name="step_1_label"/>
          <p:cNvSpPr txBox="1"/>
          <p:nvPr/>
        </p:nvSpPr>
        <p:spPr>
          <a:xfrm>
            <a:off x="3328416" y="4041648"/>
            <a:ext cx="1143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</a:rPr>
              <a:t>Reserve aside slot</a:t>
            </a:r>
          </a:p>
        </p:txBody>
      </p:sp>
      <p:sp>
        <p:nvSpPr>
          <p:cNvPr id="38" name="step_2_num"/>
          <p:cNvSpPr/>
          <p:nvPr/>
        </p:nvSpPr>
        <p:spPr>
          <a:xfrm>
            <a:off x="630936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9" name="step_2_label"/>
          <p:cNvSpPr txBox="1"/>
          <p:nvPr/>
        </p:nvSpPr>
        <p:spPr>
          <a:xfrm>
            <a:off x="5980176" y="4041648"/>
            <a:ext cx="1143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</a:rPr>
              <a:t>Pick monotone source</a:t>
            </a:r>
          </a:p>
        </p:txBody>
      </p:sp>
      <p:sp>
        <p:nvSpPr>
          <p:cNvPr id="40" name="step_3_num"/>
          <p:cNvSpPr/>
          <p:nvPr/>
        </p:nvSpPr>
        <p:spPr>
          <a:xfrm>
            <a:off x="8961119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1" name="step_3_label"/>
          <p:cNvSpPr txBox="1"/>
          <p:nvPr/>
        </p:nvSpPr>
        <p:spPr>
          <a:xfrm>
            <a:off x="8631936" y="4041648"/>
            <a:ext cx="1143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</a:rPr>
              <a:t>Validate alignment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Example Decks Used as Content Variety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The same source set exercises comparison, pipeline, theme, and process-like slide types.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xample_0_card"/>
          <p:cNvSpPr/>
          <p:nvPr/>
        </p:nvSpPr>
        <p:spPr>
          <a:xfrm>
            <a:off x="658368" y="1417320"/>
            <a:ext cx="315468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xample_0_icon_doc"/>
          <p:cNvSpPr/>
          <p:nvPr/>
        </p:nvSpPr>
        <p:spPr>
          <a:xfrm>
            <a:off x="822959" y="158191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xample_0_icon_line_0"/>
          <p:cNvSpPr/>
          <p:nvPr/>
        </p:nvSpPr>
        <p:spPr>
          <a:xfrm>
            <a:off x="894283" y="167700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xample_0_icon_line_1"/>
          <p:cNvSpPr/>
          <p:nvPr/>
        </p:nvSpPr>
        <p:spPr>
          <a:xfrm>
            <a:off x="894283" y="175427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xample_0_icon_line_2"/>
          <p:cNvSpPr/>
          <p:nvPr/>
        </p:nvSpPr>
        <p:spPr>
          <a:xfrm>
            <a:off x="894283" y="183154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xample_0_title"/>
          <p:cNvSpPr txBox="1"/>
          <p:nvPr/>
        </p:nvSpPr>
        <p:spPr>
          <a:xfrm>
            <a:off x="1463040" y="1618488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basic/deck.md</a:t>
            </a:r>
          </a:p>
        </p:txBody>
      </p:sp>
      <p:sp>
        <p:nvSpPr>
          <p:cNvPr id="13" name="example_0_body_0"/>
          <p:cNvSpPr txBox="1"/>
          <p:nvPr/>
        </p:nvSpPr>
        <p:spPr>
          <a:xfrm>
            <a:off x="1463040" y="1993392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AI Workflow Automation Proposal</a:t>
            </a:r>
          </a:p>
        </p:txBody>
      </p:sp>
      <p:sp>
        <p:nvSpPr>
          <p:cNvPr id="14" name="example_0_body_1"/>
          <p:cNvSpPr txBox="1"/>
          <p:nvPr/>
        </p:nvSpPr>
        <p:spPr>
          <a:xfrm>
            <a:off x="1463040" y="228600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Problem Definition</a:t>
            </a:r>
          </a:p>
        </p:txBody>
      </p:sp>
      <p:sp>
        <p:nvSpPr>
          <p:cNvPr id="15" name="example_1_card"/>
          <p:cNvSpPr/>
          <p:nvPr/>
        </p:nvSpPr>
        <p:spPr>
          <a:xfrm>
            <a:off x="4315968" y="1417320"/>
            <a:ext cx="315468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xample_1_icon_doc"/>
          <p:cNvSpPr/>
          <p:nvPr/>
        </p:nvSpPr>
        <p:spPr>
          <a:xfrm>
            <a:off x="4480559" y="158191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xample_1_icon_line_0"/>
          <p:cNvSpPr/>
          <p:nvPr/>
        </p:nvSpPr>
        <p:spPr>
          <a:xfrm>
            <a:off x="4551883" y="167700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xample_1_icon_line_1"/>
          <p:cNvSpPr/>
          <p:nvPr/>
        </p:nvSpPr>
        <p:spPr>
          <a:xfrm>
            <a:off x="4551883" y="175427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xample_1_icon_line_2"/>
          <p:cNvSpPr/>
          <p:nvPr/>
        </p:nvSpPr>
        <p:spPr>
          <a:xfrm>
            <a:off x="4551883" y="183154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xample_1_title"/>
          <p:cNvSpPr txBox="1"/>
          <p:nvPr/>
        </p:nvSpPr>
        <p:spPr>
          <a:xfrm>
            <a:off x="5120640" y="1618488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comparison/deck.md</a:t>
            </a:r>
          </a:p>
        </p:txBody>
      </p:sp>
      <p:sp>
        <p:nvSpPr>
          <p:cNvPr id="21" name="example_1_body_0"/>
          <p:cNvSpPr txBox="1"/>
          <p:nvPr/>
        </p:nvSpPr>
        <p:spPr>
          <a:xfrm>
            <a:off x="5120640" y="1993392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Comparison Structure Example</a:t>
            </a:r>
          </a:p>
        </p:txBody>
      </p:sp>
      <p:sp>
        <p:nvSpPr>
          <p:cNvPr id="22" name="example_1_body_1"/>
          <p:cNvSpPr txBox="1"/>
          <p:nvPr/>
        </p:nvSpPr>
        <p:spPr>
          <a:xfrm>
            <a:off x="5120640" y="228600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Current Approach and Improved Approach</a:t>
            </a:r>
          </a:p>
        </p:txBody>
      </p:sp>
      <p:sp>
        <p:nvSpPr>
          <p:cNvPr id="23" name="example_2_card"/>
          <p:cNvSpPr/>
          <p:nvPr/>
        </p:nvSpPr>
        <p:spPr>
          <a:xfrm>
            <a:off x="7973568" y="1417320"/>
            <a:ext cx="315468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xample_2_icon_doc"/>
          <p:cNvSpPr/>
          <p:nvPr/>
        </p:nvSpPr>
        <p:spPr>
          <a:xfrm>
            <a:off x="8138160" y="158191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xample_2_icon_line_0"/>
          <p:cNvSpPr/>
          <p:nvPr/>
        </p:nvSpPr>
        <p:spPr>
          <a:xfrm>
            <a:off x="8209483" y="167700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xample_2_icon_line_1"/>
          <p:cNvSpPr/>
          <p:nvPr/>
        </p:nvSpPr>
        <p:spPr>
          <a:xfrm>
            <a:off x="8209483" y="175427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xample_2_icon_line_2"/>
          <p:cNvSpPr/>
          <p:nvPr/>
        </p:nvSpPr>
        <p:spPr>
          <a:xfrm>
            <a:off x="8209483" y="183154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xample_2_title"/>
          <p:cNvSpPr txBox="1"/>
          <p:nvPr/>
        </p:nvSpPr>
        <p:spPr>
          <a:xfrm>
            <a:off x="8778240" y="1618488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pipeline/deck.md</a:t>
            </a:r>
          </a:p>
        </p:txBody>
      </p:sp>
      <p:sp>
        <p:nvSpPr>
          <p:cNvPr id="29" name="example_2_body_0"/>
          <p:cNvSpPr txBox="1"/>
          <p:nvPr/>
        </p:nvSpPr>
        <p:spPr>
          <a:xfrm>
            <a:off x="8778240" y="1993392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Pipeline Example</a:t>
            </a:r>
          </a:p>
        </p:txBody>
      </p:sp>
      <p:sp>
        <p:nvSpPr>
          <p:cNvPr id="30" name="example_2_body_1"/>
          <p:cNvSpPr txBox="1"/>
          <p:nvPr/>
        </p:nvSpPr>
        <p:spPr>
          <a:xfrm>
            <a:off x="8778240" y="228600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Publishing Flow</a:t>
            </a:r>
          </a:p>
        </p:txBody>
      </p:sp>
      <p:sp>
        <p:nvSpPr>
          <p:cNvPr id="31" name="example_3_card"/>
          <p:cNvSpPr/>
          <p:nvPr/>
        </p:nvSpPr>
        <p:spPr>
          <a:xfrm>
            <a:off x="658368" y="3200400"/>
            <a:ext cx="315468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xample_3_icon_doc"/>
          <p:cNvSpPr/>
          <p:nvPr/>
        </p:nvSpPr>
        <p:spPr>
          <a:xfrm>
            <a:off x="822959" y="336499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xample_3_icon_line_0"/>
          <p:cNvSpPr/>
          <p:nvPr/>
        </p:nvSpPr>
        <p:spPr>
          <a:xfrm>
            <a:off x="894283" y="346008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xample_3_icon_line_1"/>
          <p:cNvSpPr/>
          <p:nvPr/>
        </p:nvSpPr>
        <p:spPr>
          <a:xfrm>
            <a:off x="894283" y="353735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xample_3_icon_line_2"/>
          <p:cNvSpPr/>
          <p:nvPr/>
        </p:nvSpPr>
        <p:spPr>
          <a:xfrm>
            <a:off x="894283" y="361462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xample_3_title"/>
          <p:cNvSpPr txBox="1"/>
          <p:nvPr/>
        </p:nvSpPr>
        <p:spPr>
          <a:xfrm>
            <a:off x="1463040" y="3401568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diagram-arrangements/deck.md</a:t>
            </a:r>
          </a:p>
        </p:txBody>
      </p:sp>
      <p:sp>
        <p:nvSpPr>
          <p:cNvPr id="37" name="example_3_body_0"/>
          <p:cNvSpPr txBox="1"/>
          <p:nvPr/>
        </p:nvSpPr>
        <p:spPr>
          <a:xfrm>
            <a:off x="1463040" y="3776472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Diagram Arrangement Examples</a:t>
            </a:r>
          </a:p>
        </p:txBody>
      </p:sp>
      <p:sp>
        <p:nvSpPr>
          <p:cNvPr id="38" name="example_3_body_1"/>
          <p:cNvSpPr txBox="1"/>
          <p:nvPr/>
        </p:nvSpPr>
        <p:spPr>
          <a:xfrm>
            <a:off x="1463040" y="406908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Horizontal Flow</a:t>
            </a:r>
          </a:p>
        </p:txBody>
      </p:sp>
      <p:sp>
        <p:nvSpPr>
          <p:cNvPr id="39" name="example_4_card"/>
          <p:cNvSpPr/>
          <p:nvPr/>
        </p:nvSpPr>
        <p:spPr>
          <a:xfrm>
            <a:off x="4315968" y="3200400"/>
            <a:ext cx="315468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xample_4_icon_doc"/>
          <p:cNvSpPr/>
          <p:nvPr/>
        </p:nvSpPr>
        <p:spPr>
          <a:xfrm>
            <a:off x="4480559" y="336499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xample_4_icon_line_0"/>
          <p:cNvSpPr/>
          <p:nvPr/>
        </p:nvSpPr>
        <p:spPr>
          <a:xfrm>
            <a:off x="4551883" y="346008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xample_4_icon_line_1"/>
          <p:cNvSpPr/>
          <p:nvPr/>
        </p:nvSpPr>
        <p:spPr>
          <a:xfrm>
            <a:off x="4551883" y="353735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example_4_icon_line_2"/>
          <p:cNvSpPr/>
          <p:nvPr/>
        </p:nvSpPr>
        <p:spPr>
          <a:xfrm>
            <a:off x="4551883" y="361462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xample_4_title"/>
          <p:cNvSpPr txBox="1"/>
          <p:nvPr/>
        </p:nvSpPr>
        <p:spPr>
          <a:xfrm>
            <a:off x="5120640" y="3401568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five-methods/deck.md</a:t>
            </a:r>
          </a:p>
        </p:txBody>
      </p:sp>
      <p:sp>
        <p:nvSpPr>
          <p:cNvPr id="45" name="example_4_body_0"/>
          <p:cNvSpPr txBox="1"/>
          <p:nvPr/>
        </p:nvSpPr>
        <p:spPr>
          <a:xfrm>
            <a:off x="5120640" y="3776472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Five-Item Layout Example</a:t>
            </a:r>
          </a:p>
        </p:txBody>
      </p:sp>
      <p:sp>
        <p:nvSpPr>
          <p:cNvPr id="46" name="example_4_body_1"/>
          <p:cNvSpPr txBox="1"/>
          <p:nvPr/>
        </p:nvSpPr>
        <p:spPr>
          <a:xfrm>
            <a:off x="5120640" y="406908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Five Execution Steps</a:t>
            </a:r>
          </a:p>
        </p:txBody>
      </p:sp>
      <p:sp>
        <p:nvSpPr>
          <p:cNvPr id="47" name="example_5_card"/>
          <p:cNvSpPr/>
          <p:nvPr/>
        </p:nvSpPr>
        <p:spPr>
          <a:xfrm>
            <a:off x="7973568" y="3200400"/>
            <a:ext cx="315468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xample_5_icon_doc"/>
          <p:cNvSpPr/>
          <p:nvPr/>
        </p:nvSpPr>
        <p:spPr>
          <a:xfrm>
            <a:off x="8138160" y="336499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xample_5_icon_line_0"/>
          <p:cNvSpPr/>
          <p:nvPr/>
        </p:nvSpPr>
        <p:spPr>
          <a:xfrm>
            <a:off x="8209483" y="346008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xample_5_icon_line_1"/>
          <p:cNvSpPr/>
          <p:nvPr/>
        </p:nvSpPr>
        <p:spPr>
          <a:xfrm>
            <a:off x="8209483" y="353735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xample_5_icon_line_2"/>
          <p:cNvSpPr/>
          <p:nvPr/>
        </p:nvSpPr>
        <p:spPr>
          <a:xfrm>
            <a:off x="8209483" y="361462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xample_5_title"/>
          <p:cNvSpPr txBox="1"/>
          <p:nvPr/>
        </p:nvSpPr>
        <p:spPr>
          <a:xfrm>
            <a:off x="8778240" y="3401568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theme-preview-en/deck.md</a:t>
            </a:r>
          </a:p>
        </p:txBody>
      </p:sp>
      <p:sp>
        <p:nvSpPr>
          <p:cNvPr id="53" name="example_5_body_0"/>
          <p:cNvSpPr txBox="1"/>
          <p:nvPr/>
        </p:nvSpPr>
        <p:spPr>
          <a:xfrm>
            <a:off x="8778240" y="3776472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MDPR Design Grammar</a:t>
            </a:r>
          </a:p>
        </p:txBody>
      </p:sp>
      <p:sp>
        <p:nvSpPr>
          <p:cNvPr id="54" name="example_5_body_1"/>
          <p:cNvSpPr txBox="1"/>
          <p:nvPr/>
        </p:nvSpPr>
        <p:spPr>
          <a:xfrm>
            <a:off x="8778240" y="406908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Teaser Summary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Source Shape Summary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The skill deck can introduce native chart/table objects while staying tied to MDPR source metadata.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native_heading_chart"/>
          <p:cNvGraphicFramePr>
            <a:graphicFrameLocks noGrp="1"/>
          </p:cNvGraphicFramePr>
          <p:nvPr/>
        </p:nvGraphicFramePr>
        <p:xfrm>
          <a:off x="841248" y="1600200"/>
          <a:ext cx="4892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63640" y="1664208"/>
          <a:ext cx="47091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290"/>
                <a:gridCol w="1177290"/>
                <a:gridCol w="1177290"/>
                <a:gridCol w="1177290"/>
              </a:tblGrid>
              <a:tr h="5029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11827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11827"/>
                          </a:solidFill>
                        </a:rPr>
                        <a:t>Files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11827"/>
                          </a:solidFill>
                        </a:rPr>
                        <a:t>Headings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11827"/>
                          </a:solidFill>
                        </a:rPr>
                        <a:t>Chars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Docs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126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48,845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7,310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Root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14,613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9" name="chart_note_card"/>
          <p:cNvSpPr/>
          <p:nvPr/>
        </p:nvSpPr>
        <p:spPr>
          <a:xfrm>
            <a:off x="6263640" y="4160520"/>
            <a:ext cx="4709160" cy="914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art_note_icon_body"/>
          <p:cNvSpPr/>
          <p:nvPr/>
        </p:nvSpPr>
        <p:spPr>
          <a:xfrm>
            <a:off x="6428231" y="4325112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art_note_icon_cut"/>
          <p:cNvSpPr/>
          <p:nvPr/>
        </p:nvSpPr>
        <p:spPr>
          <a:xfrm>
            <a:off x="6558991" y="4396435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art_note_title"/>
          <p:cNvSpPr txBox="1"/>
          <p:nvPr/>
        </p:nvSpPr>
        <p:spPr>
          <a:xfrm>
            <a:off x="7068312" y="4361688"/>
            <a:ext cx="37216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BE123C"/>
                </a:solidFill>
              </a:rPr>
              <a:t>Why this matters</a:t>
            </a:r>
          </a:p>
        </p:txBody>
      </p:sp>
      <p:sp>
        <p:nvSpPr>
          <p:cNvPr id="13" name="chart_note_body_0"/>
          <p:cNvSpPr txBox="1"/>
          <p:nvPr/>
        </p:nvSpPr>
        <p:spPr>
          <a:xfrm>
            <a:off x="7068312" y="4736592"/>
            <a:ext cx="37216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MDPR baseline proves broad Markdown coverage.</a:t>
            </a:r>
          </a:p>
        </p:txBody>
      </p:sp>
      <p:sp>
        <p:nvSpPr>
          <p:cNvPr id="14" name="chart_note_body_1"/>
          <p:cNvSpPr txBox="1"/>
          <p:nvPr/>
        </p:nvSpPr>
        <p:spPr>
          <a:xfrm>
            <a:off x="7068312" y="5029200"/>
            <a:ext cx="37216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The skill deck proves richer object variety from the same corpus.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Text-Only Relief: Monotone Icon Slot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A quiet icon is used only when content is otherwise all text.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ody_panel"/>
          <p:cNvSpPr/>
          <p:nvPr/>
        </p:nvSpPr>
        <p:spPr>
          <a:xfrm>
            <a:off x="822960" y="1536192"/>
            <a:ext cx="6400800" cy="340156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body_heading"/>
          <p:cNvSpPr txBox="1"/>
          <p:nvPr/>
        </p:nvSpPr>
        <p:spPr>
          <a:xfrm>
            <a:off x="1115568" y="1828800"/>
            <a:ext cx="53035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Current skill behavior</a:t>
            </a:r>
          </a:p>
        </p:txBody>
      </p:sp>
      <p:sp>
        <p:nvSpPr>
          <p:cNvPr id="9" name="icon_bullet_0"/>
          <p:cNvSpPr txBox="1"/>
          <p:nvPr/>
        </p:nvSpPr>
        <p:spPr>
          <a:xfrm>
            <a:off x="1170432" y="2331720"/>
            <a:ext cx="53035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>
                <a:solidFill>
                  <a:srgbClr val="5F6B7A"/>
                </a:solidFill>
              </a:rPr>
              <a:t>- Reserve an aside/corner region, not a primary region.</a:t>
            </a:r>
          </a:p>
        </p:txBody>
      </p:sp>
      <p:sp>
        <p:nvSpPr>
          <p:cNvPr id="10" name="icon_bullet_1"/>
          <p:cNvSpPr txBox="1"/>
          <p:nvPr/>
        </p:nvSpPr>
        <p:spPr>
          <a:xfrm>
            <a:off x="1170432" y="2724912"/>
            <a:ext cx="53035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>
                <a:solidFill>
                  <a:srgbClr val="5F6B7A"/>
                </a:solidFill>
              </a:rPr>
              <a:t>- Use one black or white icon.</a:t>
            </a:r>
          </a:p>
        </p:txBody>
      </p:sp>
      <p:sp>
        <p:nvSpPr>
          <p:cNvPr id="11" name="icon_bullet_2"/>
          <p:cNvSpPr txBox="1"/>
          <p:nvPr/>
        </p:nvSpPr>
        <p:spPr>
          <a:xfrm>
            <a:off x="1170432" y="3118103"/>
            <a:ext cx="53035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>
                <a:solidFill>
                  <a:srgbClr val="5F6B7A"/>
                </a:solidFill>
              </a:rPr>
              <a:t>- Prefer PowerPoint built-in icons.</a:t>
            </a:r>
          </a:p>
        </p:txBody>
      </p:sp>
      <p:sp>
        <p:nvSpPr>
          <p:cNvPr id="12" name="icon_bullet_3"/>
          <p:cNvSpPr txBox="1"/>
          <p:nvPr/>
        </p:nvSpPr>
        <p:spPr>
          <a:xfrm>
            <a:off x="1170432" y="3511296"/>
            <a:ext cx="53035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>
                <a:solidFill>
                  <a:srgbClr val="5F6B7A"/>
                </a:solidFill>
              </a:rPr>
              <a:t>- Allow free SVG only with license record.</a:t>
            </a:r>
          </a:p>
        </p:txBody>
      </p:sp>
      <p:sp>
        <p:nvSpPr>
          <p:cNvPr id="13" name="icon_bullet_4"/>
          <p:cNvSpPr txBox="1"/>
          <p:nvPr/>
        </p:nvSpPr>
        <p:spPr>
          <a:xfrm>
            <a:off x="1170432" y="3904487"/>
            <a:ext cx="53035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>
                <a:solidFill>
                  <a:srgbClr val="5F6B7A"/>
                </a:solidFill>
              </a:rPr>
              <a:t>- Validate icon center against text midpoint.</a:t>
            </a:r>
          </a:p>
        </p:txBody>
      </p:sp>
      <p:sp>
        <p:nvSpPr>
          <p:cNvPr id="14" name="icon_slot"/>
          <p:cNvSpPr/>
          <p:nvPr/>
        </p:nvSpPr>
        <p:spPr>
          <a:xfrm>
            <a:off x="7818120" y="1965960"/>
            <a:ext cx="2212848" cy="221284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side_icon_v"/>
          <p:cNvSpPr/>
          <p:nvPr/>
        </p:nvSpPr>
        <p:spPr>
          <a:xfrm>
            <a:off x="8745321" y="2487168"/>
            <a:ext cx="87782" cy="848563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side_icon_h"/>
          <p:cNvSpPr/>
          <p:nvPr/>
        </p:nvSpPr>
        <p:spPr>
          <a:xfrm>
            <a:off x="8394192" y="2838297"/>
            <a:ext cx="848563" cy="8778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side_icon_dot"/>
          <p:cNvSpPr/>
          <p:nvPr/>
        </p:nvSpPr>
        <p:spPr>
          <a:xfrm>
            <a:off x="9037929" y="3130905"/>
            <a:ext cx="146304" cy="14630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con_caption"/>
          <p:cNvSpPr txBox="1"/>
          <p:nvPr/>
        </p:nvSpPr>
        <p:spPr>
          <a:xfrm>
            <a:off x="7653527" y="4480560"/>
            <a:ext cx="2560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</a:rPr>
              <a:t>monotone-icon-aside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Source Appendix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MDPR Markdown files used for both generated result decks.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ppendix_0"/>
          <p:cNvSpPr txBox="1"/>
          <p:nvPr/>
        </p:nvSpPr>
        <p:spPr>
          <a:xfrm>
            <a:off x="749808" y="1389888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01. README.md</a:t>
            </a:r>
          </a:p>
        </p:txBody>
      </p:sp>
      <p:sp>
        <p:nvSpPr>
          <p:cNvPr id="8" name="appendix_1"/>
          <p:cNvSpPr txBox="1"/>
          <p:nvPr/>
        </p:nvSpPr>
        <p:spPr>
          <a:xfrm>
            <a:off x="749808" y="1828800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02. docs/00-product-definition.md</a:t>
            </a:r>
          </a:p>
        </p:txBody>
      </p:sp>
      <p:sp>
        <p:nvSpPr>
          <p:cNvPr id="9" name="appendix_2"/>
          <p:cNvSpPr txBox="1"/>
          <p:nvPr/>
        </p:nvSpPr>
        <p:spPr>
          <a:xfrm>
            <a:off x="749808" y="2267712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03. docs/01-architecture.md</a:t>
            </a:r>
          </a:p>
        </p:txBody>
      </p:sp>
      <p:sp>
        <p:nvSpPr>
          <p:cNvPr id="10" name="appendix_3"/>
          <p:cNvSpPr txBox="1"/>
          <p:nvPr/>
        </p:nvSpPr>
        <p:spPr>
          <a:xfrm>
            <a:off x="749808" y="2706624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04. docs/02-requirements.md</a:t>
            </a:r>
          </a:p>
        </p:txBody>
      </p:sp>
      <p:sp>
        <p:nvSpPr>
          <p:cNvPr id="11" name="appendix_4"/>
          <p:cNvSpPr txBox="1"/>
          <p:nvPr/>
        </p:nvSpPr>
        <p:spPr>
          <a:xfrm>
            <a:off x="749808" y="3145536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05. docs/03-page-splitting.md</a:t>
            </a:r>
          </a:p>
        </p:txBody>
      </p:sp>
      <p:sp>
        <p:nvSpPr>
          <p:cNvPr id="12" name="appendix_5"/>
          <p:cNvSpPr txBox="1"/>
          <p:nvPr/>
        </p:nvSpPr>
        <p:spPr>
          <a:xfrm>
            <a:off x="749808" y="3584448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06. docs/04-layout-rules.md</a:t>
            </a:r>
          </a:p>
        </p:txBody>
      </p:sp>
      <p:sp>
        <p:nvSpPr>
          <p:cNvPr id="13" name="appendix_6"/>
          <p:cNvSpPr txBox="1"/>
          <p:nvPr/>
        </p:nvSpPr>
        <p:spPr>
          <a:xfrm>
            <a:off x="749808" y="4023360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07. docs/05-overrides-for-llm.md</a:t>
            </a:r>
          </a:p>
        </p:txBody>
      </p:sp>
      <p:sp>
        <p:nvSpPr>
          <p:cNvPr id="14" name="appendix_7"/>
          <p:cNvSpPr txBox="1"/>
          <p:nvPr/>
        </p:nvSpPr>
        <p:spPr>
          <a:xfrm>
            <a:off x="749808" y="4462272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08. docs/06-cli-spec.md</a:t>
            </a:r>
          </a:p>
        </p:txBody>
      </p:sp>
      <p:sp>
        <p:nvSpPr>
          <p:cNvPr id="15" name="appendix_8"/>
          <p:cNvSpPr txBox="1"/>
          <p:nvPr/>
        </p:nvSpPr>
        <p:spPr>
          <a:xfrm>
            <a:off x="749808" y="4901183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09. docs/07-rendering-rules.md</a:t>
            </a:r>
          </a:p>
        </p:txBody>
      </p:sp>
      <p:sp>
        <p:nvSpPr>
          <p:cNvPr id="16" name="appendix_9"/>
          <p:cNvSpPr txBox="1"/>
          <p:nvPr/>
        </p:nvSpPr>
        <p:spPr>
          <a:xfrm>
            <a:off x="6144768" y="1389888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10. docs/08-roadmap.md</a:t>
            </a:r>
          </a:p>
        </p:txBody>
      </p:sp>
      <p:sp>
        <p:nvSpPr>
          <p:cNvPr id="17" name="appendix_10"/>
          <p:cNvSpPr txBox="1"/>
          <p:nvPr/>
        </p:nvSpPr>
        <p:spPr>
          <a:xfrm>
            <a:off x="6144768" y="1828800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11. docs/09-codex-implementation-guide.md</a:t>
            </a:r>
          </a:p>
        </p:txBody>
      </p:sp>
      <p:sp>
        <p:nvSpPr>
          <p:cNvPr id="18" name="appendix_11"/>
          <p:cNvSpPr txBox="1"/>
          <p:nvPr/>
        </p:nvSpPr>
        <p:spPr>
          <a:xfrm>
            <a:off x="6144768" y="2267712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12. docs/10-template-and-master-policy.md</a:t>
            </a:r>
          </a:p>
        </p:txBody>
      </p:sp>
      <p:sp>
        <p:nvSpPr>
          <p:cNvPr id="19" name="appendix_12"/>
          <p:cNvSpPr txBox="1"/>
          <p:nvPr/>
        </p:nvSpPr>
        <p:spPr>
          <a:xfrm>
            <a:off x="6144768" y="2706624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13. docs/11-qa-overflow.md</a:t>
            </a:r>
          </a:p>
        </p:txBody>
      </p:sp>
      <p:sp>
        <p:nvSpPr>
          <p:cNvPr id="20" name="appendix_13"/>
          <p:cNvSpPr txBox="1"/>
          <p:nvPr/>
        </p:nvSpPr>
        <p:spPr>
          <a:xfrm>
            <a:off x="6144768" y="3145536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14. docs/references.md</a:t>
            </a:r>
          </a:p>
        </p:txBody>
      </p:sp>
      <p:sp>
        <p:nvSpPr>
          <p:cNvPr id="21" name="appendix_14"/>
          <p:cNvSpPr txBox="1"/>
          <p:nvPr/>
        </p:nvSpPr>
        <p:spPr>
          <a:xfrm>
            <a:off x="6144768" y="3584448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15. docs/adr/0001-presentation-ir-schema-contract.md</a:t>
            </a:r>
          </a:p>
        </p:txBody>
      </p:sp>
      <p:sp>
        <p:nvSpPr>
          <p:cNvPr id="22" name="appendix_15"/>
          <p:cNvSpPr txBox="1"/>
          <p:nvPr/>
        </p:nvSpPr>
        <p:spPr>
          <a:xfrm>
            <a:off x="6144768" y="4023360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16. examples/basic/deck.md</a:t>
            </a:r>
          </a:p>
        </p:txBody>
      </p:sp>
      <p:sp>
        <p:nvSpPr>
          <p:cNvPr id="23" name="appendix_16"/>
          <p:cNvSpPr txBox="1"/>
          <p:nvPr/>
        </p:nvSpPr>
        <p:spPr>
          <a:xfrm>
            <a:off x="6144768" y="4462272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17. examples/comparison/deck.md</a:t>
            </a:r>
          </a:p>
        </p:txBody>
      </p:sp>
      <p:sp>
        <p:nvSpPr>
          <p:cNvPr id="24" name="appendix_17"/>
          <p:cNvSpPr txBox="1"/>
          <p:nvPr/>
        </p:nvSpPr>
        <p:spPr>
          <a:xfrm>
            <a:off x="6144768" y="4901183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18. examples/pipeline/deck.md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