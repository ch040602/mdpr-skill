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Headings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Docs + ADR</c:v>
                </c:pt>
                <c:pt idx="1">
                  <c:v>Examples</c:v>
                </c:pt>
                <c:pt idx="2">
                  <c:v>Root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130</c:v>
                </c:pt>
                <c:pt idx="1">
                  <c:v>41</c:v>
                </c:pt>
                <c:pt idx="2">
                  <c:v>14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Evidence starts with an actual MDPR run</a:t>
            </a:r>
          </a:p>
        </p:txBody>
      </p:sp>
      <p:sp>
        <p:nvSpPr>
          <p:cNvPr id="4" name="actual_source_card"/>
          <p:cNvSpPr/>
          <p:nvPr/>
        </p:nvSpPr>
        <p:spPr>
          <a:xfrm>
            <a:off x="685800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ctual_source_icon_doc"/>
          <p:cNvSpPr/>
          <p:nvPr/>
        </p:nvSpPr>
        <p:spPr>
          <a:xfrm>
            <a:off x="850392" y="149047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ctual_source_icon_line_0"/>
          <p:cNvSpPr/>
          <p:nvPr/>
        </p:nvSpPr>
        <p:spPr>
          <a:xfrm>
            <a:off x="921715" y="158556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ctual_source_icon_line_1"/>
          <p:cNvSpPr/>
          <p:nvPr/>
        </p:nvSpPr>
        <p:spPr>
          <a:xfrm>
            <a:off x="921715" y="166283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ctual_source_icon_line_2"/>
          <p:cNvSpPr/>
          <p:nvPr/>
        </p:nvSpPr>
        <p:spPr>
          <a:xfrm>
            <a:off x="921715" y="174010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ctual_source_title"/>
          <p:cNvSpPr txBox="1"/>
          <p:nvPr/>
        </p:nvSpPr>
        <p:spPr>
          <a:xfrm>
            <a:off x="149047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1. Real Markdown input</a:t>
            </a:r>
          </a:p>
        </p:txBody>
      </p:sp>
      <p:sp>
        <p:nvSpPr>
          <p:cNvPr id="10" name="actual_source_body_0"/>
          <p:cNvSpPr txBox="1"/>
          <p:nvPr/>
        </p:nvSpPr>
        <p:spPr>
          <a:xfrm>
            <a:off x="149047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21 source files</a:t>
            </a:r>
          </a:p>
        </p:txBody>
      </p:sp>
      <p:sp>
        <p:nvSpPr>
          <p:cNvPr id="11" name="actual_source_body_1"/>
          <p:cNvSpPr txBox="1"/>
          <p:nvPr/>
        </p:nvSpPr>
        <p:spPr>
          <a:xfrm>
            <a:off x="149047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185 headings</a:t>
            </a:r>
          </a:p>
        </p:txBody>
      </p:sp>
      <p:sp>
        <p:nvSpPr>
          <p:cNvPr id="12" name="actual_source_body_2"/>
          <p:cNvSpPr txBox="1"/>
          <p:nvPr/>
        </p:nvSpPr>
        <p:spPr>
          <a:xfrm>
            <a:off x="149047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97,905 chars</a:t>
            </a:r>
          </a:p>
        </p:txBody>
      </p:sp>
      <p:sp>
        <p:nvSpPr>
          <p:cNvPr id="13" name="actual_mdpr_card"/>
          <p:cNvSpPr/>
          <p:nvPr/>
        </p:nvSpPr>
        <p:spPr>
          <a:xfrm>
            <a:off x="4434840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actual_mdpr_icon_node_0"/>
          <p:cNvSpPr/>
          <p:nvPr/>
        </p:nvSpPr>
        <p:spPr>
          <a:xfrm>
            <a:off x="4599431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ctual_mdpr_icon_node_1"/>
          <p:cNvSpPr/>
          <p:nvPr/>
        </p:nvSpPr>
        <p:spPr>
          <a:xfrm>
            <a:off x="4825288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ctual_mdpr_icon_node_2"/>
          <p:cNvSpPr/>
          <p:nvPr/>
        </p:nvSpPr>
        <p:spPr>
          <a:xfrm>
            <a:off x="5051145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ctual_mdpr_icon_line_0"/>
          <p:cNvSpPr/>
          <p:nvPr/>
        </p:nvSpPr>
        <p:spPr>
          <a:xfrm>
            <a:off x="4700473" y="170444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ctual_mdpr_icon_line_1"/>
          <p:cNvSpPr/>
          <p:nvPr/>
        </p:nvSpPr>
        <p:spPr>
          <a:xfrm>
            <a:off x="4926329" y="170444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ctual_mdpr_title"/>
          <p:cNvSpPr txBox="1"/>
          <p:nvPr/>
        </p:nvSpPr>
        <p:spPr>
          <a:xfrm>
            <a:off x="523951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2. MDPR output</a:t>
            </a:r>
          </a:p>
        </p:txBody>
      </p:sp>
      <p:sp>
        <p:nvSpPr>
          <p:cNvPr id="20" name="actual_mdpr_body_0"/>
          <p:cNvSpPr txBox="1"/>
          <p:nvPr/>
        </p:nvSpPr>
        <p:spPr>
          <a:xfrm>
            <a:off x="523951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35 slides</a:t>
            </a:r>
          </a:p>
        </p:txBody>
      </p:sp>
      <p:sp>
        <p:nvSpPr>
          <p:cNvPr id="21" name="actual_mdpr_body_1"/>
          <p:cNvSpPr txBox="1"/>
          <p:nvPr/>
        </p:nvSpPr>
        <p:spPr>
          <a:xfrm>
            <a:off x="523951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389 editable text frames</a:t>
            </a:r>
          </a:p>
        </p:txBody>
      </p:sp>
      <p:sp>
        <p:nvSpPr>
          <p:cNvPr id="22" name="actual_mdpr_body_2"/>
          <p:cNvSpPr txBox="1"/>
          <p:nvPr/>
        </p:nvSpPr>
        <p:spPr>
          <a:xfrm>
            <a:off x="523951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 tables, 0 charts</a:t>
            </a:r>
          </a:p>
        </p:txBody>
      </p:sp>
      <p:sp>
        <p:nvSpPr>
          <p:cNvPr id="23" name="actual_skill_card"/>
          <p:cNvSpPr/>
          <p:nvPr/>
        </p:nvSpPr>
        <p:spPr>
          <a:xfrm>
            <a:off x="8183879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actual_skill_icon_v"/>
          <p:cNvSpPr/>
          <p:nvPr/>
        </p:nvSpPr>
        <p:spPr>
          <a:xfrm>
            <a:off x="8491118" y="1490472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ctual_skill_icon_h"/>
          <p:cNvSpPr/>
          <p:nvPr/>
        </p:nvSpPr>
        <p:spPr>
          <a:xfrm>
            <a:off x="8348471" y="1633118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ctual_skill_icon_dot"/>
          <p:cNvSpPr/>
          <p:nvPr/>
        </p:nvSpPr>
        <p:spPr>
          <a:xfrm>
            <a:off x="8609990" y="1751990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ctual_skill_title"/>
          <p:cNvSpPr txBox="1"/>
          <p:nvPr/>
        </p:nvSpPr>
        <p:spPr>
          <a:xfrm>
            <a:off x="898855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3. mdpr-skill review</a:t>
            </a:r>
          </a:p>
        </p:txBody>
      </p:sp>
      <p:sp>
        <p:nvSpPr>
          <p:cNvPr id="28" name="actual_skill_body_0"/>
          <p:cNvSpPr txBox="1"/>
          <p:nvPr/>
        </p:nvSpPr>
        <p:spPr>
          <a:xfrm>
            <a:off x="898855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reads MDPR evidence</a:t>
            </a:r>
          </a:p>
        </p:txBody>
      </p:sp>
      <p:sp>
        <p:nvSpPr>
          <p:cNvPr id="29" name="actual_skill_body_1"/>
          <p:cNvSpPr txBox="1"/>
          <p:nvPr/>
        </p:nvSpPr>
        <p:spPr>
          <a:xfrm>
            <a:off x="898855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returns optional findings</a:t>
            </a:r>
          </a:p>
        </p:txBody>
      </p:sp>
      <p:sp>
        <p:nvSpPr>
          <p:cNvPr id="30" name="actual_skill_body_2"/>
          <p:cNvSpPr txBox="1"/>
          <p:nvPr/>
        </p:nvSpPr>
        <p:spPr>
          <a:xfrm>
            <a:off x="898855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does not render final slides</a:t>
            </a:r>
          </a:p>
        </p:txBody>
      </p:sp>
      <p:sp>
        <p:nvSpPr>
          <p:cNvPr id="31" name="actual_arrow_0"/>
          <p:cNvSpPr/>
          <p:nvPr/>
        </p:nvSpPr>
        <p:spPr>
          <a:xfrm>
            <a:off x="4041648" y="210312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actual_arrow_1"/>
          <p:cNvSpPr/>
          <p:nvPr/>
        </p:nvSpPr>
        <p:spPr>
          <a:xfrm>
            <a:off x="7790688" y="210312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actual_boundary"/>
          <p:cNvSpPr/>
          <p:nvPr/>
        </p:nvSpPr>
        <p:spPr>
          <a:xfrm>
            <a:off x="777240" y="3703320"/>
            <a:ext cx="10561320" cy="1508760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actual_boundary_title"/>
          <p:cNvSpPr txBox="1"/>
          <p:nvPr/>
        </p:nvSpPr>
        <p:spPr>
          <a:xfrm>
            <a:off x="1024128" y="3913632"/>
            <a:ext cx="28346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Recorded boundary</a:t>
            </a:r>
          </a:p>
        </p:txBody>
      </p:sp>
      <p:sp>
        <p:nvSpPr>
          <p:cNvPr id="35" name="actual_boundary_body"/>
          <p:cNvSpPr txBox="1"/>
          <p:nvPr/>
        </p:nvSpPr>
        <p:spPr>
          <a:xfrm>
            <a:off x="1024128" y="4370832"/>
            <a:ext cx="9738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creates the presentation. mdpr-skill may explain or review evidence, but it does not create a second styled runtime output.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MDPR runtime and mdpr-skill boundary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" y="1481328"/>
          <a:ext cx="1088136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886200"/>
                <a:gridCol w="5440680"/>
              </a:tblGrid>
              <a:tr h="624839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Area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MDPR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Current skill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Core role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Markdown -&gt; editable presentation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Optional hints and review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Parser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Built-in or Pandoc mode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No Markdown parsing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Design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Owns layout and theme binding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Suggests intent; no final geometry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Validation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Owns deterministic pass/fail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Mirrors MDPR findings with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4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Output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Editable PPTX, HTML, and PDF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JSON hints, reports, and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The same Markdown corpus grounds both sides</a:t>
            </a:r>
          </a:p>
        </p:txBody>
      </p:sp>
      <p:sp>
        <p:nvSpPr>
          <p:cNvPr id="4" name="group_0_card"/>
          <p:cNvSpPr/>
          <p:nvPr/>
        </p:nvSpPr>
        <p:spPr>
          <a:xfrm>
            <a:off x="658368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roup_0_num"/>
          <p:cNvSpPr txBox="1"/>
          <p:nvPr/>
        </p:nvSpPr>
        <p:spPr>
          <a:xfrm>
            <a:off x="85953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13</a:t>
            </a:r>
          </a:p>
        </p:txBody>
      </p:sp>
      <p:sp>
        <p:nvSpPr>
          <p:cNvPr id="6" name="group_0_label"/>
          <p:cNvSpPr txBox="1"/>
          <p:nvPr/>
        </p:nvSpPr>
        <p:spPr>
          <a:xfrm>
            <a:off x="87782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Docs</a:t>
            </a:r>
          </a:p>
        </p:txBody>
      </p:sp>
      <p:sp>
        <p:nvSpPr>
          <p:cNvPr id="7" name="group_0_chars"/>
          <p:cNvSpPr txBox="1"/>
          <p:nvPr/>
        </p:nvSpPr>
        <p:spPr>
          <a:xfrm>
            <a:off x="87782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66,941 chars</a:t>
            </a:r>
          </a:p>
        </p:txBody>
      </p:sp>
      <p:sp>
        <p:nvSpPr>
          <p:cNvPr id="8" name="group_0_item_0"/>
          <p:cNvSpPr txBox="1"/>
          <p:nvPr/>
        </p:nvSpPr>
        <p:spPr>
          <a:xfrm>
            <a:off x="87782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00-product-definition.md</a:t>
            </a:r>
          </a:p>
        </p:txBody>
      </p:sp>
      <p:sp>
        <p:nvSpPr>
          <p:cNvPr id="9" name="group_0_item_1"/>
          <p:cNvSpPr txBox="1"/>
          <p:nvPr/>
        </p:nvSpPr>
        <p:spPr>
          <a:xfrm>
            <a:off x="877824" y="3950208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01-architecture.md</a:t>
            </a:r>
          </a:p>
        </p:txBody>
      </p:sp>
      <p:sp>
        <p:nvSpPr>
          <p:cNvPr id="10" name="group_0_item_2"/>
          <p:cNvSpPr txBox="1"/>
          <p:nvPr/>
        </p:nvSpPr>
        <p:spPr>
          <a:xfrm>
            <a:off x="877824" y="4517136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02-requirements.md</a:t>
            </a:r>
          </a:p>
        </p:txBody>
      </p:sp>
      <p:sp>
        <p:nvSpPr>
          <p:cNvPr id="11" name="group_1_card"/>
          <p:cNvSpPr/>
          <p:nvPr/>
        </p:nvSpPr>
        <p:spPr>
          <a:xfrm>
            <a:off x="3447287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oup_1_num"/>
          <p:cNvSpPr txBox="1"/>
          <p:nvPr/>
        </p:nvSpPr>
        <p:spPr>
          <a:xfrm>
            <a:off x="364845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7C3AED"/>
                </a:solidFill>
              </a:rPr>
              <a:t>6</a:t>
            </a:r>
          </a:p>
        </p:txBody>
      </p:sp>
      <p:sp>
        <p:nvSpPr>
          <p:cNvPr id="13" name="group_1_label"/>
          <p:cNvSpPr txBox="1"/>
          <p:nvPr/>
        </p:nvSpPr>
        <p:spPr>
          <a:xfrm>
            <a:off x="366674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Examples</a:t>
            </a:r>
          </a:p>
        </p:txBody>
      </p:sp>
      <p:sp>
        <p:nvSpPr>
          <p:cNvPr id="14" name="group_1_chars"/>
          <p:cNvSpPr txBox="1"/>
          <p:nvPr/>
        </p:nvSpPr>
        <p:spPr>
          <a:xfrm>
            <a:off x="366674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7,439 chars</a:t>
            </a:r>
          </a:p>
        </p:txBody>
      </p:sp>
      <p:sp>
        <p:nvSpPr>
          <p:cNvPr id="15" name="group_1_item_0"/>
          <p:cNvSpPr txBox="1"/>
          <p:nvPr/>
        </p:nvSpPr>
        <p:spPr>
          <a:xfrm>
            <a:off x="366674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6" name="group_1_item_1"/>
          <p:cNvSpPr txBox="1"/>
          <p:nvPr/>
        </p:nvSpPr>
        <p:spPr>
          <a:xfrm>
            <a:off x="3666744" y="3950208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7" name="group_1_item_2"/>
          <p:cNvSpPr txBox="1"/>
          <p:nvPr/>
        </p:nvSpPr>
        <p:spPr>
          <a:xfrm>
            <a:off x="3666744" y="4517136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deck.md</a:t>
            </a:r>
          </a:p>
        </p:txBody>
      </p:sp>
      <p:sp>
        <p:nvSpPr>
          <p:cNvPr id="18" name="group_2_card"/>
          <p:cNvSpPr/>
          <p:nvPr/>
        </p:nvSpPr>
        <p:spPr>
          <a:xfrm>
            <a:off x="6236207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oup_2_num"/>
          <p:cNvSpPr txBox="1"/>
          <p:nvPr/>
        </p:nvSpPr>
        <p:spPr>
          <a:xfrm>
            <a:off x="6437375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20" name="group_2_label"/>
          <p:cNvSpPr txBox="1"/>
          <p:nvPr/>
        </p:nvSpPr>
        <p:spPr>
          <a:xfrm>
            <a:off x="645566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Root</a:t>
            </a:r>
          </a:p>
        </p:txBody>
      </p:sp>
      <p:sp>
        <p:nvSpPr>
          <p:cNvPr id="21" name="group_2_chars"/>
          <p:cNvSpPr txBox="1"/>
          <p:nvPr/>
        </p:nvSpPr>
        <p:spPr>
          <a:xfrm>
            <a:off x="645566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22,299 chars</a:t>
            </a:r>
          </a:p>
        </p:txBody>
      </p:sp>
      <p:sp>
        <p:nvSpPr>
          <p:cNvPr id="22" name="group_2_item_0"/>
          <p:cNvSpPr txBox="1"/>
          <p:nvPr/>
        </p:nvSpPr>
        <p:spPr>
          <a:xfrm>
            <a:off x="645566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README.md</a:t>
            </a:r>
          </a:p>
        </p:txBody>
      </p:sp>
      <p:sp>
        <p:nvSpPr>
          <p:cNvPr id="23" name="group_3_card"/>
          <p:cNvSpPr/>
          <p:nvPr/>
        </p:nvSpPr>
        <p:spPr>
          <a:xfrm>
            <a:off x="9025128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oup_3_num"/>
          <p:cNvSpPr txBox="1"/>
          <p:nvPr/>
        </p:nvSpPr>
        <p:spPr>
          <a:xfrm>
            <a:off x="922629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25" name="group_3_label"/>
          <p:cNvSpPr txBox="1"/>
          <p:nvPr/>
        </p:nvSpPr>
        <p:spPr>
          <a:xfrm>
            <a:off x="924458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ADR</a:t>
            </a:r>
          </a:p>
        </p:txBody>
      </p:sp>
      <p:sp>
        <p:nvSpPr>
          <p:cNvPr id="26" name="group_3_chars"/>
          <p:cNvSpPr txBox="1"/>
          <p:nvPr/>
        </p:nvSpPr>
        <p:spPr>
          <a:xfrm>
            <a:off x="924458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1,226 chars</a:t>
            </a:r>
          </a:p>
        </p:txBody>
      </p:sp>
      <p:sp>
        <p:nvSpPr>
          <p:cNvPr id="27" name="group_3_item_0"/>
          <p:cNvSpPr txBox="1"/>
          <p:nvPr/>
        </p:nvSpPr>
        <p:spPr>
          <a:xfrm>
            <a:off x="924458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0001-presentation-ir-schema-contract.md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One runtime, one optional review companion</a:t>
            </a:r>
          </a:p>
        </p:txBody>
      </p:sp>
      <p:sp>
        <p:nvSpPr>
          <p:cNvPr id="4" name="node_0"/>
          <p:cNvSpPr/>
          <p:nvPr/>
        </p:nvSpPr>
        <p:spPr>
          <a:xfrm>
            <a:off x="65836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node_0_title"/>
          <p:cNvSpPr txBox="1"/>
          <p:nvPr/>
        </p:nvSpPr>
        <p:spPr>
          <a:xfrm>
            <a:off x="76809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Markdown</a:t>
            </a:r>
          </a:p>
        </p:txBody>
      </p:sp>
      <p:sp>
        <p:nvSpPr>
          <p:cNvPr id="6" name="node_0_sub"/>
          <p:cNvSpPr txBox="1"/>
          <p:nvPr/>
        </p:nvSpPr>
        <p:spPr>
          <a:xfrm>
            <a:off x="76809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source</a:t>
            </a:r>
          </a:p>
        </p:txBody>
      </p:sp>
      <p:sp>
        <p:nvSpPr>
          <p:cNvPr id="7" name="arrow_0"/>
          <p:cNvSpPr/>
          <p:nvPr/>
        </p:nvSpPr>
        <p:spPr>
          <a:xfrm>
            <a:off x="2359152" y="2395728"/>
            <a:ext cx="438912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ode_1"/>
          <p:cNvSpPr/>
          <p:nvPr/>
        </p:nvSpPr>
        <p:spPr>
          <a:xfrm>
            <a:off x="289864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ode_1_title"/>
          <p:cNvSpPr txBox="1"/>
          <p:nvPr/>
        </p:nvSpPr>
        <p:spPr>
          <a:xfrm>
            <a:off x="300837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Parser</a:t>
            </a:r>
          </a:p>
        </p:txBody>
      </p:sp>
      <p:sp>
        <p:nvSpPr>
          <p:cNvPr id="10" name="node_1_sub"/>
          <p:cNvSpPr txBox="1"/>
          <p:nvPr/>
        </p:nvSpPr>
        <p:spPr>
          <a:xfrm>
            <a:off x="300837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simple/Pandoc</a:t>
            </a:r>
          </a:p>
        </p:txBody>
      </p:sp>
      <p:sp>
        <p:nvSpPr>
          <p:cNvPr id="11" name="arrow_1"/>
          <p:cNvSpPr/>
          <p:nvPr/>
        </p:nvSpPr>
        <p:spPr>
          <a:xfrm>
            <a:off x="4599432" y="2395728"/>
            <a:ext cx="438912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ode_2"/>
          <p:cNvSpPr/>
          <p:nvPr/>
        </p:nvSpPr>
        <p:spPr>
          <a:xfrm>
            <a:off x="5138928" y="2057400"/>
            <a:ext cx="1664208" cy="1024128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node_2_title"/>
          <p:cNvSpPr txBox="1"/>
          <p:nvPr/>
        </p:nvSpPr>
        <p:spPr>
          <a:xfrm>
            <a:off x="524865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Presentation IR</a:t>
            </a:r>
          </a:p>
        </p:txBody>
      </p:sp>
      <p:sp>
        <p:nvSpPr>
          <p:cNvPr id="14" name="node_2_sub"/>
          <p:cNvSpPr txBox="1"/>
          <p:nvPr/>
        </p:nvSpPr>
        <p:spPr>
          <a:xfrm>
            <a:off x="524865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semantic slides</a:t>
            </a:r>
          </a:p>
        </p:txBody>
      </p:sp>
      <p:sp>
        <p:nvSpPr>
          <p:cNvPr id="15" name="arrow_2"/>
          <p:cNvSpPr/>
          <p:nvPr/>
        </p:nvSpPr>
        <p:spPr>
          <a:xfrm>
            <a:off x="6839712" y="2395728"/>
            <a:ext cx="438912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ode_3"/>
          <p:cNvSpPr/>
          <p:nvPr/>
        </p:nvSpPr>
        <p:spPr>
          <a:xfrm>
            <a:off x="7379208" y="2057400"/>
            <a:ext cx="1664208" cy="1024128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node_3_title"/>
          <p:cNvSpPr txBox="1"/>
          <p:nvPr/>
        </p:nvSpPr>
        <p:spPr>
          <a:xfrm>
            <a:off x="748893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MDPR rules</a:t>
            </a:r>
          </a:p>
        </p:txBody>
      </p:sp>
      <p:sp>
        <p:nvSpPr>
          <p:cNvPr id="18" name="node_3_sub"/>
          <p:cNvSpPr txBox="1"/>
          <p:nvPr/>
        </p:nvSpPr>
        <p:spPr>
          <a:xfrm>
            <a:off x="748893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layout/theme</a:t>
            </a:r>
          </a:p>
        </p:txBody>
      </p:sp>
      <p:sp>
        <p:nvSpPr>
          <p:cNvPr id="19" name="arrow_3"/>
          <p:cNvSpPr/>
          <p:nvPr/>
        </p:nvSpPr>
        <p:spPr>
          <a:xfrm>
            <a:off x="9079992" y="2395728"/>
            <a:ext cx="438912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node_4"/>
          <p:cNvSpPr/>
          <p:nvPr/>
        </p:nvSpPr>
        <p:spPr>
          <a:xfrm>
            <a:off x="961948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node_4_title"/>
          <p:cNvSpPr txBox="1"/>
          <p:nvPr/>
        </p:nvSpPr>
        <p:spPr>
          <a:xfrm>
            <a:off x="972921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Editable PPTX</a:t>
            </a:r>
          </a:p>
        </p:txBody>
      </p:sp>
      <p:sp>
        <p:nvSpPr>
          <p:cNvPr id="22" name="node_4_sub"/>
          <p:cNvSpPr txBox="1"/>
          <p:nvPr/>
        </p:nvSpPr>
        <p:spPr>
          <a:xfrm>
            <a:off x="972921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runtime output</a:t>
            </a:r>
          </a:p>
        </p:txBody>
      </p:sp>
      <p:sp>
        <p:nvSpPr>
          <p:cNvPr id="23" name="mdpr_card"/>
          <p:cNvSpPr/>
          <p:nvPr/>
        </p:nvSpPr>
        <p:spPr>
          <a:xfrm>
            <a:off x="749808" y="3730752"/>
            <a:ext cx="4892040" cy="1874519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mdpr_icon_doc"/>
          <p:cNvSpPr/>
          <p:nvPr/>
        </p:nvSpPr>
        <p:spPr>
          <a:xfrm>
            <a:off x="914400" y="389534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mdpr_icon_line_0"/>
          <p:cNvSpPr/>
          <p:nvPr/>
        </p:nvSpPr>
        <p:spPr>
          <a:xfrm>
            <a:off x="985723" y="399044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mdpr_icon_line_1"/>
          <p:cNvSpPr/>
          <p:nvPr/>
        </p:nvSpPr>
        <p:spPr>
          <a:xfrm>
            <a:off x="985723" y="406770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mdpr_icon_line_2"/>
          <p:cNvSpPr/>
          <p:nvPr/>
        </p:nvSpPr>
        <p:spPr>
          <a:xfrm>
            <a:off x="985723" y="414497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mdpr_title"/>
          <p:cNvSpPr txBox="1"/>
          <p:nvPr/>
        </p:nvSpPr>
        <p:spPr>
          <a:xfrm>
            <a:off x="1554480" y="3913632"/>
            <a:ext cx="390448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MDPR owns</a:t>
            </a:r>
          </a:p>
        </p:txBody>
      </p:sp>
      <p:sp>
        <p:nvSpPr>
          <p:cNvPr id="29" name="mdpr_body_0"/>
          <p:cNvSpPr txBox="1"/>
          <p:nvPr/>
        </p:nvSpPr>
        <p:spPr>
          <a:xfrm>
            <a:off x="1554480" y="4370832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layout and typography</a:t>
            </a:r>
          </a:p>
        </p:txBody>
      </p:sp>
      <p:sp>
        <p:nvSpPr>
          <p:cNvPr id="30" name="mdpr_body_1"/>
          <p:cNvSpPr txBox="1"/>
          <p:nvPr/>
        </p:nvSpPr>
        <p:spPr>
          <a:xfrm>
            <a:off x="1554480" y="4754880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editable rendering</a:t>
            </a:r>
          </a:p>
        </p:txBody>
      </p:sp>
      <p:sp>
        <p:nvSpPr>
          <p:cNvPr id="31" name="mdpr_body_2"/>
          <p:cNvSpPr txBox="1"/>
          <p:nvPr/>
        </p:nvSpPr>
        <p:spPr>
          <a:xfrm>
            <a:off x="1554480" y="5138928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deterministic pass/fail</a:t>
            </a:r>
          </a:p>
        </p:txBody>
      </p:sp>
      <p:sp>
        <p:nvSpPr>
          <p:cNvPr id="32" name="skill_card"/>
          <p:cNvSpPr/>
          <p:nvPr/>
        </p:nvSpPr>
        <p:spPr>
          <a:xfrm>
            <a:off x="6144768" y="3730752"/>
            <a:ext cx="4892040" cy="1874519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kill_icon_v"/>
          <p:cNvSpPr/>
          <p:nvPr/>
        </p:nvSpPr>
        <p:spPr>
          <a:xfrm>
            <a:off x="6452006" y="3895344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kill_icon_h"/>
          <p:cNvSpPr/>
          <p:nvPr/>
        </p:nvSpPr>
        <p:spPr>
          <a:xfrm>
            <a:off x="6309359" y="4037990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kill_icon_dot"/>
          <p:cNvSpPr/>
          <p:nvPr/>
        </p:nvSpPr>
        <p:spPr>
          <a:xfrm>
            <a:off x="6570878" y="4156862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skill_title"/>
          <p:cNvSpPr txBox="1"/>
          <p:nvPr/>
        </p:nvSpPr>
        <p:spPr>
          <a:xfrm>
            <a:off x="6949440" y="3913632"/>
            <a:ext cx="390448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mdpr-skill assists</a:t>
            </a:r>
          </a:p>
        </p:txBody>
      </p:sp>
      <p:sp>
        <p:nvSpPr>
          <p:cNvPr id="37" name="skill_body_0"/>
          <p:cNvSpPr txBox="1"/>
          <p:nvPr/>
        </p:nvSpPr>
        <p:spPr>
          <a:xfrm>
            <a:off x="6949440" y="4370832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semantic hints</a:t>
            </a:r>
          </a:p>
        </p:txBody>
      </p:sp>
      <p:sp>
        <p:nvSpPr>
          <p:cNvPr id="38" name="skill_body_1"/>
          <p:cNvSpPr txBox="1"/>
          <p:nvPr/>
        </p:nvSpPr>
        <p:spPr>
          <a:xfrm>
            <a:off x="6949440" y="4754880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review explanations</a:t>
            </a:r>
          </a:p>
        </p:txBody>
      </p:sp>
      <p:sp>
        <p:nvSpPr>
          <p:cNvPr id="39" name="skill_body_2"/>
          <p:cNvSpPr txBox="1"/>
          <p:nvPr/>
        </p:nvSpPr>
        <p:spPr>
          <a:xfrm>
            <a:off x="6949440" y="5138928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evidence routing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Source families exercise different runtime paths</a:t>
            </a:r>
          </a:p>
        </p:txBody>
      </p:sp>
      <p:sp>
        <p:nvSpPr>
          <p:cNvPr id="4" name="docmap_0_card"/>
          <p:cNvSpPr/>
          <p:nvPr/>
        </p:nvSpPr>
        <p:spPr>
          <a:xfrm>
            <a:off x="6858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ocmap_0_icon_doc"/>
          <p:cNvSpPr/>
          <p:nvPr/>
        </p:nvSpPr>
        <p:spPr>
          <a:xfrm>
            <a:off x="850392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ocmap_0_icon_line_0"/>
          <p:cNvSpPr/>
          <p:nvPr/>
        </p:nvSpPr>
        <p:spPr>
          <a:xfrm>
            <a:off x="921715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ocmap_0_icon_line_1"/>
          <p:cNvSpPr/>
          <p:nvPr/>
        </p:nvSpPr>
        <p:spPr>
          <a:xfrm>
            <a:off x="921715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ocmap_0_icon_line_2"/>
          <p:cNvSpPr/>
          <p:nvPr/>
        </p:nvSpPr>
        <p:spPr>
          <a:xfrm>
            <a:off x="921715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ocmap_0_title"/>
          <p:cNvSpPr txBox="1"/>
          <p:nvPr/>
        </p:nvSpPr>
        <p:spPr>
          <a:xfrm>
            <a:off x="14904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Architecture</a:t>
            </a:r>
          </a:p>
        </p:txBody>
      </p:sp>
      <p:sp>
        <p:nvSpPr>
          <p:cNvPr id="10" name="docmap_0_body_0"/>
          <p:cNvSpPr txBox="1"/>
          <p:nvPr/>
        </p:nvSpPr>
        <p:spPr>
          <a:xfrm>
            <a:off x="14904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packages and renderer</a:t>
            </a:r>
          </a:p>
        </p:txBody>
      </p:sp>
      <p:sp>
        <p:nvSpPr>
          <p:cNvPr id="11" name="docmap_0_body_1"/>
          <p:cNvSpPr txBox="1"/>
          <p:nvPr/>
        </p:nvSpPr>
        <p:spPr>
          <a:xfrm>
            <a:off x="14904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pipeline evidence</a:t>
            </a:r>
          </a:p>
        </p:txBody>
      </p:sp>
      <p:sp>
        <p:nvSpPr>
          <p:cNvPr id="12" name="docmap_1_card"/>
          <p:cNvSpPr/>
          <p:nvPr/>
        </p:nvSpPr>
        <p:spPr>
          <a:xfrm>
            <a:off x="43434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ocmap_1_icon_node_0"/>
          <p:cNvSpPr/>
          <p:nvPr/>
        </p:nvSpPr>
        <p:spPr>
          <a:xfrm>
            <a:off x="4507992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ocmap_1_icon_node_1"/>
          <p:cNvSpPr/>
          <p:nvPr/>
        </p:nvSpPr>
        <p:spPr>
          <a:xfrm>
            <a:off x="4733848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ocmap_1_icon_node_2"/>
          <p:cNvSpPr/>
          <p:nvPr/>
        </p:nvSpPr>
        <p:spPr>
          <a:xfrm>
            <a:off x="4959705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cmap_1_icon_line_0"/>
          <p:cNvSpPr/>
          <p:nvPr/>
        </p:nvSpPr>
        <p:spPr>
          <a:xfrm>
            <a:off x="4609033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cmap_1_icon_line_1"/>
          <p:cNvSpPr/>
          <p:nvPr/>
        </p:nvSpPr>
        <p:spPr>
          <a:xfrm>
            <a:off x="4834890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cmap_1_title"/>
          <p:cNvSpPr txBox="1"/>
          <p:nvPr/>
        </p:nvSpPr>
        <p:spPr>
          <a:xfrm>
            <a:off x="51480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Page splitting</a:t>
            </a:r>
          </a:p>
        </p:txBody>
      </p:sp>
      <p:sp>
        <p:nvSpPr>
          <p:cNvPr id="19" name="docmap_1_body_0"/>
          <p:cNvSpPr txBox="1"/>
          <p:nvPr/>
        </p:nvSpPr>
        <p:spPr>
          <a:xfrm>
            <a:off x="51480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headings and density</a:t>
            </a:r>
          </a:p>
        </p:txBody>
      </p:sp>
      <p:sp>
        <p:nvSpPr>
          <p:cNvPr id="20" name="docmap_1_body_1"/>
          <p:cNvSpPr txBox="1"/>
          <p:nvPr/>
        </p:nvSpPr>
        <p:spPr>
          <a:xfrm>
            <a:off x="51480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split-rule evidence</a:t>
            </a:r>
          </a:p>
        </p:txBody>
      </p:sp>
      <p:sp>
        <p:nvSpPr>
          <p:cNvPr id="21" name="docmap_2_card"/>
          <p:cNvSpPr/>
          <p:nvPr/>
        </p:nvSpPr>
        <p:spPr>
          <a:xfrm>
            <a:off x="80010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ocmap_2_icon_body"/>
          <p:cNvSpPr/>
          <p:nvPr/>
        </p:nvSpPr>
        <p:spPr>
          <a:xfrm>
            <a:off x="8165592" y="15179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ocmap_2_icon_cut"/>
          <p:cNvSpPr/>
          <p:nvPr/>
        </p:nvSpPr>
        <p:spPr>
          <a:xfrm>
            <a:off x="8296351" y="15892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cmap_2_title"/>
          <p:cNvSpPr txBox="1"/>
          <p:nvPr/>
        </p:nvSpPr>
        <p:spPr>
          <a:xfrm>
            <a:off x="88056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Layout rules</a:t>
            </a:r>
          </a:p>
        </p:txBody>
      </p:sp>
      <p:sp>
        <p:nvSpPr>
          <p:cNvPr id="25" name="docmap_2_body_0"/>
          <p:cNvSpPr txBox="1"/>
          <p:nvPr/>
        </p:nvSpPr>
        <p:spPr>
          <a:xfrm>
            <a:off x="88056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regions and overflow</a:t>
            </a:r>
          </a:p>
        </p:txBody>
      </p:sp>
      <p:sp>
        <p:nvSpPr>
          <p:cNvPr id="26" name="docmap_2_body_1"/>
          <p:cNvSpPr txBox="1"/>
          <p:nvPr/>
        </p:nvSpPr>
        <p:spPr>
          <a:xfrm>
            <a:off x="88056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grid evidence</a:t>
            </a:r>
          </a:p>
        </p:txBody>
      </p:sp>
      <p:sp>
        <p:nvSpPr>
          <p:cNvPr id="27" name="docmap_3_card"/>
          <p:cNvSpPr/>
          <p:nvPr/>
        </p:nvSpPr>
        <p:spPr>
          <a:xfrm>
            <a:off x="6858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ocmap_3_icon_doc"/>
          <p:cNvSpPr/>
          <p:nvPr/>
        </p:nvSpPr>
        <p:spPr>
          <a:xfrm>
            <a:off x="850392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ocmap_3_icon_line_0"/>
          <p:cNvSpPr/>
          <p:nvPr/>
        </p:nvSpPr>
        <p:spPr>
          <a:xfrm>
            <a:off x="921715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ocmap_3_icon_line_1"/>
          <p:cNvSpPr/>
          <p:nvPr/>
        </p:nvSpPr>
        <p:spPr>
          <a:xfrm>
            <a:off x="921715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cmap_3_icon_line_2"/>
          <p:cNvSpPr/>
          <p:nvPr/>
        </p:nvSpPr>
        <p:spPr>
          <a:xfrm>
            <a:off x="921715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ocmap_3_title"/>
          <p:cNvSpPr txBox="1"/>
          <p:nvPr/>
        </p:nvSpPr>
        <p:spPr>
          <a:xfrm>
            <a:off x="14904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Rendering rules</a:t>
            </a:r>
          </a:p>
        </p:txBody>
      </p:sp>
      <p:sp>
        <p:nvSpPr>
          <p:cNvPr id="33" name="docmap_3_body_0"/>
          <p:cNvSpPr txBox="1"/>
          <p:nvPr/>
        </p:nvSpPr>
        <p:spPr>
          <a:xfrm>
            <a:off x="14904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PPTX, PDF, and HTML</a:t>
            </a:r>
          </a:p>
        </p:txBody>
      </p:sp>
      <p:sp>
        <p:nvSpPr>
          <p:cNvPr id="34" name="docmap_3_body_1"/>
          <p:cNvSpPr txBox="1"/>
          <p:nvPr/>
        </p:nvSpPr>
        <p:spPr>
          <a:xfrm>
            <a:off x="14904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format evidence</a:t>
            </a:r>
          </a:p>
        </p:txBody>
      </p:sp>
      <p:sp>
        <p:nvSpPr>
          <p:cNvPr id="35" name="docmap_4_card"/>
          <p:cNvSpPr/>
          <p:nvPr/>
        </p:nvSpPr>
        <p:spPr>
          <a:xfrm>
            <a:off x="43434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cmap_4_icon_node_0"/>
          <p:cNvSpPr/>
          <p:nvPr/>
        </p:nvSpPr>
        <p:spPr>
          <a:xfrm>
            <a:off x="4507992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ocmap_4_icon_node_1"/>
          <p:cNvSpPr/>
          <p:nvPr/>
        </p:nvSpPr>
        <p:spPr>
          <a:xfrm>
            <a:off x="4733848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ocmap_4_icon_node_2"/>
          <p:cNvSpPr/>
          <p:nvPr/>
        </p:nvSpPr>
        <p:spPr>
          <a:xfrm>
            <a:off x="4959705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ocmap_4_icon_line_0"/>
          <p:cNvSpPr/>
          <p:nvPr/>
        </p:nvSpPr>
        <p:spPr>
          <a:xfrm>
            <a:off x="4609033" y="37892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cmap_4_icon_line_1"/>
          <p:cNvSpPr/>
          <p:nvPr/>
        </p:nvSpPr>
        <p:spPr>
          <a:xfrm>
            <a:off x="4834890" y="37892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cmap_4_title"/>
          <p:cNvSpPr txBox="1"/>
          <p:nvPr/>
        </p:nvSpPr>
        <p:spPr>
          <a:xfrm>
            <a:off x="51480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Overrides</a:t>
            </a:r>
          </a:p>
        </p:txBody>
      </p:sp>
      <p:sp>
        <p:nvSpPr>
          <p:cNvPr id="42" name="docmap_4_body_0"/>
          <p:cNvSpPr txBox="1"/>
          <p:nvPr/>
        </p:nvSpPr>
        <p:spPr>
          <a:xfrm>
            <a:off x="51480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human and LLM boundary</a:t>
            </a:r>
          </a:p>
        </p:txBody>
      </p:sp>
      <p:sp>
        <p:nvSpPr>
          <p:cNvPr id="43" name="docmap_4_body_1"/>
          <p:cNvSpPr txBox="1"/>
          <p:nvPr/>
        </p:nvSpPr>
        <p:spPr>
          <a:xfrm>
            <a:off x="51480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annotation evidence</a:t>
            </a:r>
          </a:p>
        </p:txBody>
      </p:sp>
      <p:sp>
        <p:nvSpPr>
          <p:cNvPr id="44" name="docmap_5_card"/>
          <p:cNvSpPr/>
          <p:nvPr/>
        </p:nvSpPr>
        <p:spPr>
          <a:xfrm>
            <a:off x="80010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ocmap_5_icon_body"/>
          <p:cNvSpPr/>
          <p:nvPr/>
        </p:nvSpPr>
        <p:spPr>
          <a:xfrm>
            <a:off x="8165592" y="35753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ocmap_5_icon_cut"/>
          <p:cNvSpPr/>
          <p:nvPr/>
        </p:nvSpPr>
        <p:spPr>
          <a:xfrm>
            <a:off x="8296351" y="36466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docmap_5_title"/>
          <p:cNvSpPr txBox="1"/>
          <p:nvPr/>
        </p:nvSpPr>
        <p:spPr>
          <a:xfrm>
            <a:off x="88056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Examples</a:t>
            </a:r>
          </a:p>
        </p:txBody>
      </p:sp>
      <p:sp>
        <p:nvSpPr>
          <p:cNvPr id="48" name="docmap_5_body_0"/>
          <p:cNvSpPr txBox="1"/>
          <p:nvPr/>
        </p:nvSpPr>
        <p:spPr>
          <a:xfrm>
            <a:off x="88056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actual deck Markdown</a:t>
            </a:r>
          </a:p>
        </p:txBody>
      </p:sp>
      <p:sp>
        <p:nvSpPr>
          <p:cNvPr id="49" name="docmap_5_body_1"/>
          <p:cNvSpPr txBox="1"/>
          <p:nvPr/>
        </p:nvSpPr>
        <p:spPr>
          <a:xfrm>
            <a:off x="88056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intent evidence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mdpr-skill narrows review, not rendering</a:t>
            </a:r>
          </a:p>
        </p:txBody>
      </p:sp>
      <p:sp>
        <p:nvSpPr>
          <p:cNvPr id="4" name="icon_card"/>
          <p:cNvSpPr/>
          <p:nvPr/>
        </p:nvSpPr>
        <p:spPr>
          <a:xfrm>
            <a:off x="713232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con_icon_v"/>
          <p:cNvSpPr/>
          <p:nvPr/>
        </p:nvSpPr>
        <p:spPr>
          <a:xfrm>
            <a:off x="1020470" y="1517904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con_icon_h"/>
          <p:cNvSpPr/>
          <p:nvPr/>
        </p:nvSpPr>
        <p:spPr>
          <a:xfrm>
            <a:off x="877824" y="1660550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con_icon_dot"/>
          <p:cNvSpPr/>
          <p:nvPr/>
        </p:nvSpPr>
        <p:spPr>
          <a:xfrm>
            <a:off x="1139342" y="1779422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con_title"/>
          <p:cNvSpPr txBox="1"/>
          <p:nvPr/>
        </p:nvSpPr>
        <p:spPr>
          <a:xfrm>
            <a:off x="1517904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Semantic hints</a:t>
            </a:r>
          </a:p>
        </p:txBody>
      </p:sp>
      <p:sp>
        <p:nvSpPr>
          <p:cNvPr id="9" name="icon_body_0"/>
          <p:cNvSpPr txBox="1"/>
          <p:nvPr/>
        </p:nvSpPr>
        <p:spPr>
          <a:xfrm>
            <a:off x="1517904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grouping and intent</a:t>
            </a:r>
          </a:p>
        </p:txBody>
      </p:sp>
      <p:sp>
        <p:nvSpPr>
          <p:cNvPr id="10" name="icon_body_1"/>
          <p:cNvSpPr txBox="1"/>
          <p:nvPr/>
        </p:nvSpPr>
        <p:spPr>
          <a:xfrm>
            <a:off x="1517904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source-bound keywords</a:t>
            </a:r>
          </a:p>
        </p:txBody>
      </p:sp>
      <p:sp>
        <p:nvSpPr>
          <p:cNvPr id="11" name="icon_body_2"/>
          <p:cNvSpPr txBox="1"/>
          <p:nvPr/>
        </p:nvSpPr>
        <p:spPr>
          <a:xfrm>
            <a:off x="1517904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content split candidates</a:t>
            </a:r>
          </a:p>
        </p:txBody>
      </p:sp>
      <p:sp>
        <p:nvSpPr>
          <p:cNvPr id="12" name="info_card"/>
          <p:cNvSpPr/>
          <p:nvPr/>
        </p:nvSpPr>
        <p:spPr>
          <a:xfrm>
            <a:off x="4443984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nfo_icon_node_0"/>
          <p:cNvSpPr/>
          <p:nvPr/>
        </p:nvSpPr>
        <p:spPr>
          <a:xfrm>
            <a:off x="4608576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nfo_icon_node_1"/>
          <p:cNvSpPr/>
          <p:nvPr/>
        </p:nvSpPr>
        <p:spPr>
          <a:xfrm>
            <a:off x="4834432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nfo_icon_node_2"/>
          <p:cNvSpPr/>
          <p:nvPr/>
        </p:nvSpPr>
        <p:spPr>
          <a:xfrm>
            <a:off x="5060289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nfo_icon_line_0"/>
          <p:cNvSpPr/>
          <p:nvPr/>
        </p:nvSpPr>
        <p:spPr>
          <a:xfrm>
            <a:off x="4709617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nfo_icon_line_1"/>
          <p:cNvSpPr/>
          <p:nvPr/>
        </p:nvSpPr>
        <p:spPr>
          <a:xfrm>
            <a:off x="4935474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nfo_title"/>
          <p:cNvSpPr txBox="1"/>
          <p:nvPr/>
        </p:nvSpPr>
        <p:spPr>
          <a:xfrm>
            <a:off x="5248656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Review evidence</a:t>
            </a:r>
          </a:p>
        </p:txBody>
      </p:sp>
      <p:sp>
        <p:nvSpPr>
          <p:cNvPr id="19" name="info_body_0"/>
          <p:cNvSpPr txBox="1"/>
          <p:nvPr/>
        </p:nvSpPr>
        <p:spPr>
          <a:xfrm>
            <a:off x="5248656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rendered preview paths</a:t>
            </a:r>
          </a:p>
        </p:txBody>
      </p:sp>
      <p:sp>
        <p:nvSpPr>
          <p:cNvPr id="20" name="info_body_1"/>
          <p:cNvSpPr txBox="1"/>
          <p:nvPr/>
        </p:nvSpPr>
        <p:spPr>
          <a:xfrm>
            <a:off x="5248656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finding IDs</a:t>
            </a:r>
          </a:p>
        </p:txBody>
      </p:sp>
      <p:sp>
        <p:nvSpPr>
          <p:cNvPr id="21" name="info_body_2"/>
          <p:cNvSpPr txBox="1"/>
          <p:nvPr/>
        </p:nvSpPr>
        <p:spPr>
          <a:xfrm>
            <a:off x="5248656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manifest status</a:t>
            </a:r>
          </a:p>
        </p:txBody>
      </p:sp>
      <p:sp>
        <p:nvSpPr>
          <p:cNvPr id="22" name="qa_card"/>
          <p:cNvSpPr/>
          <p:nvPr/>
        </p:nvSpPr>
        <p:spPr>
          <a:xfrm>
            <a:off x="8174736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qa_icon_body"/>
          <p:cNvSpPr/>
          <p:nvPr/>
        </p:nvSpPr>
        <p:spPr>
          <a:xfrm>
            <a:off x="8339327" y="15179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qa_icon_cut"/>
          <p:cNvSpPr/>
          <p:nvPr/>
        </p:nvSpPr>
        <p:spPr>
          <a:xfrm>
            <a:off x="8470087" y="15892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qa_title"/>
          <p:cNvSpPr txBox="1"/>
          <p:nvPr/>
        </p:nvSpPr>
        <p:spPr>
          <a:xfrm>
            <a:off x="8979408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BE123C"/>
                </a:solidFill>
              </a:rPr>
              <a:t>Hard boundary</a:t>
            </a:r>
          </a:p>
        </p:txBody>
      </p:sp>
      <p:sp>
        <p:nvSpPr>
          <p:cNvPr id="26" name="qa_body_0"/>
          <p:cNvSpPr txBox="1"/>
          <p:nvPr/>
        </p:nvSpPr>
        <p:spPr>
          <a:xfrm>
            <a:off x="8979408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coordinates</a:t>
            </a:r>
          </a:p>
        </p:txBody>
      </p:sp>
      <p:sp>
        <p:nvSpPr>
          <p:cNvPr id="27" name="qa_body_1"/>
          <p:cNvSpPr txBox="1"/>
          <p:nvPr/>
        </p:nvSpPr>
        <p:spPr>
          <a:xfrm>
            <a:off x="8979408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exact typography</a:t>
            </a:r>
          </a:p>
        </p:txBody>
      </p:sp>
      <p:sp>
        <p:nvSpPr>
          <p:cNvPr id="28" name="qa_body_2"/>
          <p:cNvSpPr txBox="1"/>
          <p:nvPr/>
        </p:nvSpPr>
        <p:spPr>
          <a:xfrm>
            <a:off x="8979408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pass/fail override</a:t>
            </a:r>
          </a:p>
        </p:txBody>
      </p:sp>
      <p:sp>
        <p:nvSpPr>
          <p:cNvPr id="29" name="line"/>
          <p:cNvSpPr/>
          <p:nvPr/>
        </p:nvSpPr>
        <p:spPr>
          <a:xfrm>
            <a:off x="960120" y="3685032"/>
            <a:ext cx="10012680" cy="36576"/>
          </a:xfrm>
          <a:prstGeom prst="rect">
            <a:avLst/>
          </a:prstGeom>
          <a:solidFill>
            <a:srgbClr val="D7CDBD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tep_0_num"/>
          <p:cNvSpPr/>
          <p:nvPr/>
        </p:nvSpPr>
        <p:spPr>
          <a:xfrm>
            <a:off x="100584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1" name="step_0_label"/>
          <p:cNvSpPr txBox="1"/>
          <p:nvPr/>
        </p:nvSpPr>
        <p:spPr>
          <a:xfrm>
            <a:off x="42062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Detect text-only</a:t>
            </a:r>
          </a:p>
        </p:txBody>
      </p:sp>
      <p:sp>
        <p:nvSpPr>
          <p:cNvPr id="32" name="step_1_num"/>
          <p:cNvSpPr/>
          <p:nvPr/>
        </p:nvSpPr>
        <p:spPr>
          <a:xfrm>
            <a:off x="365760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3" name="step_1_label"/>
          <p:cNvSpPr txBox="1"/>
          <p:nvPr/>
        </p:nvSpPr>
        <p:spPr>
          <a:xfrm>
            <a:off x="307238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Reserve aside slot</a:t>
            </a:r>
          </a:p>
        </p:txBody>
      </p:sp>
      <p:sp>
        <p:nvSpPr>
          <p:cNvPr id="34" name="step_2_num"/>
          <p:cNvSpPr/>
          <p:nvPr/>
        </p:nvSpPr>
        <p:spPr>
          <a:xfrm>
            <a:off x="630936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5" name="step_2_label"/>
          <p:cNvSpPr txBox="1"/>
          <p:nvPr/>
        </p:nvSpPr>
        <p:spPr>
          <a:xfrm>
            <a:off x="572414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Pick monotone source</a:t>
            </a:r>
          </a:p>
        </p:txBody>
      </p:sp>
      <p:sp>
        <p:nvSpPr>
          <p:cNvPr id="36" name="step_3_num"/>
          <p:cNvSpPr/>
          <p:nvPr/>
        </p:nvSpPr>
        <p:spPr>
          <a:xfrm>
            <a:off x="8961119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7" name="step_3_label"/>
          <p:cNvSpPr txBox="1"/>
          <p:nvPr/>
        </p:nvSpPr>
        <p:spPr>
          <a:xfrm>
            <a:off x="8375903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Validate alignment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Examples broaden content without changing ownership</a:t>
            </a:r>
          </a:p>
        </p:txBody>
      </p:sp>
      <p:sp>
        <p:nvSpPr>
          <p:cNvPr id="4" name="example_0_card"/>
          <p:cNvSpPr/>
          <p:nvPr/>
        </p:nvSpPr>
        <p:spPr>
          <a:xfrm>
            <a:off x="6583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xample_0_icon_doc"/>
          <p:cNvSpPr/>
          <p:nvPr/>
        </p:nvSpPr>
        <p:spPr>
          <a:xfrm>
            <a:off x="822959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xample_0_icon_line_0"/>
          <p:cNvSpPr/>
          <p:nvPr/>
        </p:nvSpPr>
        <p:spPr>
          <a:xfrm>
            <a:off x="8942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xample_0_icon_line_1"/>
          <p:cNvSpPr/>
          <p:nvPr/>
        </p:nvSpPr>
        <p:spPr>
          <a:xfrm>
            <a:off x="8942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xample_0_icon_line_2"/>
          <p:cNvSpPr/>
          <p:nvPr/>
        </p:nvSpPr>
        <p:spPr>
          <a:xfrm>
            <a:off x="8942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xample_0_title"/>
          <p:cNvSpPr txBox="1"/>
          <p:nvPr/>
        </p:nvSpPr>
        <p:spPr>
          <a:xfrm>
            <a:off x="14630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Basic</a:t>
            </a:r>
          </a:p>
        </p:txBody>
      </p:sp>
      <p:sp>
        <p:nvSpPr>
          <p:cNvPr id="10" name="example_0_body_0"/>
          <p:cNvSpPr txBox="1"/>
          <p:nvPr/>
        </p:nvSpPr>
        <p:spPr>
          <a:xfrm>
            <a:off x="14630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AI Workflow Automation Proposal</a:t>
            </a:r>
          </a:p>
        </p:txBody>
      </p:sp>
      <p:sp>
        <p:nvSpPr>
          <p:cNvPr id="11" name="example_0_body_1"/>
          <p:cNvSpPr txBox="1"/>
          <p:nvPr/>
        </p:nvSpPr>
        <p:spPr>
          <a:xfrm>
            <a:off x="14630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10 headings · 1,255 chars</a:t>
            </a:r>
          </a:p>
        </p:txBody>
      </p:sp>
      <p:sp>
        <p:nvSpPr>
          <p:cNvPr id="12" name="example_1_card"/>
          <p:cNvSpPr/>
          <p:nvPr/>
        </p:nvSpPr>
        <p:spPr>
          <a:xfrm>
            <a:off x="43159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xample_1_icon_doc"/>
          <p:cNvSpPr/>
          <p:nvPr/>
        </p:nvSpPr>
        <p:spPr>
          <a:xfrm>
            <a:off x="4480559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xample_1_icon_line_0"/>
          <p:cNvSpPr/>
          <p:nvPr/>
        </p:nvSpPr>
        <p:spPr>
          <a:xfrm>
            <a:off x="45518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xample_1_icon_line_1"/>
          <p:cNvSpPr/>
          <p:nvPr/>
        </p:nvSpPr>
        <p:spPr>
          <a:xfrm>
            <a:off x="45518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xample_1_icon_line_2"/>
          <p:cNvSpPr/>
          <p:nvPr/>
        </p:nvSpPr>
        <p:spPr>
          <a:xfrm>
            <a:off x="45518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xample_1_title"/>
          <p:cNvSpPr txBox="1"/>
          <p:nvPr/>
        </p:nvSpPr>
        <p:spPr>
          <a:xfrm>
            <a:off x="51206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Comparison</a:t>
            </a:r>
          </a:p>
        </p:txBody>
      </p:sp>
      <p:sp>
        <p:nvSpPr>
          <p:cNvPr id="18" name="example_1_body_0"/>
          <p:cNvSpPr txBox="1"/>
          <p:nvPr/>
        </p:nvSpPr>
        <p:spPr>
          <a:xfrm>
            <a:off x="51206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Comparison Structure Example</a:t>
            </a:r>
          </a:p>
        </p:txBody>
      </p:sp>
      <p:sp>
        <p:nvSpPr>
          <p:cNvPr id="19" name="example_1_body_1"/>
          <p:cNvSpPr txBox="1"/>
          <p:nvPr/>
        </p:nvSpPr>
        <p:spPr>
          <a:xfrm>
            <a:off x="51206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4 headings · 307 chars</a:t>
            </a:r>
          </a:p>
        </p:txBody>
      </p:sp>
      <p:sp>
        <p:nvSpPr>
          <p:cNvPr id="20" name="example_2_card"/>
          <p:cNvSpPr/>
          <p:nvPr/>
        </p:nvSpPr>
        <p:spPr>
          <a:xfrm>
            <a:off x="7973568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xample_2_icon_doc"/>
          <p:cNvSpPr/>
          <p:nvPr/>
        </p:nvSpPr>
        <p:spPr>
          <a:xfrm>
            <a:off x="8138160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xample_2_icon_line_0"/>
          <p:cNvSpPr/>
          <p:nvPr/>
        </p:nvSpPr>
        <p:spPr>
          <a:xfrm>
            <a:off x="82094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xample_2_icon_line_1"/>
          <p:cNvSpPr/>
          <p:nvPr/>
        </p:nvSpPr>
        <p:spPr>
          <a:xfrm>
            <a:off x="82094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xample_2_icon_line_2"/>
          <p:cNvSpPr/>
          <p:nvPr/>
        </p:nvSpPr>
        <p:spPr>
          <a:xfrm>
            <a:off x="82094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xample_2_title"/>
          <p:cNvSpPr txBox="1"/>
          <p:nvPr/>
        </p:nvSpPr>
        <p:spPr>
          <a:xfrm>
            <a:off x="87782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Pipeline</a:t>
            </a:r>
          </a:p>
        </p:txBody>
      </p:sp>
      <p:sp>
        <p:nvSpPr>
          <p:cNvPr id="26" name="example_2_body_0"/>
          <p:cNvSpPr txBox="1"/>
          <p:nvPr/>
        </p:nvSpPr>
        <p:spPr>
          <a:xfrm>
            <a:off x="87782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Pipeline Example</a:t>
            </a:r>
          </a:p>
        </p:txBody>
      </p:sp>
      <p:sp>
        <p:nvSpPr>
          <p:cNvPr id="27" name="example_2_body_1"/>
          <p:cNvSpPr txBox="1"/>
          <p:nvPr/>
        </p:nvSpPr>
        <p:spPr>
          <a:xfrm>
            <a:off x="87782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 headings · 186 chars</a:t>
            </a:r>
          </a:p>
        </p:txBody>
      </p:sp>
      <p:sp>
        <p:nvSpPr>
          <p:cNvPr id="28" name="example_3_card"/>
          <p:cNvSpPr/>
          <p:nvPr/>
        </p:nvSpPr>
        <p:spPr>
          <a:xfrm>
            <a:off x="6583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xample_3_icon_doc"/>
          <p:cNvSpPr/>
          <p:nvPr/>
        </p:nvSpPr>
        <p:spPr>
          <a:xfrm>
            <a:off x="822959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xample_3_icon_line_0"/>
          <p:cNvSpPr/>
          <p:nvPr/>
        </p:nvSpPr>
        <p:spPr>
          <a:xfrm>
            <a:off x="8942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xample_3_icon_line_1"/>
          <p:cNvSpPr/>
          <p:nvPr/>
        </p:nvSpPr>
        <p:spPr>
          <a:xfrm>
            <a:off x="8942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xample_3_icon_line_2"/>
          <p:cNvSpPr/>
          <p:nvPr/>
        </p:nvSpPr>
        <p:spPr>
          <a:xfrm>
            <a:off x="8942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xample_3_title"/>
          <p:cNvSpPr txBox="1"/>
          <p:nvPr/>
        </p:nvSpPr>
        <p:spPr>
          <a:xfrm>
            <a:off x="14630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Diagram</a:t>
            </a:r>
          </a:p>
        </p:txBody>
      </p:sp>
      <p:sp>
        <p:nvSpPr>
          <p:cNvPr id="34" name="example_3_body_0"/>
          <p:cNvSpPr txBox="1"/>
          <p:nvPr/>
        </p:nvSpPr>
        <p:spPr>
          <a:xfrm>
            <a:off x="14630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Diagram Arrangement Examples</a:t>
            </a:r>
          </a:p>
        </p:txBody>
      </p:sp>
      <p:sp>
        <p:nvSpPr>
          <p:cNvPr id="35" name="example_3_body_1"/>
          <p:cNvSpPr txBox="1"/>
          <p:nvPr/>
        </p:nvSpPr>
        <p:spPr>
          <a:xfrm>
            <a:off x="14630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6 headings · 457 chars</a:t>
            </a:r>
          </a:p>
        </p:txBody>
      </p:sp>
      <p:sp>
        <p:nvSpPr>
          <p:cNvPr id="36" name="example_4_card"/>
          <p:cNvSpPr/>
          <p:nvPr/>
        </p:nvSpPr>
        <p:spPr>
          <a:xfrm>
            <a:off x="43159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xample_4_icon_doc"/>
          <p:cNvSpPr/>
          <p:nvPr/>
        </p:nvSpPr>
        <p:spPr>
          <a:xfrm>
            <a:off x="4480559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xample_4_icon_line_0"/>
          <p:cNvSpPr/>
          <p:nvPr/>
        </p:nvSpPr>
        <p:spPr>
          <a:xfrm>
            <a:off x="45518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xample_4_icon_line_1"/>
          <p:cNvSpPr/>
          <p:nvPr/>
        </p:nvSpPr>
        <p:spPr>
          <a:xfrm>
            <a:off x="45518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xample_4_icon_line_2"/>
          <p:cNvSpPr/>
          <p:nvPr/>
        </p:nvSpPr>
        <p:spPr>
          <a:xfrm>
            <a:off x="45518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xample_4_title"/>
          <p:cNvSpPr txBox="1"/>
          <p:nvPr/>
        </p:nvSpPr>
        <p:spPr>
          <a:xfrm>
            <a:off x="51206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Five Methods</a:t>
            </a:r>
          </a:p>
        </p:txBody>
      </p:sp>
      <p:sp>
        <p:nvSpPr>
          <p:cNvPr id="42" name="example_4_body_0"/>
          <p:cNvSpPr txBox="1"/>
          <p:nvPr/>
        </p:nvSpPr>
        <p:spPr>
          <a:xfrm>
            <a:off x="51206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Five-Item Layout Example</a:t>
            </a:r>
          </a:p>
        </p:txBody>
      </p:sp>
      <p:sp>
        <p:nvSpPr>
          <p:cNvPr id="43" name="example_4_body_1"/>
          <p:cNvSpPr txBox="1"/>
          <p:nvPr/>
        </p:nvSpPr>
        <p:spPr>
          <a:xfrm>
            <a:off x="51206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2 headings · 200 chars</a:t>
            </a:r>
          </a:p>
        </p:txBody>
      </p:sp>
      <p:sp>
        <p:nvSpPr>
          <p:cNvPr id="44" name="example_5_card"/>
          <p:cNvSpPr/>
          <p:nvPr/>
        </p:nvSpPr>
        <p:spPr>
          <a:xfrm>
            <a:off x="7973568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xample_5_icon_doc"/>
          <p:cNvSpPr/>
          <p:nvPr/>
        </p:nvSpPr>
        <p:spPr>
          <a:xfrm>
            <a:off x="8138160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example_5_icon_line_0"/>
          <p:cNvSpPr/>
          <p:nvPr/>
        </p:nvSpPr>
        <p:spPr>
          <a:xfrm>
            <a:off x="82094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example_5_icon_line_1"/>
          <p:cNvSpPr/>
          <p:nvPr/>
        </p:nvSpPr>
        <p:spPr>
          <a:xfrm>
            <a:off x="82094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xample_5_icon_line_2"/>
          <p:cNvSpPr/>
          <p:nvPr/>
        </p:nvSpPr>
        <p:spPr>
          <a:xfrm>
            <a:off x="82094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xample_5_title"/>
          <p:cNvSpPr txBox="1"/>
          <p:nvPr/>
        </p:nvSpPr>
        <p:spPr>
          <a:xfrm>
            <a:off x="87782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Theme Preview</a:t>
            </a:r>
          </a:p>
        </p:txBody>
      </p:sp>
      <p:sp>
        <p:nvSpPr>
          <p:cNvPr id="50" name="example_5_body_0"/>
          <p:cNvSpPr txBox="1"/>
          <p:nvPr/>
        </p:nvSpPr>
        <p:spPr>
          <a:xfrm>
            <a:off x="87782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Design Grammar</a:t>
            </a:r>
          </a:p>
        </p:txBody>
      </p:sp>
      <p:sp>
        <p:nvSpPr>
          <p:cNvPr id="51" name="example_5_body_1"/>
          <p:cNvSpPr txBox="1"/>
          <p:nvPr/>
        </p:nvSpPr>
        <p:spPr>
          <a:xfrm>
            <a:off x="87782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16 headings · 5,034 chars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Corpus shape is evidence, not a second renderer</a:t>
            </a:r>
          </a:p>
        </p:txBody>
      </p:sp>
      <p:graphicFrame>
        <p:nvGraphicFramePr>
          <p:cNvPr id="4" name="native_heading_chart"/>
          <p:cNvGraphicFramePr>
            <a:graphicFrameLocks noGrp="1"/>
          </p:cNvGraphicFramePr>
          <p:nvPr/>
        </p:nvGraphicFramePr>
        <p:xfrm>
          <a:off x="841248" y="1600200"/>
          <a:ext cx="48920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63640" y="1664208"/>
          <a:ext cx="470916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7290"/>
                <a:gridCol w="1177290"/>
                <a:gridCol w="1177290"/>
                <a:gridCol w="1177290"/>
              </a:tblGrid>
              <a:tr h="69723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Group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Files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Headings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Chars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Docs + ADR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130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68,167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Examples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7,439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Root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22,299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Suggestions stop before geometry</a:t>
            </a:r>
          </a:p>
        </p:txBody>
      </p:sp>
      <p:sp>
        <p:nvSpPr>
          <p:cNvPr id="4" name="suggestion_heading"/>
          <p:cNvSpPr txBox="1"/>
          <p:nvPr/>
        </p:nvSpPr>
        <p:spPr>
          <a:xfrm>
            <a:off x="804672" y="1417320"/>
            <a:ext cx="4800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7C3AED"/>
                </a:solidFill>
              </a:rPr>
              <a:t>mdpr-skill may suggest</a:t>
            </a:r>
          </a:p>
        </p:txBody>
      </p:sp>
      <p:sp>
        <p:nvSpPr>
          <p:cNvPr id="5" name="suggestion_0_mark"/>
          <p:cNvSpPr/>
          <p:nvPr/>
        </p:nvSpPr>
        <p:spPr>
          <a:xfrm>
            <a:off x="822960" y="2103120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ggestion_0_label"/>
          <p:cNvSpPr txBox="1"/>
          <p:nvPr/>
        </p:nvSpPr>
        <p:spPr>
          <a:xfrm>
            <a:off x="1170432" y="2057400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PLACEMENT</a:t>
            </a:r>
          </a:p>
        </p:txBody>
      </p:sp>
      <p:sp>
        <p:nvSpPr>
          <p:cNvPr id="7" name="suggestion_0_body"/>
          <p:cNvSpPr txBox="1"/>
          <p:nvPr/>
        </p:nvSpPr>
        <p:spPr>
          <a:xfrm>
            <a:off x="2359152" y="2039112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Reserve an aside or corner region.</a:t>
            </a:r>
          </a:p>
        </p:txBody>
      </p:sp>
      <p:sp>
        <p:nvSpPr>
          <p:cNvPr id="8" name="suggestion_1_mark"/>
          <p:cNvSpPr/>
          <p:nvPr/>
        </p:nvSpPr>
        <p:spPr>
          <a:xfrm>
            <a:off x="822960" y="3182111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uggestion_1_label"/>
          <p:cNvSpPr txBox="1"/>
          <p:nvPr/>
        </p:nvSpPr>
        <p:spPr>
          <a:xfrm>
            <a:off x="1170432" y="3136391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SOURCE</a:t>
            </a:r>
          </a:p>
        </p:txBody>
      </p:sp>
      <p:sp>
        <p:nvSpPr>
          <p:cNvPr id="10" name="suggestion_1_body"/>
          <p:cNvSpPr txBox="1"/>
          <p:nvPr/>
        </p:nvSpPr>
        <p:spPr>
          <a:xfrm>
            <a:off x="2359152" y="3118103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Use one licensed monochrome icon.</a:t>
            </a:r>
          </a:p>
        </p:txBody>
      </p:sp>
      <p:sp>
        <p:nvSpPr>
          <p:cNvPr id="11" name="suggestion_2_mark"/>
          <p:cNvSpPr/>
          <p:nvPr/>
        </p:nvSpPr>
        <p:spPr>
          <a:xfrm>
            <a:off x="822960" y="4261103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uggestion_2_label"/>
          <p:cNvSpPr txBox="1"/>
          <p:nvPr/>
        </p:nvSpPr>
        <p:spPr>
          <a:xfrm>
            <a:off x="1170432" y="4215383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CHECK</a:t>
            </a:r>
          </a:p>
        </p:txBody>
      </p:sp>
      <p:sp>
        <p:nvSpPr>
          <p:cNvPr id="13" name="suggestion_2_body"/>
          <p:cNvSpPr txBox="1"/>
          <p:nvPr/>
        </p:nvSpPr>
        <p:spPr>
          <a:xfrm>
            <a:off x="2359152" y="4197096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Compare visual center with the text midpoint.</a:t>
            </a:r>
          </a:p>
        </p:txBody>
      </p:sp>
      <p:sp>
        <p:nvSpPr>
          <p:cNvPr id="14" name="runtime_field"/>
          <p:cNvSpPr/>
          <p:nvPr/>
        </p:nvSpPr>
        <p:spPr>
          <a:xfrm>
            <a:off x="6144768" y="1298448"/>
            <a:ext cx="5394960" cy="4526280"/>
          </a:xfrm>
          <a:prstGeom prst="rect">
            <a:avLst/>
          </a:prstGeom>
          <a:solidFill>
            <a:srgbClr val="EAF7F3"/>
          </a:solidFill>
          <a:ln>
            <a:solidFill>
              <a:srgbClr val="EAF7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untime_heading"/>
          <p:cNvSpPr txBox="1"/>
          <p:nvPr/>
        </p:nvSpPr>
        <p:spPr>
          <a:xfrm>
            <a:off x="6565392" y="1417320"/>
            <a:ext cx="4434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0F766E"/>
                </a:solidFill>
              </a:rPr>
              <a:t>MDPR still decides</a:t>
            </a:r>
          </a:p>
        </p:txBody>
      </p:sp>
      <p:sp>
        <p:nvSpPr>
          <p:cNvPr id="16" name="decision_0_num"/>
          <p:cNvSpPr txBox="1"/>
          <p:nvPr/>
        </p:nvSpPr>
        <p:spPr>
          <a:xfrm>
            <a:off x="6565392" y="202996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01</a:t>
            </a:r>
          </a:p>
        </p:txBody>
      </p:sp>
      <p:sp>
        <p:nvSpPr>
          <p:cNvPr id="17" name="decision_0_title"/>
          <p:cNvSpPr txBox="1"/>
          <p:nvPr/>
        </p:nvSpPr>
        <p:spPr>
          <a:xfrm>
            <a:off x="7242048" y="202996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Exact geometry</a:t>
            </a:r>
          </a:p>
        </p:txBody>
      </p:sp>
      <p:sp>
        <p:nvSpPr>
          <p:cNvPr id="18" name="decision_0_body"/>
          <p:cNvSpPr txBox="1"/>
          <p:nvPr/>
        </p:nvSpPr>
        <p:spPr>
          <a:xfrm>
            <a:off x="7242048" y="241401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regions and coordinates</a:t>
            </a:r>
          </a:p>
        </p:txBody>
      </p:sp>
      <p:sp>
        <p:nvSpPr>
          <p:cNvPr id="19" name="decision_1_num"/>
          <p:cNvSpPr txBox="1"/>
          <p:nvPr/>
        </p:nvSpPr>
        <p:spPr>
          <a:xfrm>
            <a:off x="6565392" y="312724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02</a:t>
            </a:r>
          </a:p>
        </p:txBody>
      </p:sp>
      <p:sp>
        <p:nvSpPr>
          <p:cNvPr id="20" name="decision_1_title"/>
          <p:cNvSpPr txBox="1"/>
          <p:nvPr/>
        </p:nvSpPr>
        <p:spPr>
          <a:xfrm>
            <a:off x="7242048" y="312724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Typography</a:t>
            </a:r>
          </a:p>
        </p:txBody>
      </p:sp>
      <p:sp>
        <p:nvSpPr>
          <p:cNvPr id="21" name="decision_1_body"/>
          <p:cNvSpPr txBox="1"/>
          <p:nvPr/>
        </p:nvSpPr>
        <p:spPr>
          <a:xfrm>
            <a:off x="7242048" y="351129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font family, size, and wrapping</a:t>
            </a:r>
          </a:p>
        </p:txBody>
      </p:sp>
      <p:sp>
        <p:nvSpPr>
          <p:cNvPr id="22" name="decision_2_num"/>
          <p:cNvSpPr txBox="1"/>
          <p:nvPr/>
        </p:nvSpPr>
        <p:spPr>
          <a:xfrm>
            <a:off x="6565392" y="422452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03</a:t>
            </a:r>
          </a:p>
        </p:txBody>
      </p:sp>
      <p:sp>
        <p:nvSpPr>
          <p:cNvPr id="23" name="decision_2_title"/>
          <p:cNvSpPr txBox="1"/>
          <p:nvPr/>
        </p:nvSpPr>
        <p:spPr>
          <a:xfrm>
            <a:off x="7242048" y="422452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Pass or fail</a:t>
            </a:r>
          </a:p>
        </p:txBody>
      </p:sp>
      <p:sp>
        <p:nvSpPr>
          <p:cNvPr id="24" name="decision_2_body"/>
          <p:cNvSpPr txBox="1"/>
          <p:nvPr/>
        </p:nvSpPr>
        <p:spPr>
          <a:xfrm>
            <a:off x="7242048" y="460857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deterministic validation result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