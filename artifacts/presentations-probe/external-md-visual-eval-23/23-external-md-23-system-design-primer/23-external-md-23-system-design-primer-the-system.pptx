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003ca5d852141ec" /><Relationship Type="http://schemas.openxmlformats.org/officeDocument/2006/relationships/extended-properties" Target="/docProps/app.xml" Id="R91c704cf1fbc490d" /><Relationship Type="http://schemas.openxmlformats.org/officeDocument/2006/relationships/officeDocument" Target="/ppt/presentation.xml" Id="R7f4f3a2d8216463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3dcacae24854d19"/>
  </p:sldMasterIdLst>
  <p:notesMasterIdLst>
    <p:notesMasterId xmlns:r="http://schemas.openxmlformats.org/officeDocument/2006/relationships" r:id="R7daeee6e9fba48e0"/>
  </p:notesMasterIdLst>
  <p:sldIdLst>
    <p:sldId xmlns:r="http://schemas.openxmlformats.org/officeDocument/2006/relationships" id="256" r:id="R3273d52dd0884918"/>
    <p:sldId xmlns:r="http://schemas.openxmlformats.org/officeDocument/2006/relationships" id="257" r:id="R3e38538576fe427c"/>
    <p:sldId xmlns:r="http://schemas.openxmlformats.org/officeDocument/2006/relationships" id="258" r:id="R25f841009a6b4a80"/>
    <p:sldId xmlns:r="http://schemas.openxmlformats.org/officeDocument/2006/relationships" id="259" r:id="R73b5b5024b5e4df6"/>
    <p:sldId xmlns:r="http://schemas.openxmlformats.org/officeDocument/2006/relationships" id="260" r:id="Rb8d44fcda73a4db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dcacae24854d19" /><Relationship Type="http://schemas.openxmlformats.org/officeDocument/2006/relationships/theme" Target="/ppt/theme/theme1.xml" Id="R1651028617bf46d0" /><Relationship Type="http://schemas.openxmlformats.org/officeDocument/2006/relationships/notesMaster" Target="/ppt/notesMasters/notesMaster1.xml" Id="R7daeee6e9fba48e0" /><Relationship Type="http://schemas.openxmlformats.org/officeDocument/2006/relationships/presProps" Target="/ppt/presProps.xml" Id="Re78549b153d34272" /><Relationship Type="http://schemas.openxmlformats.org/officeDocument/2006/relationships/viewProps" Target="/ppt/viewProps.xml" Id="R923294b13ea74181" /><Relationship Type="http://schemas.openxmlformats.org/officeDocument/2006/relationships/tableStyles" Target="/ppt/tableStyles.xml" Id="Rdc295fa2c7864a44" /><Relationship Type="http://schemas.openxmlformats.org/officeDocument/2006/relationships/slide" Target="/ppt/slides/slide1.xml" Id="R3273d52dd0884918" /><Relationship Type="http://schemas.openxmlformats.org/officeDocument/2006/relationships/slide" Target="/ppt/slides/slide2.xml" Id="R3e38538576fe427c" /><Relationship Type="http://schemas.openxmlformats.org/officeDocument/2006/relationships/slide" Target="/ppt/slides/slide3.xml" Id="R25f841009a6b4a80" /><Relationship Type="http://schemas.openxmlformats.org/officeDocument/2006/relationships/slide" Target="/ppt/slides/slide4.xml" Id="R73b5b5024b5e4df6" /><Relationship Type="http://schemas.openxmlformats.org/officeDocument/2006/relationships/slide" Target="/ppt/slides/slide5.xml" Id="Rb8d44fcda73a4db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f232dfdd449c4c1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e85a3e011b74417" /><Relationship Type="http://schemas.openxmlformats.org/officeDocument/2006/relationships/notesMaster" Target="/ppt/notesMasters/notesMaster1.xml" Id="Rea950b108387445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ae0e3671c4e467a" /><Relationship Type="http://schemas.openxmlformats.org/officeDocument/2006/relationships/notesMaster" Target="/ppt/notesMasters/notesMaster1.xml" Id="R5b30eb059df34af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3b15886f27b4084" /><Relationship Type="http://schemas.openxmlformats.org/officeDocument/2006/relationships/notesMaster" Target="/ppt/notesMasters/notesMaster1.xml" Id="R40799c2ab27c48f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5c28894ef1e40a5" /><Relationship Type="http://schemas.openxmlformats.org/officeDocument/2006/relationships/notesMaster" Target="/ppt/notesMasters/notesMaster1.xml" Id="R0ebf84ecaf87484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76260095a844a48" /><Relationship Type="http://schemas.openxmlformats.org/officeDocument/2006/relationships/notesMaster" Target="/ppt/notesMasters/notesMaster1.xml" Id="Rd241acfe09dd4d6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c9e0167856473f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e83547123aa54836" /><Relationship Type="http://schemas.openxmlformats.org/officeDocument/2006/relationships/slideLayout" Target="/ppt/slideLayouts/slideLayout2.xml" Id="R3d3bcf504688485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d3bcf504688485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e9b693dccf64054" /><Relationship Type="http://schemas.openxmlformats.org/officeDocument/2006/relationships/notesSlide" Target="/ppt/notesSlides/notesSlide1.xml" Id="Ra0965821fdac436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6f7f5d376974312" /><Relationship Type="http://schemas.openxmlformats.org/officeDocument/2006/relationships/notesSlide" Target="/ppt/notesSlides/notesSlide2.xml" Id="R96758364216b43a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4f090fe76924d82" /><Relationship Type="http://schemas.openxmlformats.org/officeDocument/2006/relationships/notesSlide" Target="/ppt/notesSlides/notesSlide3.xml" Id="R8c25e6809e4446c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5a70a2fa3de41cb" /><Relationship Type="http://schemas.openxmlformats.org/officeDocument/2006/relationships/notesSlide" Target="/ppt/notesSlides/notesSlide4.xml" Id="R1155f6e48b6c499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7c0c2a3a66f460c" /><Relationship Type="http://schemas.openxmlformats.org/officeDocument/2006/relationships/notesSlide" Target="/ppt/notesSlides/notesSlide5.xml" Id="R92876e1d6db14f3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A97087C-FE3C-4037-BB6A-026322927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E61877-6C73-4720-99AD-B137CAE0F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4CC9C8-3B4E-4F36-A9EC-EB0531678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47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4E5180-0F0A-40F9-96CA-300EFCC43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3875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THE SYSTEM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28D32F-0992-4EC2-A054-77D6403D0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00100"/>
            <a:ext cx="457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Strategy Leadership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B5176B-13F5-451F-A802-997B333BA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62125"/>
            <a:ext cx="64770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39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The System</a:t>
            </a:r>
          </a:p>
          <a:p xmlns:a="http://schemas.openxmlformats.org/drawingml/2006/main">
            <a:pPr algn="l">
              <a:defRPr sz="39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39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strategy battle probe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092070-3E62-4F99-A931-8138A52E0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3619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The System's strategy deck needs chapter discipline so the</a:t>
            </a:r>
          </a:p>
          <a:p xmlns:a="http://schemas.openxmlformats.org/drawingml/2006/main">
            <a:pPr algn="l">
              <a:defRPr sz="15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market frame, bets, and outcomes compound.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17E799-C971-482A-9953-4603A7D43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86300"/>
            <a:ext cx="11068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7CA2CF-EB33-4E24-BC32-0AE090D31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673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8EC2D1-797A-4601-9A8B-C1BB9F40E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A57888-0218-4E95-9494-396DEB20E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Narrative spine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F158C5-58A5-4A05-9520-FA5E47587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claim-first flow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74ACE8-7204-47B4-AF44-6CB0E4654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50673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1F23E5-12F4-495D-960C-6D7FB230A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1435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06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8C2B5D-F2CC-40B0-9554-695C4D126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5245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Required beats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298D26-E50C-43DD-8521-3AB12D503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6959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from source prompt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B2536F-999D-465E-8AF8-364F71FAF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50673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A09C81-912F-41A8-B2AB-C51E39B51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1435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C95BE8-AF3D-4698-A744-2B860F082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5245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Source links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A690A5-90CC-4781-B83A-2858194F9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6959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audit before final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C3EA60-E402-49AD-9F44-085BDD565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0673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AE1188-153D-4C73-9179-53242AB42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1435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048ED1-5414-447A-BF83-DE49A33B6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5245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Golden grade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E81375-F11B-494C-87CA-4E6BFF1F1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6959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matrix reference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FC2278-1C9A-4304-AF39-8BDB21130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613131E-5539-4E1A-886D-6DBF3FDB2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38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Prompt external-md-23-system-design-primer | Presentation Create - Strategy Leadership Deck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E55AC95-0258-48FE-B161-D4A402D65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386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87386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614099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DA76E44-A96D-4205-B013-A3F2C9097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4CCD3B-6283-46DE-9E27-4E9A79235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DC1825-AA6B-45DF-9B10-D4FF8491B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C L A I M   S P I N 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AE3ED6-3BF8-4FDA-9B8B-43192265E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8572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Every slide needs a claim, a proof object, and a reason to exist.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F77A5A-A16E-4EDD-BF96-8FCE334A5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952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9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Build a five-slide battle probe from the external Markdown source 'The System Design Primer'</a:t>
            </a:r>
          </a:p>
          <a:p xmlns:a="http://schemas.openxmlformats.org/drawingml/2006/main">
            <a:pPr algn="l">
              <a:defRPr sz="9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9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(https://raw.githubusercontent.com/donnemartin/system-design-primer/master/README.md). Use</a:t>
            </a:r>
          </a:p>
          <a:p xmlns:a="http://schemas.openxmlformats.org/drawingml/2006/main">
            <a:pPr algn="l">
              <a:defRPr sz="9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9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profile strategy. The deck must turn README content into claim-title slides, one dominant...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201919-D8A1-4B37-8498-632B3403B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765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27204A-7E78-4EEC-A686-F27E2FD74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2004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141AC3-F3E0-4ED0-BDC8-CE9204860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384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Build a five-slide battle probe from the external Markdown source 'The System Design Primer' ( Use profile strategy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6F296B-E9F9-46BA-A6DC-C05344754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03847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Connect Build a five-slide battle probe from the external Markdown source 'The System Design Primer' ( Use profile strategy to the chapter thesis and the next strategic bet.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F1F153-D86A-4552-BDB0-748F9B8DF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99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47F2C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C47F2C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56ADF2-3E24-4B0C-A9F2-038429D92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7338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A81764-B222-48DC-949B-23A532F21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5718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The deck must turn README content into claim-title slides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38F1D2-9B50-4D1C-97DD-C3A8ED012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57187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Connect The deck must turn README content into claim-title slides to the chapter thesis and the next strategic bet.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682203-5A73-4205-821E-E265F4ECD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433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BBD2CA-1DB0-4B30-A854-4AE7C0953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2672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DBD443-11C7-4E4C-974B-7C1A3ABD3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052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one dominant proof object per slide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FB0EEE-6159-439D-B3C9-8343D8D6B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10527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Connect one dominant proof object per slide to the chapter thesis and the next strategic bet.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5E5CF2-4251-442E-8ACF-C774EBAAE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767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47F2C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C47F2C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B25574-E50D-4FE6-9850-FE3D72429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8006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A2E34E-3460-4019-920A-48CC4B5BF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386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source-aware footer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017FD5-BB21-45D2-BAD8-0211A70D2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63867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Connect source-aware footer to the chapter thesis and the next strategic bet.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A96161-1784-458D-9ADA-AB66B5071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01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B98254-A2F8-413C-AEBC-DEF727237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3340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18DF74-C87C-40DA-9AC9-27FDCBA49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1720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visible narrative spine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47BCEC-0CBE-4BE8-9486-7A732E38C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17207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Connect visible narrative spine to the chapter thesis and the next strategic bet.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0673A4-5C3A-4895-BBB1-75BDF0E48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47F2C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C47F2C"/>
                </a:solidFill>
                <a:latin typeface="Georgia"/>
                <a:ea typeface="Georgia"/>
                <a:cs typeface="Georgia"/>
              </a:rPr>
              <a:t>06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9F8771C-F584-4876-B0F2-3699F576C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8674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78E4CF1-4156-4482-AFC5-0984DDC20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7054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market framing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ED299FF-917B-437C-B2CF-6E59FB1BC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70547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Connect market framing to the chapter thesis and the next strategic bet.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C39F97B-712D-473C-BCFE-0D577C7E6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724150"/>
            <a:ext cx="16383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0565E96-87F3-47CF-ACD3-9F5E676E7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971800"/>
            <a:ext cx="1257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NOUN-SWAP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TEST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247C7CF-A2DB-4B01-AD7E-100E2568B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676650"/>
            <a:ext cx="12573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D9E2EF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D9E2EF"/>
                </a:solidFill>
                <a:latin typeface="Avenir Next"/>
                <a:ea typeface="Avenir Next"/>
                <a:cs typeface="Avenir Next"/>
              </a:rPr>
              <a:t>If this deck still works after replacing the company name, the story is not sharp enough.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A084333-F6C1-458E-891B-F3E711BFC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5B546BB-4AD3-4886-A41F-E805BC644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38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Profile: strategy | Battle harness requires profile-specific proof objects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DFDAA2D-2375-460C-AFBD-B520C13C4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386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87386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8305229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DAC08F5-29CB-4435-A9EB-9A4F5055F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BE233E-D6A8-4771-BEC8-EFFBAA451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2CE400-FA19-4545-97D5-8D8771056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 R O O F   O B J E C 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A3FD27-1600-400C-9424-A7345293D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7810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Chapter transitions need to carry the strategic argument.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735A9C-9B16-4CCB-B4A2-1A0E5173E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47900"/>
            <a:ext cx="1504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9525">
            <a:solidFill>
              <a:srgbClr val="176B8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935E73-74D8-4212-9295-B00642684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Customer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995C12-B28E-4DFC-87DD-AC15A99B1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5908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4604AA-62BA-4F7B-9AC8-7EA012222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55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A0719C-9B19-45CB-A333-B2FA47522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990850"/>
            <a:ext cx="1504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10182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11DC47-A95F-46CC-8C07-5C78A130E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1623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Platform core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744DFD-7A36-4167-9723-0222C4747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33375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60DA1C-5503-41A6-95FD-575968BFD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295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62C18C-F264-46DD-9C86-FC5857C8B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247900"/>
            <a:ext cx="1504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9525">
            <a:solidFill>
              <a:srgbClr val="176B8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B69F16-B5AF-40A0-84EF-8F7F9B767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4193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Use cases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485F51-0F95-46C7-B3B4-5EB95A668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5908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922D8B-65A0-4636-847A-FDE888450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55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D1EF06-DE78-42FD-B9C7-C884E9DB2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990850"/>
            <a:ext cx="1504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9525">
            <a:solidFill>
              <a:srgbClr val="176B8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DB2C20-0BB9-425B-840F-C5DF7568A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1623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Expansion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CEAD64-C676-4EC5-8792-8521A92F5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33375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EBC482-B662-4202-80FD-1E10ACEEB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295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27B000-96DC-490F-BF71-00031DAB7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247900"/>
            <a:ext cx="1504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9525">
            <a:solidFill>
              <a:srgbClr val="176B8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EDA1BB-56EB-4904-8C1D-D55B8C4DC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4193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Financial proof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AE7EF9-28DD-4823-8EEA-F689EA857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86300"/>
            <a:ext cx="9429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76B8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61EDD9-69AE-4065-B54F-5E782A815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76800"/>
            <a:ext cx="895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No generic feature cards: every module must either explain system motion or quantify adoption, expansion, efficiency, or monetization.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0DCE96-2CB9-4F52-BEC3-1679D5872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2C6E871-F2DE-437B-9DCD-83C202A91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38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strategy profile | Architecture, workflow, and KPI proof must share one visual grammar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BC6A695-8187-4157-8042-3CBD150CC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386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87386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27311663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7A9EB63-C1FE-43E9-B905-ED3D17FEA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A93D99-E52A-4C63-9341-499C8EC33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183C53-6AC3-4121-A77E-555F858C4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 R O F I L E   G A T E 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2BD62B-D311-4E52-AB40-9782ADBCB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7810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Different domains should fail for different reasons.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780B9E-9E79-461A-9F93-53558ACC7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47900"/>
            <a:ext cx="4248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3E1025-29C9-4420-87D2-42FA4318B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57450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3A901F-C968-4D31-BCB2-02DECE9BE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4574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market frame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0C82DE-9A7F-48DE-9303-746B88A7A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724150"/>
            <a:ext cx="3009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The proof object must connect product breadth to measurable business outcomes.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6CC98E-7EC7-4546-91AB-5BC2D22A7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247900"/>
            <a:ext cx="4248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D77048-F08C-44A6-B7D0-8B0110751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57450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991184-7DF1-4090-8A53-1D3F293DA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4574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platform bets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4C3D58-02C8-4FF1-B085-E15E9EFB3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724150"/>
            <a:ext cx="3009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The proof object must connect product breadth to measurable business outcomes.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57F10F-5847-4147-A85F-1C7433793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05200"/>
            <a:ext cx="4248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24FD8B-3558-47B5-AFF7-753BADEA1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14750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C26023-677E-4EDF-AF2C-A99D18BC1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7147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chapter dividers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44F2AB-891E-43C5-B39C-CFD2B0741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981450"/>
            <a:ext cx="3009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The proof object must connect product breadth to measurable business outcomes.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FABD65-671E-48CC-96C8-0601AC585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505200"/>
            <a:ext cx="4248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E1B824-52EC-4935-AEE5-7A8B135FE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14750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9EB57B-D584-4EDF-BD27-F2EECC020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7147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durable system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B3625B-943A-4734-941C-3EAD6368E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981450"/>
            <a:ext cx="3009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The proof object must connect product breadth to measurable business outcomes.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FFB0CB-C10E-41A9-BBCF-E56E42917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E7DE44-3AD1-4971-B0EE-546545BC7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38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Battle harness | Profile-fit and template-fidelity get scored separately from beauty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88B08F-2FE5-40F9-B543-FB929C20C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386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87386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7026200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EB0BC50-4A1C-4322-93FD-A32350A05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B159BD-42D2-4698-8EF7-B288B4C2E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05EA7D-79D3-40D5-8F7F-5E8D701ED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B A T T L E   V E R D I C 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8140D1-C753-437B-964A-B04CAF837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8572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What the full skill run must do before calling this done.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221E95-B4CA-4CD6-8B39-8E33183E4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907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Source extraction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51F9D5-159A-470E-BF0F-4F2CC7E49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30505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BC64FE-96E2-4316-B9A0-8239F86CC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19075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1 link(s) plus attachments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B1C2C5-2C12-46BD-92D2-59172519C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337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Design lock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D01C1E-3BFC-4F3E-BB3E-8208A966B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04800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1917E5-4890-4A38-9F6E-47D368049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3370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profile-specific grammar before slide modules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95EDAD-FA7D-4E28-A12E-71A1B88F4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766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Rendered QA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530D9C-C4FF-49FD-B44C-3691BC7DD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79095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B8DD97-3FD3-419A-B2DB-3F71F3789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67665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contact sheet, layout JSON, package checks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B73439-CCB5-4423-B2EB-DF9D6B134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196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Opus delta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9DED4B-14B7-4AB0-9DBC-693099C6D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53390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A5B468-3B22-4033-9AFC-E840BB805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41960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name where this wins and where Opus still wins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7ADD56-C9C3-4520-AE76-571E467A8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247900"/>
            <a:ext cx="203835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35DEE5-79A5-40DC-A467-83E197FE1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47950"/>
            <a:ext cx="1219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43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46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8C7768-EC7B-4170-9F7D-FE91F31A3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505200"/>
            <a:ext cx="1028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7D7EA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C7D7EA"/>
                </a:solidFill>
                <a:latin typeface="Avenir Next"/>
                <a:ea typeface="Avenir Next"/>
                <a:cs typeface="Avenir Next"/>
              </a:rPr>
              <a:t>probe score</a:t>
            </a:r>
          </a:p>
          <a:p xmlns:a="http://schemas.openxmlformats.org/drawingml/2006/main">
            <a:pPr algn="ctr">
              <a:defRPr sz="975" b="1">
                <a:solidFill>
                  <a:srgbClr val="C7D7EA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C7D7EA"/>
                </a:solidFill>
                <a:latin typeface="Avenir Next"/>
                <a:ea typeface="Avenir Next"/>
                <a:cs typeface="Avenir Next"/>
              </a:rPr>
              <a:t>out of 50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30CF16-2828-4F09-AFF2-908D264B5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496E1E-12DE-4326-B3F6-5DAC6762E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38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Score is a harness probe score; full deck still requires prompt sources and final deck QA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31682D-1FE6-4C38-B7EC-FDF9512AA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386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87386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5597885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2026-06-30T13:05:25.1700000Z</dcterms:created>
  <dcterms:modified xsi:type="dcterms:W3CDTF">2026-06-30T13:05:25.1700000Z</dcterms:modified>
</coreProperties>
</file>