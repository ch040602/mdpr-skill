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665918414684e09" /><Relationship Type="http://schemas.openxmlformats.org/officeDocument/2006/relationships/extended-properties" Target="/docProps/app.xml" Id="Rc31a64f4fd1b49a1" /><Relationship Type="http://schemas.openxmlformats.org/officeDocument/2006/relationships/officeDocument" Target="/ppt/presentation.xml" Id="R0833c7c4f1e24a8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9ad8b45818b45a8"/>
  </p:sldMasterIdLst>
  <p:notesMasterIdLst>
    <p:notesMasterId xmlns:r="http://schemas.openxmlformats.org/officeDocument/2006/relationships" r:id="R327a784b68b54a5c"/>
  </p:notesMasterIdLst>
  <p:sldIdLst>
    <p:sldId xmlns:r="http://schemas.openxmlformats.org/officeDocument/2006/relationships" id="256" r:id="R64947382d49c44e6"/>
    <p:sldId xmlns:r="http://schemas.openxmlformats.org/officeDocument/2006/relationships" id="257" r:id="R17bb94221f9a4978"/>
    <p:sldId xmlns:r="http://schemas.openxmlformats.org/officeDocument/2006/relationships" id="258" r:id="R226ffbe882544f17"/>
    <p:sldId xmlns:r="http://schemas.openxmlformats.org/officeDocument/2006/relationships" id="259" r:id="R418a59b28f3244d2"/>
    <p:sldId xmlns:r="http://schemas.openxmlformats.org/officeDocument/2006/relationships" id="260" r:id="Rc8772de193ab4543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9ad8b45818b45a8" /><Relationship Type="http://schemas.openxmlformats.org/officeDocument/2006/relationships/theme" Target="/ppt/theme/theme1.xml" Id="R051913aae9b641b2" /><Relationship Type="http://schemas.openxmlformats.org/officeDocument/2006/relationships/notesMaster" Target="/ppt/notesMasters/notesMaster1.xml" Id="R327a784b68b54a5c" /><Relationship Type="http://schemas.openxmlformats.org/officeDocument/2006/relationships/presProps" Target="/ppt/presProps.xml" Id="Ra3b6454acff14c5e" /><Relationship Type="http://schemas.openxmlformats.org/officeDocument/2006/relationships/viewProps" Target="/ppt/viewProps.xml" Id="Rad4e64fb40b64d45" /><Relationship Type="http://schemas.openxmlformats.org/officeDocument/2006/relationships/tableStyles" Target="/ppt/tableStyles.xml" Id="R5a05110b1c064041" /><Relationship Type="http://schemas.openxmlformats.org/officeDocument/2006/relationships/slide" Target="/ppt/slides/slide1.xml" Id="R64947382d49c44e6" /><Relationship Type="http://schemas.openxmlformats.org/officeDocument/2006/relationships/slide" Target="/ppt/slides/slide2.xml" Id="R17bb94221f9a4978" /><Relationship Type="http://schemas.openxmlformats.org/officeDocument/2006/relationships/slide" Target="/ppt/slides/slide3.xml" Id="R226ffbe882544f17" /><Relationship Type="http://schemas.openxmlformats.org/officeDocument/2006/relationships/slide" Target="/ppt/slides/slide4.xml" Id="R418a59b28f3244d2" /><Relationship Type="http://schemas.openxmlformats.org/officeDocument/2006/relationships/slide" Target="/ppt/slides/slide5.xml" Id="Rc8772de193ab454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61203c3631b64b1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ab0a98eec8b4006" /><Relationship Type="http://schemas.openxmlformats.org/officeDocument/2006/relationships/notesMaster" Target="/ppt/notesMasters/notesMaster1.xml" Id="R008a279de43b484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1e1120e3f744bea" /><Relationship Type="http://schemas.openxmlformats.org/officeDocument/2006/relationships/notesMaster" Target="/ppt/notesMasters/notesMaster1.xml" Id="R26dcd8add458494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9b4dcd378d54aee" /><Relationship Type="http://schemas.openxmlformats.org/officeDocument/2006/relationships/notesMaster" Target="/ppt/notesMasters/notesMaster1.xml" Id="R8402e4755e6042e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32babf1e3dd4463" /><Relationship Type="http://schemas.openxmlformats.org/officeDocument/2006/relationships/notesMaster" Target="/ppt/notesMasters/notesMaster1.xml" Id="R10d4ce0142624b2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675a9b8678d451c" /><Relationship Type="http://schemas.openxmlformats.org/officeDocument/2006/relationships/notesMaster" Target="/ppt/notesMasters/notesMaster1.xml" Id="Rc7276eb9e9e7457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6b7ec878a024f4e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1668e25726314c9f" /><Relationship Type="http://schemas.openxmlformats.org/officeDocument/2006/relationships/slideLayout" Target="/ppt/slideLayouts/slideLayout2.xml" Id="Recc6e08c9d2b485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cc6e08c9d2b485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47872922d4b4da8" /><Relationship Type="http://schemas.openxmlformats.org/officeDocument/2006/relationships/notesSlide" Target="/ppt/notesSlides/notesSlide1.xml" Id="Rbaf6864fb08f472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f3207b01c074887" /><Relationship Type="http://schemas.openxmlformats.org/officeDocument/2006/relationships/notesSlide" Target="/ppt/notesSlides/notesSlide2.xml" Id="R97a78a6f5f394ca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9557308770a4503" /><Relationship Type="http://schemas.openxmlformats.org/officeDocument/2006/relationships/notesSlide" Target="/ppt/notesSlides/notesSlide3.xml" Id="R38acaa98c37e403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33e6efbcfc74d1a" /><Relationship Type="http://schemas.openxmlformats.org/officeDocument/2006/relationships/notesSlide" Target="/ppt/notesSlides/notesSlide4.xml" Id="Ra800fb6318414a1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15c560897eb42fa" /><Relationship Type="http://schemas.openxmlformats.org/officeDocument/2006/relationships/notesSlide" Target="/ppt/notesSlides/notesSlide5.xml" Id="Rce742987cf664bd4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DD9D70F-B990-41FA-8985-C36FF7522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E4AF54-7394-4B95-8C04-3FA72A5EE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AC9166-9349-4EB4-921E-565B61067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4350"/>
            <a:ext cx="4762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77F782-84F6-458E-BB59-1CAA5A079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23875"/>
            <a:ext cx="342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750" b="1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VITE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58A6DA-88C3-48A8-9EEA-2D2AF85CB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00100"/>
            <a:ext cx="457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750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Product Platform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4BACD7-6638-45E3-BBEE-155CD935C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62125"/>
            <a:ext cx="6477000" cy="163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101827"/>
                </a:solidFill>
                <a:latin typeface="Georgia"/>
                <a:ea typeface="Georgia"/>
                <a:cs typeface="Georgia"/>
              </a:defRPr>
            </a:pPr>
            <a:r>
              <a:rPr sz="3900" b="1">
                <a:solidFill>
                  <a:srgbClr val="101827"/>
                </a:solidFill>
                <a:latin typeface="Georgia"/>
                <a:ea typeface="Georgia"/>
                <a:cs typeface="Georgia"/>
              </a:rPr>
              <a:t>Vite</a:t>
            </a:r>
          </a:p>
          <a:p xmlns:a="http://schemas.openxmlformats.org/drawingml/2006/main">
            <a:pPr algn="l">
              <a:defRPr sz="3900" b="1">
                <a:solidFill>
                  <a:srgbClr val="101827"/>
                </a:solidFill>
                <a:latin typeface="Georgia"/>
                <a:ea typeface="Georgia"/>
                <a:cs typeface="Georgia"/>
              </a:defRPr>
            </a:pPr>
            <a:r>
              <a:rPr sz="3900" b="1">
                <a:solidFill>
                  <a:srgbClr val="101827"/>
                </a:solidFill>
                <a:latin typeface="Georgia"/>
                <a:ea typeface="Georgia"/>
                <a:cs typeface="Georgia"/>
              </a:rPr>
              <a:t>product platform battle probe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01FDDB4-19A1-4CF9-8610-8B31826E1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36195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1827"/>
                </a:solidFill>
                <a:latin typeface="Georgia"/>
                <a:ea typeface="Georgia"/>
                <a:cs typeface="Georgia"/>
              </a:defRPr>
            </a:pPr>
            <a:r>
              <a:rPr sz="1500" b="1">
                <a:solidFill>
                  <a:srgbClr val="101827"/>
                </a:solidFill>
                <a:latin typeface="Georgia"/>
                <a:ea typeface="Georgia"/>
                <a:cs typeface="Georgia"/>
              </a:rPr>
              <a:t>Vite's platform breadth needs to resolve into adoption,</a:t>
            </a:r>
          </a:p>
          <a:p xmlns:a="http://schemas.openxmlformats.org/drawingml/2006/main">
            <a:pPr algn="l">
              <a:defRPr sz="1500" b="1">
                <a:solidFill>
                  <a:srgbClr val="101827"/>
                </a:solidFill>
                <a:latin typeface="Georgia"/>
                <a:ea typeface="Georgia"/>
                <a:cs typeface="Georgia"/>
              </a:defRPr>
            </a:pPr>
            <a:r>
              <a:rPr sz="1500" b="1">
                <a:solidFill>
                  <a:srgbClr val="101827"/>
                </a:solidFill>
                <a:latin typeface="Georgia"/>
                <a:ea typeface="Georgia"/>
                <a:cs typeface="Georgia"/>
              </a:rPr>
              <a:t>expansion, and business quality.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D90B658-C66B-4B67-87A1-E37FECEEA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686300"/>
            <a:ext cx="11068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DE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85CE8DE-4F1B-4B5F-B2AA-A108EBDDE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067300"/>
            <a:ext cx="95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01FA128-0A35-40A9-827D-C163584A6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0"/>
            <a:ext cx="1809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01827"/>
                </a:solidFill>
                <a:latin typeface="Georgia"/>
                <a:ea typeface="Georgia"/>
                <a:cs typeface="Georgia"/>
              </a:defRPr>
            </a:pPr>
            <a:r>
              <a:rPr sz="1950" b="1">
                <a:solidFill>
                  <a:srgbClr val="101827"/>
                </a:solidFill>
                <a:latin typeface="Georgia"/>
                <a:ea typeface="Georgia"/>
                <a:cs typeface="Georgia"/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EF00815-01F6-4D74-89A4-BFED96C58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0"/>
            <a:ext cx="1809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713" b="1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Narrative spine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CDE5FF3-6517-44D5-8D3A-540FB45BC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95950"/>
            <a:ext cx="1809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638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claim-first flow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EA11301-211C-42E7-97C4-6B84C01A5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5067300"/>
            <a:ext cx="95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7F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EF66A07-8338-460A-83B0-B8A20B33A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5143500"/>
            <a:ext cx="1809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01827"/>
                </a:solidFill>
                <a:latin typeface="Georgia"/>
                <a:ea typeface="Georgia"/>
                <a:cs typeface="Georgia"/>
              </a:defRPr>
            </a:pPr>
            <a:r>
              <a:rPr sz="1950" b="1">
                <a:solidFill>
                  <a:srgbClr val="101827"/>
                </a:solidFill>
                <a:latin typeface="Georgia"/>
                <a:ea typeface="Georgia"/>
                <a:cs typeface="Georgia"/>
              </a:rPr>
              <a:t>06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D2917F6-A039-4E72-81E5-BB803F1F8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5524500"/>
            <a:ext cx="1809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713" b="1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Required beats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1500E7F-20F3-4716-B122-41919FABB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5695950"/>
            <a:ext cx="1809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638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from source prompt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8700791-F51F-4931-B25C-846E2F9F2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5067300"/>
            <a:ext cx="95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F6D01C4-DA5C-4A4D-AE48-FD19E1B99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5143500"/>
            <a:ext cx="1809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01827"/>
                </a:solidFill>
                <a:latin typeface="Georgia"/>
                <a:ea typeface="Georgia"/>
                <a:cs typeface="Georgia"/>
              </a:defRPr>
            </a:pPr>
            <a:r>
              <a:rPr sz="1950" b="1">
                <a:solidFill>
                  <a:srgbClr val="101827"/>
                </a:solidFill>
                <a:latin typeface="Georgia"/>
                <a:ea typeface="Georgia"/>
                <a:cs typeface="Georgia"/>
              </a:rPr>
              <a:t>01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56864A0-109A-4860-99BF-521A21174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5524500"/>
            <a:ext cx="1809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713" b="1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Source links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9563789-5C3E-4AE5-A612-A8AFD1F4A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5695950"/>
            <a:ext cx="1809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638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audit before final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5C83405-DF67-44F8-8963-D3716CC59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5067300"/>
            <a:ext cx="95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7F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ECC247C-8181-4452-B6EF-F7FD96D92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5143500"/>
            <a:ext cx="1809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01827"/>
                </a:solidFill>
                <a:latin typeface="Georgia"/>
                <a:ea typeface="Georgia"/>
                <a:cs typeface="Georgia"/>
              </a:defRPr>
            </a:pPr>
            <a:r>
              <a:rPr sz="1950" b="1">
                <a:solidFill>
                  <a:srgbClr val="101827"/>
                </a:solidFill>
                <a:latin typeface="Georgia"/>
                <a:ea typeface="Georgia"/>
                <a:cs typeface="Georgia"/>
              </a:rPr>
              <a:t>A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FA7D19C-5391-4242-9BB1-05E74D427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5524500"/>
            <a:ext cx="1809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713" b="1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Golden grade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89FA169-49F8-49DD-95A8-3235C5B80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5695950"/>
            <a:ext cx="1809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638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matrix reference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C17998C-9A47-4A8B-8BD9-FDC2BC963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DE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82B10F2-0076-4C00-A0B8-D9857832B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72250"/>
            <a:ext cx="838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63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563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Prompt external-md-02-vite | Presentation Create - Product Platform Deck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01A2319-2B59-4DBB-85D3-6A0780CA5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34150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87386"/>
                </a:solidFill>
                <a:latin typeface="Georgia"/>
                <a:ea typeface="Georgia"/>
                <a:cs typeface="Georgia"/>
              </a:defRPr>
            </a:pPr>
            <a:r>
              <a:rPr sz="825" b="1">
                <a:solidFill>
                  <a:srgbClr val="687386"/>
                </a:solidFill>
                <a:latin typeface="Georgia"/>
                <a:ea typeface="Georgia"/>
                <a:cs typeface="Georgia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2114278292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FB38D62-4349-4CAD-B73A-E7C2F7EA8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02A11A-0FDD-4E3A-A6DB-4E35214F5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857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CB74CB5-C4C2-4102-9DB2-0529BED98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7200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713" b="1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C L A I M   S P I N 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F5925B-663F-4E42-9B27-2DAC8233C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00100"/>
            <a:ext cx="8572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1827"/>
                </a:solidFill>
                <a:latin typeface="Georgia"/>
                <a:ea typeface="Georgia"/>
                <a:cs typeface="Georgia"/>
              </a:defRPr>
            </a:pPr>
            <a:r>
              <a:rPr sz="2550" b="1">
                <a:solidFill>
                  <a:srgbClr val="101827"/>
                </a:solidFill>
                <a:latin typeface="Georgia"/>
                <a:ea typeface="Georgia"/>
                <a:cs typeface="Georgia"/>
              </a:rPr>
              <a:t>Every slide needs a claim, a proof object, and a reason to exist.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2306DD-244D-49B2-8518-3C301B4CD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24050"/>
            <a:ext cx="9525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938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Build a five-slide battle probe from the external Markdown source 'Vite'</a:t>
            </a:r>
          </a:p>
          <a:p xmlns:a="http://schemas.openxmlformats.org/drawingml/2006/main">
            <a:pPr algn="l">
              <a:defRPr sz="938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938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(https://raw.githubusercontent.com/vitejs/vite/main/README.md). Use profile</a:t>
            </a:r>
          </a:p>
          <a:p xmlns:a="http://schemas.openxmlformats.org/drawingml/2006/main">
            <a:pPr algn="l">
              <a:defRPr sz="938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938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product-platform. The deck must turn README content into claim-title slides, one dominant...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7C7F76-0AC5-469E-9098-E540E80D2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76575"/>
            <a:ext cx="400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6B87"/>
                </a:solidFill>
                <a:latin typeface="Georgia"/>
                <a:ea typeface="Georgia"/>
                <a:cs typeface="Georgia"/>
              </a:defRPr>
            </a:pPr>
            <a:r>
              <a:rPr sz="1575" b="1">
                <a:solidFill>
                  <a:srgbClr val="176B87"/>
                </a:solidFill>
                <a:latin typeface="Georgia"/>
                <a:ea typeface="Georgia"/>
                <a:cs typeface="Georgia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9DF68E-F059-497E-8A70-A228EC124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200400"/>
            <a:ext cx="876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C96F4CF-385F-4AB0-8403-78FFA14D4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038475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1827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101827"/>
                </a:solidFill>
                <a:latin typeface="Avenir Next"/>
                <a:ea typeface="Avenir Next"/>
                <a:cs typeface="Avenir Next"/>
              </a:rPr>
              <a:t>Build a five-slide battle probe from the external Markdown source 'Vite' ( Use profile product-platform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D34E904-6309-4F33-BA9C-96A95BCB5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038475"/>
            <a:ext cx="5334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788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Show how Build a five-slide battle probe from the external Markdown source 'Vite' ( Use profile product-platform changes product adoption, expansion, or monetization for Vite.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85C7B7B-7DD1-407A-A838-A0DCC703F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09975"/>
            <a:ext cx="400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C47F2C"/>
                </a:solidFill>
                <a:latin typeface="Georgia"/>
                <a:ea typeface="Georgia"/>
                <a:cs typeface="Georgia"/>
              </a:defRPr>
            </a:pPr>
            <a:r>
              <a:rPr sz="1575" b="1">
                <a:solidFill>
                  <a:srgbClr val="C47F2C"/>
                </a:solidFill>
                <a:latin typeface="Georgia"/>
                <a:ea typeface="Georgia"/>
                <a:cs typeface="Georgia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8266C79-E0EC-4C94-BB42-DEAEB3829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733800"/>
            <a:ext cx="876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7F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104BEAD-E62C-48A1-80D1-5424E5DA3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571875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1827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101827"/>
                </a:solidFill>
                <a:latin typeface="Avenir Next"/>
                <a:ea typeface="Avenir Next"/>
                <a:cs typeface="Avenir Next"/>
              </a:rPr>
              <a:t>The deck must turn README content into claim-title slides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6261021-870E-4B76-BE13-6F2B170DC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571875"/>
            <a:ext cx="5334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788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Show how The deck must turn README content into claim-title slides changes product adoption, expansion, or monetization for Vite.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851FAF1-416B-4CBC-BB09-F8303B580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43375"/>
            <a:ext cx="400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6B87"/>
                </a:solidFill>
                <a:latin typeface="Georgia"/>
                <a:ea typeface="Georgia"/>
                <a:cs typeface="Georgia"/>
              </a:defRPr>
            </a:pPr>
            <a:r>
              <a:rPr sz="1575" b="1">
                <a:solidFill>
                  <a:srgbClr val="176B87"/>
                </a:solidFill>
                <a:latin typeface="Georgia"/>
                <a:ea typeface="Georgia"/>
                <a:cs typeface="Georgia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14A960D-D12E-4C4E-A367-D3730FBFB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267200"/>
            <a:ext cx="876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028EC65-B54C-4A71-9055-67A811698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105275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1827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101827"/>
                </a:solidFill>
                <a:latin typeface="Avenir Next"/>
                <a:ea typeface="Avenir Next"/>
                <a:cs typeface="Avenir Next"/>
              </a:rPr>
              <a:t>one dominant proof object per slide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148EE91-14A7-42DA-9E2F-71D9209B8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105275"/>
            <a:ext cx="5334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788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Show how one dominant proof object per slide changes product adoption, expansion, or monetization for Vite.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70F6252-DD52-4CC1-B4D6-19273D582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76775"/>
            <a:ext cx="400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C47F2C"/>
                </a:solidFill>
                <a:latin typeface="Georgia"/>
                <a:ea typeface="Georgia"/>
                <a:cs typeface="Georgia"/>
              </a:defRPr>
            </a:pPr>
            <a:r>
              <a:rPr sz="1575" b="1">
                <a:solidFill>
                  <a:srgbClr val="C47F2C"/>
                </a:solidFill>
                <a:latin typeface="Georgia"/>
                <a:ea typeface="Georgia"/>
                <a:cs typeface="Georgia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A4478D4-B4B4-41FD-B2E9-5AB2BA254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800600"/>
            <a:ext cx="876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7F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3719470-48B4-4FCA-87AC-50727943B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638675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1827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101827"/>
                </a:solidFill>
                <a:latin typeface="Avenir Next"/>
                <a:ea typeface="Avenir Next"/>
                <a:cs typeface="Avenir Next"/>
              </a:rPr>
              <a:t>source-aware footer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5D57672-55D9-4D42-8D6E-2C68E73BE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638675"/>
            <a:ext cx="5334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788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Show how source-aware footer changes product adoption, expansion, or monetization for Vite.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E59DB1B-1694-4C59-AC4C-929948E85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10175"/>
            <a:ext cx="400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6B87"/>
                </a:solidFill>
                <a:latin typeface="Georgia"/>
                <a:ea typeface="Georgia"/>
                <a:cs typeface="Georgia"/>
              </a:defRPr>
            </a:pPr>
            <a:r>
              <a:rPr sz="1575" b="1">
                <a:solidFill>
                  <a:srgbClr val="176B87"/>
                </a:solidFill>
                <a:latin typeface="Georgia"/>
                <a:ea typeface="Georgia"/>
                <a:cs typeface="Georgia"/>
              </a:rPr>
              <a:t>05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6E8A05D-403F-4476-984B-7C16D180B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5334000"/>
            <a:ext cx="876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CCA7A54-AE8C-42BA-BB2A-FD526A73B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172075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1827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101827"/>
                </a:solidFill>
                <a:latin typeface="Avenir Next"/>
                <a:ea typeface="Avenir Next"/>
                <a:cs typeface="Avenir Next"/>
              </a:rPr>
              <a:t>visible narrative spine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031508F-8B69-4E46-9601-805794174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5172075"/>
            <a:ext cx="5334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788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Show how visible narrative spine changes product adoption, expansion, or monetization for Vite.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A73D5F8-DC78-484E-BF17-474D1BA38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43575"/>
            <a:ext cx="400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C47F2C"/>
                </a:solidFill>
                <a:latin typeface="Georgia"/>
                <a:ea typeface="Georgia"/>
                <a:cs typeface="Georgia"/>
              </a:defRPr>
            </a:pPr>
            <a:r>
              <a:rPr sz="1575" b="1">
                <a:solidFill>
                  <a:srgbClr val="C47F2C"/>
                </a:solidFill>
                <a:latin typeface="Georgia"/>
                <a:ea typeface="Georgia"/>
                <a:cs typeface="Georgia"/>
              </a:rPr>
              <a:t>06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E9925D4-CD91-4EB3-BA65-46CCA7D97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5867400"/>
            <a:ext cx="876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7F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E1174E1-0783-4C20-B5CE-D413DC8BE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705475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1827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101827"/>
                </a:solidFill>
                <a:latin typeface="Avenir Next"/>
                <a:ea typeface="Avenir Next"/>
                <a:cs typeface="Avenir Next"/>
              </a:rPr>
              <a:t>product vision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CFB40B1-53FE-40E4-B769-CAF3161C9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5705475"/>
            <a:ext cx="5334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788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Show how product vision changes product adoption, expansion, or monetization for Vite.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F379FB0-C4AB-4A0F-BCAC-88A7AC2F0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724150"/>
            <a:ext cx="16383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9305254-3CDC-413E-87B7-5D69748F0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971800"/>
            <a:ext cx="12573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135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NOUN-SWAP</a:t>
            </a:r>
          </a:p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135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TEST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C5495B6-48E5-4E90-8A34-F1FA23008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3676650"/>
            <a:ext cx="12573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D9E2EF"/>
                </a:solidFill>
                <a:latin typeface="Avenir Next"/>
                <a:ea typeface="Avenir Next"/>
                <a:cs typeface="Avenir Next"/>
              </a:defRPr>
            </a:pPr>
            <a:r>
              <a:rPr sz="900" b="0">
                <a:solidFill>
                  <a:srgbClr val="D9E2EF"/>
                </a:solidFill>
                <a:latin typeface="Avenir Next"/>
                <a:ea typeface="Avenir Next"/>
                <a:cs typeface="Avenir Next"/>
              </a:rPr>
              <a:t>If this deck still works after replacing the company name, the story is not sharp enough.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0B5EC27-13C8-4D33-B4C2-5D414FEDB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DE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9BBE4B6-C6DB-4183-B089-A4442FC61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72250"/>
            <a:ext cx="838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63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563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Profile: product-platform | Battle harness requires profile-specific proof objects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D332EE2-C5B3-4D82-9B6B-3323C4194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34150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87386"/>
                </a:solidFill>
                <a:latin typeface="Georgia"/>
                <a:ea typeface="Georgia"/>
                <a:cs typeface="Georgia"/>
              </a:defRPr>
            </a:pPr>
            <a:r>
              <a:rPr sz="825" b="1">
                <a:solidFill>
                  <a:srgbClr val="687386"/>
                </a:solidFill>
                <a:latin typeface="Georgia"/>
                <a:ea typeface="Georgia"/>
                <a:cs typeface="Georgia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715518249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15F7FDB-27CA-4DB1-9222-894693CE2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DDE60B-87C9-4176-996A-4BD61661F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857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534C7E4-06B6-4BEE-8789-417E154F0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7200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713" b="1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P R O O F   O B J E C 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27210C-C03C-4D76-9883-05531CB4D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00100"/>
            <a:ext cx="7810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1827"/>
                </a:solidFill>
                <a:latin typeface="Georgia"/>
                <a:ea typeface="Georgia"/>
                <a:cs typeface="Georgia"/>
              </a:defRPr>
            </a:pPr>
            <a:r>
              <a:rPr sz="2550" b="1">
                <a:solidFill>
                  <a:srgbClr val="101827"/>
                </a:solidFill>
                <a:latin typeface="Georgia"/>
                <a:ea typeface="Georgia"/>
                <a:cs typeface="Georgia"/>
              </a:rPr>
              <a:t>Architecture has to prove the business model.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2BF1A4-DDF4-46DD-BE61-4CE75B67C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47900"/>
            <a:ext cx="15049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DED2"/>
          </a:solidFill>
          <a:ln xmlns:a="http://schemas.openxmlformats.org/drawingml/2006/main" w="9525">
            <a:solidFill>
              <a:srgbClr val="176B8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91FE17B-68FB-4541-96E4-A20FB37A3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19350"/>
            <a:ext cx="1238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01827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101827"/>
                </a:solidFill>
                <a:latin typeface="Avenir Next"/>
                <a:ea typeface="Avenir Next"/>
                <a:cs typeface="Avenir Next"/>
              </a:rPr>
              <a:t>Customer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0ACA2C6-B900-4957-8A82-7D81F4BE5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590800"/>
            <a:ext cx="400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806E74B-D779-4EE8-8FCA-A062EA169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5527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7120C0C-124D-40B4-A3FF-7B7E61E4E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990850"/>
            <a:ext cx="15049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7"/>
          </a:solidFill>
          <a:ln xmlns:a="http://schemas.openxmlformats.org/drawingml/2006/main" w="9525">
            <a:solidFill>
              <a:srgbClr val="10182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579291A-B529-42C7-9DEB-B164474DD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162300"/>
            <a:ext cx="1238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Platform core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9507870-B771-40C0-9624-2F98483C9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333750"/>
            <a:ext cx="400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7F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A2547E6-61D4-4753-9C56-E24CA5525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2956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7F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A15D96A-9927-48C3-805E-6CD2DA831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247900"/>
            <a:ext cx="15049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DED2"/>
          </a:solidFill>
          <a:ln xmlns:a="http://schemas.openxmlformats.org/drawingml/2006/main" w="9525">
            <a:solidFill>
              <a:srgbClr val="176B87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0054678-E618-49FF-9030-2753DB0AA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419350"/>
            <a:ext cx="1238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01827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101827"/>
                </a:solidFill>
                <a:latin typeface="Avenir Next"/>
                <a:ea typeface="Avenir Next"/>
                <a:cs typeface="Avenir Next"/>
              </a:rPr>
              <a:t>Use cases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A1F98A3-2908-436F-AD1D-1A5266789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590800"/>
            <a:ext cx="400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0C12BC2-F24F-44A0-8F65-25B020765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25527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6DED3AA-DCDC-4CEE-A07C-02E82DBB2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990850"/>
            <a:ext cx="15049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DED2"/>
          </a:solidFill>
          <a:ln xmlns:a="http://schemas.openxmlformats.org/drawingml/2006/main" w="9525">
            <a:solidFill>
              <a:srgbClr val="176B87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E6EF76D-8A0D-492F-84D6-8598119F9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162300"/>
            <a:ext cx="1238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01827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101827"/>
                </a:solidFill>
                <a:latin typeface="Avenir Next"/>
                <a:ea typeface="Avenir Next"/>
                <a:cs typeface="Avenir Next"/>
              </a:rPr>
              <a:t>Expansion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9494BC7-94EA-491D-9D3C-67D2C9F92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333750"/>
            <a:ext cx="400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7F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C041D9C-C614-4202-9689-F379A3156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2956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7F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BE141EF-E906-4089-9EA7-AE84A5290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247900"/>
            <a:ext cx="15049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DED2"/>
          </a:solidFill>
          <a:ln xmlns:a="http://schemas.openxmlformats.org/drawingml/2006/main" w="9525">
            <a:solidFill>
              <a:srgbClr val="176B87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5FDADDC-BEDD-4849-B616-7FD507A38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419350"/>
            <a:ext cx="1238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01827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101827"/>
                </a:solidFill>
                <a:latin typeface="Avenir Next"/>
                <a:ea typeface="Avenir Next"/>
                <a:cs typeface="Avenir Next"/>
              </a:rPr>
              <a:t>Financial proof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8ABFC5B-453D-464C-9840-FCBBF53E4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686300"/>
            <a:ext cx="9429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176B87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DCB1B94-17D7-438C-8FE5-42A36A164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876800"/>
            <a:ext cx="8953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1827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101827"/>
                </a:solidFill>
                <a:latin typeface="Avenir Next"/>
                <a:ea typeface="Avenir Next"/>
                <a:cs typeface="Avenir Next"/>
              </a:rPr>
              <a:t>No generic feature cards: every module must either explain system motion or quantify adoption, expansion, efficiency, or monetization.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9345C9B-EBAB-488E-A299-9AD22FC65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DE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F61B91D-E58F-4F74-97D7-1A2C35EB8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72250"/>
            <a:ext cx="838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63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563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product-platform profile | Architecture, workflow, and KPI proof must share one visual grammar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9C0D549-0828-41A6-8EDA-6C5CCC950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34150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87386"/>
                </a:solidFill>
                <a:latin typeface="Georgia"/>
                <a:ea typeface="Georgia"/>
                <a:cs typeface="Georgia"/>
              </a:defRPr>
            </a:pPr>
            <a:r>
              <a:rPr sz="825" b="1">
                <a:solidFill>
                  <a:srgbClr val="687386"/>
                </a:solidFill>
                <a:latin typeface="Georgia"/>
                <a:ea typeface="Georgia"/>
                <a:cs typeface="Georgia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449026820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1A7F4F6-614C-4C8B-8416-DC5F1AB3D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D89DB1-ADE6-4B0B-8999-B9946831D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857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574B8E-A11E-420F-B6AA-FD5C4B0B5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7200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713" b="1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P R O F I L E   G A T E 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9A7EBB-F16E-40E2-9F86-ADDA8DC83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00100"/>
            <a:ext cx="7810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1827"/>
                </a:solidFill>
                <a:latin typeface="Georgia"/>
                <a:ea typeface="Georgia"/>
                <a:cs typeface="Georgia"/>
              </a:defRPr>
            </a:pPr>
            <a:r>
              <a:rPr sz="2550" b="1">
                <a:solidFill>
                  <a:srgbClr val="101827"/>
                </a:solidFill>
                <a:latin typeface="Georgia"/>
                <a:ea typeface="Georgia"/>
                <a:cs typeface="Georgia"/>
              </a:rPr>
              <a:t>Different domains should fail for different reasons.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F0CEC2-A4B0-4DB9-98F2-7802D0EDB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47900"/>
            <a:ext cx="42481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DED2"/>
          </a:solidFill>
          <a:ln xmlns:a="http://schemas.openxmlformats.org/drawingml/2006/main" w="9525">
            <a:solidFill>
              <a:srgbClr val="E6DED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1D51C01-34ED-4DBD-A63B-8495D5BCD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457450"/>
            <a:ext cx="4953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6B87"/>
                </a:solidFill>
                <a:latin typeface="Georgia"/>
                <a:ea typeface="Georgia"/>
                <a:cs typeface="Georgia"/>
              </a:defRPr>
            </a:pPr>
            <a:r>
              <a:rPr sz="1800" b="1">
                <a:solidFill>
                  <a:srgbClr val="176B87"/>
                </a:solidFill>
                <a:latin typeface="Georgia"/>
                <a:ea typeface="Georgia"/>
                <a:cs typeface="Georgia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0DEA416-F9A5-40E9-8719-D4ABC8C55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2457450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1827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>
                <a:solidFill>
                  <a:srgbClr val="101827"/>
                </a:solidFill>
                <a:latin typeface="Avenir Next"/>
                <a:ea typeface="Avenir Next"/>
                <a:cs typeface="Avenir Next"/>
              </a:rPr>
              <a:t>architecture map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18FF823-4B4E-4EB2-BF45-B55007C92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2724150"/>
            <a:ext cx="3009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713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The proof object must connect product breadth to measurable business outcomes.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4811EED-C687-4F8A-9ACF-62FB62C5D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247900"/>
            <a:ext cx="42481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E6DED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AD3B5F5-EF06-432B-B09F-E63EE82AC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457450"/>
            <a:ext cx="4953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6B87"/>
                </a:solidFill>
                <a:latin typeface="Georgia"/>
                <a:ea typeface="Georgia"/>
                <a:cs typeface="Georgia"/>
              </a:defRPr>
            </a:pPr>
            <a:r>
              <a:rPr sz="1800" b="1">
                <a:solidFill>
                  <a:srgbClr val="176B87"/>
                </a:solidFill>
                <a:latin typeface="Georgia"/>
                <a:ea typeface="Georgia"/>
                <a:cs typeface="Georgia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0FBB698-AF35-4C50-B912-54E22E12A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457450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1827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>
                <a:solidFill>
                  <a:srgbClr val="101827"/>
                </a:solidFill>
                <a:latin typeface="Avenir Next"/>
                <a:ea typeface="Avenir Next"/>
                <a:cs typeface="Avenir Next"/>
              </a:rPr>
              <a:t>adoption proof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1F2F684-0F6C-4EBA-92ED-D9ADD41AE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724150"/>
            <a:ext cx="3009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713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The proof object must connect product breadth to measurable business outcomes.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513046A-495B-463E-9039-F067BD36B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505200"/>
            <a:ext cx="42481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DED2"/>
          </a:solidFill>
          <a:ln xmlns:a="http://schemas.openxmlformats.org/drawingml/2006/main" w="9525">
            <a:solidFill>
              <a:srgbClr val="E6DED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05A319A-05FA-4EE2-BEA7-100F222CA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714750"/>
            <a:ext cx="4953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6B87"/>
                </a:solidFill>
                <a:latin typeface="Georgia"/>
                <a:ea typeface="Georgia"/>
                <a:cs typeface="Georgia"/>
              </a:defRPr>
            </a:pPr>
            <a:r>
              <a:rPr sz="1800" b="1">
                <a:solidFill>
                  <a:srgbClr val="176B87"/>
                </a:solidFill>
                <a:latin typeface="Georgia"/>
                <a:ea typeface="Georgia"/>
                <a:cs typeface="Georgia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2DB6FB3-1601-4637-85B4-6866F32C4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3714750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1827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>
                <a:solidFill>
                  <a:srgbClr val="101827"/>
                </a:solidFill>
                <a:latin typeface="Avenir Next"/>
                <a:ea typeface="Avenir Next"/>
                <a:cs typeface="Avenir Next"/>
              </a:rPr>
              <a:t>product-to-financial linkage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A409340-60F6-4BDE-808C-994830A92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3981450"/>
            <a:ext cx="3009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713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The proof object must connect product breadth to measurable business outcomes.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BE3C2FF-4FCE-426C-BDC9-FCCBC5F49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505200"/>
            <a:ext cx="42481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E6DED2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2D44A33-1D1F-431B-8DEE-9536150E5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714750"/>
            <a:ext cx="4953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6B87"/>
                </a:solidFill>
                <a:latin typeface="Georgia"/>
                <a:ea typeface="Georgia"/>
                <a:cs typeface="Georgia"/>
              </a:defRPr>
            </a:pPr>
            <a:r>
              <a:rPr sz="1800" b="1">
                <a:solidFill>
                  <a:srgbClr val="176B87"/>
                </a:solidFill>
                <a:latin typeface="Georgia"/>
                <a:ea typeface="Georgia"/>
                <a:cs typeface="Georgia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1C729E8-F4EB-4368-83B8-1E50C8E55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714750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1827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>
                <a:solidFill>
                  <a:srgbClr val="101827"/>
                </a:solidFill>
                <a:latin typeface="Avenir Next"/>
                <a:ea typeface="Avenir Next"/>
                <a:cs typeface="Avenir Next"/>
              </a:rPr>
              <a:t>modular chapters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4BE8088-8EA2-4D2B-9E28-80AE8F5D5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981450"/>
            <a:ext cx="3009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713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The proof object must connect product breadth to measurable business outcomes.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98D7405-8C3C-45AA-B747-B03094D26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DE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F40C81C-BF8D-4D3C-B51F-B846969D7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72250"/>
            <a:ext cx="838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63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563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Battle harness | Profile-fit and template-fidelity get scored separately from beauty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9B8F080-6357-45DC-854A-12BFFC43C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34150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87386"/>
                </a:solidFill>
                <a:latin typeface="Georgia"/>
                <a:ea typeface="Georgia"/>
                <a:cs typeface="Georgia"/>
              </a:defRPr>
            </a:pPr>
            <a:r>
              <a:rPr sz="825" b="1">
                <a:solidFill>
                  <a:srgbClr val="687386"/>
                </a:solidFill>
                <a:latin typeface="Georgia"/>
                <a:ea typeface="Georgia"/>
                <a:cs typeface="Georgia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635514939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9D19D2E-664D-4E8E-B88D-E6D1EC839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7301C5-5E40-49CF-8BC5-688ADD256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857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4D6DA1-565D-40F8-9F81-36EBD472A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7200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713" b="1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B A T T L E   V E R D I C 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26A834-6E7C-489B-87F7-5FFF1747E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00100"/>
            <a:ext cx="85725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1827"/>
                </a:solidFill>
                <a:latin typeface="Georgia"/>
                <a:ea typeface="Georgia"/>
                <a:cs typeface="Georgia"/>
              </a:defRPr>
            </a:pPr>
            <a:r>
              <a:rPr sz="2550" b="1">
                <a:solidFill>
                  <a:srgbClr val="101827"/>
                </a:solidFill>
                <a:latin typeface="Georgia"/>
                <a:ea typeface="Georgia"/>
                <a:cs typeface="Georgia"/>
              </a:rPr>
              <a:t>What the full skill run must do before calling this done.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AF8BA80-2669-4FD0-A23C-6B8D010FC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9075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1827"/>
                </a:solidFill>
                <a:latin typeface="Georgia"/>
                <a:ea typeface="Georgia"/>
                <a:cs typeface="Georgia"/>
              </a:defRPr>
            </a:pPr>
            <a:r>
              <a:rPr sz="1200" b="1">
                <a:solidFill>
                  <a:srgbClr val="101827"/>
                </a:solidFill>
                <a:latin typeface="Georgia"/>
                <a:ea typeface="Georgia"/>
                <a:cs typeface="Georgia"/>
              </a:rPr>
              <a:t>Source extraction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C17536-BE86-4629-B7D2-F43D8730F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2305050"/>
            <a:ext cx="857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5E3E4BD-8E4A-4DE3-BF97-39D0D66FE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190750"/>
            <a:ext cx="3905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1050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1 link(s) plus attachments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9D9BF86-7BDC-46DC-B364-98E313D78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93370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1827"/>
                </a:solidFill>
                <a:latin typeface="Georgia"/>
                <a:ea typeface="Georgia"/>
                <a:cs typeface="Georgia"/>
              </a:defRPr>
            </a:pPr>
            <a:r>
              <a:rPr sz="1200" b="1">
                <a:solidFill>
                  <a:srgbClr val="101827"/>
                </a:solidFill>
                <a:latin typeface="Georgia"/>
                <a:ea typeface="Georgia"/>
                <a:cs typeface="Georgia"/>
              </a:rPr>
              <a:t>Design lock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6CA8136-4A83-494C-A9C1-94A930F0D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3048000"/>
            <a:ext cx="857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7F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90FFD1E-C050-414D-91EC-9FAEAA071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933700"/>
            <a:ext cx="3905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1050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profile-specific grammar before slide modules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3EEC51A-AA5D-435C-AB4C-6E9F0704F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67665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1827"/>
                </a:solidFill>
                <a:latin typeface="Georgia"/>
                <a:ea typeface="Georgia"/>
                <a:cs typeface="Georgia"/>
              </a:defRPr>
            </a:pPr>
            <a:r>
              <a:rPr sz="1200" b="1">
                <a:solidFill>
                  <a:srgbClr val="101827"/>
                </a:solidFill>
                <a:latin typeface="Georgia"/>
                <a:ea typeface="Georgia"/>
                <a:cs typeface="Georgia"/>
              </a:rPr>
              <a:t>Rendered QA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C093A04-638E-4181-8C98-096C887A5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3790950"/>
            <a:ext cx="857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728616B-3269-422B-A5EA-82B08E950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676650"/>
            <a:ext cx="3905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1050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contact sheet, layout JSON, package checks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4794E5E-6297-4CFE-9DDA-6E478830F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41960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1827"/>
                </a:solidFill>
                <a:latin typeface="Georgia"/>
                <a:ea typeface="Georgia"/>
                <a:cs typeface="Georgia"/>
              </a:defRPr>
            </a:pPr>
            <a:r>
              <a:rPr sz="1200" b="1">
                <a:solidFill>
                  <a:srgbClr val="101827"/>
                </a:solidFill>
                <a:latin typeface="Georgia"/>
                <a:ea typeface="Georgia"/>
                <a:cs typeface="Georgia"/>
              </a:rPr>
              <a:t>Opus delta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9568B1E-7AF8-454B-8A36-241A88BD4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4533900"/>
            <a:ext cx="857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7F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7BC00A6-BEB1-486C-B1C2-AD8E9521C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419600"/>
            <a:ext cx="3905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1050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name where this wins and where Opus still wins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8CDE1C3-924D-4E7A-B9C3-461A91CFD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247900"/>
            <a:ext cx="2038350" cy="2038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7ED2CDF-CDF2-4E5D-9CD0-E13B00FDB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647950"/>
            <a:ext cx="12192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4350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435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47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8858CAD-1B39-42F7-8EF4-E906BCE9A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505200"/>
            <a:ext cx="10287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C7D7EA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C7D7EA"/>
                </a:solidFill>
                <a:latin typeface="Avenir Next"/>
                <a:ea typeface="Avenir Next"/>
                <a:cs typeface="Avenir Next"/>
              </a:rPr>
              <a:t>probe score</a:t>
            </a:r>
          </a:p>
          <a:p xmlns:a="http://schemas.openxmlformats.org/drawingml/2006/main">
            <a:pPr algn="ctr">
              <a:defRPr sz="975" b="1">
                <a:solidFill>
                  <a:srgbClr val="C7D7EA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C7D7EA"/>
                </a:solidFill>
                <a:latin typeface="Avenir Next"/>
                <a:ea typeface="Avenir Next"/>
                <a:cs typeface="Avenir Next"/>
              </a:rPr>
              <a:t>out of 50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E0D531A-C389-43BA-95FC-73AEA980E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DE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D6F4A2A-78D1-45A0-BEF1-70D09900F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72250"/>
            <a:ext cx="838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63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563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Score is a harness probe score; full deck still requires prompt sources and final deck QA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B9FA7A5-C9A1-41EF-AFA3-7A6977945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34150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87386"/>
                </a:solidFill>
                <a:latin typeface="Georgia"/>
                <a:ea typeface="Georgia"/>
                <a:cs typeface="Georgia"/>
              </a:defRPr>
            </a:pPr>
            <a:r>
              <a:rPr sz="825" b="1">
                <a:solidFill>
                  <a:srgbClr val="687386"/>
                </a:solidFill>
                <a:latin typeface="Georgia"/>
                <a:ea typeface="Georgia"/>
                <a:cs typeface="Georgia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49897645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2026-06-30T13:05:13.6180000Z</dcterms:created>
  <dcterms:modified xsi:type="dcterms:W3CDTF">2026-06-30T13:05:13.6180000Z</dcterms:modified>
</coreProperties>
</file>