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4ED8"/>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Shape 3"/>
          <p:cNvSpPr/>
          <p:nvPr/>
        </p:nvSpPr>
        <p:spPr>
          <a:xfrm>
            <a:off x="0" y="0"/>
            <a:ext cx="12191695" cy="201168"/>
          </a:xfrm>
          <a:prstGeom prst="rect">
            <a:avLst/>
          </a:prstGeom>
          <a:solidFill>
            <a:srgbClr val="D8A71D"/>
          </a:solidFill>
          <a:ln w="12700">
            <a:solidFill>
              <a:srgbClr val="D8A71D">
                <a:alpha val="0"/>
              </a:srgbClr>
            </a:solidFill>
            <a:prstDash val="solid"/>
          </a:ln>
        </p:spPr>
      </p:sp>
      <p:sp>
        <p:nvSpPr>
          <p:cNvPr id="6" name="Shape 4"/>
          <p:cNvSpPr/>
          <p:nvPr/>
        </p:nvSpPr>
        <p:spPr>
          <a:xfrm>
            <a:off x="9357055" y="6528816"/>
            <a:ext cx="2148840" cy="73152"/>
          </a:xfrm>
          <a:prstGeom prst="rect">
            <a:avLst/>
          </a:prstGeom>
          <a:solidFill>
            <a:srgbClr val="FFFFFF">
              <a:alpha val="90000"/>
            </a:srgbClr>
          </a:solidFill>
          <a:ln w="12700">
            <a:solidFill>
              <a:srgbClr val="FFFFFF">
                <a:alpha val="0"/>
              </a:srgbClr>
            </a:solidFill>
            <a:prstDash val="solid"/>
          </a:ln>
        </p:spPr>
      </p:sp>
      <p:sp>
        <p:nvSpPr>
          <p:cNvPr id="7" name="Text 5"/>
          <p:cNvSpPr txBox="1"/>
          <p:nvPr/>
        </p:nvSpPr>
        <p:spPr>
          <a:xfrm>
            <a:off x="914400" y="2057400"/>
            <a:ext cx="10332720" cy="1143000"/>
          </a:xfrm>
          <a:prstGeom prst="rect">
            <a:avLst/>
          </a:prstGeom>
          <a:noFill/>
          <a:ln/>
        </p:spPr>
        <p:txBody>
          <a:bodyPr wrap="square" lIns="0" tIns="0" rIns="0" bIns="0" rtlCol="0" anchor="ctr">
            <a:normAutofit/>
          </a:bodyPr>
          <a:lstStyle/>
          <a:p>
            <a:pPr algn="ctr" indent="0" marL="0">
              <a:lnSpc>
                <a:spcPct val="120000"/>
              </a:lnSpc>
              <a:buNone/>
            </a:pPr>
            <a:r>
              <a:rPr lang="en-US" sz="4800" b="1" dirty="0">
                <a:solidFill>
                  <a:srgbClr val="FFFFFF"/>
                </a:solidFill>
                <a:latin typeface="Pretendard" pitchFamily="34" charset="0"/>
                <a:ea typeface="Pretendard" pitchFamily="34" charset="-122"/>
                <a:cs typeface="Pretendard" pitchFamily="34" charset="-120"/>
              </a:rPr>
              <a:t>MDPR Runtime Boundary</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Shape 3"/>
          <p:cNvSpPr/>
          <p:nvPr/>
        </p:nvSpPr>
        <p:spPr>
          <a:xfrm>
            <a:off x="914400" y="1463040"/>
            <a:ext cx="10241280" cy="73152"/>
          </a:xfrm>
          <a:prstGeom prst="rect">
            <a:avLst/>
          </a:prstGeom>
          <a:solidFill>
            <a:srgbClr val="1D4ED8"/>
          </a:solidFill>
          <a:ln w="12700">
            <a:solidFill>
              <a:srgbClr val="1D4ED8">
                <a:alpha val="0"/>
              </a:srgbClr>
            </a:solidFill>
            <a:prstDash val="solid"/>
          </a:ln>
        </p:spPr>
      </p:sp>
      <p:sp>
        <p:nvSpPr>
          <p:cNvPr id="6" name="Text 4"/>
          <p:cNvSpPr txBox="1"/>
          <p:nvPr/>
        </p:nvSpPr>
        <p:spPr>
          <a:xfrm>
            <a:off x="731520" y="384048"/>
            <a:ext cx="10698480" cy="822960"/>
          </a:xfrm>
          <a:prstGeom prst="rect">
            <a:avLst/>
          </a:prstGeom>
          <a:noFill/>
          <a:ln/>
        </p:spPr>
        <p:txBody>
          <a:bodyPr wrap="square" lIns="0" tIns="0" rIns="0" bIns="0" rtlCol="0" anchor="ctr">
            <a:normAutofit/>
          </a:bodyPr>
          <a:lstStyle/>
          <a:p>
            <a:pPr algn="ctr" indent="0" marL="0">
              <a:lnSpc>
                <a:spcPct val="120000"/>
              </a:lnSpc>
              <a:buNone/>
            </a:pPr>
            <a:r>
              <a:rPr lang="en-US" sz="3800" b="1" dirty="0">
                <a:solidFill>
                  <a:srgbClr val="0F172A"/>
                </a:solidFill>
                <a:latin typeface="Pretendard" pitchFamily="34" charset="0"/>
                <a:ea typeface="Pretendard" pitchFamily="34" charset="-122"/>
                <a:cs typeface="Pretendard" pitchFamily="34" charset="-120"/>
              </a:rPr>
              <a:t>목차</a:t>
            </a:r>
            <a:endParaRPr lang="en-US" sz="38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Runtime Scope</a:t>
            </a:r>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Design Notes</a:t>
            </a:r>
            <a:endParaRPr lang="en-US" sz="2200" dirty="0"/>
          </a:p>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Validation Flow</a:t>
            </a:r>
            <a:endParaRPr lang="en-US" sz="2200" dirty="0"/>
          </a:p>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Result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Shape 3"/>
          <p:cNvSpPr/>
          <p:nvPr/>
        </p:nvSpPr>
        <p:spPr>
          <a:xfrm>
            <a:off x="822960" y="1572768"/>
            <a:ext cx="6629400" cy="73152"/>
          </a:xfrm>
          <a:prstGeom prst="rect">
            <a:avLst/>
          </a:prstGeom>
          <a:solidFill>
            <a:srgbClr val="1D4ED8"/>
          </a:solidFill>
          <a:ln w="12700">
            <a:solidFill>
              <a:srgbClr val="1D4ED8">
                <a:alpha val="0"/>
              </a:srgbClr>
            </a:solidFill>
            <a:prstDash val="solid"/>
          </a:ln>
        </p:spPr>
      </p:sp>
      <p:sp>
        <p:nvSpPr>
          <p:cNvPr id="6" name="Shape 4"/>
          <p:cNvSpPr/>
          <p:nvPr/>
        </p:nvSpPr>
        <p:spPr>
          <a:xfrm>
            <a:off x="7955280" y="1993392"/>
            <a:ext cx="2139696" cy="2139696"/>
          </a:xfrm>
          <a:prstGeom prst="roundRect">
            <a:avLst>
              <a:gd name="adj" fmla="val 3419"/>
            </a:avLst>
          </a:prstGeom>
          <a:solidFill>
            <a:srgbClr val="FBFCFD"/>
          </a:solidFill>
          <a:ln w="12700">
            <a:solidFill>
              <a:srgbClr val="BDCAE0"/>
            </a:solidFill>
            <a:prstDash val="solid"/>
          </a:ln>
          <a:effectLst>
            <a:outerShdw sx="100000" sy="100000" kx="0" ky="0" algn="bl" rotWithShape="0" blurRad="12700" dist="50800" dir="2700000">
              <a:srgbClr val="000000">
                <a:alpha val="8000"/>
              </a:srgbClr>
            </a:outerShdw>
          </a:effectLst>
        </p:spPr>
      </p:sp>
      <p:sp>
        <p:nvSpPr>
          <p:cNvPr id="7" name="Shape 5"/>
          <p:cNvSpPr/>
          <p:nvPr/>
        </p:nvSpPr>
        <p:spPr>
          <a:xfrm>
            <a:off x="8511601" y="2464125"/>
            <a:ext cx="575150" cy="742902"/>
          </a:xfrm>
          <a:prstGeom prst="roundRect">
            <a:avLst>
              <a:gd name="adj" fmla="val 6359"/>
            </a:avLst>
          </a:prstGeom>
          <a:solidFill>
            <a:srgbClr val="0F172A"/>
          </a:solidFill>
          <a:ln w="12700">
            <a:solidFill>
              <a:srgbClr val="0F172A">
                <a:alpha val="0"/>
              </a:srgbClr>
            </a:solidFill>
            <a:prstDash val="solid"/>
          </a:ln>
        </p:spPr>
      </p:sp>
      <p:sp>
        <p:nvSpPr>
          <p:cNvPr id="8" name="Shape 6"/>
          <p:cNvSpPr/>
          <p:nvPr/>
        </p:nvSpPr>
        <p:spPr>
          <a:xfrm>
            <a:off x="8655389" y="2655842"/>
            <a:ext cx="299557" cy="41938"/>
          </a:xfrm>
          <a:prstGeom prst="rect">
            <a:avLst/>
          </a:prstGeom>
          <a:solidFill>
            <a:srgbClr val="FBFCFD"/>
          </a:solidFill>
          <a:ln w="12700">
            <a:solidFill>
              <a:srgbClr val="FBFCFD">
                <a:alpha val="0"/>
              </a:srgbClr>
            </a:solidFill>
            <a:prstDash val="solid"/>
          </a:ln>
        </p:spPr>
      </p:sp>
      <p:sp>
        <p:nvSpPr>
          <p:cNvPr id="9" name="Shape 7"/>
          <p:cNvSpPr/>
          <p:nvPr/>
        </p:nvSpPr>
        <p:spPr>
          <a:xfrm>
            <a:off x="8655389" y="2811612"/>
            <a:ext cx="299557" cy="41938"/>
          </a:xfrm>
          <a:prstGeom prst="rect">
            <a:avLst/>
          </a:prstGeom>
          <a:solidFill>
            <a:srgbClr val="FBFCFD"/>
          </a:solidFill>
          <a:ln w="12700">
            <a:solidFill>
              <a:srgbClr val="FBFCFD">
                <a:alpha val="0"/>
              </a:srgbClr>
            </a:solidFill>
            <a:prstDash val="solid"/>
          </a:ln>
        </p:spPr>
      </p:sp>
      <p:sp>
        <p:nvSpPr>
          <p:cNvPr id="10" name="Shape 8"/>
          <p:cNvSpPr/>
          <p:nvPr/>
        </p:nvSpPr>
        <p:spPr>
          <a:xfrm>
            <a:off x="8655389" y="2967382"/>
            <a:ext cx="299557" cy="41938"/>
          </a:xfrm>
          <a:prstGeom prst="rect">
            <a:avLst/>
          </a:prstGeom>
          <a:solidFill>
            <a:srgbClr val="FBFCFD"/>
          </a:solidFill>
          <a:ln w="12700">
            <a:solidFill>
              <a:srgbClr val="FBFCFD">
                <a:alpha val="0"/>
              </a:srgbClr>
            </a:solidFill>
            <a:prstDash val="solid"/>
          </a:ln>
        </p:spPr>
      </p:sp>
      <p:sp>
        <p:nvSpPr>
          <p:cNvPr id="11" name="Shape 9"/>
          <p:cNvSpPr/>
          <p:nvPr/>
        </p:nvSpPr>
        <p:spPr>
          <a:xfrm>
            <a:off x="822960" y="1572768"/>
            <a:ext cx="6629400" cy="3310128"/>
          </a:xfrm>
          <a:prstGeom prst="roundRect">
            <a:avLst>
              <a:gd name="adj" fmla="val 1657"/>
            </a:avLst>
          </a:prstGeom>
          <a:solidFill>
            <a:srgbClr val="FBFCFD"/>
          </a:solidFill>
          <a:ln w="12700">
            <a:solidFill>
              <a:srgbClr val="BDCAE0">
                <a:alpha val="90000"/>
              </a:srgbClr>
            </a:solidFill>
            <a:prstDash val="solid"/>
          </a:ln>
        </p:spPr>
      </p:sp>
      <p:sp>
        <p:nvSpPr>
          <p:cNvPr id="12" name="Text 10"/>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0F172A"/>
                </a:solidFill>
                <a:latin typeface="Pretendard" pitchFamily="34" charset="0"/>
                <a:ea typeface="Pretendard" pitchFamily="34" charset="-122"/>
                <a:cs typeface="Pretendard" pitchFamily="34" charset="-120"/>
              </a:rPr>
              <a:t>Runtime Scope</a:t>
            </a:r>
            <a:endParaRPr lang="en-US" sz="3400" dirty="0"/>
          </a:p>
        </p:txBody>
      </p:sp>
      <p:sp>
        <p:nvSpPr>
          <p:cNvPr id="13" name="Text 11"/>
          <p:cNvSpPr txBox="1"/>
          <p:nvPr/>
        </p:nvSpPr>
        <p:spPr>
          <a:xfrm>
            <a:off x="1115568" y="1773936"/>
            <a:ext cx="6044184" cy="2907792"/>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MDPR is responsible for Markdown parsing, slide splitting, layout planning, rendering, and validation. The skill pack can help an agent reason about intent, but it must not decide coordinates, colors, z-order, typography, or renderer objects. The same source contains several ideas in one place: design ownership, color combinations, table coherence, and PowerPoint output.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Shape 3"/>
          <p:cNvSpPr/>
          <p:nvPr/>
        </p:nvSpPr>
        <p:spPr>
          <a:xfrm>
            <a:off x="914400" y="1463040"/>
            <a:ext cx="10241280" cy="73152"/>
          </a:xfrm>
          <a:prstGeom prst="rect">
            <a:avLst/>
          </a:prstGeom>
          <a:solidFill>
            <a:srgbClr val="1D4ED8"/>
          </a:solidFill>
          <a:ln w="12700">
            <a:solidFill>
              <a:srgbClr val="1D4ED8">
                <a:alpha val="0"/>
              </a:srgbClr>
            </a:solidFill>
            <a:prstDash val="solid"/>
          </a:ln>
        </p:spPr>
      </p:sp>
      <p:sp>
        <p:nvSpPr>
          <p:cNvPr id="6" name="Text 4"/>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0F172A"/>
                </a:solidFill>
                <a:latin typeface="Pretendard" pitchFamily="34" charset="0"/>
                <a:ea typeface="Pretendard" pitchFamily="34" charset="-122"/>
                <a:cs typeface="Pretendard" pitchFamily="34" charset="-120"/>
              </a:rPr>
              <a:t>Design Notes</a:t>
            </a:r>
            <a:endParaRPr lang="en-US" sz="34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Color combinations should reach shapes, tables, future chart tokens, and the PowerPoint document theme. Markdown tables should not skip overflow checks. Text with long spaces or tabs should be normalized before measurement and rendering so line breaks do not appear in the middle of an element.</a:t>
            </a:r>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Area | Risk | Expected behavior</a:t>
            </a:r>
            <a:endParaRPr lang="en-US" sz="2200" dirty="0"/>
          </a:p>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Theme | Colors diverge | Derive theme accents from MDPR config</a:t>
            </a:r>
            <a:endParaRPr lang="en-US" sz="2200" dirty="0"/>
          </a:p>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Table | Cells wrap badly | Normalize cell text and enforce minimum font</a:t>
            </a:r>
            <a:endParaRPr lang="en-US" sz="2200" dirty="0"/>
          </a:p>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PPTX | User edits lose palette | Write document theme colors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Text 3"/>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0F172A"/>
                </a:solidFill>
                <a:latin typeface="Pretendard" pitchFamily="34" charset="0"/>
                <a:ea typeface="Pretendard" pitchFamily="34" charset="-122"/>
                <a:cs typeface="Pretendard" pitchFamily="34" charset="-120"/>
              </a:rPr>
              <a:t>Validation Flow</a:t>
            </a:r>
            <a:endParaRPr lang="en-US" sz="3400" dirty="0"/>
          </a:p>
        </p:txBody>
      </p:sp>
      <p:sp>
        <p:nvSpPr>
          <p:cNvPr id="6" name="Shape 4"/>
          <p:cNvSpPr/>
          <p:nvPr/>
        </p:nvSpPr>
        <p:spPr>
          <a:xfrm>
            <a:off x="640080" y="2510028"/>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7" name="Shape 5"/>
          <p:cNvSpPr/>
          <p:nvPr/>
        </p:nvSpPr>
        <p:spPr>
          <a:xfrm>
            <a:off x="640080" y="2510028"/>
            <a:ext cx="3435096" cy="109728"/>
          </a:xfrm>
          <a:prstGeom prst="rect">
            <a:avLst/>
          </a:prstGeom>
          <a:solidFill>
            <a:srgbClr val="1D4ED8"/>
          </a:solidFill>
          <a:ln w="12700">
            <a:solidFill>
              <a:srgbClr val="1D4ED8">
                <a:alpha val="0"/>
              </a:srgbClr>
            </a:solidFill>
            <a:prstDash val="solid"/>
          </a:ln>
        </p:spPr>
      </p:sp>
      <p:sp>
        <p:nvSpPr>
          <p:cNvPr id="8" name="Shape 6"/>
          <p:cNvSpPr/>
          <p:nvPr/>
        </p:nvSpPr>
        <p:spPr>
          <a:xfrm>
            <a:off x="804672" y="2907975"/>
            <a:ext cx="374538" cy="374538"/>
          </a:xfrm>
          <a:prstGeom prst="ellipse">
            <a:avLst/>
          </a:prstGeom>
          <a:solidFill>
            <a:srgbClr val="1D4ED8"/>
          </a:solidFill>
          <a:ln w="12700">
            <a:solidFill>
              <a:srgbClr val="1D4ED8">
                <a:alpha val="0"/>
              </a:srgbClr>
            </a:solidFill>
            <a:prstDash val="solid"/>
          </a:ln>
        </p:spPr>
      </p:sp>
      <p:sp>
        <p:nvSpPr>
          <p:cNvPr id="9" name="Text 7"/>
          <p:cNvSpPr txBox="1"/>
          <p:nvPr/>
        </p:nvSpPr>
        <p:spPr>
          <a:xfrm>
            <a:off x="804672"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1</a:t>
            </a:r>
            <a:endParaRPr lang="en-US" sz="1500" dirty="0"/>
          </a:p>
        </p:txBody>
      </p:sp>
      <p:sp>
        <p:nvSpPr>
          <p:cNvPr id="10" name="Text 8"/>
          <p:cNvSpPr txBox="1"/>
          <p:nvPr/>
        </p:nvSpPr>
        <p:spPr>
          <a:xfrm>
            <a:off x="1325514"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Source markdown</a:t>
            </a:r>
            <a:endParaRPr lang="en-US" sz="1600" dirty="0"/>
          </a:p>
        </p:txBody>
      </p:sp>
      <p:sp>
        <p:nvSpPr>
          <p:cNvPr id="11" name="Shape 9"/>
          <p:cNvSpPr/>
          <p:nvPr/>
        </p:nvSpPr>
        <p:spPr>
          <a:xfrm>
            <a:off x="4386072" y="2510028"/>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12" name="Shape 10"/>
          <p:cNvSpPr/>
          <p:nvPr/>
        </p:nvSpPr>
        <p:spPr>
          <a:xfrm>
            <a:off x="4386072" y="2510028"/>
            <a:ext cx="3435096" cy="109728"/>
          </a:xfrm>
          <a:prstGeom prst="rect">
            <a:avLst/>
          </a:prstGeom>
          <a:solidFill>
            <a:srgbClr val="1D4ED8"/>
          </a:solidFill>
          <a:ln w="12700">
            <a:solidFill>
              <a:srgbClr val="1D4ED8">
                <a:alpha val="0"/>
              </a:srgbClr>
            </a:solidFill>
            <a:prstDash val="solid"/>
          </a:ln>
        </p:spPr>
      </p:sp>
      <p:sp>
        <p:nvSpPr>
          <p:cNvPr id="13" name="Shape 11"/>
          <p:cNvSpPr/>
          <p:nvPr/>
        </p:nvSpPr>
        <p:spPr>
          <a:xfrm>
            <a:off x="4550664" y="2907975"/>
            <a:ext cx="374538" cy="374538"/>
          </a:xfrm>
          <a:prstGeom prst="ellipse">
            <a:avLst/>
          </a:prstGeom>
          <a:solidFill>
            <a:srgbClr val="1D4ED8"/>
          </a:solidFill>
          <a:ln w="12700">
            <a:solidFill>
              <a:srgbClr val="1D4ED8">
                <a:alpha val="0"/>
              </a:srgbClr>
            </a:solidFill>
            <a:prstDash val="solid"/>
          </a:ln>
        </p:spPr>
      </p:sp>
      <p:sp>
        <p:nvSpPr>
          <p:cNvPr id="14" name="Text 12"/>
          <p:cNvSpPr txBox="1"/>
          <p:nvPr/>
        </p:nvSpPr>
        <p:spPr>
          <a:xfrm>
            <a:off x="4550664"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2</a:t>
            </a:r>
            <a:endParaRPr lang="en-US" sz="1500" dirty="0"/>
          </a:p>
        </p:txBody>
      </p:sp>
      <p:sp>
        <p:nvSpPr>
          <p:cNvPr id="15" name="Text 13"/>
          <p:cNvSpPr txBox="1"/>
          <p:nvPr/>
        </p:nvSpPr>
        <p:spPr>
          <a:xfrm>
            <a:off x="5071506"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MDPR parser</a:t>
            </a:r>
            <a:endParaRPr lang="en-US" sz="1600" dirty="0"/>
          </a:p>
        </p:txBody>
      </p:sp>
      <p:sp>
        <p:nvSpPr>
          <p:cNvPr id="16" name="Shape 14"/>
          <p:cNvSpPr/>
          <p:nvPr/>
        </p:nvSpPr>
        <p:spPr>
          <a:xfrm>
            <a:off x="8132064" y="2510028"/>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17" name="Shape 15"/>
          <p:cNvSpPr/>
          <p:nvPr/>
        </p:nvSpPr>
        <p:spPr>
          <a:xfrm>
            <a:off x="8132064" y="2510028"/>
            <a:ext cx="3435096" cy="109728"/>
          </a:xfrm>
          <a:prstGeom prst="rect">
            <a:avLst/>
          </a:prstGeom>
          <a:solidFill>
            <a:srgbClr val="1D4ED8"/>
          </a:solidFill>
          <a:ln w="12700">
            <a:solidFill>
              <a:srgbClr val="1D4ED8">
                <a:alpha val="0"/>
              </a:srgbClr>
            </a:solidFill>
            <a:prstDash val="solid"/>
          </a:ln>
        </p:spPr>
      </p:sp>
      <p:sp>
        <p:nvSpPr>
          <p:cNvPr id="18" name="Shape 16"/>
          <p:cNvSpPr/>
          <p:nvPr/>
        </p:nvSpPr>
        <p:spPr>
          <a:xfrm>
            <a:off x="8296656" y="2907975"/>
            <a:ext cx="374538" cy="374538"/>
          </a:xfrm>
          <a:prstGeom prst="ellipse">
            <a:avLst/>
          </a:prstGeom>
          <a:solidFill>
            <a:srgbClr val="1D4ED8"/>
          </a:solidFill>
          <a:ln w="12700">
            <a:solidFill>
              <a:srgbClr val="1D4ED8">
                <a:alpha val="0"/>
              </a:srgbClr>
            </a:solidFill>
            <a:prstDash val="solid"/>
          </a:ln>
        </p:spPr>
      </p:sp>
      <p:sp>
        <p:nvSpPr>
          <p:cNvPr id="19" name="Text 17"/>
          <p:cNvSpPr txBox="1"/>
          <p:nvPr/>
        </p:nvSpPr>
        <p:spPr>
          <a:xfrm>
            <a:off x="8296656" y="2907975"/>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3</a:t>
            </a:r>
            <a:endParaRPr lang="en-US" sz="1500" dirty="0"/>
          </a:p>
        </p:txBody>
      </p:sp>
      <p:sp>
        <p:nvSpPr>
          <p:cNvPr id="20" name="Text 18"/>
          <p:cNvSpPr txBox="1"/>
          <p:nvPr/>
        </p:nvSpPr>
        <p:spPr>
          <a:xfrm>
            <a:off x="8817498" y="2638044"/>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Presentation IR</a:t>
            </a:r>
            <a:endParaRPr lang="en-US" sz="1600" dirty="0"/>
          </a:p>
        </p:txBody>
      </p:sp>
      <p:sp>
        <p:nvSpPr>
          <p:cNvPr id="21" name="Shape 19"/>
          <p:cNvSpPr/>
          <p:nvPr/>
        </p:nvSpPr>
        <p:spPr>
          <a:xfrm>
            <a:off x="8132064" y="3991356"/>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22" name="Shape 20"/>
          <p:cNvSpPr/>
          <p:nvPr/>
        </p:nvSpPr>
        <p:spPr>
          <a:xfrm>
            <a:off x="8132064" y="3991356"/>
            <a:ext cx="3435096" cy="109728"/>
          </a:xfrm>
          <a:prstGeom prst="rect">
            <a:avLst/>
          </a:prstGeom>
          <a:solidFill>
            <a:srgbClr val="1D4ED8"/>
          </a:solidFill>
          <a:ln w="12700">
            <a:solidFill>
              <a:srgbClr val="1D4ED8">
                <a:alpha val="0"/>
              </a:srgbClr>
            </a:solidFill>
            <a:prstDash val="solid"/>
          </a:ln>
        </p:spPr>
      </p:sp>
      <p:sp>
        <p:nvSpPr>
          <p:cNvPr id="23" name="Shape 21"/>
          <p:cNvSpPr/>
          <p:nvPr/>
        </p:nvSpPr>
        <p:spPr>
          <a:xfrm>
            <a:off x="8296656" y="4389303"/>
            <a:ext cx="374538" cy="374538"/>
          </a:xfrm>
          <a:prstGeom prst="ellipse">
            <a:avLst/>
          </a:prstGeom>
          <a:solidFill>
            <a:srgbClr val="1D4ED8"/>
          </a:solidFill>
          <a:ln w="12700">
            <a:solidFill>
              <a:srgbClr val="1D4ED8">
                <a:alpha val="0"/>
              </a:srgbClr>
            </a:solidFill>
            <a:prstDash val="solid"/>
          </a:ln>
        </p:spPr>
      </p:sp>
      <p:sp>
        <p:nvSpPr>
          <p:cNvPr id="24" name="Text 22"/>
          <p:cNvSpPr txBox="1"/>
          <p:nvPr/>
        </p:nvSpPr>
        <p:spPr>
          <a:xfrm>
            <a:off x="8296656" y="4389303"/>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4</a:t>
            </a:r>
            <a:endParaRPr lang="en-US" sz="1500" dirty="0"/>
          </a:p>
        </p:txBody>
      </p:sp>
      <p:sp>
        <p:nvSpPr>
          <p:cNvPr id="25" name="Text 23"/>
          <p:cNvSpPr txBox="1"/>
          <p:nvPr/>
        </p:nvSpPr>
        <p:spPr>
          <a:xfrm>
            <a:off x="8817498" y="4119372"/>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Layout IR</a:t>
            </a:r>
            <a:endParaRPr lang="en-US" sz="1600" dirty="0"/>
          </a:p>
        </p:txBody>
      </p:sp>
      <p:sp>
        <p:nvSpPr>
          <p:cNvPr id="26" name="Shape 24"/>
          <p:cNvSpPr/>
          <p:nvPr/>
        </p:nvSpPr>
        <p:spPr>
          <a:xfrm>
            <a:off x="4386072" y="3991356"/>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27" name="Shape 25"/>
          <p:cNvSpPr/>
          <p:nvPr/>
        </p:nvSpPr>
        <p:spPr>
          <a:xfrm>
            <a:off x="4386072" y="3991356"/>
            <a:ext cx="3435096" cy="109728"/>
          </a:xfrm>
          <a:prstGeom prst="rect">
            <a:avLst/>
          </a:prstGeom>
          <a:solidFill>
            <a:srgbClr val="1D4ED8"/>
          </a:solidFill>
          <a:ln w="12700">
            <a:solidFill>
              <a:srgbClr val="1D4ED8">
                <a:alpha val="0"/>
              </a:srgbClr>
            </a:solidFill>
            <a:prstDash val="solid"/>
          </a:ln>
        </p:spPr>
      </p:sp>
      <p:sp>
        <p:nvSpPr>
          <p:cNvPr id="28" name="Shape 26"/>
          <p:cNvSpPr/>
          <p:nvPr/>
        </p:nvSpPr>
        <p:spPr>
          <a:xfrm>
            <a:off x="4550664" y="4389303"/>
            <a:ext cx="374538" cy="374538"/>
          </a:xfrm>
          <a:prstGeom prst="ellipse">
            <a:avLst/>
          </a:prstGeom>
          <a:solidFill>
            <a:srgbClr val="1D4ED8"/>
          </a:solidFill>
          <a:ln w="12700">
            <a:solidFill>
              <a:srgbClr val="1D4ED8">
                <a:alpha val="0"/>
              </a:srgbClr>
            </a:solidFill>
            <a:prstDash val="solid"/>
          </a:ln>
        </p:spPr>
      </p:sp>
      <p:sp>
        <p:nvSpPr>
          <p:cNvPr id="29" name="Text 27"/>
          <p:cNvSpPr txBox="1"/>
          <p:nvPr/>
        </p:nvSpPr>
        <p:spPr>
          <a:xfrm>
            <a:off x="4550664" y="4389303"/>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5</a:t>
            </a:r>
            <a:endParaRPr lang="en-US" sz="1500" dirty="0"/>
          </a:p>
        </p:txBody>
      </p:sp>
      <p:sp>
        <p:nvSpPr>
          <p:cNvPr id="30" name="Text 28"/>
          <p:cNvSpPr txBox="1"/>
          <p:nvPr/>
        </p:nvSpPr>
        <p:spPr>
          <a:xfrm>
            <a:off x="5071506" y="4119372"/>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PPTX renderer</a:t>
            </a:r>
            <a:endParaRPr lang="en-US" sz="1600" dirty="0"/>
          </a:p>
        </p:txBody>
      </p:sp>
      <p:sp>
        <p:nvSpPr>
          <p:cNvPr id="31" name="Shape 29"/>
          <p:cNvSpPr/>
          <p:nvPr/>
        </p:nvSpPr>
        <p:spPr>
          <a:xfrm>
            <a:off x="640080" y="3991356"/>
            <a:ext cx="3435096" cy="1170432"/>
          </a:xfrm>
          <a:prstGeom prst="roundRect">
            <a:avLst>
              <a:gd name="adj" fmla="val 4688"/>
            </a:avLst>
          </a:prstGeom>
          <a:solidFill>
            <a:srgbClr val="FBFCFD"/>
          </a:solidFill>
          <a:ln w="12700">
            <a:solidFill>
              <a:srgbClr val="1D4ED8"/>
            </a:solidFill>
            <a:prstDash val="solid"/>
          </a:ln>
          <a:effectLst>
            <a:outerShdw sx="100000" sy="100000" kx="0" ky="0" algn="bl" rotWithShape="0" blurRad="12700" dist="50800" dir="2700000">
              <a:srgbClr val="000000">
                <a:alpha val="12000"/>
              </a:srgbClr>
            </a:outerShdw>
          </a:effectLst>
        </p:spPr>
      </p:sp>
      <p:sp>
        <p:nvSpPr>
          <p:cNvPr id="32" name="Shape 30"/>
          <p:cNvSpPr/>
          <p:nvPr/>
        </p:nvSpPr>
        <p:spPr>
          <a:xfrm>
            <a:off x="640080" y="3991356"/>
            <a:ext cx="3435096" cy="109728"/>
          </a:xfrm>
          <a:prstGeom prst="rect">
            <a:avLst/>
          </a:prstGeom>
          <a:solidFill>
            <a:srgbClr val="1D4ED8"/>
          </a:solidFill>
          <a:ln w="12700">
            <a:solidFill>
              <a:srgbClr val="1D4ED8">
                <a:alpha val="0"/>
              </a:srgbClr>
            </a:solidFill>
            <a:prstDash val="solid"/>
          </a:ln>
        </p:spPr>
      </p:sp>
      <p:sp>
        <p:nvSpPr>
          <p:cNvPr id="33" name="Shape 31"/>
          <p:cNvSpPr/>
          <p:nvPr/>
        </p:nvSpPr>
        <p:spPr>
          <a:xfrm>
            <a:off x="804672" y="4389303"/>
            <a:ext cx="374538" cy="374538"/>
          </a:xfrm>
          <a:prstGeom prst="ellipse">
            <a:avLst/>
          </a:prstGeom>
          <a:solidFill>
            <a:srgbClr val="1D4ED8"/>
          </a:solidFill>
          <a:ln w="12700">
            <a:solidFill>
              <a:srgbClr val="1D4ED8">
                <a:alpha val="0"/>
              </a:srgbClr>
            </a:solidFill>
            <a:prstDash val="solid"/>
          </a:ln>
        </p:spPr>
      </p:sp>
      <p:sp>
        <p:nvSpPr>
          <p:cNvPr id="34" name="Text 32"/>
          <p:cNvSpPr txBox="1"/>
          <p:nvPr/>
        </p:nvSpPr>
        <p:spPr>
          <a:xfrm>
            <a:off x="804672" y="4389303"/>
            <a:ext cx="374538" cy="374538"/>
          </a:xfrm>
          <a:prstGeom prst="rect">
            <a:avLst/>
          </a:prstGeom>
          <a:noFill/>
          <a:ln/>
        </p:spPr>
        <p:txBody>
          <a:bodyPr wrap="square" lIns="0" tIns="0" rIns="0" bIns="0" rtlCol="0" anchor="ctr"/>
          <a:lstStyle/>
          <a:p>
            <a:pPr algn="ctr" indent="0" marL="0">
              <a:lnSpc>
                <a:spcPct val="120000"/>
              </a:lnSpc>
              <a:buNone/>
            </a:pPr>
            <a:r>
              <a:rPr lang="en-US" sz="1500" b="1" dirty="0">
                <a:solidFill>
                  <a:srgbClr val="F8FAFC"/>
                </a:solidFill>
                <a:latin typeface="Pretendard" pitchFamily="34" charset="0"/>
                <a:ea typeface="Pretendard" pitchFamily="34" charset="-122"/>
                <a:cs typeface="Pretendard" pitchFamily="34" charset="-120"/>
              </a:rPr>
              <a:t>6</a:t>
            </a:r>
            <a:endParaRPr lang="en-US" sz="1500" dirty="0"/>
          </a:p>
        </p:txBody>
      </p:sp>
      <p:sp>
        <p:nvSpPr>
          <p:cNvPr id="35" name="Text 33"/>
          <p:cNvSpPr txBox="1"/>
          <p:nvPr/>
        </p:nvSpPr>
        <p:spPr>
          <a:xfrm>
            <a:off x="1325514" y="4119372"/>
            <a:ext cx="2585070" cy="914400"/>
          </a:xfrm>
          <a:prstGeom prst="rect">
            <a:avLst/>
          </a:prstGeom>
          <a:noFill/>
          <a:ln/>
        </p:spPr>
        <p:txBody>
          <a:bodyPr wrap="square" lIns="0" tIns="25400" rIns="25400" bIns="0" rtlCol="0" anchor="ctr">
            <a:normAutofit/>
          </a:bodyPr>
          <a:lstStyle/>
          <a:p>
            <a:pPr algn="l" indent="0" marL="0">
              <a:lnSpc>
                <a:spcPct val="92000"/>
              </a:lnSpc>
              <a:buNone/>
            </a:pPr>
            <a:r>
              <a:rPr lang="en-US" sz="1600" dirty="0">
                <a:solidFill>
                  <a:srgbClr val="0F172A"/>
                </a:solidFill>
                <a:latin typeface="Pretendard" pitchFamily="34" charset="0"/>
                <a:ea typeface="Pretendard" pitchFamily="34" charset="-122"/>
                <a:cs typeface="Pretendard" pitchFamily="34" charset="-120"/>
              </a:rPr>
              <a:t>visual QA.</a:t>
            </a:r>
            <a:endParaRPr lang="en-US" sz="1600" dirty="0"/>
          </a:p>
        </p:txBody>
      </p:sp>
      <p:sp>
        <p:nvSpPr>
          <p:cNvPr id="36" name="Shape 34"/>
          <p:cNvSpPr/>
          <p:nvPr/>
        </p:nvSpPr>
        <p:spPr>
          <a:xfrm>
            <a:off x="4047744" y="3095244"/>
            <a:ext cx="365760" cy="0"/>
          </a:xfrm>
          <a:prstGeom prst="line">
            <a:avLst/>
          </a:prstGeom>
          <a:noFill/>
          <a:ln w="12700">
            <a:solidFill>
              <a:srgbClr val="1D99D8"/>
            </a:solidFill>
            <a:prstDash val="solid"/>
            <a:tailEnd type="triangle"/>
          </a:ln>
        </p:spPr>
      </p:sp>
      <p:sp>
        <p:nvSpPr>
          <p:cNvPr id="37" name="Shape 35"/>
          <p:cNvSpPr/>
          <p:nvPr/>
        </p:nvSpPr>
        <p:spPr>
          <a:xfrm>
            <a:off x="7793736" y="3095244"/>
            <a:ext cx="365760" cy="0"/>
          </a:xfrm>
          <a:prstGeom prst="line">
            <a:avLst/>
          </a:prstGeom>
          <a:noFill/>
          <a:ln w="12700">
            <a:solidFill>
              <a:srgbClr val="1D99D8"/>
            </a:solidFill>
            <a:prstDash val="solid"/>
            <a:tailEnd type="triangle"/>
          </a:ln>
        </p:spPr>
      </p:sp>
      <p:sp>
        <p:nvSpPr>
          <p:cNvPr id="38" name="Shape 36"/>
          <p:cNvSpPr/>
          <p:nvPr/>
        </p:nvSpPr>
        <p:spPr>
          <a:xfrm>
            <a:off x="9849612" y="3653028"/>
            <a:ext cx="0" cy="365760"/>
          </a:xfrm>
          <a:prstGeom prst="line">
            <a:avLst/>
          </a:prstGeom>
          <a:noFill/>
          <a:ln w="12700">
            <a:solidFill>
              <a:srgbClr val="1D99D8"/>
            </a:solidFill>
            <a:prstDash val="solid"/>
            <a:tailEnd type="triangle"/>
          </a:ln>
        </p:spPr>
      </p:sp>
      <p:sp>
        <p:nvSpPr>
          <p:cNvPr id="39" name="Shape 37"/>
          <p:cNvSpPr/>
          <p:nvPr/>
        </p:nvSpPr>
        <p:spPr>
          <a:xfrm>
            <a:off x="7793736" y="4576572"/>
            <a:ext cx="365760" cy="0"/>
          </a:xfrm>
          <a:prstGeom prst="line">
            <a:avLst/>
          </a:prstGeom>
          <a:noFill/>
          <a:ln w="12700">
            <a:solidFill>
              <a:srgbClr val="1D99D8"/>
            </a:solidFill>
            <a:prstDash val="solid"/>
            <a:headEnd type="triangle"/>
          </a:ln>
        </p:spPr>
      </p:sp>
      <p:sp>
        <p:nvSpPr>
          <p:cNvPr id="40" name="Shape 38"/>
          <p:cNvSpPr/>
          <p:nvPr/>
        </p:nvSpPr>
        <p:spPr>
          <a:xfrm>
            <a:off x="4047744" y="4576572"/>
            <a:ext cx="365760" cy="0"/>
          </a:xfrm>
          <a:prstGeom prst="line">
            <a:avLst/>
          </a:prstGeom>
          <a:noFill/>
          <a:ln w="12700">
            <a:solidFill>
              <a:srgbClr val="1D99D8"/>
            </a:solidFill>
            <a:prstDash val="solid"/>
            <a:head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1D4ED8"/>
          </a:solidFill>
          <a:ln w="12700">
            <a:solidFill>
              <a:srgbClr val="1D4ED8">
                <a:alpha val="0"/>
              </a:srgbClr>
            </a:solidFill>
            <a:prstDash val="solid"/>
          </a:ln>
        </p:spPr>
      </p:sp>
      <p:sp>
        <p:nvSpPr>
          <p:cNvPr id="3" name="Shape 1"/>
          <p:cNvSpPr/>
          <p:nvPr/>
        </p:nvSpPr>
        <p:spPr>
          <a:xfrm>
            <a:off x="11048695" y="256032"/>
            <a:ext cx="1143000" cy="73152"/>
          </a:xfrm>
          <a:prstGeom prst="rect">
            <a:avLst/>
          </a:prstGeom>
          <a:solidFill>
            <a:srgbClr val="D8A71D"/>
          </a:solidFill>
          <a:ln w="12700">
            <a:solidFill>
              <a:srgbClr val="D8A71D">
                <a:alpha val="0"/>
              </a:srgbClr>
            </a:solidFill>
            <a:prstDash val="solid"/>
          </a:ln>
        </p:spPr>
      </p:sp>
      <p:sp>
        <p:nvSpPr>
          <p:cNvPr id="4" name="Shape 2"/>
          <p:cNvSpPr/>
          <p:nvPr/>
        </p:nvSpPr>
        <p:spPr>
          <a:xfrm>
            <a:off x="731520" y="1207008"/>
            <a:ext cx="1325880" cy="54864"/>
          </a:xfrm>
          <a:prstGeom prst="rect">
            <a:avLst/>
          </a:prstGeom>
          <a:solidFill>
            <a:srgbClr val="1D99D8"/>
          </a:solidFill>
          <a:ln w="12700">
            <a:solidFill>
              <a:srgbClr val="1D99D8">
                <a:alpha val="0"/>
              </a:srgbClr>
            </a:solidFill>
            <a:prstDash val="solid"/>
          </a:ln>
        </p:spPr>
      </p:sp>
      <p:sp>
        <p:nvSpPr>
          <p:cNvPr id="5" name="Shape 3"/>
          <p:cNvSpPr/>
          <p:nvPr/>
        </p:nvSpPr>
        <p:spPr>
          <a:xfrm>
            <a:off x="822960" y="1572768"/>
            <a:ext cx="6629400" cy="73152"/>
          </a:xfrm>
          <a:prstGeom prst="rect">
            <a:avLst/>
          </a:prstGeom>
          <a:solidFill>
            <a:srgbClr val="1D4ED8"/>
          </a:solidFill>
          <a:ln w="12700">
            <a:solidFill>
              <a:srgbClr val="1D4ED8">
                <a:alpha val="0"/>
              </a:srgbClr>
            </a:solidFill>
            <a:prstDash val="solid"/>
          </a:ln>
        </p:spPr>
      </p:sp>
      <p:sp>
        <p:nvSpPr>
          <p:cNvPr id="6" name="Shape 4"/>
          <p:cNvSpPr/>
          <p:nvPr/>
        </p:nvSpPr>
        <p:spPr>
          <a:xfrm>
            <a:off x="7955280" y="1993392"/>
            <a:ext cx="2139696" cy="2139696"/>
          </a:xfrm>
          <a:prstGeom prst="roundRect">
            <a:avLst>
              <a:gd name="adj" fmla="val 3419"/>
            </a:avLst>
          </a:prstGeom>
          <a:solidFill>
            <a:srgbClr val="FBFCFD"/>
          </a:solidFill>
          <a:ln w="12700">
            <a:solidFill>
              <a:srgbClr val="BDCAE0"/>
            </a:solidFill>
            <a:prstDash val="solid"/>
          </a:ln>
          <a:effectLst>
            <a:outerShdw sx="100000" sy="100000" kx="0" ky="0" algn="bl" rotWithShape="0" blurRad="12700" dist="50800" dir="2700000">
              <a:srgbClr val="000000">
                <a:alpha val="8000"/>
              </a:srgbClr>
            </a:outerShdw>
          </a:effectLst>
        </p:spPr>
      </p:sp>
      <p:sp>
        <p:nvSpPr>
          <p:cNvPr id="7" name="Shape 5"/>
          <p:cNvSpPr/>
          <p:nvPr/>
        </p:nvSpPr>
        <p:spPr>
          <a:xfrm>
            <a:off x="8511601" y="2464125"/>
            <a:ext cx="575150" cy="742902"/>
          </a:xfrm>
          <a:prstGeom prst="roundRect">
            <a:avLst>
              <a:gd name="adj" fmla="val 6359"/>
            </a:avLst>
          </a:prstGeom>
          <a:solidFill>
            <a:srgbClr val="0F172A"/>
          </a:solidFill>
          <a:ln w="12700">
            <a:solidFill>
              <a:srgbClr val="0F172A">
                <a:alpha val="0"/>
              </a:srgbClr>
            </a:solidFill>
            <a:prstDash val="solid"/>
          </a:ln>
        </p:spPr>
      </p:sp>
      <p:sp>
        <p:nvSpPr>
          <p:cNvPr id="8" name="Shape 6"/>
          <p:cNvSpPr/>
          <p:nvPr/>
        </p:nvSpPr>
        <p:spPr>
          <a:xfrm>
            <a:off x="8655389" y="2655842"/>
            <a:ext cx="299557" cy="41938"/>
          </a:xfrm>
          <a:prstGeom prst="rect">
            <a:avLst/>
          </a:prstGeom>
          <a:solidFill>
            <a:srgbClr val="FBFCFD"/>
          </a:solidFill>
          <a:ln w="12700">
            <a:solidFill>
              <a:srgbClr val="FBFCFD">
                <a:alpha val="0"/>
              </a:srgbClr>
            </a:solidFill>
            <a:prstDash val="solid"/>
          </a:ln>
        </p:spPr>
      </p:sp>
      <p:sp>
        <p:nvSpPr>
          <p:cNvPr id="9" name="Shape 7"/>
          <p:cNvSpPr/>
          <p:nvPr/>
        </p:nvSpPr>
        <p:spPr>
          <a:xfrm>
            <a:off x="8655389" y="2811612"/>
            <a:ext cx="299557" cy="41938"/>
          </a:xfrm>
          <a:prstGeom prst="rect">
            <a:avLst/>
          </a:prstGeom>
          <a:solidFill>
            <a:srgbClr val="FBFCFD"/>
          </a:solidFill>
          <a:ln w="12700">
            <a:solidFill>
              <a:srgbClr val="FBFCFD">
                <a:alpha val="0"/>
              </a:srgbClr>
            </a:solidFill>
            <a:prstDash val="solid"/>
          </a:ln>
        </p:spPr>
      </p:sp>
      <p:sp>
        <p:nvSpPr>
          <p:cNvPr id="10" name="Shape 8"/>
          <p:cNvSpPr/>
          <p:nvPr/>
        </p:nvSpPr>
        <p:spPr>
          <a:xfrm>
            <a:off x="8655389" y="2967382"/>
            <a:ext cx="299557" cy="41938"/>
          </a:xfrm>
          <a:prstGeom prst="rect">
            <a:avLst/>
          </a:prstGeom>
          <a:solidFill>
            <a:srgbClr val="FBFCFD"/>
          </a:solidFill>
          <a:ln w="12700">
            <a:solidFill>
              <a:srgbClr val="FBFCFD">
                <a:alpha val="0"/>
              </a:srgbClr>
            </a:solidFill>
            <a:prstDash val="solid"/>
          </a:ln>
        </p:spPr>
      </p:sp>
      <p:sp>
        <p:nvSpPr>
          <p:cNvPr id="11" name="Shape 9"/>
          <p:cNvSpPr/>
          <p:nvPr/>
        </p:nvSpPr>
        <p:spPr>
          <a:xfrm>
            <a:off x="822960" y="1572768"/>
            <a:ext cx="6629400" cy="3310128"/>
          </a:xfrm>
          <a:prstGeom prst="roundRect">
            <a:avLst>
              <a:gd name="adj" fmla="val 1657"/>
            </a:avLst>
          </a:prstGeom>
          <a:solidFill>
            <a:srgbClr val="FBFCFD"/>
          </a:solidFill>
          <a:ln w="12700">
            <a:solidFill>
              <a:srgbClr val="BDCAE0">
                <a:alpha val="90000"/>
              </a:srgbClr>
            </a:solidFill>
            <a:prstDash val="solid"/>
          </a:ln>
        </p:spPr>
      </p:sp>
      <p:sp>
        <p:nvSpPr>
          <p:cNvPr id="12" name="Text 10"/>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0F172A"/>
                </a:solidFill>
                <a:latin typeface="Pretendard" pitchFamily="34" charset="0"/>
                <a:ea typeface="Pretendard" pitchFamily="34" charset="-122"/>
                <a:cs typeface="Pretendard" pitchFamily="34" charset="-120"/>
              </a:rPr>
              <a:t>Result</a:t>
            </a:r>
            <a:endParaRPr lang="en-US" sz="3400" dirty="0"/>
          </a:p>
        </p:txBody>
      </p:sp>
      <p:sp>
        <p:nvSpPr>
          <p:cNvPr id="13" name="Text 11"/>
          <p:cNvSpPr txBox="1"/>
          <p:nvPr/>
        </p:nvSpPr>
        <p:spPr>
          <a:xfrm>
            <a:off x="1115568" y="1773936"/>
            <a:ext cx="6044184" cy="2907792"/>
          </a:xfrm>
          <a:prstGeom prst="rect">
            <a:avLst/>
          </a:prstGeom>
          <a:noFill/>
          <a:ln/>
        </p:spPr>
        <p:txBody>
          <a:bodyPr wrap="square" lIns="0" tIns="25400" rIns="25400" bIns="0" rtlCol="0" anchor="ctr">
            <a:normAutofit/>
          </a:bodyPr>
          <a:lstStyle/>
          <a:p>
            <a:pPr algn="l" indent="0" marL="0">
              <a:lnSpc>
                <a:spcPct val="120000"/>
              </a:lnSpc>
              <a:buNone/>
            </a:pPr>
            <a:r>
              <a:rPr lang="en-US" sz="2200" dirty="0">
                <a:solidFill>
                  <a:srgbClr val="0F172A"/>
                </a:solidFill>
                <a:latin typeface="Pretendard" pitchFamily="34" charset="0"/>
                <a:ea typeface="Pretendard" pitchFamily="34" charset="-122"/>
                <a:cs typeface="Pretendard" pitchFamily="34" charset="-120"/>
              </a:rPr>
              <a:t>The useful outcome is a deterministic runtime where optional agent hints only improve semantic grouping. MDPR remains the source of truth for visual output.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rgbClr val="0F172A"/>
      </a:dk1>
      <a:lt1>
        <a:srgbClr val="F8FAFC"/>
      </a:lt1>
      <a:dk2>
        <a:srgbClr val="334155"/>
      </a:dk2>
      <a:lt2>
        <a:srgbClr val="FBFCFD"/>
      </a:lt2>
      <a:accent1>
        <a:srgbClr val="1D4ED8"/>
      </a:accent1>
      <a:accent2>
        <a:srgbClr val="D8A71D"/>
      </a:accent2>
      <a:accent3>
        <a:srgbClr val="1D99D8"/>
      </a:accent3>
      <a:accent4>
        <a:srgbClr val="371DD8"/>
      </a:accent4>
      <a:accent5>
        <a:srgbClr val="E3C05C"/>
      </a:accent5>
      <a:accent6>
        <a:srgbClr val="BDCAE0"/>
      </a:accent6>
      <a:hlink>
        <a:srgbClr val="1D4ED8"/>
      </a:hlink>
      <a:folHlink>
        <a:srgbClr val="D8A71D"/>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mdpresent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MDPR Runtime Boundary</dc:title>
  <dc:subject>Generated from Markdown through Presentation IR and Layout IR</dc:subject>
  <dc:creator>mdpresent</dc:creator>
  <cp:lastModifiedBy>mdpresent</cp:lastModifiedBy>
  <cp:revision>1</cp:revision>
  <dcterms:created xsi:type="dcterms:W3CDTF">2026-06-19T14:46:00Z</dcterms:created>
  <dcterms:modified xsi:type="dcterms:W3CDTF">2026-06-19T14:46:00Z</dcterms:modified>
</cp:coreProperties>
</file>