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B4530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Elements</c:v>
                  </c:pt>
                  <c:pt idx="1">
                    <c:v>Tables</c:v>
                  </c:pt>
                  <c:pt idx="2">
                    <c:v>Charts</c:v>
                  </c:pt>
                  <c:pt idx="3">
                    <c:v>Theme XML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4</c:v>
                </c:pt>
                <c:pt idx="3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Validation</c:v>
                </c:pt>
              </c:strCache>
            </c:strRef>
          </c:tx>
          <c:spPr>
            <a:solidFill>
              <a:srgbClr val="09B4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Elements</c:v>
                  </c:pt>
                  <c:pt idx="1">
                    <c:v>Tables</c:v>
                  </c:pt>
                  <c:pt idx="2">
                    <c:v>Charts</c:v>
                  </c:pt>
                  <c:pt idx="3">
                    <c:v>Theme XML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</c:v>
                </c:pt>
                <c:pt idx="1">
                  <c:v>4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3CDB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7534E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7534E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453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9B453"/>
          </a:solidFill>
          <a:ln w="12700">
            <a:solidFill>
              <a:srgbClr val="09B45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309B4"/>
          </a:solidFill>
          <a:ln w="12700">
            <a:solidFill>
              <a:srgbClr val="5309B4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5806440"/>
            <a:ext cx="12191695" cy="1051560"/>
          </a:xfrm>
          <a:prstGeom prst="rect">
            <a:avLst/>
          </a:prstGeom>
          <a:solidFill>
            <a:srgbClr val="09B453">
              <a:alpha val="92000"/>
            </a:srgbClr>
          </a:solidFill>
          <a:ln w="12700">
            <a:solidFill>
              <a:srgbClr val="09B453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5559552"/>
            <a:ext cx="3749040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Runtime Boundary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9B453"/>
          </a:solidFill>
          <a:ln w="12700">
            <a:solidFill>
              <a:srgbClr val="09B45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309B4"/>
          </a:solidFill>
          <a:ln w="12700">
            <a:solidFill>
              <a:srgbClr val="5309B4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Ownership Is Explicit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Color System Propagates Through PPTX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And Text Coherence Is Measured Before Rendering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Deterministic Pipeline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Practical Outcome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9B453"/>
          </a:solidFill>
          <a:ln w="12700">
            <a:solidFill>
              <a:srgbClr val="09B45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309B4"/>
          </a:solidFill>
          <a:ln w="12700">
            <a:solidFill>
              <a:srgbClr val="5309B4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417320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FBF7F2"/>
          </a:solidFill>
          <a:ln w="12700">
            <a:solidFill>
              <a:srgbClr val="E3CDBA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Ownership Is Explicit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LLM may suggest semantic hints, but MDPR owns every final visual decision.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Runtime owner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	MDPR parses Markdown, splits slides, plans layout, renders editable PPTX, and validates overflow.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Hint owner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	mdpr-skill may suggest intent, grouping, importance, or ambiguity notes.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Forbidden hints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	coordinates, colors, z-order, typography, shape variants, effects, and renderer objects.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9B453"/>
          </a:solidFill>
          <a:ln w="12700">
            <a:solidFill>
              <a:srgbClr val="09B45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309B4"/>
          </a:solidFill>
          <a:ln w="12700">
            <a:solidFill>
              <a:srgbClr val="5309B4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508760"/>
            <a:ext cx="4617720" cy="3429000"/>
          </a:xfrm>
          <a:prstGeom prst="roundRect">
            <a:avLst>
              <a:gd name="adj" fmla="val 1600"/>
            </a:avLst>
          </a:prstGeom>
          <a:solidFill>
            <a:srgbClr val="FBF7F2"/>
          </a:solidFill>
          <a:ln w="12700">
            <a:solidFill>
              <a:srgbClr val="E3CDBA">
                <a:alpha val="9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577840" y="1572768"/>
            <a:ext cx="5532120" cy="2999232"/>
          </a:xfrm>
          <a:prstGeom prst="roundRect">
            <a:avLst>
              <a:gd name="adj" fmla="val 1829"/>
            </a:avLst>
          </a:prstGeom>
          <a:solidFill>
            <a:srgbClr val="FBF7F2"/>
          </a:solidFill>
          <a:ln w="12700">
            <a:solidFill>
              <a:srgbClr val="E3CDBA">
                <a:alpha val="90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Color System Propagates Through PPTX</a:t>
            </a:r>
            <a:endParaRPr lang="en-US" sz="34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877824" y="1655064"/>
          <a:ext cx="4361688" cy="3136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572768"/>
          <a:ext cx="5532120" cy="2999232"/>
        </p:xfrm>
        <a:graphic>
          <a:graphicData uri="http://schemas.openxmlformats.org/drawingml/2006/table">
            <a:tbl>
              <a:tblPr/>
              <a:tblGrid>
                <a:gridCol w="1844040"/>
                <a:gridCol w="1844040"/>
                <a:gridCol w="1844040"/>
              </a:tblGrid>
              <a:tr h="59984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Target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530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MDPR-owned behavior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530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5309"/>
                    </a:solidFill>
                  </a:tcPr>
                </a:tc>
              </a:tr>
              <a:tr h="59984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Elements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Apply active design preset and color combination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Accents stay coherent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984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Tables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Use preset header fill, border, and readable minimum font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Cells remain aligned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984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Charts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 native PowerPoint charts from theme chart tokens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 series inherit the active harmony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984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PowerPoint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Write `accent1` through `accent6` into document theme XML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User edits keep palette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CD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9B453"/>
          </a:solidFill>
          <a:ln w="12700">
            <a:solidFill>
              <a:srgbClr val="09B45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309B4"/>
          </a:solidFill>
          <a:ln w="12700">
            <a:solidFill>
              <a:srgbClr val="5309B4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72768"/>
            <a:ext cx="662940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55280" y="1993392"/>
            <a:ext cx="2139696" cy="2139696"/>
          </a:xfrm>
          <a:prstGeom prst="roundRect">
            <a:avLst>
              <a:gd name="adj" fmla="val 3419"/>
            </a:avLst>
          </a:prstGeom>
          <a:solidFill>
            <a:srgbClr val="FBF7F2"/>
          </a:solidFill>
          <a:ln w="12700">
            <a:solidFill>
              <a:srgbClr val="E3CDBA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511601" y="2464125"/>
            <a:ext cx="575150" cy="742902"/>
          </a:xfrm>
          <a:prstGeom prst="roundRect">
            <a:avLst>
              <a:gd name="adj" fmla="val 6359"/>
            </a:avLst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55389" y="2655842"/>
            <a:ext cx="299557" cy="41938"/>
          </a:xfrm>
          <a:prstGeom prst="rect">
            <a:avLst/>
          </a:prstGeom>
          <a:solidFill>
            <a:srgbClr val="FBF7F2"/>
          </a:solidFill>
          <a:ln w="12700">
            <a:solidFill>
              <a:srgbClr val="FBF7F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55389" y="2811612"/>
            <a:ext cx="299557" cy="41938"/>
          </a:xfrm>
          <a:prstGeom prst="rect">
            <a:avLst/>
          </a:prstGeom>
          <a:solidFill>
            <a:srgbClr val="FBF7F2"/>
          </a:solidFill>
          <a:ln w="12700">
            <a:solidFill>
              <a:srgbClr val="FBF7F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55389" y="2967382"/>
            <a:ext cx="299557" cy="41938"/>
          </a:xfrm>
          <a:prstGeom prst="rect">
            <a:avLst/>
          </a:prstGeom>
          <a:solidFill>
            <a:srgbClr val="FBF7F2"/>
          </a:solidFill>
          <a:ln w="12700">
            <a:solidFill>
              <a:srgbClr val="FBF7F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72768"/>
            <a:ext cx="6629400" cy="3310128"/>
          </a:xfrm>
          <a:prstGeom prst="roundRect">
            <a:avLst>
              <a:gd name="adj" fmla="val 1657"/>
            </a:avLst>
          </a:prstGeom>
          <a:solidFill>
            <a:srgbClr val="FBF7F2"/>
          </a:solidFill>
          <a:ln w="12700">
            <a:solidFill>
              <a:srgbClr val="E3CDBA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And Text Coherence Is Measured Before Rendering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" y="1773936"/>
            <a:ext cx="6044184" cy="29077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with long spaces and tabs normalizes before layout validation. Table rows carry validation text, so dense tables are measured instead of treated as empty regions.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9B453"/>
          </a:solidFill>
          <a:ln w="12700">
            <a:solidFill>
              <a:srgbClr val="09B45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309B4"/>
          </a:solidFill>
          <a:ln w="12700">
            <a:solidFill>
              <a:srgbClr val="5309B4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Deterministic Pipeline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7F2"/>
          </a:solidFill>
          <a:ln w="12700">
            <a:solidFill>
              <a:srgbClr val="B4530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7F3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7F2"/>
          </a:solidFill>
          <a:ln w="12700">
            <a:solidFill>
              <a:srgbClr val="B4530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7F3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7F2"/>
          </a:solidFill>
          <a:ln w="12700">
            <a:solidFill>
              <a:srgbClr val="B4530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7F3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optional semantic hints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7F2"/>
          </a:solidFill>
          <a:ln w="12700">
            <a:solidFill>
              <a:srgbClr val="B4530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7F3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IR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7F2"/>
          </a:solidFill>
          <a:ln w="12700">
            <a:solidFill>
              <a:srgbClr val="B4530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7F3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 theme colors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7F2"/>
          </a:solidFill>
          <a:ln w="12700">
            <a:solidFill>
              <a:srgbClr val="B4530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7F3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QA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047744" y="3095244"/>
            <a:ext cx="365760" cy="0"/>
          </a:xfrm>
          <a:prstGeom prst="line">
            <a:avLst/>
          </a:prstGeom>
          <a:noFill/>
          <a:ln w="12700">
            <a:solidFill>
              <a:srgbClr val="5309B4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7793736" y="3095244"/>
            <a:ext cx="365760" cy="0"/>
          </a:xfrm>
          <a:prstGeom prst="line">
            <a:avLst/>
          </a:prstGeom>
          <a:noFill/>
          <a:ln w="12700">
            <a:solidFill>
              <a:srgbClr val="5309B4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9849612" y="3653028"/>
            <a:ext cx="0" cy="365760"/>
          </a:xfrm>
          <a:prstGeom prst="line">
            <a:avLst/>
          </a:prstGeom>
          <a:noFill/>
          <a:ln w="12700">
            <a:solidFill>
              <a:srgbClr val="5309B4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7793736" y="4576572"/>
            <a:ext cx="365760" cy="0"/>
          </a:xfrm>
          <a:prstGeom prst="line">
            <a:avLst/>
          </a:prstGeom>
          <a:noFill/>
          <a:ln w="12700">
            <a:solidFill>
              <a:srgbClr val="5309B4"/>
            </a:solidFill>
            <a:prstDash val="solid"/>
            <a:headEnd type="triangle"/>
          </a:ln>
        </p:spPr>
      </p:sp>
      <p:sp>
        <p:nvSpPr>
          <p:cNvPr id="40" name="Shape 38"/>
          <p:cNvSpPr/>
          <p:nvPr/>
        </p:nvSpPr>
        <p:spPr>
          <a:xfrm>
            <a:off x="4047744" y="4576572"/>
            <a:ext cx="365760" cy="0"/>
          </a:xfrm>
          <a:prstGeom prst="line">
            <a:avLst/>
          </a:prstGeom>
          <a:noFill/>
          <a:ln w="12700">
            <a:solidFill>
              <a:srgbClr val="5309B4"/>
            </a:solidFill>
            <a:prstDash val="solid"/>
            <a:headEnd type="triangle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9B453"/>
          </a:solidFill>
          <a:ln w="12700">
            <a:solidFill>
              <a:srgbClr val="09B45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309B4"/>
          </a:solidFill>
          <a:ln w="12700">
            <a:solidFill>
              <a:srgbClr val="5309B4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72768"/>
            <a:ext cx="662940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55280" y="1993392"/>
            <a:ext cx="2139696" cy="2139696"/>
          </a:xfrm>
          <a:prstGeom prst="roundRect">
            <a:avLst>
              <a:gd name="adj" fmla="val 3419"/>
            </a:avLst>
          </a:prstGeom>
          <a:solidFill>
            <a:srgbClr val="FBF7F2"/>
          </a:solidFill>
          <a:ln w="12700">
            <a:solidFill>
              <a:srgbClr val="E3CDBA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511601" y="2464125"/>
            <a:ext cx="575150" cy="742902"/>
          </a:xfrm>
          <a:prstGeom prst="roundRect">
            <a:avLst>
              <a:gd name="adj" fmla="val 6359"/>
            </a:avLst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55389" y="2655842"/>
            <a:ext cx="299557" cy="41938"/>
          </a:xfrm>
          <a:prstGeom prst="rect">
            <a:avLst/>
          </a:prstGeom>
          <a:solidFill>
            <a:srgbClr val="FBF7F2"/>
          </a:solidFill>
          <a:ln w="12700">
            <a:solidFill>
              <a:srgbClr val="FBF7F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55389" y="2811612"/>
            <a:ext cx="299557" cy="41938"/>
          </a:xfrm>
          <a:prstGeom prst="rect">
            <a:avLst/>
          </a:prstGeom>
          <a:solidFill>
            <a:srgbClr val="FBF7F2"/>
          </a:solidFill>
          <a:ln w="12700">
            <a:solidFill>
              <a:srgbClr val="FBF7F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55389" y="2967382"/>
            <a:ext cx="299557" cy="41938"/>
          </a:xfrm>
          <a:prstGeom prst="rect">
            <a:avLst/>
          </a:prstGeom>
          <a:solidFill>
            <a:srgbClr val="FBF7F2"/>
          </a:solidFill>
          <a:ln w="12700">
            <a:solidFill>
              <a:srgbClr val="FBF7F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72768"/>
            <a:ext cx="6629400" cy="3310128"/>
          </a:xfrm>
          <a:prstGeom prst="roundRect">
            <a:avLst>
              <a:gd name="adj" fmla="val 1657"/>
            </a:avLst>
          </a:prstGeom>
          <a:solidFill>
            <a:srgbClr val="FBF7F2"/>
          </a:solidFill>
          <a:ln w="12700">
            <a:solidFill>
              <a:srgbClr val="E3CDBA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Practical Outcome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" y="1773936"/>
            <a:ext cx="6044184" cy="29077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after version is not an LLM-rendered deck. It is the same MDPR renderer receiving clearer semantic structure, which should produce stronger slide intent, cleaner grouping, and more readable proof objects.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F2937"/>
      </a:dk1>
      <a:lt1>
        <a:srgbClr val="F7F3EF"/>
      </a:lt1>
      <a:dk2>
        <a:srgbClr val="57534E"/>
      </a:dk2>
      <a:lt2>
        <a:srgbClr val="FBF7F2"/>
      </a:lt2>
      <a:accent1>
        <a:srgbClr val="B45309"/>
      </a:accent1>
      <a:accent2>
        <a:srgbClr val="09B453"/>
      </a:accent2>
      <a:accent3>
        <a:srgbClr val="5309B4"/>
      </a:accent3>
      <a:accent4>
        <a:srgbClr val="4EC983"/>
      </a:accent4>
      <a:accent5>
        <a:srgbClr val="834EC9"/>
      </a:accent5>
      <a:accent6>
        <a:srgbClr val="E3CDBA"/>
      </a:accent6>
      <a:hlink>
        <a:srgbClr val="B45309"/>
      </a:hlink>
      <a:folHlink>
        <a:srgbClr val="09B453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Runtime Boundary</dc:title>
  <dc:subject>Generated from Markdown through Presentation IR and Layout IR</dc:subject>
  <dc:creator>mdpresent</dc:creator>
  <cp:lastModifiedBy>mdpresent</cp:lastModifiedBy>
  <cp:revision>1</cp:revision>
  <dcterms:created xsi:type="dcterms:W3CDTF">2026-06-19T14:46:02Z</dcterms:created>
  <dcterms:modified xsi:type="dcterms:W3CDTF">2026-06-19T14:46:02Z</dcterms:modified>
</cp:coreProperties>
</file>