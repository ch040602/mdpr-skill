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image" Target="../media/image-3-13.png"/><Relationship Id="rId14" Type="http://schemas.openxmlformats.org/officeDocument/2006/relationships/image" Target="../media/image-3-14.svg"/><Relationship Id="rId15" Type="http://schemas.openxmlformats.org/officeDocument/2006/relationships/image" Target="../media/image-3-15.png"/><Relationship Id="rId16" Type="http://schemas.openxmlformats.org/officeDocument/2006/relationships/image" Target="../media/image-3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3.png"/><Relationship Id="rId14" Type="http://schemas.openxmlformats.org/officeDocument/2006/relationships/image" Target="../media/image-4-14.svg"/><Relationship Id="rId15" Type="http://schemas.openxmlformats.org/officeDocument/2006/relationships/image" Target="../media/image-4-15.png"/><Relationship Id="rId16" Type="http://schemas.openxmlformats.org/officeDocument/2006/relationships/image" Target="../media/image-4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image" Target="../media/image-5-13.png"/><Relationship Id="rId14" Type="http://schemas.openxmlformats.org/officeDocument/2006/relationships/image" Target="../media/image-5-14.svg"/><Relationship Id="rId15" Type="http://schemas.openxmlformats.org/officeDocument/2006/relationships/image" Target="../media/image-5-15.png"/><Relationship Id="rId16" Type="http://schemas.openxmlformats.org/officeDocument/2006/relationships/image" Target="../media/image-5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image" Target="../media/image-6-13.png"/><Relationship Id="rId14" Type="http://schemas.openxmlformats.org/officeDocument/2006/relationships/image" Target="../media/image-6-14.svg"/><Relationship Id="rId15" Type="http://schemas.openxmlformats.org/officeDocument/2006/relationships/image" Target="../media/image-6-15.png"/><Relationship Id="rId16" Type="http://schemas.openxmlformats.org/officeDocument/2006/relationships/image" Target="../media/image-6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3.png"/><Relationship Id="rId14" Type="http://schemas.openxmlformats.org/officeDocument/2006/relationships/image" Target="../media/image-7-14.svg"/><Relationship Id="rId15" Type="http://schemas.openxmlformats.org/officeDocument/2006/relationships/image" Target="../media/image-7-15.png"/><Relationship Id="rId16" Type="http://schemas.openxmlformats.org/officeDocument/2006/relationships/image" Target="../media/image-7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image" Target="../media/image-9-13.png"/><Relationship Id="rId14" Type="http://schemas.openxmlformats.org/officeDocument/2006/relationships/image" Target="../media/image-9-14.svg"/><Relationship Id="rId15" Type="http://schemas.openxmlformats.org/officeDocument/2006/relationships/image" Target="../media/image-9-15.png"/><Relationship Id="rId16" Type="http://schemas.openxmlformats.org/officeDocument/2006/relationships/image" Target="../media/image-9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image" Target="../media/image-11-9.png"/><Relationship Id="rId10" Type="http://schemas.openxmlformats.org/officeDocument/2006/relationships/image" Target="../media/image-11-10.sv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453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806440"/>
            <a:ext cx="12191695" cy="1051560"/>
          </a:xfrm>
          <a:prstGeom prst="rect">
            <a:avLst/>
          </a:prstGeom>
          <a:solidFill>
            <a:srgbClr val="FCD34D">
              <a:alpha val="92000"/>
            </a:srgbClr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559552"/>
            <a:ext cx="3749040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05740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Skill Release Check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36192"/>
            <a:ext cx="10515600" cy="457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5852160"/>
            <a:ext cx="2011680" cy="4572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737360"/>
            <a:ext cx="73152" cy="84124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779776"/>
            <a:ext cx="73152" cy="841248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3822192"/>
            <a:ext cx="73152" cy="84124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4864608"/>
            <a:ext cx="73152" cy="841248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1042416" y="1828800"/>
            <a:ext cx="10094976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Scope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042416" y="2871216"/>
            <a:ext cx="10094976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Verified Conditions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042416" y="3913632"/>
            <a:ext cx="10094976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Generated Evidence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042416" y="4956048"/>
            <a:ext cx="10094976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Result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22960" y="1463040"/>
            <a:ext cx="5029200" cy="1920240"/>
          </a:xfrm>
          <a:prstGeom prst="rect">
            <a:avLst/>
          </a:prstGeom>
          <a:solidFill>
            <a:srgbClr val="FFFBF5">
              <a:alpha val="0"/>
            </a:srgbClr>
          </a:solidFill>
          <a:ln w="12700">
            <a:solidFill>
              <a:srgbClr val="E7D8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309360" y="1463040"/>
            <a:ext cx="5029200" cy="1920240"/>
          </a:xfrm>
          <a:prstGeom prst="rect">
            <a:avLst/>
          </a:prstGeom>
          <a:solidFill>
            <a:srgbClr val="FFFBF5">
              <a:alpha val="0"/>
            </a:srgbClr>
          </a:solidFill>
          <a:ln w="12700">
            <a:solidFill>
              <a:srgbClr val="E7D8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22960" y="3749040"/>
            <a:ext cx="5029200" cy="1920240"/>
          </a:xfrm>
          <a:prstGeom prst="rect">
            <a:avLst/>
          </a:prstGeom>
          <a:solidFill>
            <a:srgbClr val="FFFBF5">
              <a:alpha val="0"/>
            </a:srgbClr>
          </a:solidFill>
          <a:ln w="12700">
            <a:solidFill>
              <a:srgbClr val="E7D8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309360" y="3749040"/>
            <a:ext cx="5029200" cy="1920240"/>
          </a:xfrm>
          <a:prstGeom prst="rect">
            <a:avLst/>
          </a:prstGeom>
          <a:solidFill>
            <a:srgbClr val="FFFBF5">
              <a:alpha val="0"/>
            </a:srgbClr>
          </a:solidFill>
          <a:ln w="12700">
            <a:solidFill>
              <a:srgbClr val="E7D8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7" name="Text 1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Scope</a:t>
            </a:r>
            <a:endParaRPr lang="en-US" sz="3400" dirty="0"/>
          </a:p>
        </p:txBody>
      </p:sp>
      <p:sp>
        <p:nvSpPr>
          <p:cNvPr id="18" name="Shape 12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pic>
        <p:nvPicPr>
          <p:cNvPr id="19" name="Image 4" descr="server icon from svgrepo (open-license catalog pattern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9274" y="2203704"/>
            <a:ext cx="438912" cy="438912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689354" y="2209800"/>
            <a:ext cx="3961638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owns the runtime.</a:t>
            </a:r>
            <a:endParaRPr lang="en-US" sz="2200" dirty="0"/>
          </a:p>
        </p:txBody>
      </p:sp>
      <p:sp>
        <p:nvSpPr>
          <p:cNvPr id="21" name="Shape 14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pic>
        <p:nvPicPr>
          <p:cNvPr id="22" name="Image 5" descr="cod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35674" y="2203704"/>
            <a:ext cx="438912" cy="438912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7175754" y="2042160"/>
            <a:ext cx="3961638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mdpr-skill is a thin Codex skill wrapper around MDPR.</a:t>
            </a:r>
            <a:endParaRPr lang="en-US" sz="2200" dirty="0"/>
          </a:p>
        </p:txBody>
      </p:sp>
      <p:sp>
        <p:nvSpPr>
          <p:cNvPr id="24" name="Shape 16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pic>
        <p:nvPicPr>
          <p:cNvPr id="25" name="Image 6" descr="spark icon from tabler-icons (MIT)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9274" y="4489704"/>
            <a:ext cx="438912" cy="438912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1689354" y="4160520"/>
            <a:ext cx="3961638" cy="109728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skill may prepare compact semantic hints and review artifacts.</a:t>
            </a:r>
            <a:endParaRPr lang="en-US" sz="2200" dirty="0"/>
          </a:p>
        </p:txBody>
      </p:sp>
      <p:sp>
        <p:nvSpPr>
          <p:cNvPr id="27" name="Shape 18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pic>
        <p:nvPicPr>
          <p:cNvPr id="28" name="Image 7" descr="chart icon from tabler-icons (MIT)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35674" y="4489704"/>
            <a:ext cx="438912" cy="438912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7175754" y="3992880"/>
            <a:ext cx="3961638" cy="143256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skill does not choose coordinates, colors, typography, shapes, z-order, arrows, or renderer objects.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22960" y="1463040"/>
            <a:ext cx="5029200" cy="1920240"/>
          </a:xfrm>
          <a:prstGeom prst="rect">
            <a:avLst/>
          </a:prstGeom>
          <a:solidFill>
            <a:srgbClr val="FFFBF5">
              <a:alpha val="0"/>
            </a:srgbClr>
          </a:solidFill>
          <a:ln w="12700">
            <a:solidFill>
              <a:srgbClr val="E7D8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309360" y="1463040"/>
            <a:ext cx="5029200" cy="1920240"/>
          </a:xfrm>
          <a:prstGeom prst="rect">
            <a:avLst/>
          </a:prstGeom>
          <a:solidFill>
            <a:srgbClr val="FFFBF5">
              <a:alpha val="0"/>
            </a:srgbClr>
          </a:solidFill>
          <a:ln w="12700">
            <a:solidFill>
              <a:srgbClr val="E7D8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22960" y="3749040"/>
            <a:ext cx="5029200" cy="1920240"/>
          </a:xfrm>
          <a:prstGeom prst="rect">
            <a:avLst/>
          </a:prstGeom>
          <a:solidFill>
            <a:srgbClr val="FFFBF5">
              <a:alpha val="0"/>
            </a:srgbClr>
          </a:solidFill>
          <a:ln w="12700">
            <a:solidFill>
              <a:srgbClr val="E7D8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309360" y="3749040"/>
            <a:ext cx="5029200" cy="1920240"/>
          </a:xfrm>
          <a:prstGeom prst="rect">
            <a:avLst/>
          </a:prstGeom>
          <a:solidFill>
            <a:srgbClr val="FFFBF5">
              <a:alpha val="0"/>
            </a:srgbClr>
          </a:solidFill>
          <a:ln w="12700">
            <a:solidFill>
              <a:srgbClr val="E7D8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7" name="Text 1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Verified Conditions</a:t>
            </a:r>
            <a:endParaRPr lang="en-US" sz="3400" dirty="0"/>
          </a:p>
        </p:txBody>
      </p:sp>
      <p:sp>
        <p:nvSpPr>
          <p:cNvPr id="18" name="Shape 12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pic>
        <p:nvPicPr>
          <p:cNvPr id="19" name="Image 4" descr="chart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9274" y="2203704"/>
            <a:ext cx="438912" cy="438912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689354" y="1706880"/>
            <a:ext cx="3961638" cy="143256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Editable PPTX output uses PowerPoint text, shapes, tables, charts, and connectors.</a:t>
            </a:r>
            <a:endParaRPr lang="en-US" sz="2200" dirty="0"/>
          </a:p>
        </p:txBody>
      </p:sp>
      <p:sp>
        <p:nvSpPr>
          <p:cNvPr id="21" name="Shape 14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pic>
        <p:nvPicPr>
          <p:cNvPr id="22" name="Image 5" descr="flow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35674" y="2203704"/>
            <a:ext cx="438912" cy="438912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Pipeline teaser PPTX keeps text and connectors editable; any SVG layer is limited to intentional surface geometry.</a:t>
            </a:r>
            <a:endParaRPr lang="en-US" sz="2200" dirty="0"/>
          </a:p>
        </p:txBody>
      </p:sp>
      <p:sp>
        <p:nvSpPr>
          <p:cNvPr id="24" name="Shape 16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pic>
        <p:nvPicPr>
          <p:cNvPr id="25" name="Image 6" descr="table icon from tabler-icons (MIT)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9274" y="4489704"/>
            <a:ext cx="438912" cy="438912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 boxes use middle alignment for cards, callouts, table cells, row labels, badges, and marker glyphs.</a:t>
            </a:r>
            <a:endParaRPr lang="en-US" sz="2200" dirty="0"/>
          </a:p>
        </p:txBody>
      </p:sp>
      <p:sp>
        <p:nvSpPr>
          <p:cNvPr id="27" name="Shape 18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pic>
        <p:nvPicPr>
          <p:cNvPr id="28" name="Image 7" descr="article icon from tabler-icons (MIT)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35674" y="4489704"/>
            <a:ext cx="438912" cy="438912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Circle, rounded badge, number marker, alphabet marker, and icon marker glyphs are horizontally and vertically centered in their container.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22960" y="1463040"/>
            <a:ext cx="5029200" cy="1920240"/>
          </a:xfrm>
          <a:prstGeom prst="rect">
            <a:avLst/>
          </a:prstGeom>
          <a:solidFill>
            <a:srgbClr val="FFFBF5">
              <a:alpha val="0"/>
            </a:srgbClr>
          </a:solidFill>
          <a:ln w="12700">
            <a:solidFill>
              <a:srgbClr val="E7D8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309360" y="1463040"/>
            <a:ext cx="5029200" cy="1920240"/>
          </a:xfrm>
          <a:prstGeom prst="rect">
            <a:avLst/>
          </a:prstGeom>
          <a:solidFill>
            <a:srgbClr val="FFFBF5">
              <a:alpha val="0"/>
            </a:srgbClr>
          </a:solidFill>
          <a:ln w="12700">
            <a:solidFill>
              <a:srgbClr val="E7D8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22960" y="3749040"/>
            <a:ext cx="5029200" cy="1920240"/>
          </a:xfrm>
          <a:prstGeom prst="rect">
            <a:avLst/>
          </a:prstGeom>
          <a:solidFill>
            <a:srgbClr val="FFFBF5">
              <a:alpha val="0"/>
            </a:srgbClr>
          </a:solidFill>
          <a:ln w="12700">
            <a:solidFill>
              <a:srgbClr val="E7D8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309360" y="3749040"/>
            <a:ext cx="5029200" cy="1920240"/>
          </a:xfrm>
          <a:prstGeom prst="rect">
            <a:avLst/>
          </a:prstGeom>
          <a:solidFill>
            <a:srgbClr val="FFFBF5">
              <a:alpha val="0"/>
            </a:srgbClr>
          </a:solidFill>
          <a:ln w="12700">
            <a:solidFill>
              <a:srgbClr val="E7D8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7" name="Text 1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Verified Conditions (Cont. 2/5)</a:t>
            </a:r>
            <a:endParaRPr lang="en-US" sz="3400" dirty="0"/>
          </a:p>
        </p:txBody>
      </p:sp>
      <p:sp>
        <p:nvSpPr>
          <p:cNvPr id="18" name="Shape 12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pic>
        <p:nvPicPr>
          <p:cNvPr id="19" name="Image 4" descr="articl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9274" y="2203704"/>
            <a:ext cx="438912" cy="438912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689354" y="1874520"/>
            <a:ext cx="3961638" cy="109728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Adjacent marker text aligns to marker midpoint on the vertical axis.</a:t>
            </a:r>
            <a:endParaRPr lang="en-US" sz="2200" dirty="0"/>
          </a:p>
        </p:txBody>
      </p:sp>
      <p:sp>
        <p:nvSpPr>
          <p:cNvPr id="21" name="Shape 14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pic>
        <p:nvPicPr>
          <p:cNvPr id="22" name="Image 5" descr="chart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35674" y="2203704"/>
            <a:ext cx="438912" cy="438912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7175754" y="2042160"/>
            <a:ext cx="3961638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Graphs and diagrams stay on a single slide.</a:t>
            </a:r>
            <a:endParaRPr lang="en-US" sz="2200" dirty="0"/>
          </a:p>
        </p:txBody>
      </p:sp>
      <p:sp>
        <p:nvSpPr>
          <p:cNvPr id="24" name="Shape 16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pic>
        <p:nvPicPr>
          <p:cNvPr id="25" name="Image 6" descr="article icon from tabler-icons (MIT)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9274" y="4489704"/>
            <a:ext cx="438912" cy="438912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1689354" y="4160520"/>
            <a:ext cx="3961638" cy="109728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Straight connectors are used when endpoints share an axis.</a:t>
            </a:r>
            <a:endParaRPr lang="en-US" sz="2200" dirty="0"/>
          </a:p>
        </p:txBody>
      </p:sp>
      <p:sp>
        <p:nvSpPr>
          <p:cNvPr id="27" name="Shape 18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pic>
        <p:nvPicPr>
          <p:cNvPr id="28" name="Image 7" descr="article icon from tabler-icons (MIT)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35674" y="4489704"/>
            <a:ext cx="438912" cy="438912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7175754" y="4160520"/>
            <a:ext cx="3961638" cy="109728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Elbow connectors use 90 degree segments when endpoints are offset.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22960" y="1463040"/>
            <a:ext cx="5029200" cy="1920240"/>
          </a:xfrm>
          <a:prstGeom prst="rect">
            <a:avLst/>
          </a:prstGeom>
          <a:solidFill>
            <a:srgbClr val="FFFBF5">
              <a:alpha val="0"/>
            </a:srgbClr>
          </a:solidFill>
          <a:ln w="12700">
            <a:solidFill>
              <a:srgbClr val="E7D8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309360" y="1463040"/>
            <a:ext cx="5029200" cy="1920240"/>
          </a:xfrm>
          <a:prstGeom prst="rect">
            <a:avLst/>
          </a:prstGeom>
          <a:solidFill>
            <a:srgbClr val="FFFBF5">
              <a:alpha val="0"/>
            </a:srgbClr>
          </a:solidFill>
          <a:ln w="12700">
            <a:solidFill>
              <a:srgbClr val="E7D8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22960" y="3749040"/>
            <a:ext cx="5029200" cy="1920240"/>
          </a:xfrm>
          <a:prstGeom prst="rect">
            <a:avLst/>
          </a:prstGeom>
          <a:solidFill>
            <a:srgbClr val="FFFBF5">
              <a:alpha val="0"/>
            </a:srgbClr>
          </a:solidFill>
          <a:ln w="12700">
            <a:solidFill>
              <a:srgbClr val="E7D8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309360" y="3749040"/>
            <a:ext cx="5029200" cy="1920240"/>
          </a:xfrm>
          <a:prstGeom prst="rect">
            <a:avLst/>
          </a:prstGeom>
          <a:solidFill>
            <a:srgbClr val="FFFBF5">
              <a:alpha val="0"/>
            </a:srgbClr>
          </a:solidFill>
          <a:ln w="12700">
            <a:solidFill>
              <a:srgbClr val="E7D8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7" name="Text 1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Verified Conditions (Cont. 3/5)</a:t>
            </a:r>
            <a:endParaRPr lang="en-US" sz="3400" dirty="0"/>
          </a:p>
        </p:txBody>
      </p:sp>
      <p:sp>
        <p:nvSpPr>
          <p:cNvPr id="18" name="Shape 12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pic>
        <p:nvPicPr>
          <p:cNvPr id="19" name="Image 4" descr="palett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9274" y="2203704"/>
            <a:ext cx="438912" cy="438912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689354" y="1874520"/>
            <a:ext cx="3961638" cy="109728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Same-role arrows share color, weight, and dash style.</a:t>
            </a:r>
            <a:endParaRPr lang="en-US" sz="2200" dirty="0"/>
          </a:p>
        </p:txBody>
      </p:sp>
      <p:sp>
        <p:nvSpPr>
          <p:cNvPr id="21" name="Shape 14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pic>
        <p:nvPicPr>
          <p:cNvPr id="22" name="Image 5" descr="palett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35674" y="2203704"/>
            <a:ext cx="438912" cy="438912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7175754" y="2042160"/>
            <a:ext cx="3961638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Theme colors follow Adobe Color Wheel harmony rules.</a:t>
            </a:r>
            <a:endParaRPr lang="en-US" sz="2200" dirty="0"/>
          </a:p>
        </p:txBody>
      </p:sp>
      <p:sp>
        <p:nvSpPr>
          <p:cNvPr id="24" name="Shape 16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pic>
        <p:nvPicPr>
          <p:cNvPr id="25" name="Image 6" descr="palette icon from tabler-icons (MIT)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9274" y="4489704"/>
            <a:ext cx="438912" cy="438912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1689354" y="4160520"/>
            <a:ext cx="3961638" cy="109728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PowerPoint document theme colors are populated from MDPR theme slots.</a:t>
            </a:r>
            <a:endParaRPr lang="en-US" sz="2200" dirty="0"/>
          </a:p>
        </p:txBody>
      </p:sp>
      <p:sp>
        <p:nvSpPr>
          <p:cNvPr id="27" name="Shape 18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pic>
        <p:nvPicPr>
          <p:cNvPr id="28" name="Image 7" descr="table icon from tabler-icons (MIT)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35674" y="4489704"/>
            <a:ext cx="438912" cy="438912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7175754" y="4160520"/>
            <a:ext cx="3961638" cy="109728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 text is vertically centered with readable margins.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22960" y="1463040"/>
            <a:ext cx="5029200" cy="1920240"/>
          </a:xfrm>
          <a:prstGeom prst="rect">
            <a:avLst/>
          </a:prstGeom>
          <a:solidFill>
            <a:srgbClr val="FFFBF5">
              <a:alpha val="0"/>
            </a:srgbClr>
          </a:solidFill>
          <a:ln w="12700">
            <a:solidFill>
              <a:srgbClr val="E7D8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309360" y="1463040"/>
            <a:ext cx="5029200" cy="1920240"/>
          </a:xfrm>
          <a:prstGeom prst="rect">
            <a:avLst/>
          </a:prstGeom>
          <a:solidFill>
            <a:srgbClr val="FFFBF5">
              <a:alpha val="0"/>
            </a:srgbClr>
          </a:solidFill>
          <a:ln w="12700">
            <a:solidFill>
              <a:srgbClr val="E7D8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22960" y="3749040"/>
            <a:ext cx="5029200" cy="1920240"/>
          </a:xfrm>
          <a:prstGeom prst="rect">
            <a:avLst/>
          </a:prstGeom>
          <a:solidFill>
            <a:srgbClr val="FFFBF5">
              <a:alpha val="0"/>
            </a:srgbClr>
          </a:solidFill>
          <a:ln w="12700">
            <a:solidFill>
              <a:srgbClr val="E7D8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309360" y="3749040"/>
            <a:ext cx="5029200" cy="1920240"/>
          </a:xfrm>
          <a:prstGeom prst="rect">
            <a:avLst/>
          </a:prstGeom>
          <a:solidFill>
            <a:srgbClr val="FFFBF5">
              <a:alpha val="0"/>
            </a:srgbClr>
          </a:solidFill>
          <a:ln w="12700">
            <a:solidFill>
              <a:srgbClr val="E7D8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7" name="Text 1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Verified Conditions (Cont. 4/5)</a:t>
            </a:r>
            <a:endParaRPr lang="en-US" sz="3400" dirty="0"/>
          </a:p>
        </p:txBody>
      </p:sp>
      <p:sp>
        <p:nvSpPr>
          <p:cNvPr id="18" name="Shape 12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pic>
        <p:nvPicPr>
          <p:cNvPr id="19" name="Image 4" descr="articl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9274" y="2203704"/>
            <a:ext cx="438912" cy="438912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689354" y="1874520"/>
            <a:ext cx="3961638" cy="109728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Long spaces and hard tabs are normalized before rendering.</a:t>
            </a:r>
            <a:endParaRPr lang="en-US" sz="2200" dirty="0"/>
          </a:p>
        </p:txBody>
      </p:sp>
      <p:sp>
        <p:nvSpPr>
          <p:cNvPr id="21" name="Shape 14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pic>
        <p:nvPicPr>
          <p:cNvPr id="22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35674" y="2203704"/>
            <a:ext cx="438912" cy="438912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7175754" y="2042160"/>
            <a:ext cx="3961638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Minimum readable PPTX text size is enforced.</a:t>
            </a:r>
            <a:endParaRPr lang="en-US" sz="2200" dirty="0"/>
          </a:p>
        </p:txBody>
      </p:sp>
      <p:sp>
        <p:nvSpPr>
          <p:cNvPr id="24" name="Shape 16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pic>
        <p:nvPicPr>
          <p:cNvPr id="25" name="Image 6" descr="article icon from tabler-icons (MIT)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9274" y="4489704"/>
            <a:ext cx="438912" cy="438912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1689354" y="4328160"/>
            <a:ext cx="3961638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Text-only slides may use one small monotone icon aside.</a:t>
            </a:r>
            <a:endParaRPr lang="en-US" sz="2200" dirty="0"/>
          </a:p>
        </p:txBody>
      </p:sp>
      <p:sp>
        <p:nvSpPr>
          <p:cNvPr id="27" name="Shape 18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pic>
        <p:nvPicPr>
          <p:cNvPr id="28" name="Image 7" descr="article icon from tabler-icons (MIT)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35674" y="4489704"/>
            <a:ext cx="438912" cy="438912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7175754" y="4328160"/>
            <a:ext cx="3961638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Icons do not fill empty space as large decoration.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Verified Conditions (Cont. 5/5)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3368040"/>
            <a:ext cx="4791456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Derived object rules are structural references only.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473952" y="3200400"/>
            <a:ext cx="4791456" cy="109728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Original reference presentation files remain in a local cache, not in the repository.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22960" y="1463040"/>
            <a:ext cx="5029200" cy="1920240"/>
          </a:xfrm>
          <a:prstGeom prst="rect">
            <a:avLst/>
          </a:prstGeom>
          <a:solidFill>
            <a:srgbClr val="FFFBF5">
              <a:alpha val="0"/>
            </a:srgbClr>
          </a:solidFill>
          <a:ln w="12700">
            <a:solidFill>
              <a:srgbClr val="E7D8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309360" y="1463040"/>
            <a:ext cx="5029200" cy="1920240"/>
          </a:xfrm>
          <a:prstGeom prst="rect">
            <a:avLst/>
          </a:prstGeom>
          <a:solidFill>
            <a:srgbClr val="FFFBF5">
              <a:alpha val="0"/>
            </a:srgbClr>
          </a:solidFill>
          <a:ln w="12700">
            <a:solidFill>
              <a:srgbClr val="E7D8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22960" y="3749040"/>
            <a:ext cx="5029200" cy="1920240"/>
          </a:xfrm>
          <a:prstGeom prst="rect">
            <a:avLst/>
          </a:prstGeom>
          <a:solidFill>
            <a:srgbClr val="FFFBF5">
              <a:alpha val="0"/>
            </a:srgbClr>
          </a:solidFill>
          <a:ln w="12700">
            <a:solidFill>
              <a:srgbClr val="E7D8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309360" y="3749040"/>
            <a:ext cx="5029200" cy="1920240"/>
          </a:xfrm>
          <a:prstGeom prst="rect">
            <a:avLst/>
          </a:prstGeom>
          <a:solidFill>
            <a:srgbClr val="FFFBF5">
              <a:alpha val="0"/>
            </a:srgbClr>
          </a:solidFill>
          <a:ln w="12700">
            <a:solidFill>
              <a:srgbClr val="E7D8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7" name="Text 1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Generated Evidence</a:t>
            </a:r>
            <a:endParaRPr lang="en-US" sz="3400" dirty="0"/>
          </a:p>
        </p:txBody>
      </p:sp>
      <p:sp>
        <p:nvSpPr>
          <p:cNvPr id="18" name="Shape 12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pic>
        <p:nvPicPr>
          <p:cNvPr id="19" name="Image 4" descr="flow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9274" y="2203704"/>
            <a:ext cx="438912" cy="438912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689354" y="1865376"/>
            <a:ext cx="3961638" cy="11155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Pipeline teaser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docs/assets/pipeline-overview.pptx</a:t>
            </a:r>
            <a:endParaRPr lang="en-US" sz="2200" dirty="0"/>
          </a:p>
        </p:txBody>
      </p:sp>
      <p:sp>
        <p:nvSpPr>
          <p:cNvPr id="21" name="Shape 14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pic>
        <p:nvPicPr>
          <p:cNvPr id="22" name="Image 5" descr="github icon from simple-icons (CC0-1.0 with brand guidelines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35674" y="2203704"/>
            <a:ext cx="438912" cy="438912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7175754" y="1865376"/>
            <a:ext cx="3961638" cy="11155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Pipeline report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docs/assets/pipeline-overview-report.json</a:t>
            </a:r>
            <a:endParaRPr lang="en-US" sz="2200" dirty="0"/>
          </a:p>
        </p:txBody>
      </p:sp>
      <p:sp>
        <p:nvSpPr>
          <p:cNvPr id="24" name="Shape 16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pic>
        <p:nvPicPr>
          <p:cNvPr id="25" name="Image 6" descr="flow icon from tabler-icons (MIT)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9274" y="4489704"/>
            <a:ext cx="438912" cy="438912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1689354" y="3983736"/>
            <a:ext cx="3961638" cy="14508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Final pipeline artifact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artifacts/final-pipeline-overview/mdpr-pipeline-final.pptx</a:t>
            </a:r>
            <a:endParaRPr lang="en-US" sz="2200" dirty="0"/>
          </a:p>
        </p:txBody>
      </p:sp>
      <p:sp>
        <p:nvSpPr>
          <p:cNvPr id="27" name="Shape 18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pic>
        <p:nvPicPr>
          <p:cNvPr id="28" name="Image 7" descr="github icon from simple-icons (CC0-1.0 with brand guidelines)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35674" y="4489704"/>
            <a:ext cx="438912" cy="438912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7175754" y="4151376"/>
            <a:ext cx="3961638" cy="11155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vs skill report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artifacts/mdpr-vs-skill/mdpr-vs-skill-report.json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Generated Evidence (Cont. 2/2)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Reference object rules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artifacts/reference-pattern-analysis/derived-object-rules.json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Object catalog deck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artifacts/intro-decks/element-catalog/deck.pptx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FCD34D">
              <a:alpha val="80000"/>
            </a:srgbClr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FFBF5">
              <a:alpha val="0"/>
            </a:srgbClr>
          </a:solidFill>
          <a:ln w="12700">
            <a:solidFill>
              <a:srgbClr val="E7D8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FFBF5">
              <a:alpha val="0"/>
            </a:srgbClr>
          </a:solidFill>
          <a:ln w="12700">
            <a:solidFill>
              <a:srgbClr val="E7D8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FFBF5">
              <a:alpha val="0"/>
            </a:srgbClr>
          </a:solidFill>
          <a:ln w="12700">
            <a:solidFill>
              <a:srgbClr val="E7D8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5" name="Text 1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</a:t>
            </a:r>
            <a:endParaRPr lang="en-US" sz="3400" dirty="0"/>
          </a:p>
        </p:txBody>
      </p:sp>
      <p:sp>
        <p:nvSpPr>
          <p:cNvPr id="16" name="Shape 11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pic>
        <p:nvPicPr>
          <p:cNvPr id="17" name="Image 3" descr="verified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699321" y="2164080"/>
            <a:ext cx="9255191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release check is written as bullet-style Markdown.</a:t>
            </a:r>
            <a:endParaRPr lang="en-US" sz="2200" dirty="0"/>
          </a:p>
        </p:txBody>
      </p:sp>
      <p:sp>
        <p:nvSpPr>
          <p:cNvPr id="19" name="Shape 13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pic>
        <p:nvPicPr>
          <p:cNvPr id="20" name="Image 4" descr="articl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699321" y="3322320"/>
            <a:ext cx="9255191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rendered release deck must keep all visible text at or above the readable font floor.</a:t>
            </a:r>
            <a:endParaRPr lang="en-US" sz="2200" dirty="0"/>
          </a:p>
        </p:txBody>
      </p:sp>
      <p:sp>
        <p:nvSpPr>
          <p:cNvPr id="22" name="Shape 15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pic>
        <p:nvPicPr>
          <p:cNvPr id="23" name="Image 5" descr="verified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699321" y="4806696"/>
            <a:ext cx="9255191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rendered release deck must pass PowerPoint export validation.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F2937"/>
      </a:dk1>
      <a:lt1>
        <a:srgbClr val="F7F3EF"/>
      </a:lt1>
      <a:dk2>
        <a:srgbClr val="57534E"/>
      </a:dk2>
      <a:lt2>
        <a:srgbClr val="FFFBF5"/>
      </a:lt2>
      <a:accent1>
        <a:srgbClr val="B45309"/>
      </a:accent1>
      <a:accent2>
        <a:srgbClr val="FCD34D"/>
      </a:accent2>
      <a:accent3>
        <a:srgbClr val="B45309"/>
      </a:accent3>
      <a:accent4>
        <a:srgbClr val="57534E"/>
      </a:accent4>
      <a:accent5>
        <a:srgbClr val="E7D8C9"/>
      </a:accent5>
      <a:accent6>
        <a:srgbClr val="1F2937"/>
      </a:accent6>
      <a:hlink>
        <a:srgbClr val="B45309"/>
      </a:hlink>
      <a:folHlink>
        <a:srgbClr val="FCD34D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mdpresent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MDPR Skill Release Check</dc:title>
  <dc:subject>Generated from Markdown through Presentation IR and Layout IR</dc:subject>
  <dc:creator>mdpresent</dc:creator>
  <cp:lastModifiedBy>mdpresent</cp:lastModifiedBy>
  <cp:revision>1</cp:revision>
  <dcterms:created xsi:type="dcterms:W3CDTF">2026-06-21T08:54:00Z</dcterms:created>
  <dcterms:modified xsi:type="dcterms:W3CDTF">2026-06-21T08:54:00Z</dcterms:modified>
</cp:coreProperties>
</file>