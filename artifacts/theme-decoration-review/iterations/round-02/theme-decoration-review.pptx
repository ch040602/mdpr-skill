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dpr-text"/>
          <p:cNvSpPr txBox="1"/>
          <p:nvPr/>
        </p:nvSpPr>
        <p:spPr>
          <a:xfrm>
            <a:off x="640080" y="685800"/>
            <a:ext cx="859536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3200" b="1">
                <a:solidFill>
                  <a:srgbClr val="111827"/>
                </a:solidFill>
              </a:rPr>
              <a:t>MDPR Theme and Decoration Review</a:t>
            </a:r>
          </a:p>
        </p:txBody>
      </p:sp>
      <p:sp>
        <p:nvSpPr>
          <p:cNvPr id="3" name="mdpr-text"/>
          <p:cNvSpPr txBox="1"/>
          <p:nvPr/>
        </p:nvSpPr>
        <p:spPr>
          <a:xfrm>
            <a:off x="658368" y="1417320"/>
            <a:ext cx="960120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</a:rPr>
              <a:t>Actual PPTX review deck generated from theme matrix renders, object shape catalog, and deterministic coverage audit.</a:t>
            </a:r>
          </a:p>
        </p:txBody>
      </p:sp>
      <p:sp>
        <p:nvSpPr>
          <p:cNvPr id="4" name="mdpr-surface"/>
          <p:cNvSpPr/>
          <p:nvPr/>
        </p:nvSpPr>
        <p:spPr>
          <a:xfrm>
            <a:off x="685800" y="2240280"/>
            <a:ext cx="2212848" cy="960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mdpr-text"/>
          <p:cNvSpPr txBox="1"/>
          <p:nvPr/>
        </p:nvSpPr>
        <p:spPr>
          <a:xfrm>
            <a:off x="850392" y="2359152"/>
            <a:ext cx="173736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1">
                <a:solidFill>
                  <a:srgbClr val="475569"/>
                </a:solidFill>
              </a:rPr>
              <a:t>OBJECT KINDS</a:t>
            </a:r>
          </a:p>
        </p:txBody>
      </p:sp>
      <p:sp>
        <p:nvSpPr>
          <p:cNvPr id="6" name="mdpr-text"/>
          <p:cNvSpPr txBox="1"/>
          <p:nvPr/>
        </p:nvSpPr>
        <p:spPr>
          <a:xfrm>
            <a:off x="850392" y="2670048"/>
            <a:ext cx="1737360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2000" b="1">
                <a:solidFill>
                  <a:srgbClr val="0F766E"/>
                </a:solidFill>
              </a:rPr>
              <a:t>68</a:t>
            </a:r>
          </a:p>
        </p:txBody>
      </p:sp>
      <p:sp>
        <p:nvSpPr>
          <p:cNvPr id="7" name="mdpr-surface"/>
          <p:cNvSpPr/>
          <p:nvPr/>
        </p:nvSpPr>
        <p:spPr>
          <a:xfrm>
            <a:off x="3429000" y="2240280"/>
            <a:ext cx="2212848" cy="960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mdpr-text"/>
          <p:cNvSpPr txBox="1"/>
          <p:nvPr/>
        </p:nvSpPr>
        <p:spPr>
          <a:xfrm>
            <a:off x="3593592" y="2359152"/>
            <a:ext cx="173736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1">
                <a:solidFill>
                  <a:srgbClr val="475569"/>
                </a:solidFill>
              </a:rPr>
              <a:t>TOKEN-READY</a:t>
            </a:r>
          </a:p>
        </p:txBody>
      </p:sp>
      <p:sp>
        <p:nvSpPr>
          <p:cNvPr id="9" name="mdpr-text"/>
          <p:cNvSpPr txBox="1"/>
          <p:nvPr/>
        </p:nvSpPr>
        <p:spPr>
          <a:xfrm>
            <a:off x="3593592" y="2670048"/>
            <a:ext cx="1737360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2000" b="1">
                <a:solidFill>
                  <a:srgbClr val="0F766E"/>
                </a:solidFill>
              </a:rPr>
              <a:t>68</a:t>
            </a:r>
          </a:p>
        </p:txBody>
      </p:sp>
      <p:sp>
        <p:nvSpPr>
          <p:cNvPr id="10" name="mdpr-surface"/>
          <p:cNvSpPr/>
          <p:nvPr/>
        </p:nvSpPr>
        <p:spPr>
          <a:xfrm>
            <a:off x="6172200" y="2240280"/>
            <a:ext cx="2212848" cy="960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mdpr-text"/>
          <p:cNvSpPr txBox="1"/>
          <p:nvPr/>
        </p:nvSpPr>
        <p:spPr>
          <a:xfrm>
            <a:off x="6336792" y="2359152"/>
            <a:ext cx="173736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1">
                <a:solidFill>
                  <a:srgbClr val="475569"/>
                </a:solidFill>
              </a:rPr>
              <a:t>THEME COMBOS</a:t>
            </a:r>
          </a:p>
        </p:txBody>
      </p:sp>
      <p:sp>
        <p:nvSpPr>
          <p:cNvPr id="12" name="mdpr-text"/>
          <p:cNvSpPr txBox="1"/>
          <p:nvPr/>
        </p:nvSpPr>
        <p:spPr>
          <a:xfrm>
            <a:off x="6336792" y="2670048"/>
            <a:ext cx="1737360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2000" b="1">
                <a:solidFill>
                  <a:srgbClr val="0F766E"/>
                </a:solidFill>
              </a:rPr>
              <a:t>10</a:t>
            </a:r>
          </a:p>
        </p:txBody>
      </p:sp>
      <p:sp>
        <p:nvSpPr>
          <p:cNvPr id="13" name="mdpr-surface"/>
          <p:cNvSpPr/>
          <p:nvPr/>
        </p:nvSpPr>
        <p:spPr>
          <a:xfrm>
            <a:off x="8915400" y="2240280"/>
            <a:ext cx="2212848" cy="960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mdpr-text"/>
          <p:cNvSpPr txBox="1"/>
          <p:nvPr/>
        </p:nvSpPr>
        <p:spPr>
          <a:xfrm>
            <a:off x="9079992" y="2359152"/>
            <a:ext cx="173736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1">
                <a:solidFill>
                  <a:srgbClr val="475569"/>
                </a:solidFill>
              </a:rPr>
              <a:t>ASSESSMENT</a:t>
            </a:r>
          </a:p>
        </p:txBody>
      </p:sp>
      <p:sp>
        <p:nvSpPr>
          <p:cNvPr id="15" name="mdpr-text"/>
          <p:cNvSpPr txBox="1"/>
          <p:nvPr/>
        </p:nvSpPr>
        <p:spPr>
          <a:xfrm>
            <a:off x="9079992" y="2670048"/>
            <a:ext cx="1737360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2000" b="1">
                <a:solidFill>
                  <a:srgbClr val="0F766E"/>
                </a:solidFill>
              </a:rPr>
              <a:t>sufficient</a:t>
            </a:r>
          </a:p>
        </p:txBody>
      </p:sp>
      <p:sp>
        <p:nvSpPr>
          <p:cNvPr id="16" name="mdpr-text"/>
          <p:cNvSpPr txBox="1"/>
          <p:nvPr/>
        </p:nvSpPr>
        <p:spPr>
          <a:xfrm>
            <a:off x="713232" y="3794760"/>
            <a:ext cx="9875520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</a:rPr>
              <a:t>Pass criteria: at least 30 distinct object shape kinds, every counted kind bound to theme tokens, and actual PowerPoint-exported theme previews passing style/color checks.</a:t>
            </a:r>
          </a:p>
        </p:txBody>
      </p:sp>
      <p:sp>
        <p:nvSpPr>
          <p:cNvPr id="17" name="mdpr-surface"/>
          <p:cNvSpPr/>
          <p:nvPr/>
        </p:nvSpPr>
        <p:spPr>
          <a:xfrm>
            <a:off x="713232" y="4617720"/>
            <a:ext cx="10698480" cy="1005840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mdpr-text"/>
          <p:cNvSpPr txBox="1"/>
          <p:nvPr/>
        </p:nvSpPr>
        <p:spPr>
          <a:xfrm>
            <a:off x="960120" y="4800600"/>
            <a:ext cx="996696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600" b="1">
                <a:solidFill>
                  <a:srgbClr val="064E3B"/>
                </a:solidFill>
              </a:rPr>
              <a:t>This deck is itself a verification artifact: it contains the rendered contact sheets, editable pattern preview objects, and the audit summary path.</a:t>
            </a:r>
          </a:p>
        </p:txBody>
      </p:sp>
      <p:sp>
        <p:nvSpPr>
          <p:cNvPr id="19" name="mdpr-text"/>
          <p:cNvSpPr txBox="1"/>
          <p:nvPr/>
        </p:nvSpPr>
        <p:spPr>
          <a:xfrm>
            <a:off x="960120" y="5285232"/>
            <a:ext cx="9966960" cy="21945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>
                <a:solidFill>
                  <a:srgbClr val="047857"/>
                </a:solidFill>
              </a:rPr>
              <a:t>artifacts/theme-decoration-review/theme-decoration-coverage-report.json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dpr-text"/>
          <p:cNvSpPr txBox="1"/>
          <p:nvPr/>
        </p:nvSpPr>
        <p:spPr>
          <a:xfrm>
            <a:off x="502920" y="310896"/>
            <a:ext cx="7955279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2400" b="1">
                <a:solidFill>
                  <a:srgbClr val="111827"/>
                </a:solidFill>
              </a:rPr>
              <a:t>Theme Cover Matrix</a:t>
            </a:r>
          </a:p>
        </p:txBody>
      </p:sp>
      <p:sp>
        <p:nvSpPr>
          <p:cNvPr id="3" name="mdpr-text"/>
          <p:cNvSpPr txBox="1"/>
          <p:nvPr/>
        </p:nvSpPr>
        <p:spPr>
          <a:xfrm>
            <a:off x="521207" y="768096"/>
            <a:ext cx="10241280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</a:rPr>
              <a:t>PowerPoint-exported cover previews for style/color/harmony combinations.</a:t>
            </a:r>
          </a:p>
        </p:txBody>
      </p:sp>
      <p:sp>
        <p:nvSpPr>
          <p:cNvPr id="4" name="mdpr-decor"/>
          <p:cNvSpPr/>
          <p:nvPr/>
        </p:nvSpPr>
        <p:spPr>
          <a:xfrm>
            <a:off x="530352" y="1097280"/>
            <a:ext cx="1280160" cy="32004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heme-style-color-cover-contact-she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4052" y="1234440"/>
            <a:ext cx="8990534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dpr-text"/>
          <p:cNvSpPr txBox="1"/>
          <p:nvPr/>
        </p:nvSpPr>
        <p:spPr>
          <a:xfrm>
            <a:off x="502920" y="310896"/>
            <a:ext cx="7955279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2400" b="1">
                <a:solidFill>
                  <a:srgbClr val="111827"/>
                </a:solidFill>
              </a:rPr>
              <a:t>Theme Proof Object Matrix</a:t>
            </a:r>
          </a:p>
        </p:txBody>
      </p:sp>
      <p:sp>
        <p:nvSpPr>
          <p:cNvPr id="3" name="mdpr-text"/>
          <p:cNvSpPr txBox="1"/>
          <p:nvPr/>
        </p:nvSpPr>
        <p:spPr>
          <a:xfrm>
            <a:off x="521207" y="768096"/>
            <a:ext cx="10241280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</a:rPr>
              <a:t>PowerPoint-exported arc-ring proof slides using each resolved theme palette.</a:t>
            </a:r>
          </a:p>
        </p:txBody>
      </p:sp>
      <p:sp>
        <p:nvSpPr>
          <p:cNvPr id="4" name="mdpr-decor"/>
          <p:cNvSpPr/>
          <p:nvPr/>
        </p:nvSpPr>
        <p:spPr>
          <a:xfrm>
            <a:off x="530352" y="1097280"/>
            <a:ext cx="1280160" cy="32004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heme-style-color-proof-contact-she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4052" y="1234440"/>
            <a:ext cx="8990534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dpr-text"/>
          <p:cNvSpPr txBox="1"/>
          <p:nvPr/>
        </p:nvSpPr>
        <p:spPr>
          <a:xfrm>
            <a:off x="502920" y="310896"/>
            <a:ext cx="7955279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2400" b="1">
                <a:solidFill>
                  <a:srgbClr val="111827"/>
                </a:solidFill>
              </a:rPr>
              <a:t>Reference Corpus Expansion</a:t>
            </a:r>
          </a:p>
        </p:txBody>
      </p:sp>
      <p:sp>
        <p:nvSpPr>
          <p:cNvPr id="3" name="mdpr-text"/>
          <p:cNvSpPr txBox="1"/>
          <p:nvPr/>
        </p:nvSpPr>
        <p:spPr>
          <a:xfrm>
            <a:off x="521207" y="768096"/>
            <a:ext cx="10241280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</a:rPr>
              <a:t>Only source-neutral structure counts and derived grammar are kept in the repository.</a:t>
            </a:r>
          </a:p>
        </p:txBody>
      </p:sp>
      <p:sp>
        <p:nvSpPr>
          <p:cNvPr id="4" name="mdpr-decor"/>
          <p:cNvSpPr/>
          <p:nvPr/>
        </p:nvSpPr>
        <p:spPr>
          <a:xfrm>
            <a:off x="530352" y="1097280"/>
            <a:ext cx="1280160" cy="32004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mdpr-surface reference-metric"/>
          <p:cNvSpPr/>
          <p:nvPr/>
        </p:nvSpPr>
        <p:spPr>
          <a:xfrm>
            <a:off x="658368" y="1554480"/>
            <a:ext cx="1874519" cy="1005840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mdpr-text"/>
          <p:cNvSpPr txBox="1"/>
          <p:nvPr/>
        </p:nvSpPr>
        <p:spPr>
          <a:xfrm>
            <a:off x="822959" y="1719072"/>
            <a:ext cx="1417320" cy="21945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1">
                <a:solidFill>
                  <a:srgbClr val="475569"/>
                </a:solidFill>
              </a:rPr>
              <a:t>PPT FILES</a:t>
            </a:r>
          </a:p>
        </p:txBody>
      </p:sp>
      <p:sp>
        <p:nvSpPr>
          <p:cNvPr id="7" name="mdpr-text"/>
          <p:cNvSpPr txBox="1"/>
          <p:nvPr/>
        </p:nvSpPr>
        <p:spPr>
          <a:xfrm>
            <a:off x="822959" y="1993392"/>
            <a:ext cx="1417320" cy="31089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2000" b="1">
                <a:solidFill>
                  <a:srgbClr val="0F766E"/>
                </a:solidFill>
              </a:rPr>
              <a:t>80</a:t>
            </a:r>
          </a:p>
        </p:txBody>
      </p:sp>
      <p:sp>
        <p:nvSpPr>
          <p:cNvPr id="8" name="mdpr-surface reference-metric"/>
          <p:cNvSpPr/>
          <p:nvPr/>
        </p:nvSpPr>
        <p:spPr>
          <a:xfrm>
            <a:off x="2898648" y="1554480"/>
            <a:ext cx="1874519" cy="1005840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mdpr-text"/>
          <p:cNvSpPr txBox="1"/>
          <p:nvPr/>
        </p:nvSpPr>
        <p:spPr>
          <a:xfrm>
            <a:off x="3063240" y="1719072"/>
            <a:ext cx="1417320" cy="21945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1">
                <a:solidFill>
                  <a:srgbClr val="475569"/>
                </a:solidFill>
              </a:rPr>
              <a:t>SLIDES</a:t>
            </a:r>
          </a:p>
        </p:txBody>
      </p:sp>
      <p:sp>
        <p:nvSpPr>
          <p:cNvPr id="10" name="mdpr-text"/>
          <p:cNvSpPr txBox="1"/>
          <p:nvPr/>
        </p:nvSpPr>
        <p:spPr>
          <a:xfrm>
            <a:off x="3063240" y="1993392"/>
            <a:ext cx="1417320" cy="31089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2000" b="1">
                <a:solidFill>
                  <a:srgbClr val="2563EB"/>
                </a:solidFill>
              </a:rPr>
              <a:t>797</a:t>
            </a:r>
          </a:p>
        </p:txBody>
      </p:sp>
      <p:sp>
        <p:nvSpPr>
          <p:cNvPr id="11" name="mdpr-surface reference-metric"/>
          <p:cNvSpPr/>
          <p:nvPr/>
        </p:nvSpPr>
        <p:spPr>
          <a:xfrm>
            <a:off x="5138928" y="1554480"/>
            <a:ext cx="1874519" cy="1005840"/>
          </a:xfrm>
          <a:prstGeom prst="roundRect">
            <a:avLst/>
          </a:prstGeom>
          <a:solidFill>
            <a:srgbClr val="FFF7ED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mdpr-text"/>
          <p:cNvSpPr txBox="1"/>
          <p:nvPr/>
        </p:nvSpPr>
        <p:spPr>
          <a:xfrm>
            <a:off x="5303520" y="1719072"/>
            <a:ext cx="1417320" cy="21945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1">
                <a:solidFill>
                  <a:srgbClr val="475569"/>
                </a:solidFill>
              </a:rPr>
              <a:t>RENDERED PNGS</a:t>
            </a:r>
          </a:p>
        </p:txBody>
      </p:sp>
      <p:sp>
        <p:nvSpPr>
          <p:cNvPr id="13" name="mdpr-text"/>
          <p:cNvSpPr txBox="1"/>
          <p:nvPr/>
        </p:nvSpPr>
        <p:spPr>
          <a:xfrm>
            <a:off x="5303520" y="1993392"/>
            <a:ext cx="1417320" cy="31089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2000" b="1">
                <a:solidFill>
                  <a:srgbClr val="C2410C"/>
                </a:solidFill>
              </a:rPr>
              <a:t>1,594</a:t>
            </a:r>
          </a:p>
        </p:txBody>
      </p:sp>
      <p:sp>
        <p:nvSpPr>
          <p:cNvPr id="14" name="mdpr-surface reference-metric"/>
          <p:cNvSpPr/>
          <p:nvPr/>
        </p:nvSpPr>
        <p:spPr>
          <a:xfrm>
            <a:off x="7379208" y="1554480"/>
            <a:ext cx="1874519" cy="1005840"/>
          </a:xfrm>
          <a:prstGeom prst="roundRect">
            <a:avLst/>
          </a:prstGeom>
          <a:solidFill>
            <a:srgbClr val="F5F3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mdpr-text"/>
          <p:cNvSpPr txBox="1"/>
          <p:nvPr/>
        </p:nvSpPr>
        <p:spPr>
          <a:xfrm>
            <a:off x="7543800" y="1719072"/>
            <a:ext cx="1417320" cy="21945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1">
                <a:solidFill>
                  <a:srgbClr val="475569"/>
                </a:solidFill>
              </a:rPr>
              <a:t>PNG SAMPLES</a:t>
            </a:r>
          </a:p>
        </p:txBody>
      </p:sp>
      <p:sp>
        <p:nvSpPr>
          <p:cNvPr id="16" name="mdpr-text"/>
          <p:cNvSpPr txBox="1"/>
          <p:nvPr/>
        </p:nvSpPr>
        <p:spPr>
          <a:xfrm>
            <a:off x="7543800" y="1993392"/>
            <a:ext cx="1417320" cy="31089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2000" b="1">
                <a:solidFill>
                  <a:srgbClr val="7C3AED"/>
                </a:solidFill>
              </a:rPr>
              <a:t>160</a:t>
            </a:r>
          </a:p>
        </p:txBody>
      </p:sp>
      <p:sp>
        <p:nvSpPr>
          <p:cNvPr id="17" name="mdpr-surface reference-metric"/>
          <p:cNvSpPr/>
          <p:nvPr/>
        </p:nvSpPr>
        <p:spPr>
          <a:xfrm>
            <a:off x="9619488" y="1554480"/>
            <a:ext cx="1874519" cy="1005840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mdpr-text"/>
          <p:cNvSpPr txBox="1"/>
          <p:nvPr/>
        </p:nvSpPr>
        <p:spPr>
          <a:xfrm>
            <a:off x="9784080" y="1719072"/>
            <a:ext cx="1417320" cy="21945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1">
                <a:solidFill>
                  <a:srgbClr val="475569"/>
                </a:solidFill>
              </a:rPr>
              <a:t>DERIVED PATTERNS</a:t>
            </a:r>
          </a:p>
        </p:txBody>
      </p:sp>
      <p:sp>
        <p:nvSpPr>
          <p:cNvPr id="19" name="mdpr-text"/>
          <p:cNvSpPr txBox="1"/>
          <p:nvPr/>
        </p:nvSpPr>
        <p:spPr>
          <a:xfrm>
            <a:off x="9784080" y="1993392"/>
            <a:ext cx="1417320" cy="31089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2000" b="1">
                <a:solidFill>
                  <a:srgbClr val="E11D48"/>
                </a:solidFill>
              </a:rPr>
              <a:t>60</a:t>
            </a:r>
          </a:p>
        </p:txBody>
      </p:sp>
      <p:sp>
        <p:nvSpPr>
          <p:cNvPr id="20" name="mdpr-surface reference-policy"/>
          <p:cNvSpPr/>
          <p:nvPr/>
        </p:nvSpPr>
        <p:spPr>
          <a:xfrm>
            <a:off x="749808" y="3200400"/>
            <a:ext cx="4983480" cy="15087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mdpr-text"/>
          <p:cNvSpPr txBox="1"/>
          <p:nvPr/>
        </p:nvSpPr>
        <p:spPr>
          <a:xfrm>
            <a:off x="1005840" y="3456432"/>
            <a:ext cx="443484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700" b="1">
                <a:solidFill>
                  <a:srgbClr val="111827"/>
                </a:solidFill>
              </a:rPr>
              <a:t>Corpus assets stay local. Public artifacts store counts, object families, and coherence guards only.</a:t>
            </a:r>
          </a:p>
        </p:txBody>
      </p:sp>
      <p:sp>
        <p:nvSpPr>
          <p:cNvPr id="22" name="mdpr-surface diversity-policy"/>
          <p:cNvSpPr/>
          <p:nvPr/>
        </p:nvSpPr>
        <p:spPr>
          <a:xfrm>
            <a:off x="6400800" y="3200400"/>
            <a:ext cx="4526280" cy="1508760"/>
          </a:xfrm>
          <a:prstGeom prst="roundRect">
            <a:avLst/>
          </a:prstGeom>
          <a:solidFill>
            <a:srgbClr val="FFF7ED"/>
          </a:solidFill>
          <a:ln w="10160">
            <a:solidFill>
              <a:srgbClr val="FED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mdpr-text"/>
          <p:cNvSpPr txBox="1"/>
          <p:nvPr/>
        </p:nvSpPr>
        <p:spPr>
          <a:xfrm>
            <a:off x="6675120" y="3429000"/>
            <a:ext cx="3977639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600" b="1">
                <a:solidFill>
                  <a:srgbClr val="9A3412"/>
                </a:solidFill>
              </a:rPr>
              <a:t>Diversity is measured by structural archetype count and family spread, not by repeated card variants.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dpr-text"/>
          <p:cNvSpPr txBox="1"/>
          <p:nvPr/>
        </p:nvSpPr>
        <p:spPr>
          <a:xfrm>
            <a:off x="502920" y="310896"/>
            <a:ext cx="7955279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2400" b="1">
                <a:solidFill>
                  <a:srgbClr val="111827"/>
                </a:solidFill>
              </a:rPr>
              <a:t>Structural Archetype Atlas</a:t>
            </a:r>
          </a:p>
        </p:txBody>
      </p:sp>
      <p:sp>
        <p:nvSpPr>
          <p:cNvPr id="3" name="mdpr-text"/>
          <p:cNvSpPr txBox="1"/>
          <p:nvPr/>
        </p:nvSpPr>
        <p:spPr>
          <a:xfrm>
            <a:off x="521207" y="768096"/>
            <a:ext cx="10241280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</a:rPr>
              <a:t>Representative non-card object grammars from the source-neutral 60-pattern catalog.</a:t>
            </a:r>
          </a:p>
        </p:txBody>
      </p:sp>
      <p:sp>
        <p:nvSpPr>
          <p:cNvPr id="4" name="mdpr-decor"/>
          <p:cNvSpPr/>
          <p:nvPr/>
        </p:nvSpPr>
        <p:spPr>
          <a:xfrm>
            <a:off x="530352" y="1097280"/>
            <a:ext cx="1280160" cy="32004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mdpr-surface atlas"/>
          <p:cNvSpPr/>
          <p:nvPr/>
        </p:nvSpPr>
        <p:spPr>
          <a:xfrm>
            <a:off x="621792" y="1417320"/>
            <a:ext cx="2395728" cy="1225296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mdpr-decor"/>
          <p:cNvSpPr/>
          <p:nvPr/>
        </p:nvSpPr>
        <p:spPr>
          <a:xfrm>
            <a:off x="1655064" y="1865376"/>
            <a:ext cx="329184" cy="329184"/>
          </a:xfrm>
          <a:prstGeom prst="ellipse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mdpr-decor"/>
          <p:cNvSpPr/>
          <p:nvPr/>
        </p:nvSpPr>
        <p:spPr>
          <a:xfrm>
            <a:off x="1225296" y="2020824"/>
            <a:ext cx="1188720" cy="18288"/>
          </a:xfrm>
          <a:prstGeom prst="rect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mdpr-decor"/>
          <p:cNvSpPr/>
          <p:nvPr/>
        </p:nvSpPr>
        <p:spPr>
          <a:xfrm>
            <a:off x="1810512" y="1645920"/>
            <a:ext cx="18288" cy="768096"/>
          </a:xfrm>
          <a:prstGeom prst="rect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mdpr-decor"/>
          <p:cNvSpPr/>
          <p:nvPr/>
        </p:nvSpPr>
        <p:spPr>
          <a:xfrm>
            <a:off x="1252728" y="1682496"/>
            <a:ext cx="182880" cy="182880"/>
          </a:xfrm>
          <a:prstGeom prst="ellipse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mdpr-decor"/>
          <p:cNvSpPr/>
          <p:nvPr/>
        </p:nvSpPr>
        <p:spPr>
          <a:xfrm>
            <a:off x="2276856" y="1700784"/>
            <a:ext cx="182880" cy="182880"/>
          </a:xfrm>
          <a:prstGeom prst="ellipse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mdpr-decor"/>
          <p:cNvSpPr/>
          <p:nvPr/>
        </p:nvSpPr>
        <p:spPr>
          <a:xfrm>
            <a:off x="1289304" y="2377440"/>
            <a:ext cx="182880" cy="182880"/>
          </a:xfrm>
          <a:prstGeom prst="ellipse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mdpr-decor"/>
          <p:cNvSpPr/>
          <p:nvPr/>
        </p:nvSpPr>
        <p:spPr>
          <a:xfrm>
            <a:off x="2313432" y="2350008"/>
            <a:ext cx="182880" cy="182880"/>
          </a:xfrm>
          <a:prstGeom prst="ellipse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mdpr-text"/>
          <p:cNvSpPr txBox="1"/>
          <p:nvPr/>
        </p:nvSpPr>
        <p:spPr>
          <a:xfrm>
            <a:off x="877824" y="2258568"/>
            <a:ext cx="1883664" cy="21945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00" b="1">
                <a:solidFill>
                  <a:srgbClr val="111827"/>
                </a:solidFill>
              </a:rPr>
              <a:t>center-hub-spokes</a:t>
            </a:r>
          </a:p>
        </p:txBody>
      </p:sp>
      <p:sp>
        <p:nvSpPr>
          <p:cNvPr id="14" name="mdpr-surface atlas"/>
          <p:cNvSpPr/>
          <p:nvPr/>
        </p:nvSpPr>
        <p:spPr>
          <a:xfrm>
            <a:off x="3474720" y="1417320"/>
            <a:ext cx="2395728" cy="1225296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mdpr-decor"/>
          <p:cNvSpPr/>
          <p:nvPr/>
        </p:nvSpPr>
        <p:spPr>
          <a:xfrm>
            <a:off x="4233672" y="1773936"/>
            <a:ext cx="274320" cy="274320"/>
          </a:xfrm>
          <a:prstGeom prst="ellipse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mdpr-text-in-decor"/>
          <p:cNvSpPr txBox="1"/>
          <p:nvPr/>
        </p:nvSpPr>
        <p:spPr>
          <a:xfrm>
            <a:off x="4233672" y="17739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7" name="mdpr-decor"/>
          <p:cNvSpPr/>
          <p:nvPr/>
        </p:nvSpPr>
        <p:spPr>
          <a:xfrm>
            <a:off x="5111496" y="1901952"/>
            <a:ext cx="274320" cy="274320"/>
          </a:xfrm>
          <a:prstGeom prst="ellipse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mdpr-text-in-decor"/>
          <p:cNvSpPr txBox="1"/>
          <p:nvPr/>
        </p:nvSpPr>
        <p:spPr>
          <a:xfrm>
            <a:off x="5111496" y="190195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9" name="mdpr-decor"/>
          <p:cNvSpPr/>
          <p:nvPr/>
        </p:nvSpPr>
        <p:spPr>
          <a:xfrm>
            <a:off x="4690872" y="2002536"/>
            <a:ext cx="274320" cy="274320"/>
          </a:xfrm>
          <a:prstGeom prst="ellipse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mdpr-text-in-decor"/>
          <p:cNvSpPr txBox="1"/>
          <p:nvPr/>
        </p:nvSpPr>
        <p:spPr>
          <a:xfrm>
            <a:off x="4690872" y="20025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mdpr-arrow"/>
          <p:cNvSpPr/>
          <p:nvPr/>
        </p:nvSpPr>
        <p:spPr>
          <a:xfrm>
            <a:off x="4535424" y="1572768"/>
            <a:ext cx="347472" cy="146304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mdpr-text"/>
          <p:cNvSpPr txBox="1"/>
          <p:nvPr/>
        </p:nvSpPr>
        <p:spPr>
          <a:xfrm>
            <a:off x="3730752" y="2258568"/>
            <a:ext cx="1883664" cy="21945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00" b="1">
                <a:solidFill>
                  <a:srgbClr val="111827"/>
                </a:solidFill>
              </a:rPr>
              <a:t>loop-arrow-cycle</a:t>
            </a:r>
          </a:p>
        </p:txBody>
      </p:sp>
      <p:sp>
        <p:nvSpPr>
          <p:cNvPr id="23" name="mdpr-surface atlas"/>
          <p:cNvSpPr/>
          <p:nvPr/>
        </p:nvSpPr>
        <p:spPr>
          <a:xfrm>
            <a:off x="6327648" y="1417320"/>
            <a:ext cx="2395728" cy="1225296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mdpr-decor"/>
          <p:cNvSpPr/>
          <p:nvPr/>
        </p:nvSpPr>
        <p:spPr>
          <a:xfrm>
            <a:off x="6620256" y="2029968"/>
            <a:ext cx="1810512" cy="18288"/>
          </a:xfrm>
          <a:prstGeom prst="rect">
            <a:avLst/>
          </a:prstGeom>
          <a:solidFill>
            <a:srgbClr val="C2410C"/>
          </a:solidFill>
          <a:ln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mdpr-decor"/>
          <p:cNvSpPr/>
          <p:nvPr/>
        </p:nvSpPr>
        <p:spPr>
          <a:xfrm>
            <a:off x="7525512" y="1673352"/>
            <a:ext cx="18288" cy="512064"/>
          </a:xfrm>
          <a:prstGeom prst="rect">
            <a:avLst/>
          </a:prstGeom>
          <a:solidFill>
            <a:srgbClr val="C2410C"/>
          </a:solidFill>
          <a:ln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mdpr-surface"/>
          <p:cNvSpPr/>
          <p:nvPr/>
        </p:nvSpPr>
        <p:spPr>
          <a:xfrm>
            <a:off x="6711696" y="1764792"/>
            <a:ext cx="411480" cy="256032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mdpr-surface"/>
          <p:cNvSpPr/>
          <p:nvPr/>
        </p:nvSpPr>
        <p:spPr>
          <a:xfrm>
            <a:off x="7900416" y="1764792"/>
            <a:ext cx="411480" cy="256032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mdpr-surface"/>
          <p:cNvSpPr/>
          <p:nvPr/>
        </p:nvSpPr>
        <p:spPr>
          <a:xfrm>
            <a:off x="6711696" y="1984248"/>
            <a:ext cx="411480" cy="256032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mdpr-surface"/>
          <p:cNvSpPr/>
          <p:nvPr/>
        </p:nvSpPr>
        <p:spPr>
          <a:xfrm>
            <a:off x="7900416" y="1984248"/>
            <a:ext cx="411480" cy="256032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mdpr-text"/>
          <p:cNvSpPr txBox="1"/>
          <p:nvPr/>
        </p:nvSpPr>
        <p:spPr>
          <a:xfrm>
            <a:off x="6583680" y="2258568"/>
            <a:ext cx="1883664" cy="21945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00" b="1">
                <a:solidFill>
                  <a:srgbClr val="111827"/>
                </a:solidFill>
              </a:rPr>
              <a:t>axis-quadrant-map</a:t>
            </a:r>
          </a:p>
        </p:txBody>
      </p:sp>
      <p:sp>
        <p:nvSpPr>
          <p:cNvPr id="31" name="mdpr-surface atlas"/>
          <p:cNvSpPr/>
          <p:nvPr/>
        </p:nvSpPr>
        <p:spPr>
          <a:xfrm>
            <a:off x="9180576" y="1417320"/>
            <a:ext cx="2395728" cy="1225296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mdpr-decor"/>
          <p:cNvSpPr/>
          <p:nvPr/>
        </p:nvSpPr>
        <p:spPr>
          <a:xfrm>
            <a:off x="9592055" y="1892808"/>
            <a:ext cx="274320" cy="274320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mdpr-decor"/>
          <p:cNvSpPr/>
          <p:nvPr/>
        </p:nvSpPr>
        <p:spPr>
          <a:xfrm>
            <a:off x="9985248" y="2029968"/>
            <a:ext cx="1005840" cy="2743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mdpr-surface"/>
          <p:cNvSpPr/>
          <p:nvPr/>
        </p:nvSpPr>
        <p:spPr>
          <a:xfrm>
            <a:off x="10872215" y="1828800"/>
            <a:ext cx="438912" cy="40233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mdpr-text"/>
          <p:cNvSpPr txBox="1"/>
          <p:nvPr/>
        </p:nvSpPr>
        <p:spPr>
          <a:xfrm>
            <a:off x="9436607" y="2258568"/>
            <a:ext cx="1883664" cy="21945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00" b="1">
                <a:solidFill>
                  <a:srgbClr val="111827"/>
                </a:solidFill>
              </a:rPr>
              <a:t>vertical-timeline-cards</a:t>
            </a:r>
          </a:p>
        </p:txBody>
      </p:sp>
      <p:sp>
        <p:nvSpPr>
          <p:cNvPr id="36" name="mdpr-surface atlas"/>
          <p:cNvSpPr/>
          <p:nvPr/>
        </p:nvSpPr>
        <p:spPr>
          <a:xfrm>
            <a:off x="621792" y="2953512"/>
            <a:ext cx="2395728" cy="1225296"/>
          </a:xfrm>
          <a:prstGeom prst="roundRect">
            <a:avLst/>
          </a:prstGeom>
          <a:solidFill>
            <a:srgbClr val="F0FDF4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mdpr-decor"/>
          <p:cNvSpPr/>
          <p:nvPr/>
        </p:nvSpPr>
        <p:spPr>
          <a:xfrm>
            <a:off x="1536192" y="3264408"/>
            <a:ext cx="566928" cy="566928"/>
          </a:xfrm>
          <a:prstGeom prst="ellipse">
            <a:avLst/>
          </a:prstGeom>
          <a:solidFill>
            <a:srgbClr val="E11D48"/>
          </a:solidFill>
          <a:ln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mdpr-decor"/>
          <p:cNvSpPr/>
          <p:nvPr/>
        </p:nvSpPr>
        <p:spPr>
          <a:xfrm>
            <a:off x="1682496" y="3410712"/>
            <a:ext cx="292608" cy="292608"/>
          </a:xfrm>
          <a:prstGeom prst="ellipse">
            <a:avLst/>
          </a:prstGeom>
          <a:solidFill>
            <a:srgbClr val="F0FDF4"/>
          </a:solidFill>
          <a:ln>
            <a:solidFill>
              <a:srgbClr val="F0FD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mdpr-decor"/>
          <p:cNvSpPr/>
          <p:nvPr/>
        </p:nvSpPr>
        <p:spPr>
          <a:xfrm>
            <a:off x="2258568" y="3364991"/>
            <a:ext cx="512064" cy="18288"/>
          </a:xfrm>
          <a:prstGeom prst="rect">
            <a:avLst/>
          </a:prstGeom>
          <a:solidFill>
            <a:srgbClr val="E11D48"/>
          </a:solidFill>
          <a:ln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mdpr-decor"/>
          <p:cNvSpPr/>
          <p:nvPr/>
        </p:nvSpPr>
        <p:spPr>
          <a:xfrm>
            <a:off x="2258568" y="3730752"/>
            <a:ext cx="420624" cy="18288"/>
          </a:xfrm>
          <a:prstGeom prst="rect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mdpr-text"/>
          <p:cNvSpPr txBox="1"/>
          <p:nvPr/>
        </p:nvSpPr>
        <p:spPr>
          <a:xfrm>
            <a:off x="877824" y="3794760"/>
            <a:ext cx="1883664" cy="21945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00" b="1">
                <a:solidFill>
                  <a:srgbClr val="111827"/>
                </a:solidFill>
              </a:rPr>
              <a:t>donut-label-ring</a:t>
            </a:r>
          </a:p>
        </p:txBody>
      </p:sp>
      <p:sp>
        <p:nvSpPr>
          <p:cNvPr id="42" name="mdpr-surface atlas"/>
          <p:cNvSpPr/>
          <p:nvPr/>
        </p:nvSpPr>
        <p:spPr>
          <a:xfrm>
            <a:off x="3474720" y="2953512"/>
            <a:ext cx="2395728" cy="1225296"/>
          </a:xfrm>
          <a:prstGeom prst="roundRect">
            <a:avLst/>
          </a:prstGeom>
          <a:solidFill>
            <a:srgbClr val="F0FDF4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mdpr-decor"/>
          <p:cNvSpPr/>
          <p:nvPr/>
        </p:nvSpPr>
        <p:spPr>
          <a:xfrm>
            <a:off x="4343400" y="3246120"/>
            <a:ext cx="658368" cy="658368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mdpr-decor"/>
          <p:cNvSpPr/>
          <p:nvPr/>
        </p:nvSpPr>
        <p:spPr>
          <a:xfrm>
            <a:off x="4443984" y="3346704"/>
            <a:ext cx="457200" cy="457200"/>
          </a:xfrm>
          <a:prstGeom prst="ellipse">
            <a:avLst/>
          </a:prstGeom>
          <a:solidFill>
            <a:srgbClr val="F0FDF4"/>
          </a:solidFill>
          <a:ln>
            <a:solidFill>
              <a:srgbClr val="F0FD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mdpr-decor"/>
          <p:cNvSpPr/>
          <p:nvPr/>
        </p:nvSpPr>
        <p:spPr>
          <a:xfrm>
            <a:off x="4636008" y="3602736"/>
            <a:ext cx="384048" cy="27432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mdpr-text-in-decor"/>
          <p:cNvSpPr txBox="1"/>
          <p:nvPr/>
        </p:nvSpPr>
        <p:spPr>
          <a:xfrm>
            <a:off x="4462272" y="3493008"/>
            <a:ext cx="42062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6A34A"/>
                </a:solidFill>
              </a:rPr>
              <a:t>78</a:t>
            </a:r>
          </a:p>
        </p:txBody>
      </p:sp>
      <p:sp>
        <p:nvSpPr>
          <p:cNvPr id="47" name="mdpr-text"/>
          <p:cNvSpPr txBox="1"/>
          <p:nvPr/>
        </p:nvSpPr>
        <p:spPr>
          <a:xfrm>
            <a:off x="3730752" y="3794760"/>
            <a:ext cx="1883664" cy="21945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00" b="1">
                <a:solidFill>
                  <a:srgbClr val="111827"/>
                </a:solidFill>
              </a:rPr>
              <a:t>gauge-score-card</a:t>
            </a:r>
          </a:p>
        </p:txBody>
      </p:sp>
      <p:sp>
        <p:nvSpPr>
          <p:cNvPr id="48" name="mdpr-surface atlas"/>
          <p:cNvSpPr/>
          <p:nvPr/>
        </p:nvSpPr>
        <p:spPr>
          <a:xfrm>
            <a:off x="6327648" y="2953512"/>
            <a:ext cx="2395728" cy="1225296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mdpr-decor"/>
          <p:cNvSpPr/>
          <p:nvPr/>
        </p:nvSpPr>
        <p:spPr>
          <a:xfrm>
            <a:off x="6620256" y="3566160"/>
            <a:ext cx="1810512" cy="18288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mdpr-decor"/>
          <p:cNvSpPr/>
          <p:nvPr/>
        </p:nvSpPr>
        <p:spPr>
          <a:xfrm>
            <a:off x="7525512" y="3209544"/>
            <a:ext cx="18288" cy="512064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mdpr-surface"/>
          <p:cNvSpPr/>
          <p:nvPr/>
        </p:nvSpPr>
        <p:spPr>
          <a:xfrm>
            <a:off x="6711696" y="3300984"/>
            <a:ext cx="411480" cy="256032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mdpr-surface"/>
          <p:cNvSpPr/>
          <p:nvPr/>
        </p:nvSpPr>
        <p:spPr>
          <a:xfrm>
            <a:off x="7900416" y="3300984"/>
            <a:ext cx="411480" cy="256032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mdpr-surface"/>
          <p:cNvSpPr/>
          <p:nvPr/>
        </p:nvSpPr>
        <p:spPr>
          <a:xfrm>
            <a:off x="6711696" y="3520440"/>
            <a:ext cx="411480" cy="256032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mdpr-surface"/>
          <p:cNvSpPr/>
          <p:nvPr/>
        </p:nvSpPr>
        <p:spPr>
          <a:xfrm>
            <a:off x="7900416" y="3520440"/>
            <a:ext cx="411480" cy="256032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mdpr-text"/>
          <p:cNvSpPr txBox="1"/>
          <p:nvPr/>
        </p:nvSpPr>
        <p:spPr>
          <a:xfrm>
            <a:off x="6583680" y="3794760"/>
            <a:ext cx="1883664" cy="21945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00" b="1">
                <a:solidFill>
                  <a:srgbClr val="111827"/>
                </a:solidFill>
              </a:rPr>
              <a:t>risk-heat-grid</a:t>
            </a:r>
          </a:p>
        </p:txBody>
      </p:sp>
      <p:sp>
        <p:nvSpPr>
          <p:cNvPr id="56" name="mdpr-surface atlas"/>
          <p:cNvSpPr/>
          <p:nvPr/>
        </p:nvSpPr>
        <p:spPr>
          <a:xfrm>
            <a:off x="9180576" y="2953512"/>
            <a:ext cx="2395728" cy="1225296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mdpr-decor"/>
          <p:cNvSpPr/>
          <p:nvPr/>
        </p:nvSpPr>
        <p:spPr>
          <a:xfrm>
            <a:off x="9500615" y="3282696"/>
            <a:ext cx="1755648" cy="13716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mdpr-decor"/>
          <p:cNvSpPr/>
          <p:nvPr/>
        </p:nvSpPr>
        <p:spPr>
          <a:xfrm>
            <a:off x="9500615" y="3447288"/>
            <a:ext cx="1755648" cy="13716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mdpr-decor"/>
          <p:cNvSpPr/>
          <p:nvPr/>
        </p:nvSpPr>
        <p:spPr>
          <a:xfrm>
            <a:off x="9500615" y="3611879"/>
            <a:ext cx="1755648" cy="13716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mdpr-decor"/>
          <p:cNvSpPr/>
          <p:nvPr/>
        </p:nvSpPr>
        <p:spPr>
          <a:xfrm>
            <a:off x="9500615" y="3776472"/>
            <a:ext cx="1755648" cy="13716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mdpr-decor"/>
          <p:cNvSpPr/>
          <p:nvPr/>
        </p:nvSpPr>
        <p:spPr>
          <a:xfrm>
            <a:off x="9729215" y="3209544"/>
            <a:ext cx="13716" cy="658368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mdpr-decor"/>
          <p:cNvSpPr/>
          <p:nvPr/>
        </p:nvSpPr>
        <p:spPr>
          <a:xfrm>
            <a:off x="10232136" y="3209544"/>
            <a:ext cx="13716" cy="658368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mdpr-decor"/>
          <p:cNvSpPr/>
          <p:nvPr/>
        </p:nvSpPr>
        <p:spPr>
          <a:xfrm>
            <a:off x="10735055" y="3209544"/>
            <a:ext cx="13716" cy="658368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mdpr-decor"/>
          <p:cNvSpPr/>
          <p:nvPr/>
        </p:nvSpPr>
        <p:spPr>
          <a:xfrm>
            <a:off x="9619488" y="3392424"/>
            <a:ext cx="118872" cy="118872"/>
          </a:xfrm>
          <a:prstGeom prst="ellipse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mdpr-decor"/>
          <p:cNvSpPr/>
          <p:nvPr/>
        </p:nvSpPr>
        <p:spPr>
          <a:xfrm>
            <a:off x="9619488" y="3575304"/>
            <a:ext cx="118872" cy="118872"/>
          </a:xfrm>
          <a:prstGeom prst="ellipse">
            <a:avLst/>
          </a:prstGeom>
          <a:solidFill>
            <a:srgbClr val="E11D48"/>
          </a:solidFill>
          <a:ln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mdpr-text"/>
          <p:cNvSpPr txBox="1"/>
          <p:nvPr/>
        </p:nvSpPr>
        <p:spPr>
          <a:xfrm>
            <a:off x="9436607" y="3794760"/>
            <a:ext cx="1883664" cy="21945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00" b="1">
                <a:solidFill>
                  <a:srgbClr val="111827"/>
                </a:solidFill>
              </a:rPr>
              <a:t>status-dot-table</a:t>
            </a:r>
          </a:p>
        </p:txBody>
      </p:sp>
      <p:sp>
        <p:nvSpPr>
          <p:cNvPr id="67" name="mdpr-surface atlas"/>
          <p:cNvSpPr/>
          <p:nvPr/>
        </p:nvSpPr>
        <p:spPr>
          <a:xfrm>
            <a:off x="621792" y="4489704"/>
            <a:ext cx="2395728" cy="1225296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mdpr-surface"/>
          <p:cNvSpPr/>
          <p:nvPr/>
        </p:nvSpPr>
        <p:spPr>
          <a:xfrm>
            <a:off x="941832" y="4837176"/>
            <a:ext cx="868680" cy="804672"/>
          </a:xfrm>
          <a:prstGeom prst="rect">
            <a:avLst/>
          </a:prstGeom>
          <a:solidFill>
            <a:srgbClr val="DBEAFE"/>
          </a:solidFill>
          <a:ln w="1016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mdpr-surface"/>
          <p:cNvSpPr/>
          <p:nvPr/>
        </p:nvSpPr>
        <p:spPr>
          <a:xfrm>
            <a:off x="1947672" y="4965192"/>
            <a:ext cx="822960" cy="201168"/>
          </a:xfrm>
          <a:prstGeom prst="roundRect">
            <a:avLst/>
          </a:prstGeom>
          <a:solidFill>
            <a:srgbClr val="C2410C"/>
          </a:solidFill>
          <a:ln w="1016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mdpr-decor"/>
          <p:cNvSpPr/>
          <p:nvPr/>
        </p:nvSpPr>
        <p:spPr>
          <a:xfrm>
            <a:off x="1947672" y="5312664"/>
            <a:ext cx="868680" cy="27432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mdpr-text"/>
          <p:cNvSpPr txBox="1"/>
          <p:nvPr/>
        </p:nvSpPr>
        <p:spPr>
          <a:xfrm>
            <a:off x="877824" y="5330952"/>
            <a:ext cx="1883664" cy="21945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00" b="1">
                <a:solidFill>
                  <a:srgbClr val="111827"/>
                </a:solidFill>
              </a:rPr>
              <a:t>image-caption-split</a:t>
            </a:r>
          </a:p>
        </p:txBody>
      </p:sp>
      <p:sp>
        <p:nvSpPr>
          <p:cNvPr id="72" name="mdpr-surface atlas"/>
          <p:cNvSpPr/>
          <p:nvPr/>
        </p:nvSpPr>
        <p:spPr>
          <a:xfrm>
            <a:off x="3474720" y="4489704"/>
            <a:ext cx="2395728" cy="1225296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mdpr-surface"/>
          <p:cNvSpPr/>
          <p:nvPr/>
        </p:nvSpPr>
        <p:spPr>
          <a:xfrm>
            <a:off x="3794760" y="4837176"/>
            <a:ext cx="868680" cy="804672"/>
          </a:xfrm>
          <a:prstGeom prst="rect">
            <a:avLst/>
          </a:prstGeom>
          <a:solidFill>
            <a:srgbClr val="DBEAFE"/>
          </a:solidFill>
          <a:ln w="1016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mdpr-surface"/>
          <p:cNvSpPr/>
          <p:nvPr/>
        </p:nvSpPr>
        <p:spPr>
          <a:xfrm>
            <a:off x="4800600" y="4965192"/>
            <a:ext cx="822960" cy="201168"/>
          </a:xfrm>
          <a:prstGeom prst="roundRect">
            <a:avLst/>
          </a:prstGeom>
          <a:solidFill>
            <a:srgbClr val="7C3AED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mdpr-decor"/>
          <p:cNvSpPr/>
          <p:nvPr/>
        </p:nvSpPr>
        <p:spPr>
          <a:xfrm>
            <a:off x="4800600" y="5312664"/>
            <a:ext cx="868680" cy="27432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mdpr-text"/>
          <p:cNvSpPr txBox="1"/>
          <p:nvPr/>
        </p:nvSpPr>
        <p:spPr>
          <a:xfrm>
            <a:off x="3730752" y="5330952"/>
            <a:ext cx="1883664" cy="21945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00" b="1">
                <a:solidFill>
                  <a:srgbClr val="111827"/>
                </a:solidFill>
              </a:rPr>
              <a:t>pictorial-anchor-labels</a:t>
            </a:r>
          </a:p>
        </p:txBody>
      </p:sp>
      <p:sp>
        <p:nvSpPr>
          <p:cNvPr id="77" name="mdpr-surface atlas"/>
          <p:cNvSpPr/>
          <p:nvPr/>
        </p:nvSpPr>
        <p:spPr>
          <a:xfrm>
            <a:off x="6327648" y="4489704"/>
            <a:ext cx="2395728" cy="1225296"/>
          </a:xfrm>
          <a:prstGeom prst="roundRect">
            <a:avLst/>
          </a:prstGeom>
          <a:solidFill>
            <a:srgbClr val="FFF7ED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mdpr-surface"/>
          <p:cNvSpPr/>
          <p:nvPr/>
        </p:nvSpPr>
        <p:spPr>
          <a:xfrm>
            <a:off x="6986016" y="4873752"/>
            <a:ext cx="914400" cy="457200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mdpr-surface"/>
          <p:cNvSpPr/>
          <p:nvPr/>
        </p:nvSpPr>
        <p:spPr>
          <a:xfrm>
            <a:off x="6858000" y="4782312"/>
            <a:ext cx="914400" cy="457200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mdpr-decor"/>
          <p:cNvSpPr/>
          <p:nvPr/>
        </p:nvSpPr>
        <p:spPr>
          <a:xfrm>
            <a:off x="6986016" y="5020056"/>
            <a:ext cx="530352" cy="18288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mdpr-text"/>
          <p:cNvSpPr txBox="1"/>
          <p:nvPr/>
        </p:nvSpPr>
        <p:spPr>
          <a:xfrm>
            <a:off x="6583680" y="5330952"/>
            <a:ext cx="1883664" cy="21945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00" b="1">
                <a:solidFill>
                  <a:srgbClr val="111827"/>
                </a:solidFill>
              </a:rPr>
              <a:t>stacked-paper-cards</a:t>
            </a:r>
          </a:p>
        </p:txBody>
      </p:sp>
      <p:sp>
        <p:nvSpPr>
          <p:cNvPr id="82" name="mdpr-surface atlas"/>
          <p:cNvSpPr/>
          <p:nvPr/>
        </p:nvSpPr>
        <p:spPr>
          <a:xfrm>
            <a:off x="9180576" y="4489704"/>
            <a:ext cx="2395728" cy="122529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mdpr-surface"/>
          <p:cNvSpPr/>
          <p:nvPr/>
        </p:nvSpPr>
        <p:spPr>
          <a:xfrm>
            <a:off x="9546336" y="4928616"/>
            <a:ext cx="502920" cy="256032"/>
          </a:xfrm>
          <a:prstGeom prst="roundRect">
            <a:avLst/>
          </a:prstGeom>
          <a:solidFill>
            <a:srgbClr val="16A34A"/>
          </a:solidFill>
          <a:ln w="1016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mdpr-surface"/>
          <p:cNvSpPr/>
          <p:nvPr/>
        </p:nvSpPr>
        <p:spPr>
          <a:xfrm>
            <a:off x="10369296" y="4928616"/>
            <a:ext cx="658368" cy="256032"/>
          </a:xfrm>
          <a:prstGeom prst="roundRect">
            <a:avLst/>
          </a:prstGeom>
          <a:solidFill>
            <a:srgbClr val="CBD5E1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mdpr-surface"/>
          <p:cNvSpPr/>
          <p:nvPr/>
        </p:nvSpPr>
        <p:spPr>
          <a:xfrm>
            <a:off x="9546336" y="5312664"/>
            <a:ext cx="438912" cy="256032"/>
          </a:xfrm>
          <a:prstGeom prst="roundRect">
            <a:avLst/>
          </a:prstGeom>
          <a:solidFill>
            <a:srgbClr val="16A34A"/>
          </a:solidFill>
          <a:ln w="1016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mdpr-surface"/>
          <p:cNvSpPr/>
          <p:nvPr/>
        </p:nvSpPr>
        <p:spPr>
          <a:xfrm>
            <a:off x="10369296" y="5312664"/>
            <a:ext cx="786384" cy="256032"/>
          </a:xfrm>
          <a:prstGeom prst="roundRect">
            <a:avLst/>
          </a:prstGeom>
          <a:solidFill>
            <a:srgbClr val="CBD5E1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mdpr-text"/>
          <p:cNvSpPr txBox="1"/>
          <p:nvPr/>
        </p:nvSpPr>
        <p:spPr>
          <a:xfrm>
            <a:off x="9436607" y="5330952"/>
            <a:ext cx="1883664" cy="21945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00" b="1">
                <a:solidFill>
                  <a:srgbClr val="111827"/>
                </a:solidFill>
              </a:rPr>
              <a:t>tag-cloud-strip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dpr-text"/>
          <p:cNvSpPr txBox="1"/>
          <p:nvPr/>
        </p:nvSpPr>
        <p:spPr>
          <a:xfrm>
            <a:off x="502920" y="310896"/>
            <a:ext cx="7955279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2400" b="1">
                <a:solidFill>
                  <a:srgbClr val="111827"/>
                </a:solidFill>
              </a:rPr>
              <a:t>Layout Diversity Review</a:t>
            </a:r>
          </a:p>
        </p:txBody>
      </p:sp>
      <p:sp>
        <p:nvSpPr>
          <p:cNvPr id="3" name="mdpr-text"/>
          <p:cNvSpPr txBox="1"/>
          <p:nvPr/>
        </p:nvSpPr>
        <p:spPr>
          <a:xfrm>
            <a:off x="521207" y="768096"/>
            <a:ext cx="10241280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</a:rPr>
              <a:t>The review deck exercises non-card layouts: timeline, split comparison, data proof, and editorial image framing.</a:t>
            </a:r>
          </a:p>
        </p:txBody>
      </p:sp>
      <p:sp>
        <p:nvSpPr>
          <p:cNvPr id="4" name="mdpr-decor"/>
          <p:cNvSpPr/>
          <p:nvPr/>
        </p:nvSpPr>
        <p:spPr>
          <a:xfrm>
            <a:off x="530352" y="1097280"/>
            <a:ext cx="1280160" cy="32004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mdpr-text"/>
          <p:cNvSpPr txBox="1"/>
          <p:nvPr/>
        </p:nvSpPr>
        <p:spPr>
          <a:xfrm>
            <a:off x="685800" y="1325880"/>
            <a:ext cx="1920240" cy="25603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</a:rPr>
              <a:t>Sequence rail</a:t>
            </a:r>
          </a:p>
        </p:txBody>
      </p:sp>
      <p:sp>
        <p:nvSpPr>
          <p:cNvPr id="6" name="mdpr-decor"/>
          <p:cNvSpPr/>
          <p:nvPr/>
        </p:nvSpPr>
        <p:spPr>
          <a:xfrm>
            <a:off x="777240" y="1956816"/>
            <a:ext cx="4709160" cy="32004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mdpr-decor"/>
          <p:cNvSpPr/>
          <p:nvPr/>
        </p:nvSpPr>
        <p:spPr>
          <a:xfrm>
            <a:off x="822960" y="1847088"/>
            <a:ext cx="256032" cy="256032"/>
          </a:xfrm>
          <a:prstGeom prst="ellipse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mdpr-text"/>
          <p:cNvSpPr txBox="1"/>
          <p:nvPr/>
        </p:nvSpPr>
        <p:spPr>
          <a:xfrm>
            <a:off x="548640" y="2157984"/>
            <a:ext cx="822960" cy="25603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00" b="1">
                <a:solidFill>
                  <a:srgbClr val="111827"/>
                </a:solidFill>
              </a:rPr>
              <a:t>Parse</a:t>
            </a:r>
          </a:p>
        </p:txBody>
      </p:sp>
      <p:sp>
        <p:nvSpPr>
          <p:cNvPr id="9" name="mdpr-decor"/>
          <p:cNvSpPr/>
          <p:nvPr/>
        </p:nvSpPr>
        <p:spPr>
          <a:xfrm>
            <a:off x="2377440" y="1847088"/>
            <a:ext cx="256032" cy="256032"/>
          </a:xfrm>
          <a:prstGeom prst="ellipse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mdpr-text"/>
          <p:cNvSpPr txBox="1"/>
          <p:nvPr/>
        </p:nvSpPr>
        <p:spPr>
          <a:xfrm>
            <a:off x="2103120" y="2157984"/>
            <a:ext cx="822960" cy="25603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00" b="1">
                <a:solidFill>
                  <a:srgbClr val="111827"/>
                </a:solidFill>
              </a:rPr>
              <a:t>Plan</a:t>
            </a:r>
          </a:p>
        </p:txBody>
      </p:sp>
      <p:sp>
        <p:nvSpPr>
          <p:cNvPr id="11" name="mdpr-decor"/>
          <p:cNvSpPr/>
          <p:nvPr/>
        </p:nvSpPr>
        <p:spPr>
          <a:xfrm>
            <a:off x="3931920" y="1847088"/>
            <a:ext cx="256032" cy="256032"/>
          </a:xfrm>
          <a:prstGeom prst="ellipse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mdpr-text"/>
          <p:cNvSpPr txBox="1"/>
          <p:nvPr/>
        </p:nvSpPr>
        <p:spPr>
          <a:xfrm>
            <a:off x="3657600" y="2157984"/>
            <a:ext cx="822960" cy="25603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00" b="1">
                <a:solidFill>
                  <a:srgbClr val="111827"/>
                </a:solidFill>
              </a:rPr>
              <a:t>Render</a:t>
            </a:r>
          </a:p>
        </p:txBody>
      </p:sp>
      <p:sp>
        <p:nvSpPr>
          <p:cNvPr id="13" name="mdpr-decor"/>
          <p:cNvSpPr/>
          <p:nvPr/>
        </p:nvSpPr>
        <p:spPr>
          <a:xfrm>
            <a:off x="5486400" y="1847088"/>
            <a:ext cx="256032" cy="256032"/>
          </a:xfrm>
          <a:prstGeom prst="ellipse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mdpr-text"/>
          <p:cNvSpPr txBox="1"/>
          <p:nvPr/>
        </p:nvSpPr>
        <p:spPr>
          <a:xfrm>
            <a:off x="5212080" y="2157984"/>
            <a:ext cx="822960" cy="25603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00" b="1">
                <a:solidFill>
                  <a:srgbClr val="111827"/>
                </a:solidFill>
              </a:rPr>
              <a:t>Review</a:t>
            </a:r>
          </a:p>
        </p:txBody>
      </p:sp>
      <p:sp>
        <p:nvSpPr>
          <p:cNvPr id="15" name="mdpr-text"/>
          <p:cNvSpPr txBox="1"/>
          <p:nvPr/>
        </p:nvSpPr>
        <p:spPr>
          <a:xfrm>
            <a:off x="6080760" y="1325880"/>
            <a:ext cx="2194560" cy="25603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</a:rPr>
              <a:t>Split comparison</a:t>
            </a:r>
          </a:p>
        </p:txBody>
      </p:sp>
      <p:sp>
        <p:nvSpPr>
          <p:cNvPr id="16" name="mdpr-surface layout-comparison"/>
          <p:cNvSpPr/>
          <p:nvPr/>
        </p:nvSpPr>
        <p:spPr>
          <a:xfrm>
            <a:off x="6080760" y="1719072"/>
            <a:ext cx="2331720" cy="1005840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mdpr-surface layout-comparison"/>
          <p:cNvSpPr/>
          <p:nvPr/>
        </p:nvSpPr>
        <p:spPr>
          <a:xfrm>
            <a:off x="8549640" y="1719072"/>
            <a:ext cx="2331720" cy="1005840"/>
          </a:xfrm>
          <a:prstGeom prst="roundRect">
            <a:avLst/>
          </a:prstGeom>
          <a:solidFill>
            <a:srgbClr val="FFF7ED"/>
          </a:solidFill>
          <a:ln w="10160">
            <a:solidFill>
              <a:srgbClr val="FED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mdpr-text"/>
          <p:cNvSpPr txBox="1"/>
          <p:nvPr/>
        </p:nvSpPr>
        <p:spPr>
          <a:xfrm>
            <a:off x="6309360" y="1874519"/>
            <a:ext cx="1874519" cy="43891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300" b="1">
                <a:solidFill>
                  <a:srgbClr val="065F46"/>
                </a:solidFill>
              </a:rPr>
              <a:t>Rule base
owns geometry</a:t>
            </a:r>
          </a:p>
        </p:txBody>
      </p:sp>
      <p:sp>
        <p:nvSpPr>
          <p:cNvPr id="19" name="mdpr-text"/>
          <p:cNvSpPr txBox="1"/>
          <p:nvPr/>
        </p:nvSpPr>
        <p:spPr>
          <a:xfrm>
            <a:off x="8778240" y="1874519"/>
            <a:ext cx="1874519" cy="43891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300" b="1">
                <a:solidFill>
                  <a:srgbClr val="9A3412"/>
                </a:solidFill>
              </a:rPr>
              <a:t>LLM hint
adds intent</a:t>
            </a:r>
          </a:p>
        </p:txBody>
      </p:sp>
      <p:sp>
        <p:nvSpPr>
          <p:cNvPr id="20" name="mdpr-text"/>
          <p:cNvSpPr txBox="1"/>
          <p:nvPr/>
        </p:nvSpPr>
        <p:spPr>
          <a:xfrm>
            <a:off x="685800" y="3154680"/>
            <a:ext cx="2194560" cy="25603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</a:rPr>
              <a:t>Data proof</a:t>
            </a:r>
          </a:p>
        </p:txBody>
      </p:sp>
      <p:sp>
        <p:nvSpPr>
          <p:cNvPr id="21" name="mdpr-surface data-proof"/>
          <p:cNvSpPr/>
          <p:nvPr/>
        </p:nvSpPr>
        <p:spPr>
          <a:xfrm>
            <a:off x="685800" y="3520440"/>
            <a:ext cx="4800600" cy="17373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mdpr-decor bar"/>
          <p:cNvSpPr/>
          <p:nvPr/>
        </p:nvSpPr>
        <p:spPr>
          <a:xfrm>
            <a:off x="1005840" y="4297680"/>
            <a:ext cx="292608" cy="41148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mdpr-decor bar"/>
          <p:cNvSpPr/>
          <p:nvPr/>
        </p:nvSpPr>
        <p:spPr>
          <a:xfrm>
            <a:off x="1554480" y="3959352"/>
            <a:ext cx="292608" cy="749808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mdpr-decor bar"/>
          <p:cNvSpPr/>
          <p:nvPr/>
        </p:nvSpPr>
        <p:spPr>
          <a:xfrm>
            <a:off x="2103120" y="4142232"/>
            <a:ext cx="292608" cy="566928"/>
          </a:xfrm>
          <a:prstGeom prst="rect">
            <a:avLst/>
          </a:prstGeom>
          <a:solidFill>
            <a:srgbClr val="E11D48"/>
          </a:solidFill>
          <a:ln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mdpr-decor bar"/>
          <p:cNvSpPr/>
          <p:nvPr/>
        </p:nvSpPr>
        <p:spPr>
          <a:xfrm>
            <a:off x="2651760" y="3721608"/>
            <a:ext cx="292608" cy="98755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mdpr-text"/>
          <p:cNvSpPr txBox="1"/>
          <p:nvPr/>
        </p:nvSpPr>
        <p:spPr>
          <a:xfrm>
            <a:off x="3429000" y="3675887"/>
            <a:ext cx="1645920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2000" b="1">
                <a:solidFill>
                  <a:srgbClr val="0F766E"/>
                </a:solidFill>
              </a:rPr>
              <a:t>98 slides</a:t>
            </a:r>
          </a:p>
        </p:txBody>
      </p:sp>
      <p:sp>
        <p:nvSpPr>
          <p:cNvPr id="27" name="mdpr-text"/>
          <p:cNvSpPr txBox="1"/>
          <p:nvPr/>
        </p:nvSpPr>
        <p:spPr>
          <a:xfrm>
            <a:off x="3429000" y="4078224"/>
            <a:ext cx="1691640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>
                <a:solidFill>
                  <a:srgbClr val="475569"/>
                </a:solidFill>
              </a:rPr>
              <a:t>exported through PowerPoint before review</a:t>
            </a:r>
          </a:p>
        </p:txBody>
      </p:sp>
      <p:sp>
        <p:nvSpPr>
          <p:cNvPr id="28" name="mdpr-decor"/>
          <p:cNvSpPr/>
          <p:nvPr/>
        </p:nvSpPr>
        <p:spPr>
          <a:xfrm>
            <a:off x="3429000" y="4754880"/>
            <a:ext cx="1554480" cy="22860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mdpr-text"/>
          <p:cNvSpPr txBox="1"/>
          <p:nvPr/>
        </p:nvSpPr>
        <p:spPr>
          <a:xfrm>
            <a:off x="6080760" y="3154680"/>
            <a:ext cx="2468880" cy="25603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</a:rPr>
              <a:t>Editorial frame</a:t>
            </a:r>
          </a:p>
        </p:txBody>
      </p:sp>
      <p:sp>
        <p:nvSpPr>
          <p:cNvPr id="30" name="mdpr-surface image-frame"/>
          <p:cNvSpPr/>
          <p:nvPr/>
        </p:nvSpPr>
        <p:spPr>
          <a:xfrm>
            <a:off x="6080760" y="3520440"/>
            <a:ext cx="1920240" cy="1737360"/>
          </a:xfrm>
          <a:prstGeom prst="rect">
            <a:avLst/>
          </a:prstGeom>
          <a:solidFill>
            <a:srgbClr val="DBEAFE"/>
          </a:solidFill>
          <a:ln w="1016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mdpr-surface caption-card"/>
          <p:cNvSpPr/>
          <p:nvPr/>
        </p:nvSpPr>
        <p:spPr>
          <a:xfrm>
            <a:off x="8183879" y="3749039"/>
            <a:ext cx="2697480" cy="12801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mdpr-text"/>
          <p:cNvSpPr txBox="1"/>
          <p:nvPr/>
        </p:nvSpPr>
        <p:spPr>
          <a:xfrm>
            <a:off x="8430768" y="3950208"/>
            <a:ext cx="2148840" cy="5029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200" b="1">
                <a:solidFill>
                  <a:srgbClr val="111827"/>
                </a:solidFill>
              </a:rPr>
              <a:t>Image-aware layouts keep caption and proof text in separate regions.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dpr-text"/>
          <p:cNvSpPr txBox="1"/>
          <p:nvPr/>
        </p:nvSpPr>
        <p:spPr>
          <a:xfrm>
            <a:off x="502920" y="310896"/>
            <a:ext cx="7955279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2400" b="1">
                <a:solidFill>
                  <a:srgbClr val="111827"/>
                </a:solidFill>
              </a:rPr>
              <a:t>Connected Process Layout</a:t>
            </a:r>
          </a:p>
        </p:txBody>
      </p:sp>
      <p:sp>
        <p:nvSpPr>
          <p:cNvPr id="3" name="mdpr-text"/>
          <p:cNvSpPr txBox="1"/>
          <p:nvPr/>
        </p:nvSpPr>
        <p:spPr>
          <a:xfrm>
            <a:off x="521207" y="768096"/>
            <a:ext cx="10241280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</a:rPr>
              <a:t>Arrows connect aligned parent regions; inner labels remain centered inside their own marker shapes.</a:t>
            </a:r>
          </a:p>
        </p:txBody>
      </p:sp>
      <p:sp>
        <p:nvSpPr>
          <p:cNvPr id="4" name="mdpr-decor"/>
          <p:cNvSpPr/>
          <p:nvPr/>
        </p:nvSpPr>
        <p:spPr>
          <a:xfrm>
            <a:off x="530352" y="1097280"/>
            <a:ext cx="1280160" cy="32004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mdpr-surface process"/>
          <p:cNvSpPr/>
          <p:nvPr/>
        </p:nvSpPr>
        <p:spPr>
          <a:xfrm>
            <a:off x="713232" y="2011680"/>
            <a:ext cx="2057400" cy="1508760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mdpr-decor centered-marker"/>
          <p:cNvSpPr/>
          <p:nvPr/>
        </p:nvSpPr>
        <p:spPr>
          <a:xfrm>
            <a:off x="923544" y="2487168"/>
            <a:ext cx="457200" cy="457200"/>
          </a:xfrm>
          <a:prstGeom prst="ellipse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mdpr-text-in-decor"/>
          <p:cNvSpPr txBox="1"/>
          <p:nvPr/>
        </p:nvSpPr>
        <p:spPr>
          <a:xfrm>
            <a:off x="923544" y="248716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8" name="mdpr-text"/>
          <p:cNvSpPr txBox="1"/>
          <p:nvPr/>
        </p:nvSpPr>
        <p:spPr>
          <a:xfrm>
            <a:off x="1490472" y="2331720"/>
            <a:ext cx="1463040" cy="71323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500" b="1">
                <a:solidFill>
                  <a:srgbClr val="111827"/>
                </a:solidFill>
              </a:rPr>
              <a:t>Markdown
semantics</a:t>
            </a:r>
          </a:p>
        </p:txBody>
      </p:sp>
      <p:sp>
        <p:nvSpPr>
          <p:cNvPr id="9" name="mdpr-arrow"/>
          <p:cNvSpPr/>
          <p:nvPr/>
        </p:nvSpPr>
        <p:spPr>
          <a:xfrm>
            <a:off x="2889504" y="2587752"/>
            <a:ext cx="402336" cy="237744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mdpr-surface process"/>
          <p:cNvSpPr/>
          <p:nvPr/>
        </p:nvSpPr>
        <p:spPr>
          <a:xfrm>
            <a:off x="3502152" y="2011680"/>
            <a:ext cx="2057400" cy="1508760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mdpr-decor centered-marker"/>
          <p:cNvSpPr/>
          <p:nvPr/>
        </p:nvSpPr>
        <p:spPr>
          <a:xfrm>
            <a:off x="3712464" y="2487168"/>
            <a:ext cx="457200" cy="457200"/>
          </a:xfrm>
          <a:prstGeom prst="ellipse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mdpr-text-in-decor"/>
          <p:cNvSpPr txBox="1"/>
          <p:nvPr/>
        </p:nvSpPr>
        <p:spPr>
          <a:xfrm>
            <a:off x="3712464" y="248716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13" name="mdpr-text"/>
          <p:cNvSpPr txBox="1"/>
          <p:nvPr/>
        </p:nvSpPr>
        <p:spPr>
          <a:xfrm>
            <a:off x="4279392" y="2331720"/>
            <a:ext cx="1463040" cy="71323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500" b="1">
                <a:solidFill>
                  <a:srgbClr val="111827"/>
                </a:solidFill>
              </a:rPr>
              <a:t>Rule-based
layout</a:t>
            </a:r>
          </a:p>
        </p:txBody>
      </p:sp>
      <p:sp>
        <p:nvSpPr>
          <p:cNvPr id="14" name="mdpr-arrow"/>
          <p:cNvSpPr/>
          <p:nvPr/>
        </p:nvSpPr>
        <p:spPr>
          <a:xfrm>
            <a:off x="5678424" y="2587752"/>
            <a:ext cx="402336" cy="237744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mdpr-surface process"/>
          <p:cNvSpPr/>
          <p:nvPr/>
        </p:nvSpPr>
        <p:spPr>
          <a:xfrm>
            <a:off x="6291072" y="2011680"/>
            <a:ext cx="2057400" cy="1508760"/>
          </a:xfrm>
          <a:prstGeom prst="roundRect">
            <a:avLst/>
          </a:prstGeom>
          <a:solidFill>
            <a:srgbClr val="FFF7ED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mdpr-decor centered-marker"/>
          <p:cNvSpPr/>
          <p:nvPr/>
        </p:nvSpPr>
        <p:spPr>
          <a:xfrm>
            <a:off x="6501384" y="2487168"/>
            <a:ext cx="457200" cy="457200"/>
          </a:xfrm>
          <a:prstGeom prst="ellipse">
            <a:avLst/>
          </a:prstGeom>
          <a:solidFill>
            <a:srgbClr val="C2410C"/>
          </a:solidFill>
          <a:ln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mdpr-text-in-decor"/>
          <p:cNvSpPr txBox="1"/>
          <p:nvPr/>
        </p:nvSpPr>
        <p:spPr>
          <a:xfrm>
            <a:off x="6501384" y="248716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8" name="mdpr-text"/>
          <p:cNvSpPr txBox="1"/>
          <p:nvPr/>
        </p:nvSpPr>
        <p:spPr>
          <a:xfrm>
            <a:off x="7068312" y="2331720"/>
            <a:ext cx="1463040" cy="71323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500" b="1">
                <a:solidFill>
                  <a:srgbClr val="111827"/>
                </a:solidFill>
              </a:rPr>
              <a:t>Editable
PPT objects</a:t>
            </a:r>
          </a:p>
        </p:txBody>
      </p:sp>
      <p:sp>
        <p:nvSpPr>
          <p:cNvPr id="19" name="mdpr-arrow"/>
          <p:cNvSpPr/>
          <p:nvPr/>
        </p:nvSpPr>
        <p:spPr>
          <a:xfrm>
            <a:off x="8467344" y="2587752"/>
            <a:ext cx="402336" cy="237744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mdpr-surface process"/>
          <p:cNvSpPr/>
          <p:nvPr/>
        </p:nvSpPr>
        <p:spPr>
          <a:xfrm>
            <a:off x="9079991" y="2011680"/>
            <a:ext cx="2057400" cy="1508760"/>
          </a:xfrm>
          <a:prstGeom prst="roundRect">
            <a:avLst/>
          </a:prstGeom>
          <a:solidFill>
            <a:srgbClr val="F5F3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mdpr-decor centered-marker"/>
          <p:cNvSpPr/>
          <p:nvPr/>
        </p:nvSpPr>
        <p:spPr>
          <a:xfrm>
            <a:off x="9290303" y="2487168"/>
            <a:ext cx="457200" cy="457200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mdpr-text-in-decor"/>
          <p:cNvSpPr txBox="1"/>
          <p:nvPr/>
        </p:nvSpPr>
        <p:spPr>
          <a:xfrm>
            <a:off x="9290303" y="248716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D</a:t>
            </a:r>
          </a:p>
        </p:txBody>
      </p:sp>
      <p:sp>
        <p:nvSpPr>
          <p:cNvPr id="23" name="mdpr-text"/>
          <p:cNvSpPr txBox="1"/>
          <p:nvPr/>
        </p:nvSpPr>
        <p:spPr>
          <a:xfrm>
            <a:off x="9857231" y="2331720"/>
            <a:ext cx="1463040" cy="71323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500" b="1">
                <a:solidFill>
                  <a:srgbClr val="111827"/>
                </a:solidFill>
              </a:rPr>
              <a:t>Visual
validation</a:t>
            </a:r>
          </a:p>
        </p:txBody>
      </p:sp>
      <p:sp>
        <p:nvSpPr>
          <p:cNvPr id="24" name="mdpr-surface note"/>
          <p:cNvSpPr/>
          <p:nvPr/>
        </p:nvSpPr>
        <p:spPr>
          <a:xfrm>
            <a:off x="1143000" y="4617720"/>
            <a:ext cx="9646920" cy="658368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mdpr-text"/>
          <p:cNvSpPr txBox="1"/>
          <p:nvPr/>
        </p:nvSpPr>
        <p:spPr>
          <a:xfrm>
            <a:off x="1417320" y="4736592"/>
            <a:ext cx="9052560" cy="31089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300" b="1">
                <a:solidFill>
                  <a:srgbClr val="475569"/>
                </a:solidFill>
              </a:rPr>
              <a:t>Validation target: markers and labels share vertical centers; arrows touch parent-region edges without crossing text.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dpr-text"/>
          <p:cNvSpPr txBox="1"/>
          <p:nvPr/>
        </p:nvSpPr>
        <p:spPr>
          <a:xfrm>
            <a:off x="502920" y="310896"/>
            <a:ext cx="7955279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2400" b="1">
                <a:solidFill>
                  <a:srgbClr val="111827"/>
                </a:solidFill>
              </a:rPr>
              <a:t>Mixed Object Stress Layout</a:t>
            </a:r>
          </a:p>
        </p:txBody>
      </p:sp>
      <p:sp>
        <p:nvSpPr>
          <p:cNvPr id="3" name="mdpr-text"/>
          <p:cNvSpPr txBox="1"/>
          <p:nvPr/>
        </p:nvSpPr>
        <p:spPr>
          <a:xfrm>
            <a:off x="521207" y="768096"/>
            <a:ext cx="10241280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</a:rPr>
              <a:t>Tables, metrics, chart-like marks, icon markers, and callouts are composed without forcing empty-space filler.</a:t>
            </a:r>
          </a:p>
        </p:txBody>
      </p:sp>
      <p:sp>
        <p:nvSpPr>
          <p:cNvPr id="4" name="mdpr-decor"/>
          <p:cNvSpPr/>
          <p:nvPr/>
        </p:nvSpPr>
        <p:spPr>
          <a:xfrm>
            <a:off x="530352" y="1097280"/>
            <a:ext cx="1280160" cy="32004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mdpr-surface metric"/>
          <p:cNvSpPr/>
          <p:nvPr/>
        </p:nvSpPr>
        <p:spPr>
          <a:xfrm>
            <a:off x="658368" y="1417320"/>
            <a:ext cx="2743200" cy="1143000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mdpr-text"/>
          <p:cNvSpPr txBox="1"/>
          <p:nvPr/>
        </p:nvSpPr>
        <p:spPr>
          <a:xfrm>
            <a:off x="914400" y="1609344"/>
            <a:ext cx="1005840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2800" b="1">
                <a:solidFill>
                  <a:srgbClr val="0F766E"/>
                </a:solidFill>
              </a:rPr>
              <a:t>68</a:t>
            </a:r>
          </a:p>
        </p:txBody>
      </p:sp>
      <p:sp>
        <p:nvSpPr>
          <p:cNvPr id="7" name="mdpr-text"/>
          <p:cNvSpPr txBox="1"/>
          <p:nvPr/>
        </p:nvSpPr>
        <p:spPr>
          <a:xfrm>
            <a:off x="1874519" y="1627632"/>
            <a:ext cx="118872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111827"/>
                </a:solidFill>
              </a:rPr>
              <a:t>object
kinds</a:t>
            </a:r>
          </a:p>
        </p:txBody>
      </p:sp>
      <p:sp>
        <p:nvSpPr>
          <p:cNvPr id="8" name="mdpr-surface table"/>
          <p:cNvSpPr/>
          <p:nvPr/>
        </p:nvSpPr>
        <p:spPr>
          <a:xfrm>
            <a:off x="3840480" y="1417320"/>
            <a:ext cx="3383280" cy="2057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mdpr-decor table-rule"/>
          <p:cNvSpPr/>
          <p:nvPr/>
        </p:nvSpPr>
        <p:spPr>
          <a:xfrm>
            <a:off x="4041648" y="1737360"/>
            <a:ext cx="2971800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mdpr-text"/>
          <p:cNvSpPr txBox="1"/>
          <p:nvPr/>
        </p:nvSpPr>
        <p:spPr>
          <a:xfrm>
            <a:off x="4096512" y="1773936"/>
            <a:ext cx="128016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1">
                <a:solidFill>
                  <a:srgbClr val="111827"/>
                </a:solidFill>
              </a:rPr>
              <a:t>Cards</a:t>
            </a:r>
          </a:p>
        </p:txBody>
      </p:sp>
      <p:sp>
        <p:nvSpPr>
          <p:cNvPr id="11" name="mdpr-text"/>
          <p:cNvSpPr txBox="1"/>
          <p:nvPr/>
        </p:nvSpPr>
        <p:spPr>
          <a:xfrm>
            <a:off x="6446520" y="1773936"/>
            <a:ext cx="41148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900" b="1">
                <a:solidFill>
                  <a:srgbClr val="0F766E"/>
                </a:solidFill>
              </a:rPr>
              <a:t>14</a:t>
            </a:r>
          </a:p>
        </p:txBody>
      </p:sp>
      <p:sp>
        <p:nvSpPr>
          <p:cNvPr id="12" name="mdpr-decor table-rule"/>
          <p:cNvSpPr/>
          <p:nvPr/>
        </p:nvSpPr>
        <p:spPr>
          <a:xfrm>
            <a:off x="4041648" y="2084831"/>
            <a:ext cx="2971800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mdpr-text"/>
          <p:cNvSpPr txBox="1"/>
          <p:nvPr/>
        </p:nvSpPr>
        <p:spPr>
          <a:xfrm>
            <a:off x="4096512" y="2121408"/>
            <a:ext cx="128016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0">
                <a:solidFill>
                  <a:srgbClr val="111827"/>
                </a:solidFill>
              </a:rPr>
              <a:t>Diagrams</a:t>
            </a:r>
          </a:p>
        </p:txBody>
      </p:sp>
      <p:sp>
        <p:nvSpPr>
          <p:cNvPr id="14" name="mdpr-text"/>
          <p:cNvSpPr txBox="1"/>
          <p:nvPr/>
        </p:nvSpPr>
        <p:spPr>
          <a:xfrm>
            <a:off x="6446520" y="2121408"/>
            <a:ext cx="41148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900" b="1">
                <a:solidFill>
                  <a:srgbClr val="0F766E"/>
                </a:solidFill>
              </a:rPr>
              <a:t>11</a:t>
            </a:r>
          </a:p>
        </p:txBody>
      </p:sp>
      <p:sp>
        <p:nvSpPr>
          <p:cNvPr id="15" name="mdpr-decor table-rule"/>
          <p:cNvSpPr/>
          <p:nvPr/>
        </p:nvSpPr>
        <p:spPr>
          <a:xfrm>
            <a:off x="4041648" y="2432304"/>
            <a:ext cx="2971800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mdpr-text"/>
          <p:cNvSpPr txBox="1"/>
          <p:nvPr/>
        </p:nvSpPr>
        <p:spPr>
          <a:xfrm>
            <a:off x="4096512" y="2468880"/>
            <a:ext cx="128016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0">
                <a:solidFill>
                  <a:srgbClr val="111827"/>
                </a:solidFill>
              </a:rPr>
              <a:t>Metrics</a:t>
            </a:r>
          </a:p>
        </p:txBody>
      </p:sp>
      <p:sp>
        <p:nvSpPr>
          <p:cNvPr id="17" name="mdpr-text"/>
          <p:cNvSpPr txBox="1"/>
          <p:nvPr/>
        </p:nvSpPr>
        <p:spPr>
          <a:xfrm>
            <a:off x="6446520" y="2468880"/>
            <a:ext cx="41148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900" b="1">
                <a:solidFill>
                  <a:srgbClr val="0F766E"/>
                </a:solidFill>
              </a:rPr>
              <a:t>6</a:t>
            </a:r>
          </a:p>
        </p:txBody>
      </p:sp>
      <p:sp>
        <p:nvSpPr>
          <p:cNvPr id="18" name="mdpr-decor table-rule"/>
          <p:cNvSpPr/>
          <p:nvPr/>
        </p:nvSpPr>
        <p:spPr>
          <a:xfrm>
            <a:off x="4041648" y="2779776"/>
            <a:ext cx="2971800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mdpr-text"/>
          <p:cNvSpPr txBox="1"/>
          <p:nvPr/>
        </p:nvSpPr>
        <p:spPr>
          <a:xfrm>
            <a:off x="4096512" y="2816352"/>
            <a:ext cx="128016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0">
                <a:solidFill>
                  <a:srgbClr val="111827"/>
                </a:solidFill>
              </a:rPr>
              <a:t>Images</a:t>
            </a:r>
          </a:p>
        </p:txBody>
      </p:sp>
      <p:sp>
        <p:nvSpPr>
          <p:cNvPr id="20" name="mdpr-text"/>
          <p:cNvSpPr txBox="1"/>
          <p:nvPr/>
        </p:nvSpPr>
        <p:spPr>
          <a:xfrm>
            <a:off x="6446520" y="2816352"/>
            <a:ext cx="41148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900" b="1">
                <a:solidFill>
                  <a:srgbClr val="0F766E"/>
                </a:solidFill>
              </a:rPr>
              <a:t>6</a:t>
            </a:r>
          </a:p>
        </p:txBody>
      </p:sp>
      <p:sp>
        <p:nvSpPr>
          <p:cNvPr id="21" name="mdpr-surface chart"/>
          <p:cNvSpPr/>
          <p:nvPr/>
        </p:nvSpPr>
        <p:spPr>
          <a:xfrm>
            <a:off x="7726679" y="1417320"/>
            <a:ext cx="3611880" cy="2057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mdpr-decor chart-bar"/>
          <p:cNvSpPr/>
          <p:nvPr/>
        </p:nvSpPr>
        <p:spPr>
          <a:xfrm>
            <a:off x="8046720" y="2606039"/>
            <a:ext cx="219456" cy="41148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mdpr-decor chart-bar"/>
          <p:cNvSpPr/>
          <p:nvPr/>
        </p:nvSpPr>
        <p:spPr>
          <a:xfrm>
            <a:off x="8467344" y="2194560"/>
            <a:ext cx="219456" cy="82296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mdpr-decor chart-bar"/>
          <p:cNvSpPr/>
          <p:nvPr/>
        </p:nvSpPr>
        <p:spPr>
          <a:xfrm>
            <a:off x="8887968" y="2450591"/>
            <a:ext cx="219456" cy="566928"/>
          </a:xfrm>
          <a:prstGeom prst="rect">
            <a:avLst/>
          </a:prstGeom>
          <a:solidFill>
            <a:srgbClr val="C2410C"/>
          </a:solidFill>
          <a:ln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mdpr-decor chart-bar"/>
          <p:cNvSpPr/>
          <p:nvPr/>
        </p:nvSpPr>
        <p:spPr>
          <a:xfrm>
            <a:off x="9308592" y="1920239"/>
            <a:ext cx="219456" cy="109728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mdpr-decor chart-bar"/>
          <p:cNvSpPr/>
          <p:nvPr/>
        </p:nvSpPr>
        <p:spPr>
          <a:xfrm>
            <a:off x="9729216" y="2304287"/>
            <a:ext cx="219456" cy="713232"/>
          </a:xfrm>
          <a:prstGeom prst="rect">
            <a:avLst/>
          </a:prstGeom>
          <a:solidFill>
            <a:srgbClr val="E11D48"/>
          </a:solidFill>
          <a:ln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mdpr-text"/>
          <p:cNvSpPr txBox="1"/>
          <p:nvPr/>
        </p:nvSpPr>
        <p:spPr>
          <a:xfrm>
            <a:off x="10378440" y="1828800"/>
            <a:ext cx="64008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2200" b="1">
                <a:solidFill>
                  <a:srgbClr val="E11D48"/>
                </a:solidFill>
              </a:rPr>
              <a:t>18</a:t>
            </a:r>
          </a:p>
        </p:txBody>
      </p:sp>
      <p:sp>
        <p:nvSpPr>
          <p:cNvPr id="28" name="mdpr-text"/>
          <p:cNvSpPr txBox="1"/>
          <p:nvPr/>
        </p:nvSpPr>
        <p:spPr>
          <a:xfrm>
            <a:off x="10012680" y="2304288"/>
            <a:ext cx="132588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00" b="1">
                <a:solidFill>
                  <a:srgbClr val="475569"/>
                </a:solidFill>
              </a:rPr>
              <a:t>object families
checked</a:t>
            </a:r>
          </a:p>
        </p:txBody>
      </p:sp>
      <p:sp>
        <p:nvSpPr>
          <p:cNvPr id="29" name="mdpr-decor bullet"/>
          <p:cNvSpPr/>
          <p:nvPr/>
        </p:nvSpPr>
        <p:spPr>
          <a:xfrm>
            <a:off x="822960" y="4224528"/>
            <a:ext cx="201168" cy="201168"/>
          </a:xfrm>
          <a:prstGeom prst="ellipse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mdpr-text-in-decor"/>
          <p:cNvSpPr txBox="1"/>
          <p:nvPr/>
        </p:nvSpPr>
        <p:spPr>
          <a:xfrm>
            <a:off x="822960" y="4224528"/>
            <a:ext cx="20116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31" name="mdpr-text"/>
          <p:cNvSpPr txBox="1"/>
          <p:nvPr/>
        </p:nvSpPr>
        <p:spPr>
          <a:xfrm>
            <a:off x="1143000" y="4160520"/>
            <a:ext cx="4663440" cy="31089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</a:rPr>
              <a:t>No text crosses shape boundary</a:t>
            </a:r>
          </a:p>
        </p:txBody>
      </p:sp>
      <p:sp>
        <p:nvSpPr>
          <p:cNvPr id="32" name="mdpr-decor bullet"/>
          <p:cNvSpPr/>
          <p:nvPr/>
        </p:nvSpPr>
        <p:spPr>
          <a:xfrm>
            <a:off x="822960" y="4681728"/>
            <a:ext cx="201168" cy="201168"/>
          </a:xfrm>
          <a:prstGeom prst="ellipse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mdpr-text-in-decor"/>
          <p:cNvSpPr txBox="1"/>
          <p:nvPr/>
        </p:nvSpPr>
        <p:spPr>
          <a:xfrm>
            <a:off x="822960" y="4681728"/>
            <a:ext cx="20116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34" name="mdpr-text"/>
          <p:cNvSpPr txBox="1"/>
          <p:nvPr/>
        </p:nvSpPr>
        <p:spPr>
          <a:xfrm>
            <a:off x="1143000" y="4617720"/>
            <a:ext cx="4663440" cy="31089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</a:rPr>
              <a:t>Decoration lives outside text box</a:t>
            </a:r>
          </a:p>
        </p:txBody>
      </p:sp>
      <p:sp>
        <p:nvSpPr>
          <p:cNvPr id="35" name="mdpr-decor bullet"/>
          <p:cNvSpPr/>
          <p:nvPr/>
        </p:nvSpPr>
        <p:spPr>
          <a:xfrm>
            <a:off x="822960" y="5138928"/>
            <a:ext cx="201168" cy="201168"/>
          </a:xfrm>
          <a:prstGeom prst="ellipse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mdpr-text-in-decor"/>
          <p:cNvSpPr txBox="1"/>
          <p:nvPr/>
        </p:nvSpPr>
        <p:spPr>
          <a:xfrm>
            <a:off x="822960" y="5138928"/>
            <a:ext cx="20116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37" name="mdpr-text"/>
          <p:cNvSpPr txBox="1"/>
          <p:nvPr/>
        </p:nvSpPr>
        <p:spPr>
          <a:xfrm>
            <a:off x="1143000" y="5074920"/>
            <a:ext cx="4663440" cy="31089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</a:rPr>
              <a:t>Minimum font stays readable</a:t>
            </a:r>
          </a:p>
        </p:txBody>
      </p:sp>
      <p:sp>
        <p:nvSpPr>
          <p:cNvPr id="38" name="mdpr-surface callout"/>
          <p:cNvSpPr/>
          <p:nvPr/>
        </p:nvSpPr>
        <p:spPr>
          <a:xfrm>
            <a:off x="6492240" y="4069080"/>
            <a:ext cx="4297680" cy="1325880"/>
          </a:xfrm>
          <a:prstGeom prst="roundRect">
            <a:avLst/>
          </a:prstGeom>
          <a:solidFill>
            <a:srgbClr val="FFF7ED"/>
          </a:solidFill>
          <a:ln w="10160">
            <a:solidFill>
              <a:srgbClr val="FED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mdpr-text"/>
          <p:cNvSpPr txBox="1"/>
          <p:nvPr/>
        </p:nvSpPr>
        <p:spPr>
          <a:xfrm>
            <a:off x="6812280" y="4343400"/>
            <a:ext cx="3657600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300" b="1">
                <a:solidFill>
                  <a:srgbClr val="9A3412"/>
                </a:solidFill>
              </a:rPr>
              <a:t>Review note: layout variation is checked by slide families, not by card-count alone.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dpr-text"/>
          <p:cNvSpPr txBox="1"/>
          <p:nvPr/>
        </p:nvSpPr>
        <p:spPr>
          <a:xfrm>
            <a:off x="502920" y="310896"/>
            <a:ext cx="7955279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2400" b="1">
                <a:solidFill>
                  <a:srgbClr val="111827"/>
                </a:solidFill>
              </a:rPr>
              <a:t>Theme Style Primitive Matrix</a:t>
            </a:r>
          </a:p>
        </p:txBody>
      </p:sp>
      <p:sp>
        <p:nvSpPr>
          <p:cNvPr id="3" name="mdpr-text"/>
          <p:cNvSpPr txBox="1"/>
          <p:nvPr/>
        </p:nvSpPr>
        <p:spPr>
          <a:xfrm>
            <a:off x="521207" y="768096"/>
            <a:ext cx="10241280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</a:rPr>
              <a:t>The same card, table, chart, and marker primitives change decoration grammar under each theme style.</a:t>
            </a:r>
          </a:p>
        </p:txBody>
      </p:sp>
      <p:sp>
        <p:nvSpPr>
          <p:cNvPr id="4" name="mdpr-decor"/>
          <p:cNvSpPr/>
          <p:nvPr/>
        </p:nvSpPr>
        <p:spPr>
          <a:xfrm>
            <a:off x="530352" y="1097280"/>
            <a:ext cx="1280160" cy="32004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mdpr-theme-cell"/>
          <p:cNvSpPr/>
          <p:nvPr/>
        </p:nvSpPr>
        <p:spPr>
          <a:xfrm>
            <a:off x="566928" y="1298448"/>
            <a:ext cx="2487168" cy="1810512"/>
          </a:xfrm>
          <a:prstGeom prst="rect">
            <a:avLst/>
          </a:prstGeom>
          <a:solidFill>
            <a:srgbClr val="F8FAFC"/>
          </a:solidFill>
          <a:ln w="1016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mdpr-surface primitive-simple-card"/>
          <p:cNvSpPr/>
          <p:nvPr/>
        </p:nvSpPr>
        <p:spPr>
          <a:xfrm>
            <a:off x="749808" y="1572768"/>
            <a:ext cx="1060704" cy="6583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mdpr-effect simple-rule"/>
          <p:cNvSpPr/>
          <p:nvPr/>
        </p:nvSpPr>
        <p:spPr>
          <a:xfrm>
            <a:off x="914400" y="1719072"/>
            <a:ext cx="530352" cy="25603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mdpr-text primitive-label"/>
          <p:cNvSpPr txBox="1"/>
          <p:nvPr/>
        </p:nvSpPr>
        <p:spPr>
          <a:xfrm>
            <a:off x="877824" y="1709928"/>
            <a:ext cx="713232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700" b="1">
                <a:solidFill>
                  <a:srgbClr val="111827"/>
                </a:solidFill>
              </a:rPr>
              <a:t>CARD</a:t>
            </a:r>
          </a:p>
        </p:txBody>
      </p:sp>
      <p:sp>
        <p:nvSpPr>
          <p:cNvPr id="9" name="mdpr-surface primitive-simple-table"/>
          <p:cNvSpPr/>
          <p:nvPr/>
        </p:nvSpPr>
        <p:spPr>
          <a:xfrm>
            <a:off x="1975104" y="1572768"/>
            <a:ext cx="786384" cy="6583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mdpr-effect simple-rule"/>
          <p:cNvSpPr/>
          <p:nvPr/>
        </p:nvSpPr>
        <p:spPr>
          <a:xfrm>
            <a:off x="2139696" y="1719072"/>
            <a:ext cx="530352" cy="25603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mdpr-decor primitive-table-row"/>
          <p:cNvSpPr/>
          <p:nvPr/>
        </p:nvSpPr>
        <p:spPr>
          <a:xfrm>
            <a:off x="2084831" y="1709928"/>
            <a:ext cx="530352" cy="9144"/>
          </a:xfrm>
          <a:prstGeom prst="rect">
            <a:avLst/>
          </a:prstGeom>
          <a:solidFill>
            <a:srgbClr val="D3DCE6"/>
          </a:solidFill>
          <a:ln>
            <a:solidFill>
              <a:srgbClr val="D3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mdpr-decor primitive-table-row"/>
          <p:cNvSpPr/>
          <p:nvPr/>
        </p:nvSpPr>
        <p:spPr>
          <a:xfrm>
            <a:off x="2084831" y="1847088"/>
            <a:ext cx="530352" cy="9144"/>
          </a:xfrm>
          <a:prstGeom prst="rect">
            <a:avLst/>
          </a:prstGeom>
          <a:solidFill>
            <a:srgbClr val="D3DCE6"/>
          </a:solidFill>
          <a:ln>
            <a:solidFill>
              <a:srgbClr val="D3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mdpr-decor primitive-table-row"/>
          <p:cNvSpPr/>
          <p:nvPr/>
        </p:nvSpPr>
        <p:spPr>
          <a:xfrm>
            <a:off x="2084831" y="1984248"/>
            <a:ext cx="530352" cy="9144"/>
          </a:xfrm>
          <a:prstGeom prst="rect">
            <a:avLst/>
          </a:prstGeom>
          <a:solidFill>
            <a:srgbClr val="D3DCE6"/>
          </a:solidFill>
          <a:ln>
            <a:solidFill>
              <a:srgbClr val="D3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mdpr-decor primitive-chart-bar"/>
          <p:cNvSpPr/>
          <p:nvPr/>
        </p:nvSpPr>
        <p:spPr>
          <a:xfrm>
            <a:off x="896112" y="2569464"/>
            <a:ext cx="100584" cy="164592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mdpr-decor primitive-chart-bar"/>
          <p:cNvSpPr/>
          <p:nvPr/>
        </p:nvSpPr>
        <p:spPr>
          <a:xfrm>
            <a:off x="1097280" y="2423160"/>
            <a:ext cx="100584" cy="310896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mdpr-decor primitive-chart-bar"/>
          <p:cNvSpPr/>
          <p:nvPr/>
        </p:nvSpPr>
        <p:spPr>
          <a:xfrm>
            <a:off x="1298448" y="2496312"/>
            <a:ext cx="100584" cy="237744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mdpr-decor primitive-marker"/>
          <p:cNvSpPr/>
          <p:nvPr/>
        </p:nvSpPr>
        <p:spPr>
          <a:xfrm>
            <a:off x="2139696" y="2414015"/>
            <a:ext cx="256032" cy="256032"/>
          </a:xfrm>
          <a:prstGeom prst="ellipse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mdpr-text-in-decor"/>
          <p:cNvSpPr txBox="1"/>
          <p:nvPr/>
        </p:nvSpPr>
        <p:spPr>
          <a:xfrm>
            <a:off x="2139696" y="2414015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19" name="mdpr-text primitive-caption"/>
          <p:cNvSpPr txBox="1"/>
          <p:nvPr/>
        </p:nvSpPr>
        <p:spPr>
          <a:xfrm>
            <a:off x="2414016" y="2350008"/>
            <a:ext cx="530352" cy="25603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1">
                <a:solidFill>
                  <a:srgbClr val="111827"/>
                </a:solidFill>
              </a:rPr>
              <a:t>mark</a:t>
            </a:r>
          </a:p>
        </p:txBody>
      </p:sp>
      <p:sp>
        <p:nvSpPr>
          <p:cNvPr id="20" name="mdpr-text primitive-style"/>
          <p:cNvSpPr txBox="1"/>
          <p:nvPr/>
        </p:nvSpPr>
        <p:spPr>
          <a:xfrm>
            <a:off x="749808" y="1353312"/>
            <a:ext cx="1234440" cy="21945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00" b="1">
                <a:solidFill>
                  <a:srgbClr val="111827"/>
                </a:solidFill>
              </a:rPr>
              <a:t>SIMPLE</a:t>
            </a:r>
          </a:p>
        </p:txBody>
      </p:sp>
      <p:sp>
        <p:nvSpPr>
          <p:cNvPr id="21" name="mdpr-text primitive-effect"/>
          <p:cNvSpPr txBox="1"/>
          <p:nvPr/>
        </p:nvSpPr>
        <p:spPr>
          <a:xfrm>
            <a:off x="1865376" y="1353312"/>
            <a:ext cx="1005840" cy="21945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700" b="0">
                <a:solidFill>
                  <a:srgbClr val="111827"/>
                </a:solidFill>
              </a:rPr>
              <a:t>none</a:t>
            </a:r>
          </a:p>
        </p:txBody>
      </p:sp>
      <p:sp>
        <p:nvSpPr>
          <p:cNvPr id="22" name="mdpr-theme-cell"/>
          <p:cNvSpPr/>
          <p:nvPr/>
        </p:nvSpPr>
        <p:spPr>
          <a:xfrm>
            <a:off x="3419856" y="1298448"/>
            <a:ext cx="2487168" cy="1810512"/>
          </a:xfrm>
          <a:prstGeom prst="rect">
            <a:avLst/>
          </a:prstGeom>
          <a:solidFill>
            <a:srgbClr val="F8FAFC"/>
          </a:solidFill>
          <a:ln w="1016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mdpr-surface primitive-minimalism-card"/>
          <p:cNvSpPr/>
          <p:nvPr/>
        </p:nvSpPr>
        <p:spPr>
          <a:xfrm>
            <a:off x="3602736" y="1572768"/>
            <a:ext cx="1060704" cy="6583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3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mdpr-effect minimalism-rule"/>
          <p:cNvSpPr/>
          <p:nvPr/>
        </p:nvSpPr>
        <p:spPr>
          <a:xfrm>
            <a:off x="3730752" y="1700784"/>
            <a:ext cx="296997" cy="10972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mdpr-text primitive-label"/>
          <p:cNvSpPr txBox="1"/>
          <p:nvPr/>
        </p:nvSpPr>
        <p:spPr>
          <a:xfrm>
            <a:off x="3730752" y="1709928"/>
            <a:ext cx="713232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700" b="1">
                <a:solidFill>
                  <a:srgbClr val="111827"/>
                </a:solidFill>
              </a:rPr>
              <a:t>CARD</a:t>
            </a:r>
          </a:p>
        </p:txBody>
      </p:sp>
      <p:sp>
        <p:nvSpPr>
          <p:cNvPr id="26" name="mdpr-surface primitive-minimalism-table"/>
          <p:cNvSpPr/>
          <p:nvPr/>
        </p:nvSpPr>
        <p:spPr>
          <a:xfrm>
            <a:off x="4828032" y="1572768"/>
            <a:ext cx="786384" cy="6583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3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mdpr-effect minimalism-rule"/>
          <p:cNvSpPr/>
          <p:nvPr/>
        </p:nvSpPr>
        <p:spPr>
          <a:xfrm>
            <a:off x="4956048" y="1700784"/>
            <a:ext cx="220187" cy="10972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mdpr-decor primitive-table-row"/>
          <p:cNvSpPr/>
          <p:nvPr/>
        </p:nvSpPr>
        <p:spPr>
          <a:xfrm>
            <a:off x="4937760" y="1709928"/>
            <a:ext cx="530352" cy="9144"/>
          </a:xfrm>
          <a:prstGeom prst="rect">
            <a:avLst/>
          </a:prstGeom>
          <a:solidFill>
            <a:srgbClr val="D3DCE6"/>
          </a:solidFill>
          <a:ln>
            <a:solidFill>
              <a:srgbClr val="D3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mdpr-decor primitive-table-row"/>
          <p:cNvSpPr/>
          <p:nvPr/>
        </p:nvSpPr>
        <p:spPr>
          <a:xfrm>
            <a:off x="4937760" y="1847088"/>
            <a:ext cx="530352" cy="9144"/>
          </a:xfrm>
          <a:prstGeom prst="rect">
            <a:avLst/>
          </a:prstGeom>
          <a:solidFill>
            <a:srgbClr val="D3DCE6"/>
          </a:solidFill>
          <a:ln>
            <a:solidFill>
              <a:srgbClr val="D3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mdpr-decor primitive-table-row"/>
          <p:cNvSpPr/>
          <p:nvPr/>
        </p:nvSpPr>
        <p:spPr>
          <a:xfrm>
            <a:off x="4937760" y="1984248"/>
            <a:ext cx="530352" cy="9144"/>
          </a:xfrm>
          <a:prstGeom prst="rect">
            <a:avLst/>
          </a:prstGeom>
          <a:solidFill>
            <a:srgbClr val="D3DCE6"/>
          </a:solidFill>
          <a:ln>
            <a:solidFill>
              <a:srgbClr val="D3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mdpr-decor primitive-chart-bar"/>
          <p:cNvSpPr/>
          <p:nvPr/>
        </p:nvSpPr>
        <p:spPr>
          <a:xfrm>
            <a:off x="3749040" y="2569464"/>
            <a:ext cx="100584" cy="164592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mdpr-decor primitive-chart-bar"/>
          <p:cNvSpPr/>
          <p:nvPr/>
        </p:nvSpPr>
        <p:spPr>
          <a:xfrm>
            <a:off x="3950208" y="2423160"/>
            <a:ext cx="100584" cy="310896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mdpr-decor primitive-chart-bar"/>
          <p:cNvSpPr/>
          <p:nvPr/>
        </p:nvSpPr>
        <p:spPr>
          <a:xfrm>
            <a:off x="4151376" y="2496312"/>
            <a:ext cx="100584" cy="237744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mdpr-decor primitive-marker"/>
          <p:cNvSpPr/>
          <p:nvPr/>
        </p:nvSpPr>
        <p:spPr>
          <a:xfrm>
            <a:off x="4992624" y="2414015"/>
            <a:ext cx="256032" cy="256032"/>
          </a:xfrm>
          <a:prstGeom prst="ellipse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mdpr-text-in-decor"/>
          <p:cNvSpPr txBox="1"/>
          <p:nvPr/>
        </p:nvSpPr>
        <p:spPr>
          <a:xfrm>
            <a:off x="4992624" y="2414015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36" name="mdpr-text primitive-caption"/>
          <p:cNvSpPr txBox="1"/>
          <p:nvPr/>
        </p:nvSpPr>
        <p:spPr>
          <a:xfrm>
            <a:off x="5266944" y="2350008"/>
            <a:ext cx="530352" cy="25603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1">
                <a:solidFill>
                  <a:srgbClr val="111827"/>
                </a:solidFill>
              </a:rPr>
              <a:t>mark</a:t>
            </a:r>
          </a:p>
        </p:txBody>
      </p:sp>
      <p:sp>
        <p:nvSpPr>
          <p:cNvPr id="37" name="mdpr-text primitive-style"/>
          <p:cNvSpPr txBox="1"/>
          <p:nvPr/>
        </p:nvSpPr>
        <p:spPr>
          <a:xfrm>
            <a:off x="3602736" y="1353312"/>
            <a:ext cx="1234440" cy="21945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00" b="1">
                <a:solidFill>
                  <a:srgbClr val="111827"/>
                </a:solidFill>
              </a:rPr>
              <a:t>MINIMALISM</a:t>
            </a:r>
          </a:p>
        </p:txBody>
      </p:sp>
      <p:sp>
        <p:nvSpPr>
          <p:cNvPr id="38" name="mdpr-text primitive-effect"/>
          <p:cNvSpPr txBox="1"/>
          <p:nvPr/>
        </p:nvSpPr>
        <p:spPr>
          <a:xfrm>
            <a:off x="4718304" y="1353312"/>
            <a:ext cx="1005840" cy="21945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700" b="0">
                <a:solidFill>
                  <a:srgbClr val="111827"/>
                </a:solidFill>
              </a:rPr>
              <a:t>none</a:t>
            </a:r>
          </a:p>
        </p:txBody>
      </p:sp>
      <p:sp>
        <p:nvSpPr>
          <p:cNvPr id="39" name="mdpr-theme-cell"/>
          <p:cNvSpPr/>
          <p:nvPr/>
        </p:nvSpPr>
        <p:spPr>
          <a:xfrm>
            <a:off x="6272784" y="1298448"/>
            <a:ext cx="2487168" cy="1810512"/>
          </a:xfrm>
          <a:prstGeom prst="rect">
            <a:avLst/>
          </a:prstGeom>
          <a:solidFill>
            <a:srgbClr val="F8FAFC"/>
          </a:solidFill>
          <a:ln w="1016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mdpr-effect-shadow"/>
          <p:cNvSpPr/>
          <p:nvPr/>
        </p:nvSpPr>
        <p:spPr>
          <a:xfrm>
            <a:off x="6496812" y="1623060"/>
            <a:ext cx="1060704" cy="658368"/>
          </a:xfrm>
          <a:prstGeom prst="roundRect">
            <a:avLst/>
          </a:prstGeom>
          <a:solidFill>
            <a:srgbClr val="EAEFF4"/>
          </a:solidFill>
          <a:ln>
            <a:solidFill>
              <a:srgbClr val="EAEF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mdpr-surface primitive-newmorphism-card"/>
          <p:cNvSpPr/>
          <p:nvPr/>
        </p:nvSpPr>
        <p:spPr>
          <a:xfrm>
            <a:off x="6455664" y="1572768"/>
            <a:ext cx="1060704" cy="658368"/>
          </a:xfrm>
          <a:prstGeom prst="roundRect">
            <a:avLst/>
          </a:prstGeom>
          <a:solidFill>
            <a:srgbClr val="FAFCFD"/>
          </a:solidFill>
          <a:ln w="10160">
            <a:solidFill>
              <a:srgbClr val="F4F6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mdpr-effect newmorphism-highlight"/>
          <p:cNvSpPr/>
          <p:nvPr/>
        </p:nvSpPr>
        <p:spPr>
          <a:xfrm>
            <a:off x="6583680" y="1682495"/>
            <a:ext cx="445495" cy="1463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mdpr-effect newmorphism-lowlight"/>
          <p:cNvSpPr/>
          <p:nvPr/>
        </p:nvSpPr>
        <p:spPr>
          <a:xfrm>
            <a:off x="7039051" y="2084831"/>
            <a:ext cx="339425" cy="14630"/>
          </a:xfrm>
          <a:prstGeom prst="rect">
            <a:avLst/>
          </a:prstGeom>
          <a:solidFill>
            <a:srgbClr val="DBE2EA"/>
          </a:solidFill>
          <a:ln>
            <a:solidFill>
              <a:srgbClr val="DB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mdpr-effect newmorphism-accent"/>
          <p:cNvSpPr/>
          <p:nvPr/>
        </p:nvSpPr>
        <p:spPr>
          <a:xfrm>
            <a:off x="7205472" y="1700784"/>
            <a:ext cx="109728" cy="109728"/>
          </a:xfrm>
          <a:prstGeom prst="ellipse">
            <a:avLst/>
          </a:prstGeom>
          <a:solidFill>
            <a:srgbClr val="93C1BE"/>
          </a:solidFill>
          <a:ln>
            <a:solidFill>
              <a:srgbClr val="93C1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mdpr-text primitive-label"/>
          <p:cNvSpPr txBox="1"/>
          <p:nvPr/>
        </p:nvSpPr>
        <p:spPr>
          <a:xfrm>
            <a:off x="6583680" y="1709928"/>
            <a:ext cx="713232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700" b="1">
                <a:solidFill>
                  <a:srgbClr val="111827"/>
                </a:solidFill>
              </a:rPr>
              <a:t>CARD</a:t>
            </a:r>
          </a:p>
        </p:txBody>
      </p:sp>
      <p:sp>
        <p:nvSpPr>
          <p:cNvPr id="46" name="mdpr-effect-shadow"/>
          <p:cNvSpPr/>
          <p:nvPr/>
        </p:nvSpPr>
        <p:spPr>
          <a:xfrm>
            <a:off x="7722108" y="1623060"/>
            <a:ext cx="786384" cy="658368"/>
          </a:xfrm>
          <a:prstGeom prst="roundRect">
            <a:avLst/>
          </a:prstGeom>
          <a:solidFill>
            <a:srgbClr val="EAEFF4"/>
          </a:solidFill>
          <a:ln>
            <a:solidFill>
              <a:srgbClr val="EAEF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mdpr-surface primitive-newmorphism-table"/>
          <p:cNvSpPr/>
          <p:nvPr/>
        </p:nvSpPr>
        <p:spPr>
          <a:xfrm>
            <a:off x="7680960" y="1572768"/>
            <a:ext cx="786384" cy="658368"/>
          </a:xfrm>
          <a:prstGeom prst="roundRect">
            <a:avLst/>
          </a:prstGeom>
          <a:solidFill>
            <a:srgbClr val="FAFCFD"/>
          </a:solidFill>
          <a:ln w="10160">
            <a:solidFill>
              <a:srgbClr val="F4F6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mdpr-effect newmorphism-highlight"/>
          <p:cNvSpPr/>
          <p:nvPr/>
        </p:nvSpPr>
        <p:spPr>
          <a:xfrm>
            <a:off x="7808976" y="1682495"/>
            <a:ext cx="330281" cy="1463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mdpr-effect newmorphism-lowlight"/>
          <p:cNvSpPr/>
          <p:nvPr/>
        </p:nvSpPr>
        <p:spPr>
          <a:xfrm>
            <a:off x="8113471" y="2084831"/>
            <a:ext cx="251642" cy="14630"/>
          </a:xfrm>
          <a:prstGeom prst="rect">
            <a:avLst/>
          </a:prstGeom>
          <a:solidFill>
            <a:srgbClr val="DBE2EA"/>
          </a:solidFill>
          <a:ln>
            <a:solidFill>
              <a:srgbClr val="DB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mdpr-effect newmorphism-accent"/>
          <p:cNvSpPr/>
          <p:nvPr/>
        </p:nvSpPr>
        <p:spPr>
          <a:xfrm>
            <a:off x="8156448" y="1700784"/>
            <a:ext cx="109728" cy="109728"/>
          </a:xfrm>
          <a:prstGeom prst="ellipse">
            <a:avLst/>
          </a:prstGeom>
          <a:solidFill>
            <a:srgbClr val="93C1BE"/>
          </a:solidFill>
          <a:ln>
            <a:solidFill>
              <a:srgbClr val="93C1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mdpr-decor primitive-table-row"/>
          <p:cNvSpPr/>
          <p:nvPr/>
        </p:nvSpPr>
        <p:spPr>
          <a:xfrm>
            <a:off x="7790688" y="1709928"/>
            <a:ext cx="530352" cy="9144"/>
          </a:xfrm>
          <a:prstGeom prst="rect">
            <a:avLst/>
          </a:prstGeom>
          <a:solidFill>
            <a:srgbClr val="D3DCE6"/>
          </a:solidFill>
          <a:ln>
            <a:solidFill>
              <a:srgbClr val="D3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mdpr-decor primitive-table-row"/>
          <p:cNvSpPr/>
          <p:nvPr/>
        </p:nvSpPr>
        <p:spPr>
          <a:xfrm>
            <a:off x="7790688" y="1847088"/>
            <a:ext cx="530352" cy="9144"/>
          </a:xfrm>
          <a:prstGeom prst="rect">
            <a:avLst/>
          </a:prstGeom>
          <a:solidFill>
            <a:srgbClr val="D3DCE6"/>
          </a:solidFill>
          <a:ln>
            <a:solidFill>
              <a:srgbClr val="D3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mdpr-decor primitive-table-row"/>
          <p:cNvSpPr/>
          <p:nvPr/>
        </p:nvSpPr>
        <p:spPr>
          <a:xfrm>
            <a:off x="7790688" y="1984248"/>
            <a:ext cx="530352" cy="9144"/>
          </a:xfrm>
          <a:prstGeom prst="rect">
            <a:avLst/>
          </a:prstGeom>
          <a:solidFill>
            <a:srgbClr val="D3DCE6"/>
          </a:solidFill>
          <a:ln>
            <a:solidFill>
              <a:srgbClr val="D3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mdpr-decor primitive-chart-bar"/>
          <p:cNvSpPr/>
          <p:nvPr/>
        </p:nvSpPr>
        <p:spPr>
          <a:xfrm>
            <a:off x="6601968" y="2569464"/>
            <a:ext cx="100584" cy="164592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mdpr-decor primitive-chart-bar"/>
          <p:cNvSpPr/>
          <p:nvPr/>
        </p:nvSpPr>
        <p:spPr>
          <a:xfrm>
            <a:off x="6803136" y="2423160"/>
            <a:ext cx="100584" cy="310896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mdpr-decor primitive-chart-bar"/>
          <p:cNvSpPr/>
          <p:nvPr/>
        </p:nvSpPr>
        <p:spPr>
          <a:xfrm>
            <a:off x="7004304" y="2496312"/>
            <a:ext cx="100584" cy="237744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mdpr-decor primitive-marker"/>
          <p:cNvSpPr/>
          <p:nvPr/>
        </p:nvSpPr>
        <p:spPr>
          <a:xfrm>
            <a:off x="7845552" y="2414015"/>
            <a:ext cx="256032" cy="256032"/>
          </a:xfrm>
          <a:prstGeom prst="ellipse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mdpr-text-in-decor"/>
          <p:cNvSpPr txBox="1"/>
          <p:nvPr/>
        </p:nvSpPr>
        <p:spPr>
          <a:xfrm>
            <a:off x="7845552" y="2414015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59" name="mdpr-text primitive-caption"/>
          <p:cNvSpPr txBox="1"/>
          <p:nvPr/>
        </p:nvSpPr>
        <p:spPr>
          <a:xfrm>
            <a:off x="8119872" y="2350008"/>
            <a:ext cx="530352" cy="25603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1">
                <a:solidFill>
                  <a:srgbClr val="111827"/>
                </a:solidFill>
              </a:rPr>
              <a:t>mark</a:t>
            </a:r>
          </a:p>
        </p:txBody>
      </p:sp>
      <p:sp>
        <p:nvSpPr>
          <p:cNvPr id="60" name="mdpr-text primitive-style"/>
          <p:cNvSpPr txBox="1"/>
          <p:nvPr/>
        </p:nvSpPr>
        <p:spPr>
          <a:xfrm>
            <a:off x="6455664" y="1353312"/>
            <a:ext cx="1234440" cy="21945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00" b="1">
                <a:solidFill>
                  <a:srgbClr val="111827"/>
                </a:solidFill>
              </a:rPr>
              <a:t>NEWMORPHISM</a:t>
            </a:r>
          </a:p>
        </p:txBody>
      </p:sp>
      <p:sp>
        <p:nvSpPr>
          <p:cNvPr id="61" name="mdpr-text primitive-effect"/>
          <p:cNvSpPr txBox="1"/>
          <p:nvPr/>
        </p:nvSpPr>
        <p:spPr>
          <a:xfrm>
            <a:off x="7571232" y="1353312"/>
            <a:ext cx="1005840" cy="21945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700" b="0">
                <a:solidFill>
                  <a:srgbClr val="111827"/>
                </a:solidFill>
              </a:rPr>
              <a:t>newmorphic</a:t>
            </a:r>
          </a:p>
        </p:txBody>
      </p:sp>
      <p:sp>
        <p:nvSpPr>
          <p:cNvPr id="62" name="mdpr-theme-cell"/>
          <p:cNvSpPr/>
          <p:nvPr/>
        </p:nvSpPr>
        <p:spPr>
          <a:xfrm>
            <a:off x="9125711" y="1298448"/>
            <a:ext cx="2487168" cy="1810512"/>
          </a:xfrm>
          <a:prstGeom prst="rect">
            <a:avLst/>
          </a:prstGeom>
          <a:solidFill>
            <a:srgbClr val="0B1020"/>
          </a:solidFill>
          <a:ln w="10160">
            <a:solidFill>
              <a:srgbClr val="757C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mdpr-effect-shadow"/>
          <p:cNvSpPr/>
          <p:nvPr/>
        </p:nvSpPr>
        <p:spPr>
          <a:xfrm>
            <a:off x="9349739" y="1623060"/>
            <a:ext cx="1060704" cy="658368"/>
          </a:xfrm>
          <a:prstGeom prst="roundRect">
            <a:avLst/>
          </a:prstGeom>
          <a:solidFill>
            <a:srgbClr val="757C8A"/>
          </a:solidFill>
          <a:ln>
            <a:solidFill>
              <a:srgbClr val="757C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mdpr-surface primitive-glass-card"/>
          <p:cNvSpPr/>
          <p:nvPr/>
        </p:nvSpPr>
        <p:spPr>
          <a:xfrm>
            <a:off x="9308591" y="1572768"/>
            <a:ext cx="1060704" cy="658368"/>
          </a:xfrm>
          <a:prstGeom prst="roundRect">
            <a:avLst/>
          </a:prstGeom>
          <a:solidFill>
            <a:srgbClr val="131B31"/>
          </a:solidFill>
          <a:ln w="1016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mdpr-effect glass-highlight"/>
          <p:cNvSpPr/>
          <p:nvPr/>
        </p:nvSpPr>
        <p:spPr>
          <a:xfrm>
            <a:off x="9473183" y="1737360"/>
            <a:ext cx="731519" cy="16459"/>
          </a:xfrm>
          <a:prstGeom prst="rect">
            <a:avLst/>
          </a:prstGeom>
          <a:solidFill>
            <a:srgbClr val="D4E6E5"/>
          </a:solidFill>
          <a:ln>
            <a:solidFill>
              <a:srgbClr val="D4E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mdpr-effect glass-glow"/>
          <p:cNvSpPr/>
          <p:nvPr/>
        </p:nvSpPr>
        <p:spPr>
          <a:xfrm>
            <a:off x="9957815" y="1737360"/>
            <a:ext cx="164592" cy="164592"/>
          </a:xfrm>
          <a:prstGeom prst="ellipse">
            <a:avLst/>
          </a:prstGeom>
          <a:solidFill>
            <a:srgbClr val="4B9892"/>
          </a:solidFill>
          <a:ln>
            <a:solidFill>
              <a:srgbClr val="4B98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mdpr-text primitive-label"/>
          <p:cNvSpPr txBox="1"/>
          <p:nvPr/>
        </p:nvSpPr>
        <p:spPr>
          <a:xfrm>
            <a:off x="9436607" y="1709928"/>
            <a:ext cx="713232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700" b="1">
                <a:solidFill>
                  <a:srgbClr val="F8FAFC"/>
                </a:solidFill>
              </a:rPr>
              <a:t>CARD</a:t>
            </a:r>
          </a:p>
        </p:txBody>
      </p:sp>
      <p:sp>
        <p:nvSpPr>
          <p:cNvPr id="68" name="mdpr-effect-shadow"/>
          <p:cNvSpPr/>
          <p:nvPr/>
        </p:nvSpPr>
        <p:spPr>
          <a:xfrm>
            <a:off x="10575036" y="1623060"/>
            <a:ext cx="786384" cy="658368"/>
          </a:xfrm>
          <a:prstGeom prst="roundRect">
            <a:avLst/>
          </a:prstGeom>
          <a:solidFill>
            <a:srgbClr val="757C8A"/>
          </a:solidFill>
          <a:ln>
            <a:solidFill>
              <a:srgbClr val="757C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mdpr-surface primitive-glass-table"/>
          <p:cNvSpPr/>
          <p:nvPr/>
        </p:nvSpPr>
        <p:spPr>
          <a:xfrm>
            <a:off x="10533888" y="1572768"/>
            <a:ext cx="786384" cy="658368"/>
          </a:xfrm>
          <a:prstGeom prst="roundRect">
            <a:avLst/>
          </a:prstGeom>
          <a:solidFill>
            <a:srgbClr val="131B31"/>
          </a:solidFill>
          <a:ln w="1016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mdpr-effect glass-highlight"/>
          <p:cNvSpPr/>
          <p:nvPr/>
        </p:nvSpPr>
        <p:spPr>
          <a:xfrm>
            <a:off x="10698480" y="1737360"/>
            <a:ext cx="457200" cy="16459"/>
          </a:xfrm>
          <a:prstGeom prst="rect">
            <a:avLst/>
          </a:prstGeom>
          <a:solidFill>
            <a:srgbClr val="D4E6E5"/>
          </a:solidFill>
          <a:ln>
            <a:solidFill>
              <a:srgbClr val="D4E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mdpr-effect glass-glow"/>
          <p:cNvSpPr/>
          <p:nvPr/>
        </p:nvSpPr>
        <p:spPr>
          <a:xfrm>
            <a:off x="10908792" y="1737360"/>
            <a:ext cx="164592" cy="164592"/>
          </a:xfrm>
          <a:prstGeom prst="ellipse">
            <a:avLst/>
          </a:prstGeom>
          <a:solidFill>
            <a:srgbClr val="4B9892"/>
          </a:solidFill>
          <a:ln>
            <a:solidFill>
              <a:srgbClr val="4B98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mdpr-decor primitive-table-row"/>
          <p:cNvSpPr/>
          <p:nvPr/>
        </p:nvSpPr>
        <p:spPr>
          <a:xfrm>
            <a:off x="10643615" y="1709928"/>
            <a:ext cx="530352" cy="9144"/>
          </a:xfrm>
          <a:prstGeom prst="rect">
            <a:avLst/>
          </a:prstGeom>
          <a:solidFill>
            <a:srgbClr val="A8B2BE"/>
          </a:solidFill>
          <a:ln>
            <a:solidFill>
              <a:srgbClr val="A8B2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mdpr-decor primitive-table-row"/>
          <p:cNvSpPr/>
          <p:nvPr/>
        </p:nvSpPr>
        <p:spPr>
          <a:xfrm>
            <a:off x="10643615" y="1847088"/>
            <a:ext cx="530352" cy="9144"/>
          </a:xfrm>
          <a:prstGeom prst="rect">
            <a:avLst/>
          </a:prstGeom>
          <a:solidFill>
            <a:srgbClr val="A8B2BE"/>
          </a:solidFill>
          <a:ln>
            <a:solidFill>
              <a:srgbClr val="A8B2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mdpr-decor primitive-table-row"/>
          <p:cNvSpPr/>
          <p:nvPr/>
        </p:nvSpPr>
        <p:spPr>
          <a:xfrm>
            <a:off x="10643615" y="1984248"/>
            <a:ext cx="530352" cy="9144"/>
          </a:xfrm>
          <a:prstGeom prst="rect">
            <a:avLst/>
          </a:prstGeom>
          <a:solidFill>
            <a:srgbClr val="A8B2BE"/>
          </a:solidFill>
          <a:ln>
            <a:solidFill>
              <a:srgbClr val="A8B2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mdpr-decor primitive-chart-bar"/>
          <p:cNvSpPr/>
          <p:nvPr/>
        </p:nvSpPr>
        <p:spPr>
          <a:xfrm>
            <a:off x="9454895" y="2569464"/>
            <a:ext cx="100584" cy="164592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mdpr-decor primitive-chart-bar"/>
          <p:cNvSpPr/>
          <p:nvPr/>
        </p:nvSpPr>
        <p:spPr>
          <a:xfrm>
            <a:off x="9656063" y="2423160"/>
            <a:ext cx="100584" cy="310896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mdpr-decor primitive-chart-bar"/>
          <p:cNvSpPr/>
          <p:nvPr/>
        </p:nvSpPr>
        <p:spPr>
          <a:xfrm>
            <a:off x="9857231" y="2496312"/>
            <a:ext cx="100584" cy="237744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mdpr-decor primitive-marker"/>
          <p:cNvSpPr/>
          <p:nvPr/>
        </p:nvSpPr>
        <p:spPr>
          <a:xfrm>
            <a:off x="10698480" y="2414015"/>
            <a:ext cx="256032" cy="256032"/>
          </a:xfrm>
          <a:prstGeom prst="ellipse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mdpr-text-in-decor"/>
          <p:cNvSpPr txBox="1"/>
          <p:nvPr/>
        </p:nvSpPr>
        <p:spPr>
          <a:xfrm>
            <a:off x="10698480" y="2414015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D</a:t>
            </a:r>
          </a:p>
        </p:txBody>
      </p:sp>
      <p:sp>
        <p:nvSpPr>
          <p:cNvPr id="80" name="mdpr-text primitive-caption"/>
          <p:cNvSpPr txBox="1"/>
          <p:nvPr/>
        </p:nvSpPr>
        <p:spPr>
          <a:xfrm>
            <a:off x="10972799" y="2350008"/>
            <a:ext cx="530352" cy="25603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1">
                <a:solidFill>
                  <a:srgbClr val="F8FAFC"/>
                </a:solidFill>
              </a:rPr>
              <a:t>mark</a:t>
            </a:r>
          </a:p>
        </p:txBody>
      </p:sp>
      <p:sp>
        <p:nvSpPr>
          <p:cNvPr id="81" name="mdpr-text primitive-style"/>
          <p:cNvSpPr txBox="1"/>
          <p:nvPr/>
        </p:nvSpPr>
        <p:spPr>
          <a:xfrm>
            <a:off x="9308591" y="1353312"/>
            <a:ext cx="1234440" cy="21945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00" b="1">
                <a:solidFill>
                  <a:srgbClr val="F8FAFC"/>
                </a:solidFill>
              </a:rPr>
              <a:t>GLASS</a:t>
            </a:r>
          </a:p>
        </p:txBody>
      </p:sp>
      <p:sp>
        <p:nvSpPr>
          <p:cNvPr id="82" name="mdpr-text primitive-effect"/>
          <p:cNvSpPr txBox="1"/>
          <p:nvPr/>
        </p:nvSpPr>
        <p:spPr>
          <a:xfrm>
            <a:off x="10424159" y="1353312"/>
            <a:ext cx="1005840" cy="21945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700" b="0">
                <a:solidFill>
                  <a:srgbClr val="F8FAFC"/>
                </a:solidFill>
              </a:rPr>
              <a:t>glass</a:t>
            </a:r>
          </a:p>
        </p:txBody>
      </p:sp>
      <p:sp>
        <p:nvSpPr>
          <p:cNvPr id="83" name="mdpr-theme-cell"/>
          <p:cNvSpPr/>
          <p:nvPr/>
        </p:nvSpPr>
        <p:spPr>
          <a:xfrm>
            <a:off x="566928" y="3538728"/>
            <a:ext cx="2487168" cy="1810512"/>
          </a:xfrm>
          <a:prstGeom prst="rect">
            <a:avLst/>
          </a:prstGeom>
          <a:solidFill>
            <a:srgbClr val="F8FAFC"/>
          </a:solidFill>
          <a:ln w="1016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mdpr-surface primitive-grid-card"/>
          <p:cNvSpPr/>
          <p:nvPr/>
        </p:nvSpPr>
        <p:spPr>
          <a:xfrm>
            <a:off x="749808" y="3813048"/>
            <a:ext cx="1060704" cy="658368"/>
          </a:xfrm>
          <a:prstGeom prst="roundRect">
            <a:avLst/>
          </a:prstGeom>
          <a:solidFill>
            <a:srgbClr val="FEFEFE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mdpr-effect grid-rule"/>
          <p:cNvSpPr/>
          <p:nvPr/>
        </p:nvSpPr>
        <p:spPr>
          <a:xfrm>
            <a:off x="1099840" y="3904487"/>
            <a:ext cx="9144" cy="475488"/>
          </a:xfrm>
          <a:prstGeom prst="rect">
            <a:avLst/>
          </a:prstGeom>
          <a:solidFill>
            <a:srgbClr val="D8DFE9"/>
          </a:solidFill>
          <a:ln>
            <a:solidFill>
              <a:srgbClr val="D8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mdpr-effect grid-rule"/>
          <p:cNvSpPr/>
          <p:nvPr/>
        </p:nvSpPr>
        <p:spPr>
          <a:xfrm>
            <a:off x="1449872" y="3904487"/>
            <a:ext cx="9144" cy="475488"/>
          </a:xfrm>
          <a:prstGeom prst="rect">
            <a:avLst/>
          </a:prstGeom>
          <a:solidFill>
            <a:srgbClr val="D8DFE9"/>
          </a:solidFill>
          <a:ln>
            <a:solidFill>
              <a:srgbClr val="D8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mdpr-effect grid-rule"/>
          <p:cNvSpPr/>
          <p:nvPr/>
        </p:nvSpPr>
        <p:spPr>
          <a:xfrm>
            <a:off x="841248" y="4089562"/>
            <a:ext cx="877824" cy="9144"/>
          </a:xfrm>
          <a:prstGeom prst="rect">
            <a:avLst/>
          </a:prstGeom>
          <a:solidFill>
            <a:srgbClr val="D8DFE9"/>
          </a:solidFill>
          <a:ln>
            <a:solidFill>
              <a:srgbClr val="D8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mdpr-effect grid-rule"/>
          <p:cNvSpPr/>
          <p:nvPr/>
        </p:nvSpPr>
        <p:spPr>
          <a:xfrm>
            <a:off x="841248" y="4287072"/>
            <a:ext cx="877824" cy="9144"/>
          </a:xfrm>
          <a:prstGeom prst="rect">
            <a:avLst/>
          </a:prstGeom>
          <a:solidFill>
            <a:srgbClr val="D8DFE9"/>
          </a:solidFill>
          <a:ln>
            <a:solidFill>
              <a:srgbClr val="D8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mdpr-text primitive-label"/>
          <p:cNvSpPr txBox="1"/>
          <p:nvPr/>
        </p:nvSpPr>
        <p:spPr>
          <a:xfrm>
            <a:off x="877824" y="3950208"/>
            <a:ext cx="713232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700" b="1">
                <a:solidFill>
                  <a:srgbClr val="111827"/>
                </a:solidFill>
              </a:rPr>
              <a:t>CARD</a:t>
            </a:r>
          </a:p>
        </p:txBody>
      </p:sp>
      <p:sp>
        <p:nvSpPr>
          <p:cNvPr id="90" name="mdpr-surface primitive-grid-table"/>
          <p:cNvSpPr/>
          <p:nvPr/>
        </p:nvSpPr>
        <p:spPr>
          <a:xfrm>
            <a:off x="1975104" y="3813048"/>
            <a:ext cx="786384" cy="658368"/>
          </a:xfrm>
          <a:prstGeom prst="roundRect">
            <a:avLst/>
          </a:prstGeom>
          <a:solidFill>
            <a:srgbClr val="FEFEFE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mdpr-effect grid-rule"/>
          <p:cNvSpPr/>
          <p:nvPr/>
        </p:nvSpPr>
        <p:spPr>
          <a:xfrm>
            <a:off x="2234610" y="3904487"/>
            <a:ext cx="9144" cy="475488"/>
          </a:xfrm>
          <a:prstGeom prst="rect">
            <a:avLst/>
          </a:prstGeom>
          <a:solidFill>
            <a:srgbClr val="D8DFE9"/>
          </a:solidFill>
          <a:ln>
            <a:solidFill>
              <a:srgbClr val="D8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mdpr-effect grid-rule"/>
          <p:cNvSpPr/>
          <p:nvPr/>
        </p:nvSpPr>
        <p:spPr>
          <a:xfrm>
            <a:off x="2494117" y="3904487"/>
            <a:ext cx="9144" cy="475488"/>
          </a:xfrm>
          <a:prstGeom prst="rect">
            <a:avLst/>
          </a:prstGeom>
          <a:solidFill>
            <a:srgbClr val="D8DFE9"/>
          </a:solidFill>
          <a:ln>
            <a:solidFill>
              <a:srgbClr val="D8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mdpr-effect grid-rule"/>
          <p:cNvSpPr/>
          <p:nvPr/>
        </p:nvSpPr>
        <p:spPr>
          <a:xfrm>
            <a:off x="2066544" y="4089562"/>
            <a:ext cx="603503" cy="9144"/>
          </a:xfrm>
          <a:prstGeom prst="rect">
            <a:avLst/>
          </a:prstGeom>
          <a:solidFill>
            <a:srgbClr val="D8DFE9"/>
          </a:solidFill>
          <a:ln>
            <a:solidFill>
              <a:srgbClr val="D8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mdpr-effect grid-rule"/>
          <p:cNvSpPr/>
          <p:nvPr/>
        </p:nvSpPr>
        <p:spPr>
          <a:xfrm>
            <a:off x="2066544" y="4287072"/>
            <a:ext cx="603503" cy="9144"/>
          </a:xfrm>
          <a:prstGeom prst="rect">
            <a:avLst/>
          </a:prstGeom>
          <a:solidFill>
            <a:srgbClr val="D8DFE9"/>
          </a:solidFill>
          <a:ln>
            <a:solidFill>
              <a:srgbClr val="D8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mdpr-decor primitive-table-row"/>
          <p:cNvSpPr/>
          <p:nvPr/>
        </p:nvSpPr>
        <p:spPr>
          <a:xfrm>
            <a:off x="2084831" y="3950208"/>
            <a:ext cx="530352" cy="9144"/>
          </a:xfrm>
          <a:prstGeom prst="rect">
            <a:avLst/>
          </a:prstGeom>
          <a:solidFill>
            <a:srgbClr val="D3DCE6"/>
          </a:solidFill>
          <a:ln>
            <a:solidFill>
              <a:srgbClr val="D3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mdpr-decor primitive-table-row"/>
          <p:cNvSpPr/>
          <p:nvPr/>
        </p:nvSpPr>
        <p:spPr>
          <a:xfrm>
            <a:off x="2084831" y="4087368"/>
            <a:ext cx="530352" cy="9144"/>
          </a:xfrm>
          <a:prstGeom prst="rect">
            <a:avLst/>
          </a:prstGeom>
          <a:solidFill>
            <a:srgbClr val="D3DCE6"/>
          </a:solidFill>
          <a:ln>
            <a:solidFill>
              <a:srgbClr val="D3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mdpr-decor primitive-table-row"/>
          <p:cNvSpPr/>
          <p:nvPr/>
        </p:nvSpPr>
        <p:spPr>
          <a:xfrm>
            <a:off x="2084831" y="4224528"/>
            <a:ext cx="530352" cy="9144"/>
          </a:xfrm>
          <a:prstGeom prst="rect">
            <a:avLst/>
          </a:prstGeom>
          <a:solidFill>
            <a:srgbClr val="D3DCE6"/>
          </a:solidFill>
          <a:ln>
            <a:solidFill>
              <a:srgbClr val="D3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mdpr-decor primitive-chart-bar"/>
          <p:cNvSpPr/>
          <p:nvPr/>
        </p:nvSpPr>
        <p:spPr>
          <a:xfrm>
            <a:off x="896112" y="4809744"/>
            <a:ext cx="100584" cy="164592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mdpr-decor primitive-chart-bar"/>
          <p:cNvSpPr/>
          <p:nvPr/>
        </p:nvSpPr>
        <p:spPr>
          <a:xfrm>
            <a:off x="1097280" y="4663440"/>
            <a:ext cx="100584" cy="310896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mdpr-decor primitive-chart-bar"/>
          <p:cNvSpPr/>
          <p:nvPr/>
        </p:nvSpPr>
        <p:spPr>
          <a:xfrm>
            <a:off x="1298448" y="4736592"/>
            <a:ext cx="100584" cy="237744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mdpr-decor primitive-marker"/>
          <p:cNvSpPr/>
          <p:nvPr/>
        </p:nvSpPr>
        <p:spPr>
          <a:xfrm>
            <a:off x="2139696" y="4654296"/>
            <a:ext cx="256032" cy="256032"/>
          </a:xfrm>
          <a:prstGeom prst="ellipse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mdpr-text-in-decor"/>
          <p:cNvSpPr txBox="1"/>
          <p:nvPr/>
        </p:nvSpPr>
        <p:spPr>
          <a:xfrm>
            <a:off x="2139696" y="4654296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E</a:t>
            </a:r>
          </a:p>
        </p:txBody>
      </p:sp>
      <p:sp>
        <p:nvSpPr>
          <p:cNvPr id="103" name="mdpr-text primitive-caption"/>
          <p:cNvSpPr txBox="1"/>
          <p:nvPr/>
        </p:nvSpPr>
        <p:spPr>
          <a:xfrm>
            <a:off x="2414016" y="4590288"/>
            <a:ext cx="530352" cy="25603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1">
                <a:solidFill>
                  <a:srgbClr val="111827"/>
                </a:solidFill>
              </a:rPr>
              <a:t>mark</a:t>
            </a:r>
          </a:p>
        </p:txBody>
      </p:sp>
      <p:sp>
        <p:nvSpPr>
          <p:cNvPr id="104" name="mdpr-text primitive-style"/>
          <p:cNvSpPr txBox="1"/>
          <p:nvPr/>
        </p:nvSpPr>
        <p:spPr>
          <a:xfrm>
            <a:off x="749808" y="3593592"/>
            <a:ext cx="1234440" cy="21945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00" b="1">
                <a:solidFill>
                  <a:srgbClr val="111827"/>
                </a:solidFill>
              </a:rPr>
              <a:t>GRID</a:t>
            </a:r>
          </a:p>
        </p:txBody>
      </p:sp>
      <p:sp>
        <p:nvSpPr>
          <p:cNvPr id="105" name="mdpr-text primitive-effect"/>
          <p:cNvSpPr txBox="1"/>
          <p:nvPr/>
        </p:nvSpPr>
        <p:spPr>
          <a:xfrm>
            <a:off x="1865376" y="3593592"/>
            <a:ext cx="1005840" cy="21945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700" b="0">
                <a:solidFill>
                  <a:srgbClr val="111827"/>
                </a:solidFill>
              </a:rPr>
              <a:t>none</a:t>
            </a:r>
          </a:p>
        </p:txBody>
      </p:sp>
      <p:sp>
        <p:nvSpPr>
          <p:cNvPr id="106" name="mdpr-theme-cell"/>
          <p:cNvSpPr/>
          <p:nvPr/>
        </p:nvSpPr>
        <p:spPr>
          <a:xfrm>
            <a:off x="3419856" y="3538728"/>
            <a:ext cx="2487168" cy="1810512"/>
          </a:xfrm>
          <a:prstGeom prst="rect">
            <a:avLst/>
          </a:prstGeom>
          <a:solidFill>
            <a:srgbClr val="0B1020"/>
          </a:solidFill>
          <a:ln w="10160">
            <a:solidFill>
              <a:srgbClr val="757C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mdpr-surface primitive-data-card"/>
          <p:cNvSpPr/>
          <p:nvPr/>
        </p:nvSpPr>
        <p:spPr>
          <a:xfrm>
            <a:off x="3602736" y="3813048"/>
            <a:ext cx="1060704" cy="658368"/>
          </a:xfrm>
          <a:prstGeom prst="roundRect">
            <a:avLst/>
          </a:prstGeom>
          <a:solidFill>
            <a:srgbClr val="162038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mdpr-effect data-baseline"/>
          <p:cNvSpPr/>
          <p:nvPr/>
        </p:nvSpPr>
        <p:spPr>
          <a:xfrm>
            <a:off x="3767328" y="4288536"/>
            <a:ext cx="731519" cy="16459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mdpr-effect data-microbar"/>
          <p:cNvSpPr/>
          <p:nvPr/>
        </p:nvSpPr>
        <p:spPr>
          <a:xfrm>
            <a:off x="3858768" y="4133087"/>
            <a:ext cx="73152" cy="109728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mdpr-effect data-microbar"/>
          <p:cNvSpPr/>
          <p:nvPr/>
        </p:nvSpPr>
        <p:spPr>
          <a:xfrm>
            <a:off x="4023360" y="4041648"/>
            <a:ext cx="73152" cy="201168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mdpr-effect data-microbar"/>
          <p:cNvSpPr/>
          <p:nvPr/>
        </p:nvSpPr>
        <p:spPr>
          <a:xfrm>
            <a:off x="4187952" y="4096511"/>
            <a:ext cx="73152" cy="146304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mdpr-text primitive-label"/>
          <p:cNvSpPr txBox="1"/>
          <p:nvPr/>
        </p:nvSpPr>
        <p:spPr>
          <a:xfrm>
            <a:off x="3730752" y="3950208"/>
            <a:ext cx="713232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700" b="1">
                <a:solidFill>
                  <a:srgbClr val="F8FAFC"/>
                </a:solidFill>
              </a:rPr>
              <a:t>CARD</a:t>
            </a:r>
          </a:p>
        </p:txBody>
      </p:sp>
      <p:sp>
        <p:nvSpPr>
          <p:cNvPr id="113" name="mdpr-surface primitive-data-table"/>
          <p:cNvSpPr/>
          <p:nvPr/>
        </p:nvSpPr>
        <p:spPr>
          <a:xfrm>
            <a:off x="4828032" y="3813048"/>
            <a:ext cx="786384" cy="658368"/>
          </a:xfrm>
          <a:prstGeom prst="roundRect">
            <a:avLst/>
          </a:prstGeom>
          <a:solidFill>
            <a:srgbClr val="162038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mdpr-effect data-baseline"/>
          <p:cNvSpPr/>
          <p:nvPr/>
        </p:nvSpPr>
        <p:spPr>
          <a:xfrm>
            <a:off x="4992624" y="4288536"/>
            <a:ext cx="457200" cy="16459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mdpr-effect data-microbar"/>
          <p:cNvSpPr/>
          <p:nvPr/>
        </p:nvSpPr>
        <p:spPr>
          <a:xfrm>
            <a:off x="5084064" y="4133087"/>
            <a:ext cx="73152" cy="109728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mdpr-effect data-microbar"/>
          <p:cNvSpPr/>
          <p:nvPr/>
        </p:nvSpPr>
        <p:spPr>
          <a:xfrm>
            <a:off x="5248656" y="4041648"/>
            <a:ext cx="73152" cy="201168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mdpr-effect data-microbar"/>
          <p:cNvSpPr/>
          <p:nvPr/>
        </p:nvSpPr>
        <p:spPr>
          <a:xfrm>
            <a:off x="5413248" y="4096511"/>
            <a:ext cx="73152" cy="146304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mdpr-decor primitive-table-row"/>
          <p:cNvSpPr/>
          <p:nvPr/>
        </p:nvSpPr>
        <p:spPr>
          <a:xfrm>
            <a:off x="4937760" y="3950208"/>
            <a:ext cx="530352" cy="9144"/>
          </a:xfrm>
          <a:prstGeom prst="rect">
            <a:avLst/>
          </a:prstGeom>
          <a:solidFill>
            <a:srgbClr val="A8B2BE"/>
          </a:solidFill>
          <a:ln>
            <a:solidFill>
              <a:srgbClr val="A8B2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mdpr-decor primitive-table-row"/>
          <p:cNvSpPr/>
          <p:nvPr/>
        </p:nvSpPr>
        <p:spPr>
          <a:xfrm>
            <a:off x="4937760" y="4087368"/>
            <a:ext cx="530352" cy="9144"/>
          </a:xfrm>
          <a:prstGeom prst="rect">
            <a:avLst/>
          </a:prstGeom>
          <a:solidFill>
            <a:srgbClr val="A8B2BE"/>
          </a:solidFill>
          <a:ln>
            <a:solidFill>
              <a:srgbClr val="A8B2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mdpr-decor primitive-table-row"/>
          <p:cNvSpPr/>
          <p:nvPr/>
        </p:nvSpPr>
        <p:spPr>
          <a:xfrm>
            <a:off x="4937760" y="4224528"/>
            <a:ext cx="530352" cy="9144"/>
          </a:xfrm>
          <a:prstGeom prst="rect">
            <a:avLst/>
          </a:prstGeom>
          <a:solidFill>
            <a:srgbClr val="A8B2BE"/>
          </a:solidFill>
          <a:ln>
            <a:solidFill>
              <a:srgbClr val="A8B2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mdpr-decor primitive-chart-bar"/>
          <p:cNvSpPr/>
          <p:nvPr/>
        </p:nvSpPr>
        <p:spPr>
          <a:xfrm>
            <a:off x="3749040" y="4809744"/>
            <a:ext cx="100584" cy="164592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mdpr-decor primitive-chart-bar"/>
          <p:cNvSpPr/>
          <p:nvPr/>
        </p:nvSpPr>
        <p:spPr>
          <a:xfrm>
            <a:off x="3950208" y="4663440"/>
            <a:ext cx="100584" cy="310896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mdpr-decor primitive-chart-bar"/>
          <p:cNvSpPr/>
          <p:nvPr/>
        </p:nvSpPr>
        <p:spPr>
          <a:xfrm>
            <a:off x="4151376" y="4736592"/>
            <a:ext cx="100584" cy="237744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mdpr-decor primitive-marker"/>
          <p:cNvSpPr/>
          <p:nvPr/>
        </p:nvSpPr>
        <p:spPr>
          <a:xfrm>
            <a:off x="4992624" y="4654296"/>
            <a:ext cx="256032" cy="256032"/>
          </a:xfrm>
          <a:prstGeom prst="ellipse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mdpr-text-in-decor"/>
          <p:cNvSpPr txBox="1"/>
          <p:nvPr/>
        </p:nvSpPr>
        <p:spPr>
          <a:xfrm>
            <a:off x="4992624" y="4654296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F</a:t>
            </a:r>
          </a:p>
        </p:txBody>
      </p:sp>
      <p:sp>
        <p:nvSpPr>
          <p:cNvPr id="126" name="mdpr-text primitive-caption"/>
          <p:cNvSpPr txBox="1"/>
          <p:nvPr/>
        </p:nvSpPr>
        <p:spPr>
          <a:xfrm>
            <a:off x="5266944" y="4590288"/>
            <a:ext cx="530352" cy="25603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1">
                <a:solidFill>
                  <a:srgbClr val="F8FAFC"/>
                </a:solidFill>
              </a:rPr>
              <a:t>mark</a:t>
            </a:r>
          </a:p>
        </p:txBody>
      </p:sp>
      <p:sp>
        <p:nvSpPr>
          <p:cNvPr id="127" name="mdpr-text primitive-style"/>
          <p:cNvSpPr txBox="1"/>
          <p:nvPr/>
        </p:nvSpPr>
        <p:spPr>
          <a:xfrm>
            <a:off x="3602736" y="3593592"/>
            <a:ext cx="1234440" cy="21945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00" b="1">
                <a:solidFill>
                  <a:srgbClr val="F8FAFC"/>
                </a:solidFill>
              </a:rPr>
              <a:t>DATA</a:t>
            </a:r>
          </a:p>
        </p:txBody>
      </p:sp>
      <p:sp>
        <p:nvSpPr>
          <p:cNvPr id="128" name="mdpr-text primitive-effect"/>
          <p:cNvSpPr txBox="1"/>
          <p:nvPr/>
        </p:nvSpPr>
        <p:spPr>
          <a:xfrm>
            <a:off x="4718304" y="3593592"/>
            <a:ext cx="1005840" cy="21945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700" b="0">
                <a:solidFill>
                  <a:srgbClr val="F8FAFC"/>
                </a:solidFill>
              </a:rPr>
              <a:t>none</a:t>
            </a:r>
          </a:p>
        </p:txBody>
      </p:sp>
      <p:sp>
        <p:nvSpPr>
          <p:cNvPr id="129" name="mdpr-theme-cell"/>
          <p:cNvSpPr/>
          <p:nvPr/>
        </p:nvSpPr>
        <p:spPr>
          <a:xfrm>
            <a:off x="6272784" y="3538728"/>
            <a:ext cx="2487168" cy="1810512"/>
          </a:xfrm>
          <a:prstGeom prst="rect">
            <a:avLst/>
          </a:prstGeom>
          <a:solidFill>
            <a:srgbClr val="F8FAFC"/>
          </a:solidFill>
          <a:ln w="1016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mdpr-effect-shadow"/>
          <p:cNvSpPr/>
          <p:nvPr/>
        </p:nvSpPr>
        <p:spPr>
          <a:xfrm>
            <a:off x="6496812" y="3863339"/>
            <a:ext cx="1060704" cy="658368"/>
          </a:xfrm>
          <a:prstGeom prst="roundRect">
            <a:avLst/>
          </a:prstGeom>
          <a:solidFill>
            <a:srgbClr val="EAEFF4"/>
          </a:solidFill>
          <a:ln>
            <a:solidFill>
              <a:srgbClr val="EAEF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mdpr-surface primitive-magazine-card"/>
          <p:cNvSpPr/>
          <p:nvPr/>
        </p:nvSpPr>
        <p:spPr>
          <a:xfrm>
            <a:off x="6455664" y="3813048"/>
            <a:ext cx="1060704" cy="6583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mdpr-effect magazine-rule"/>
          <p:cNvSpPr/>
          <p:nvPr/>
        </p:nvSpPr>
        <p:spPr>
          <a:xfrm>
            <a:off x="6455664" y="3922776"/>
            <a:ext cx="1060704" cy="16459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mdpr-effect magazine-rail"/>
          <p:cNvSpPr/>
          <p:nvPr/>
        </p:nvSpPr>
        <p:spPr>
          <a:xfrm>
            <a:off x="6565392" y="3813048"/>
            <a:ext cx="32004" cy="658368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mdpr-text primitive-label"/>
          <p:cNvSpPr txBox="1"/>
          <p:nvPr/>
        </p:nvSpPr>
        <p:spPr>
          <a:xfrm>
            <a:off x="6583680" y="3950208"/>
            <a:ext cx="713232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700" b="1">
                <a:solidFill>
                  <a:srgbClr val="111827"/>
                </a:solidFill>
              </a:rPr>
              <a:t>CARD</a:t>
            </a:r>
          </a:p>
        </p:txBody>
      </p:sp>
      <p:sp>
        <p:nvSpPr>
          <p:cNvPr id="135" name="mdpr-effect-shadow"/>
          <p:cNvSpPr/>
          <p:nvPr/>
        </p:nvSpPr>
        <p:spPr>
          <a:xfrm>
            <a:off x="7722108" y="3863339"/>
            <a:ext cx="786384" cy="658368"/>
          </a:xfrm>
          <a:prstGeom prst="roundRect">
            <a:avLst/>
          </a:prstGeom>
          <a:solidFill>
            <a:srgbClr val="EAEFF4"/>
          </a:solidFill>
          <a:ln>
            <a:solidFill>
              <a:srgbClr val="EAEF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mdpr-surface primitive-magazine-table"/>
          <p:cNvSpPr/>
          <p:nvPr/>
        </p:nvSpPr>
        <p:spPr>
          <a:xfrm>
            <a:off x="7680960" y="3813048"/>
            <a:ext cx="786384" cy="6583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mdpr-effect magazine-rule"/>
          <p:cNvSpPr/>
          <p:nvPr/>
        </p:nvSpPr>
        <p:spPr>
          <a:xfrm>
            <a:off x="7680960" y="3922776"/>
            <a:ext cx="786384" cy="16459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mdpr-effect magazine-rail"/>
          <p:cNvSpPr/>
          <p:nvPr/>
        </p:nvSpPr>
        <p:spPr>
          <a:xfrm>
            <a:off x="7790688" y="3813048"/>
            <a:ext cx="32004" cy="658368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mdpr-decor primitive-table-row"/>
          <p:cNvSpPr/>
          <p:nvPr/>
        </p:nvSpPr>
        <p:spPr>
          <a:xfrm>
            <a:off x="7790688" y="3950208"/>
            <a:ext cx="530352" cy="9144"/>
          </a:xfrm>
          <a:prstGeom prst="rect">
            <a:avLst/>
          </a:prstGeom>
          <a:solidFill>
            <a:srgbClr val="D3DCE6"/>
          </a:solidFill>
          <a:ln>
            <a:solidFill>
              <a:srgbClr val="D3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mdpr-decor primitive-table-row"/>
          <p:cNvSpPr/>
          <p:nvPr/>
        </p:nvSpPr>
        <p:spPr>
          <a:xfrm>
            <a:off x="7790688" y="4087368"/>
            <a:ext cx="530352" cy="9144"/>
          </a:xfrm>
          <a:prstGeom prst="rect">
            <a:avLst/>
          </a:prstGeom>
          <a:solidFill>
            <a:srgbClr val="D3DCE6"/>
          </a:solidFill>
          <a:ln>
            <a:solidFill>
              <a:srgbClr val="D3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mdpr-decor primitive-table-row"/>
          <p:cNvSpPr/>
          <p:nvPr/>
        </p:nvSpPr>
        <p:spPr>
          <a:xfrm>
            <a:off x="7790688" y="4224528"/>
            <a:ext cx="530352" cy="9144"/>
          </a:xfrm>
          <a:prstGeom prst="rect">
            <a:avLst/>
          </a:prstGeom>
          <a:solidFill>
            <a:srgbClr val="D3DCE6"/>
          </a:solidFill>
          <a:ln>
            <a:solidFill>
              <a:srgbClr val="D3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mdpr-decor primitive-chart-bar"/>
          <p:cNvSpPr/>
          <p:nvPr/>
        </p:nvSpPr>
        <p:spPr>
          <a:xfrm>
            <a:off x="6601968" y="4809744"/>
            <a:ext cx="100584" cy="164592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mdpr-decor primitive-chart-bar"/>
          <p:cNvSpPr/>
          <p:nvPr/>
        </p:nvSpPr>
        <p:spPr>
          <a:xfrm>
            <a:off x="6803136" y="4663440"/>
            <a:ext cx="100584" cy="310896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mdpr-decor primitive-chart-bar"/>
          <p:cNvSpPr/>
          <p:nvPr/>
        </p:nvSpPr>
        <p:spPr>
          <a:xfrm>
            <a:off x="7004304" y="4736592"/>
            <a:ext cx="100584" cy="237744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mdpr-decor primitive-marker"/>
          <p:cNvSpPr/>
          <p:nvPr/>
        </p:nvSpPr>
        <p:spPr>
          <a:xfrm>
            <a:off x="7845552" y="4654296"/>
            <a:ext cx="256032" cy="256032"/>
          </a:xfrm>
          <a:prstGeom prst="ellipse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mdpr-text-in-decor"/>
          <p:cNvSpPr txBox="1"/>
          <p:nvPr/>
        </p:nvSpPr>
        <p:spPr>
          <a:xfrm>
            <a:off x="7845552" y="4654296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G</a:t>
            </a:r>
          </a:p>
        </p:txBody>
      </p:sp>
      <p:sp>
        <p:nvSpPr>
          <p:cNvPr id="147" name="mdpr-text primitive-caption"/>
          <p:cNvSpPr txBox="1"/>
          <p:nvPr/>
        </p:nvSpPr>
        <p:spPr>
          <a:xfrm>
            <a:off x="8119872" y="4590288"/>
            <a:ext cx="530352" cy="25603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1">
                <a:solidFill>
                  <a:srgbClr val="111827"/>
                </a:solidFill>
              </a:rPr>
              <a:t>mark</a:t>
            </a:r>
          </a:p>
        </p:txBody>
      </p:sp>
      <p:sp>
        <p:nvSpPr>
          <p:cNvPr id="148" name="mdpr-text primitive-style"/>
          <p:cNvSpPr txBox="1"/>
          <p:nvPr/>
        </p:nvSpPr>
        <p:spPr>
          <a:xfrm>
            <a:off x="6455664" y="3593592"/>
            <a:ext cx="1234440" cy="21945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00" b="1">
                <a:solidFill>
                  <a:srgbClr val="111827"/>
                </a:solidFill>
              </a:rPr>
              <a:t>MAGAZINE</a:t>
            </a:r>
          </a:p>
        </p:txBody>
      </p:sp>
      <p:sp>
        <p:nvSpPr>
          <p:cNvPr id="149" name="mdpr-text primitive-effect"/>
          <p:cNvSpPr txBox="1"/>
          <p:nvPr/>
        </p:nvSpPr>
        <p:spPr>
          <a:xfrm>
            <a:off x="7571232" y="3593592"/>
            <a:ext cx="1005840" cy="21945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700" b="0">
                <a:solidFill>
                  <a:srgbClr val="111827"/>
                </a:solidFill>
              </a:rPr>
              <a:t>soft</a:t>
            </a:r>
          </a:p>
        </p:txBody>
      </p:sp>
      <p:sp>
        <p:nvSpPr>
          <p:cNvPr id="150" name="mdpr-theme-cell"/>
          <p:cNvSpPr/>
          <p:nvPr/>
        </p:nvSpPr>
        <p:spPr>
          <a:xfrm>
            <a:off x="9125711" y="3538728"/>
            <a:ext cx="2487168" cy="1810512"/>
          </a:xfrm>
          <a:prstGeom prst="rect">
            <a:avLst/>
          </a:prstGeom>
          <a:solidFill>
            <a:srgbClr val="F8FAFC"/>
          </a:solidFill>
          <a:ln w="1016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mdpr-effect-shadow"/>
          <p:cNvSpPr/>
          <p:nvPr/>
        </p:nvSpPr>
        <p:spPr>
          <a:xfrm>
            <a:off x="9349739" y="3863339"/>
            <a:ext cx="1060704" cy="658368"/>
          </a:xfrm>
          <a:prstGeom prst="roundRect">
            <a:avLst/>
          </a:prstGeom>
          <a:solidFill>
            <a:srgbClr val="EAEFF4"/>
          </a:solidFill>
          <a:ln>
            <a:solidFill>
              <a:srgbClr val="EAEF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mdpr-surface primitive-executive-card"/>
          <p:cNvSpPr/>
          <p:nvPr/>
        </p:nvSpPr>
        <p:spPr>
          <a:xfrm>
            <a:off x="9308591" y="3813048"/>
            <a:ext cx="1060704" cy="6583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mdpr-text primitive-label"/>
          <p:cNvSpPr txBox="1"/>
          <p:nvPr/>
        </p:nvSpPr>
        <p:spPr>
          <a:xfrm>
            <a:off x="9436607" y="3950208"/>
            <a:ext cx="713232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700" b="1">
                <a:solidFill>
                  <a:srgbClr val="111827"/>
                </a:solidFill>
              </a:rPr>
              <a:t>CARD</a:t>
            </a:r>
          </a:p>
        </p:txBody>
      </p:sp>
      <p:sp>
        <p:nvSpPr>
          <p:cNvPr id="154" name="mdpr-effect-shadow"/>
          <p:cNvSpPr/>
          <p:nvPr/>
        </p:nvSpPr>
        <p:spPr>
          <a:xfrm>
            <a:off x="10575036" y="3863339"/>
            <a:ext cx="786384" cy="658368"/>
          </a:xfrm>
          <a:prstGeom prst="roundRect">
            <a:avLst/>
          </a:prstGeom>
          <a:solidFill>
            <a:srgbClr val="EAEFF4"/>
          </a:solidFill>
          <a:ln>
            <a:solidFill>
              <a:srgbClr val="EAEF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mdpr-surface primitive-executive-table"/>
          <p:cNvSpPr/>
          <p:nvPr/>
        </p:nvSpPr>
        <p:spPr>
          <a:xfrm>
            <a:off x="10533888" y="3813048"/>
            <a:ext cx="786384" cy="6583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mdpr-decor primitive-table-row"/>
          <p:cNvSpPr/>
          <p:nvPr/>
        </p:nvSpPr>
        <p:spPr>
          <a:xfrm>
            <a:off x="10643615" y="3950208"/>
            <a:ext cx="530352" cy="9144"/>
          </a:xfrm>
          <a:prstGeom prst="rect">
            <a:avLst/>
          </a:prstGeom>
          <a:solidFill>
            <a:srgbClr val="D3DCE6"/>
          </a:solidFill>
          <a:ln>
            <a:solidFill>
              <a:srgbClr val="D3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mdpr-decor primitive-table-row"/>
          <p:cNvSpPr/>
          <p:nvPr/>
        </p:nvSpPr>
        <p:spPr>
          <a:xfrm>
            <a:off x="10643615" y="4087368"/>
            <a:ext cx="530352" cy="9144"/>
          </a:xfrm>
          <a:prstGeom prst="rect">
            <a:avLst/>
          </a:prstGeom>
          <a:solidFill>
            <a:srgbClr val="D3DCE6"/>
          </a:solidFill>
          <a:ln>
            <a:solidFill>
              <a:srgbClr val="D3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mdpr-decor primitive-table-row"/>
          <p:cNvSpPr/>
          <p:nvPr/>
        </p:nvSpPr>
        <p:spPr>
          <a:xfrm>
            <a:off x="10643615" y="4224528"/>
            <a:ext cx="530352" cy="9144"/>
          </a:xfrm>
          <a:prstGeom prst="rect">
            <a:avLst/>
          </a:prstGeom>
          <a:solidFill>
            <a:srgbClr val="D3DCE6"/>
          </a:solidFill>
          <a:ln>
            <a:solidFill>
              <a:srgbClr val="D3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mdpr-decor primitive-chart-bar"/>
          <p:cNvSpPr/>
          <p:nvPr/>
        </p:nvSpPr>
        <p:spPr>
          <a:xfrm>
            <a:off x="9454895" y="4809744"/>
            <a:ext cx="100584" cy="164592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mdpr-decor primitive-chart-bar"/>
          <p:cNvSpPr/>
          <p:nvPr/>
        </p:nvSpPr>
        <p:spPr>
          <a:xfrm>
            <a:off x="9656063" y="4663440"/>
            <a:ext cx="100584" cy="310896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mdpr-decor primitive-chart-bar"/>
          <p:cNvSpPr/>
          <p:nvPr/>
        </p:nvSpPr>
        <p:spPr>
          <a:xfrm>
            <a:off x="9857231" y="4736592"/>
            <a:ext cx="100584" cy="237744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mdpr-decor primitive-marker"/>
          <p:cNvSpPr/>
          <p:nvPr/>
        </p:nvSpPr>
        <p:spPr>
          <a:xfrm>
            <a:off x="10698480" y="4654296"/>
            <a:ext cx="256032" cy="256032"/>
          </a:xfrm>
          <a:prstGeom prst="ellipse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mdpr-text-in-decor"/>
          <p:cNvSpPr txBox="1"/>
          <p:nvPr/>
        </p:nvSpPr>
        <p:spPr>
          <a:xfrm>
            <a:off x="10698480" y="4654296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H</a:t>
            </a:r>
          </a:p>
        </p:txBody>
      </p:sp>
      <p:sp>
        <p:nvSpPr>
          <p:cNvPr id="164" name="mdpr-text primitive-caption"/>
          <p:cNvSpPr txBox="1"/>
          <p:nvPr/>
        </p:nvSpPr>
        <p:spPr>
          <a:xfrm>
            <a:off x="10972799" y="4590288"/>
            <a:ext cx="530352" cy="25603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1">
                <a:solidFill>
                  <a:srgbClr val="111827"/>
                </a:solidFill>
              </a:rPr>
              <a:t>mark</a:t>
            </a:r>
          </a:p>
        </p:txBody>
      </p:sp>
      <p:sp>
        <p:nvSpPr>
          <p:cNvPr id="165" name="mdpr-text primitive-style"/>
          <p:cNvSpPr txBox="1"/>
          <p:nvPr/>
        </p:nvSpPr>
        <p:spPr>
          <a:xfrm>
            <a:off x="9308591" y="3593592"/>
            <a:ext cx="1234440" cy="21945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00" b="1">
                <a:solidFill>
                  <a:srgbClr val="111827"/>
                </a:solidFill>
              </a:rPr>
              <a:t>EXECUTIVE</a:t>
            </a:r>
          </a:p>
        </p:txBody>
      </p:sp>
      <p:sp>
        <p:nvSpPr>
          <p:cNvPr id="166" name="mdpr-text primitive-effect"/>
          <p:cNvSpPr txBox="1"/>
          <p:nvPr/>
        </p:nvSpPr>
        <p:spPr>
          <a:xfrm>
            <a:off x="10424159" y="3593592"/>
            <a:ext cx="1005840" cy="21945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700" b="0">
                <a:solidFill>
                  <a:srgbClr val="111827"/>
                </a:solidFill>
              </a:rPr>
              <a:t>soft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dpr-text"/>
          <p:cNvSpPr txBox="1"/>
          <p:nvPr/>
        </p:nvSpPr>
        <p:spPr>
          <a:xfrm>
            <a:off x="502920" y="310896"/>
            <a:ext cx="7955279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2400" b="1">
                <a:solidFill>
                  <a:srgbClr val="111827"/>
                </a:solidFill>
              </a:rPr>
              <a:t>Object Shape Grammar Catalog 1</a:t>
            </a:r>
          </a:p>
        </p:txBody>
      </p:sp>
      <p:sp>
        <p:nvSpPr>
          <p:cNvPr id="3" name="mdpr-text"/>
          <p:cNvSpPr txBox="1"/>
          <p:nvPr/>
        </p:nvSpPr>
        <p:spPr>
          <a:xfrm>
            <a:off x="521207" y="768096"/>
            <a:ext cx="10241280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</a:rPr>
              <a:t>Editable preview objects generated from the 60+ structural archetype catalog.</a:t>
            </a:r>
          </a:p>
        </p:txBody>
      </p:sp>
      <p:sp>
        <p:nvSpPr>
          <p:cNvPr id="4" name="mdpr-decor"/>
          <p:cNvSpPr/>
          <p:nvPr/>
        </p:nvSpPr>
        <p:spPr>
          <a:xfrm>
            <a:off x="530352" y="1097280"/>
            <a:ext cx="1280160" cy="32004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mdpr-surface catalog-card"/>
          <p:cNvSpPr/>
          <p:nvPr/>
        </p:nvSpPr>
        <p:spPr>
          <a:xfrm>
            <a:off x="566928" y="1325880"/>
            <a:ext cx="3529584" cy="960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mdpr-decor"/>
          <p:cNvSpPr/>
          <p:nvPr/>
        </p:nvSpPr>
        <p:spPr>
          <a:xfrm>
            <a:off x="731520" y="1508760"/>
            <a:ext cx="54864" cy="59436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mdpr-text catalog-title"/>
          <p:cNvSpPr txBox="1"/>
          <p:nvPr/>
        </p:nvSpPr>
        <p:spPr>
          <a:xfrm>
            <a:off x="1527048" y="1444752"/>
            <a:ext cx="2404872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00" b="1">
                <a:solidFill>
                  <a:srgbClr val="111827"/>
                </a:solidFill>
              </a:rPr>
              <a:t>accent-rail-card</a:t>
            </a:r>
          </a:p>
        </p:txBody>
      </p:sp>
      <p:sp>
        <p:nvSpPr>
          <p:cNvPr id="8" name="mdpr-text catalog-body"/>
          <p:cNvSpPr txBox="1"/>
          <p:nvPr/>
        </p:nvSpPr>
        <p:spPr>
          <a:xfrm>
            <a:off x="1527048" y="1746504"/>
            <a:ext cx="2404872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0">
                <a:solidFill>
                  <a:srgbClr val="475569"/>
                </a:solidFill>
              </a:rPr>
              <a:t>vertical rail; title/body block</a:t>
            </a:r>
          </a:p>
        </p:txBody>
      </p:sp>
      <p:sp>
        <p:nvSpPr>
          <p:cNvPr id="9" name="mdpr-text catalog-token"/>
          <p:cNvSpPr txBox="1"/>
          <p:nvPr/>
        </p:nvSpPr>
        <p:spPr>
          <a:xfrm>
            <a:off x="1527048" y="2011680"/>
            <a:ext cx="2404872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1">
                <a:solidFill>
                  <a:srgbClr val="0F766E"/>
                </a:solidFill>
              </a:rPr>
              <a:t>theme-token driven</a:t>
            </a:r>
          </a:p>
        </p:txBody>
      </p:sp>
      <p:sp>
        <p:nvSpPr>
          <p:cNvPr id="10" name="mdpr-surface catalog-card"/>
          <p:cNvSpPr/>
          <p:nvPr/>
        </p:nvSpPr>
        <p:spPr>
          <a:xfrm>
            <a:off x="4325112" y="1325880"/>
            <a:ext cx="3529584" cy="960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mdpr-decor"/>
          <p:cNvSpPr/>
          <p:nvPr/>
        </p:nvSpPr>
        <p:spPr>
          <a:xfrm>
            <a:off x="4489703" y="1508760"/>
            <a:ext cx="676656" cy="3200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mdpr-text catalog-title"/>
          <p:cNvSpPr txBox="1"/>
          <p:nvPr/>
        </p:nvSpPr>
        <p:spPr>
          <a:xfrm>
            <a:off x="5285231" y="1444752"/>
            <a:ext cx="2404872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00" b="1">
                <a:solidFill>
                  <a:srgbClr val="111827"/>
                </a:solidFill>
              </a:rPr>
              <a:t>top-rule-card</a:t>
            </a:r>
          </a:p>
        </p:txBody>
      </p:sp>
      <p:sp>
        <p:nvSpPr>
          <p:cNvPr id="13" name="mdpr-text catalog-body"/>
          <p:cNvSpPr txBox="1"/>
          <p:nvPr/>
        </p:nvSpPr>
        <p:spPr>
          <a:xfrm>
            <a:off x="5285231" y="1746504"/>
            <a:ext cx="2404872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0">
                <a:solidFill>
                  <a:srgbClr val="475569"/>
                </a:solidFill>
              </a:rPr>
              <a:t>hairline rule; quiet surface</a:t>
            </a:r>
          </a:p>
        </p:txBody>
      </p:sp>
      <p:sp>
        <p:nvSpPr>
          <p:cNvPr id="14" name="mdpr-text catalog-token"/>
          <p:cNvSpPr txBox="1"/>
          <p:nvPr/>
        </p:nvSpPr>
        <p:spPr>
          <a:xfrm>
            <a:off x="5285231" y="2011680"/>
            <a:ext cx="2404872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1">
                <a:solidFill>
                  <a:srgbClr val="2563EB"/>
                </a:solidFill>
              </a:rPr>
              <a:t>theme-token driven</a:t>
            </a:r>
          </a:p>
        </p:txBody>
      </p:sp>
      <p:sp>
        <p:nvSpPr>
          <p:cNvPr id="15" name="mdpr-surface catalog-card"/>
          <p:cNvSpPr/>
          <p:nvPr/>
        </p:nvSpPr>
        <p:spPr>
          <a:xfrm>
            <a:off x="8083295" y="1325880"/>
            <a:ext cx="3529584" cy="960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mdpr-decor label-tab"/>
          <p:cNvSpPr/>
          <p:nvPr/>
        </p:nvSpPr>
        <p:spPr>
          <a:xfrm>
            <a:off x="8247887" y="1632204"/>
            <a:ext cx="384048" cy="347472"/>
          </a:xfrm>
          <a:prstGeom prst="roundRect">
            <a:avLst/>
          </a:prstGeom>
          <a:solidFill>
            <a:srgbClr val="C2410C"/>
          </a:solidFill>
          <a:ln w="1016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mdpr-text-in-decor"/>
          <p:cNvSpPr txBox="1"/>
          <p:nvPr/>
        </p:nvSpPr>
        <p:spPr>
          <a:xfrm>
            <a:off x="8247887" y="1632204"/>
            <a:ext cx="38404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8" name="mdpr-text catalog-title"/>
          <p:cNvSpPr txBox="1"/>
          <p:nvPr/>
        </p:nvSpPr>
        <p:spPr>
          <a:xfrm>
            <a:off x="9043415" y="1444752"/>
            <a:ext cx="2404872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00" b="1">
                <a:solidFill>
                  <a:srgbClr val="111827"/>
                </a:solidFill>
              </a:rPr>
              <a:t>number-tab-card</a:t>
            </a:r>
          </a:p>
        </p:txBody>
      </p:sp>
      <p:sp>
        <p:nvSpPr>
          <p:cNvPr id="19" name="mdpr-text catalog-body"/>
          <p:cNvSpPr txBox="1"/>
          <p:nvPr/>
        </p:nvSpPr>
        <p:spPr>
          <a:xfrm>
            <a:off x="9043415" y="1746504"/>
            <a:ext cx="2404872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0">
                <a:solidFill>
                  <a:srgbClr val="475569"/>
                </a:solidFill>
              </a:rPr>
              <a:t>small tab; number; aligned title</a:t>
            </a:r>
          </a:p>
        </p:txBody>
      </p:sp>
      <p:sp>
        <p:nvSpPr>
          <p:cNvPr id="20" name="mdpr-text catalog-token"/>
          <p:cNvSpPr txBox="1"/>
          <p:nvPr/>
        </p:nvSpPr>
        <p:spPr>
          <a:xfrm>
            <a:off x="9043415" y="2011680"/>
            <a:ext cx="2404872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1">
                <a:solidFill>
                  <a:srgbClr val="C2410C"/>
                </a:solidFill>
              </a:rPr>
              <a:t>theme-token driven</a:t>
            </a:r>
          </a:p>
        </p:txBody>
      </p:sp>
      <p:sp>
        <p:nvSpPr>
          <p:cNvPr id="21" name="mdpr-surface catalog-card"/>
          <p:cNvSpPr/>
          <p:nvPr/>
        </p:nvSpPr>
        <p:spPr>
          <a:xfrm>
            <a:off x="566928" y="2542032"/>
            <a:ext cx="3529584" cy="960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mdpr-decor chip"/>
          <p:cNvSpPr/>
          <p:nvPr/>
        </p:nvSpPr>
        <p:spPr>
          <a:xfrm>
            <a:off x="822960" y="2903220"/>
            <a:ext cx="457200" cy="237744"/>
          </a:xfrm>
          <a:prstGeom prst="roundRect">
            <a:avLst/>
          </a:prstGeom>
          <a:solidFill>
            <a:srgbClr val="7C3AED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mdpr-text catalog-title"/>
          <p:cNvSpPr txBox="1"/>
          <p:nvPr/>
        </p:nvSpPr>
        <p:spPr>
          <a:xfrm>
            <a:off x="1527048" y="2660904"/>
            <a:ext cx="2404872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00" b="1">
                <a:solidFill>
                  <a:srgbClr val="111827"/>
                </a:solidFill>
              </a:rPr>
              <a:t>corner-chip-card</a:t>
            </a:r>
          </a:p>
        </p:txBody>
      </p:sp>
      <p:sp>
        <p:nvSpPr>
          <p:cNvPr id="24" name="mdpr-text catalog-body"/>
          <p:cNvSpPr txBox="1"/>
          <p:nvPr/>
        </p:nvSpPr>
        <p:spPr>
          <a:xfrm>
            <a:off x="1527048" y="2962656"/>
            <a:ext cx="2404872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0">
                <a:solidFill>
                  <a:srgbClr val="475569"/>
                </a:solidFill>
              </a:rPr>
              <a:t>corner chip; compact label</a:t>
            </a:r>
          </a:p>
        </p:txBody>
      </p:sp>
      <p:sp>
        <p:nvSpPr>
          <p:cNvPr id="25" name="mdpr-text catalog-token"/>
          <p:cNvSpPr txBox="1"/>
          <p:nvPr/>
        </p:nvSpPr>
        <p:spPr>
          <a:xfrm>
            <a:off x="1527048" y="3227832"/>
            <a:ext cx="2404872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1">
                <a:solidFill>
                  <a:srgbClr val="7C3AED"/>
                </a:solidFill>
              </a:rPr>
              <a:t>theme-token driven</a:t>
            </a:r>
          </a:p>
        </p:txBody>
      </p:sp>
      <p:sp>
        <p:nvSpPr>
          <p:cNvPr id="26" name="mdpr-surface catalog-card"/>
          <p:cNvSpPr/>
          <p:nvPr/>
        </p:nvSpPr>
        <p:spPr>
          <a:xfrm>
            <a:off x="4325112" y="2542032"/>
            <a:ext cx="3529584" cy="960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mdpr-decor"/>
          <p:cNvSpPr/>
          <p:nvPr/>
        </p:nvSpPr>
        <p:spPr>
          <a:xfrm>
            <a:off x="4489703" y="2724912"/>
            <a:ext cx="36576" cy="594360"/>
          </a:xfrm>
          <a:prstGeom prst="rect">
            <a:avLst/>
          </a:prstGeom>
          <a:solidFill>
            <a:srgbClr val="E11D48"/>
          </a:solidFill>
          <a:ln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mdpr-decor"/>
          <p:cNvSpPr/>
          <p:nvPr/>
        </p:nvSpPr>
        <p:spPr>
          <a:xfrm>
            <a:off x="4489703" y="2724912"/>
            <a:ext cx="292608" cy="32004"/>
          </a:xfrm>
          <a:prstGeom prst="rect">
            <a:avLst/>
          </a:prstGeom>
          <a:solidFill>
            <a:srgbClr val="E11D48"/>
          </a:solidFill>
          <a:ln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mdpr-decor"/>
          <p:cNvSpPr/>
          <p:nvPr/>
        </p:nvSpPr>
        <p:spPr>
          <a:xfrm>
            <a:off x="4489703" y="3287268"/>
            <a:ext cx="292608" cy="32004"/>
          </a:xfrm>
          <a:prstGeom prst="rect">
            <a:avLst/>
          </a:prstGeom>
          <a:solidFill>
            <a:srgbClr val="E11D48"/>
          </a:solidFill>
          <a:ln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mdpr-text catalog-title"/>
          <p:cNvSpPr txBox="1"/>
          <p:nvPr/>
        </p:nvSpPr>
        <p:spPr>
          <a:xfrm>
            <a:off x="5285231" y="2660904"/>
            <a:ext cx="2404872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00" b="1">
                <a:solidFill>
                  <a:srgbClr val="111827"/>
                </a:solidFill>
              </a:rPr>
              <a:t>bracket-note-card</a:t>
            </a:r>
          </a:p>
        </p:txBody>
      </p:sp>
      <p:sp>
        <p:nvSpPr>
          <p:cNvPr id="31" name="mdpr-text catalog-body"/>
          <p:cNvSpPr txBox="1"/>
          <p:nvPr/>
        </p:nvSpPr>
        <p:spPr>
          <a:xfrm>
            <a:off x="5285231" y="2962656"/>
            <a:ext cx="2404872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0">
                <a:solidFill>
                  <a:srgbClr val="475569"/>
                </a:solidFill>
              </a:rPr>
              <a:t>thin bracket; label; indented body</a:t>
            </a:r>
          </a:p>
        </p:txBody>
      </p:sp>
      <p:sp>
        <p:nvSpPr>
          <p:cNvPr id="32" name="mdpr-text catalog-token"/>
          <p:cNvSpPr txBox="1"/>
          <p:nvPr/>
        </p:nvSpPr>
        <p:spPr>
          <a:xfrm>
            <a:off x="5285231" y="3227832"/>
            <a:ext cx="2404872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1">
                <a:solidFill>
                  <a:srgbClr val="E11D48"/>
                </a:solidFill>
              </a:rPr>
              <a:t>theme-token driven</a:t>
            </a:r>
          </a:p>
        </p:txBody>
      </p:sp>
      <p:sp>
        <p:nvSpPr>
          <p:cNvPr id="33" name="mdpr-surface catalog-card"/>
          <p:cNvSpPr/>
          <p:nvPr/>
        </p:nvSpPr>
        <p:spPr>
          <a:xfrm>
            <a:off x="8083295" y="2542032"/>
            <a:ext cx="3529584" cy="960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mdpr-decor"/>
          <p:cNvSpPr/>
          <p:nvPr/>
        </p:nvSpPr>
        <p:spPr>
          <a:xfrm>
            <a:off x="8293607" y="2903220"/>
            <a:ext cx="237744" cy="237744"/>
          </a:xfrm>
          <a:prstGeom prst="ellipse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mdpr-decor"/>
          <p:cNvSpPr/>
          <p:nvPr/>
        </p:nvSpPr>
        <p:spPr>
          <a:xfrm>
            <a:off x="8595359" y="3012948"/>
            <a:ext cx="384048" cy="18288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mdpr-text catalog-title"/>
          <p:cNvSpPr txBox="1"/>
          <p:nvPr/>
        </p:nvSpPr>
        <p:spPr>
          <a:xfrm>
            <a:off x="9043415" y="2660904"/>
            <a:ext cx="2404872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00" b="1">
                <a:solidFill>
                  <a:srgbClr val="111827"/>
                </a:solidFill>
              </a:rPr>
              <a:t>dot-marker-row</a:t>
            </a:r>
          </a:p>
        </p:txBody>
      </p:sp>
      <p:sp>
        <p:nvSpPr>
          <p:cNvPr id="37" name="mdpr-text catalog-body"/>
          <p:cNvSpPr txBox="1"/>
          <p:nvPr/>
        </p:nvSpPr>
        <p:spPr>
          <a:xfrm>
            <a:off x="9043415" y="2962656"/>
            <a:ext cx="2404872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0">
                <a:solidFill>
                  <a:srgbClr val="475569"/>
                </a:solidFill>
              </a:rPr>
              <a:t>small dot; first-line alignment</a:t>
            </a:r>
          </a:p>
        </p:txBody>
      </p:sp>
      <p:sp>
        <p:nvSpPr>
          <p:cNvPr id="38" name="mdpr-text catalog-token"/>
          <p:cNvSpPr txBox="1"/>
          <p:nvPr/>
        </p:nvSpPr>
        <p:spPr>
          <a:xfrm>
            <a:off x="9043415" y="3227832"/>
            <a:ext cx="2404872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1">
                <a:solidFill>
                  <a:srgbClr val="16A34A"/>
                </a:solidFill>
              </a:rPr>
              <a:t>theme-token driven</a:t>
            </a:r>
          </a:p>
        </p:txBody>
      </p:sp>
      <p:sp>
        <p:nvSpPr>
          <p:cNvPr id="39" name="mdpr-surface catalog-card"/>
          <p:cNvSpPr/>
          <p:nvPr/>
        </p:nvSpPr>
        <p:spPr>
          <a:xfrm>
            <a:off x="566928" y="3758184"/>
            <a:ext cx="3529584" cy="960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mdpr-text catalog-title"/>
          <p:cNvSpPr txBox="1"/>
          <p:nvPr/>
        </p:nvSpPr>
        <p:spPr>
          <a:xfrm>
            <a:off x="1527048" y="3877056"/>
            <a:ext cx="2404872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00" b="1">
                <a:solidFill>
                  <a:srgbClr val="111827"/>
                </a:solidFill>
              </a:rPr>
              <a:t>split-tone-row</a:t>
            </a:r>
          </a:p>
        </p:txBody>
      </p:sp>
      <p:sp>
        <p:nvSpPr>
          <p:cNvPr id="41" name="mdpr-text catalog-body"/>
          <p:cNvSpPr txBox="1"/>
          <p:nvPr/>
        </p:nvSpPr>
        <p:spPr>
          <a:xfrm>
            <a:off x="1527048" y="4178808"/>
            <a:ext cx="2404872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0">
                <a:solidFill>
                  <a:srgbClr val="475569"/>
                </a:solidFill>
              </a:rPr>
              <a:t>label zone; body zone</a:t>
            </a:r>
          </a:p>
        </p:txBody>
      </p:sp>
      <p:sp>
        <p:nvSpPr>
          <p:cNvPr id="42" name="mdpr-text catalog-token"/>
          <p:cNvSpPr txBox="1"/>
          <p:nvPr/>
        </p:nvSpPr>
        <p:spPr>
          <a:xfrm>
            <a:off x="1527048" y="4443984"/>
            <a:ext cx="2404872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1">
                <a:solidFill>
                  <a:srgbClr val="0F766E"/>
                </a:solidFill>
              </a:rPr>
              <a:t>theme-token driven</a:t>
            </a:r>
          </a:p>
        </p:txBody>
      </p:sp>
      <p:sp>
        <p:nvSpPr>
          <p:cNvPr id="43" name="mdpr-surface catalog-card"/>
          <p:cNvSpPr/>
          <p:nvPr/>
        </p:nvSpPr>
        <p:spPr>
          <a:xfrm>
            <a:off x="4325112" y="3758184"/>
            <a:ext cx="3529584" cy="960120"/>
          </a:xfrm>
          <a:prstGeom prst="roundRect">
            <a:avLst/>
          </a:prstGeom>
          <a:solidFill>
            <a:srgbClr val="FFF7ED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mdpr-decor chip"/>
          <p:cNvSpPr/>
          <p:nvPr/>
        </p:nvSpPr>
        <p:spPr>
          <a:xfrm>
            <a:off x="4581143" y="4119372"/>
            <a:ext cx="457200" cy="237744"/>
          </a:xfrm>
          <a:prstGeom prst="roundRect">
            <a:avLst/>
          </a:prstGeom>
          <a:solidFill>
            <a:srgbClr val="2563EB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mdpr-text catalog-title"/>
          <p:cNvSpPr txBox="1"/>
          <p:nvPr/>
        </p:nvSpPr>
        <p:spPr>
          <a:xfrm>
            <a:off x="5285231" y="3877056"/>
            <a:ext cx="2404872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00" b="1">
                <a:solidFill>
                  <a:srgbClr val="111827"/>
                </a:solidFill>
              </a:rPr>
              <a:t>proof-chip-inline</a:t>
            </a:r>
          </a:p>
        </p:txBody>
      </p:sp>
      <p:sp>
        <p:nvSpPr>
          <p:cNvPr id="46" name="mdpr-text catalog-body"/>
          <p:cNvSpPr txBox="1"/>
          <p:nvPr/>
        </p:nvSpPr>
        <p:spPr>
          <a:xfrm>
            <a:off x="5285231" y="4178808"/>
            <a:ext cx="2404872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0">
                <a:solidFill>
                  <a:srgbClr val="475569"/>
                </a:solidFill>
              </a:rPr>
              <a:t>small chip; metric text</a:t>
            </a:r>
          </a:p>
        </p:txBody>
      </p:sp>
      <p:sp>
        <p:nvSpPr>
          <p:cNvPr id="47" name="mdpr-text catalog-token"/>
          <p:cNvSpPr txBox="1"/>
          <p:nvPr/>
        </p:nvSpPr>
        <p:spPr>
          <a:xfrm>
            <a:off x="5285231" y="4443984"/>
            <a:ext cx="2404872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1">
                <a:solidFill>
                  <a:srgbClr val="2563EB"/>
                </a:solidFill>
              </a:rPr>
              <a:t>theme-token driven</a:t>
            </a:r>
          </a:p>
        </p:txBody>
      </p:sp>
      <p:sp>
        <p:nvSpPr>
          <p:cNvPr id="48" name="mdpr-surface catalog-card"/>
          <p:cNvSpPr/>
          <p:nvPr/>
        </p:nvSpPr>
        <p:spPr>
          <a:xfrm>
            <a:off x="8083295" y="3758184"/>
            <a:ext cx="3529584" cy="960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mdpr-text catalog-title"/>
          <p:cNvSpPr txBox="1"/>
          <p:nvPr/>
        </p:nvSpPr>
        <p:spPr>
          <a:xfrm>
            <a:off x="9043415" y="3877056"/>
            <a:ext cx="2404872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00" b="1">
                <a:solidFill>
                  <a:srgbClr val="111827"/>
                </a:solidFill>
              </a:rPr>
              <a:t>thin-outline-card</a:t>
            </a:r>
          </a:p>
        </p:txBody>
      </p:sp>
      <p:sp>
        <p:nvSpPr>
          <p:cNvPr id="50" name="mdpr-text catalog-body"/>
          <p:cNvSpPr txBox="1"/>
          <p:nvPr/>
        </p:nvSpPr>
        <p:spPr>
          <a:xfrm>
            <a:off x="9043415" y="4178808"/>
            <a:ext cx="2404872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0">
                <a:solidFill>
                  <a:srgbClr val="475569"/>
                </a:solidFill>
              </a:rPr>
              <a:t>outline; plain surface</a:t>
            </a:r>
          </a:p>
        </p:txBody>
      </p:sp>
      <p:sp>
        <p:nvSpPr>
          <p:cNvPr id="51" name="mdpr-text catalog-token"/>
          <p:cNvSpPr txBox="1"/>
          <p:nvPr/>
        </p:nvSpPr>
        <p:spPr>
          <a:xfrm>
            <a:off x="9043415" y="4443984"/>
            <a:ext cx="2404872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1">
                <a:solidFill>
                  <a:srgbClr val="C2410C"/>
                </a:solidFill>
              </a:rPr>
              <a:t>theme-token driven</a:t>
            </a:r>
          </a:p>
        </p:txBody>
      </p:sp>
      <p:sp>
        <p:nvSpPr>
          <p:cNvPr id="52" name="mdpr-surface catalog-card"/>
          <p:cNvSpPr/>
          <p:nvPr/>
        </p:nvSpPr>
        <p:spPr>
          <a:xfrm>
            <a:off x="566928" y="4974336"/>
            <a:ext cx="3529584" cy="960120"/>
          </a:xfrm>
          <a:prstGeom prst="roundRect">
            <a:avLst/>
          </a:prstGeom>
          <a:solidFill>
            <a:srgbClr val="F0FDF4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mdpr-decor"/>
          <p:cNvSpPr/>
          <p:nvPr/>
        </p:nvSpPr>
        <p:spPr>
          <a:xfrm>
            <a:off x="731520" y="5564124"/>
            <a:ext cx="676656" cy="45720"/>
          </a:xfrm>
          <a:prstGeom prst="rect">
            <a:avLst/>
          </a:prstGeom>
          <a:solidFill>
            <a:srgbClr val="D1D5DB"/>
          </a:solidFill>
          <a:ln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mdpr-decor"/>
          <p:cNvSpPr/>
          <p:nvPr/>
        </p:nvSpPr>
        <p:spPr>
          <a:xfrm>
            <a:off x="731520" y="5564124"/>
            <a:ext cx="460126" cy="4572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mdpr-text catalog-title"/>
          <p:cNvSpPr txBox="1"/>
          <p:nvPr/>
        </p:nvSpPr>
        <p:spPr>
          <a:xfrm>
            <a:off x="1527048" y="5093208"/>
            <a:ext cx="2404872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00" b="1">
                <a:solidFill>
                  <a:srgbClr val="111827"/>
                </a:solidFill>
              </a:rPr>
              <a:t>bottom-meter-card</a:t>
            </a:r>
          </a:p>
        </p:txBody>
      </p:sp>
      <p:sp>
        <p:nvSpPr>
          <p:cNvPr id="56" name="mdpr-text catalog-body"/>
          <p:cNvSpPr txBox="1"/>
          <p:nvPr/>
        </p:nvSpPr>
        <p:spPr>
          <a:xfrm>
            <a:off x="1527048" y="5394960"/>
            <a:ext cx="2404872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0">
                <a:solidFill>
                  <a:srgbClr val="475569"/>
                </a:solidFill>
              </a:rPr>
              <a:t>bottom meter; short label</a:t>
            </a:r>
          </a:p>
        </p:txBody>
      </p:sp>
      <p:sp>
        <p:nvSpPr>
          <p:cNvPr id="57" name="mdpr-text catalog-token"/>
          <p:cNvSpPr txBox="1"/>
          <p:nvPr/>
        </p:nvSpPr>
        <p:spPr>
          <a:xfrm>
            <a:off x="1527048" y="5660136"/>
            <a:ext cx="2404872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1">
                <a:solidFill>
                  <a:srgbClr val="7C3AED"/>
                </a:solidFill>
              </a:rPr>
              <a:t>theme-token driven</a:t>
            </a:r>
          </a:p>
        </p:txBody>
      </p:sp>
      <p:sp>
        <p:nvSpPr>
          <p:cNvPr id="58" name="mdpr-surface catalog-card"/>
          <p:cNvSpPr/>
          <p:nvPr/>
        </p:nvSpPr>
        <p:spPr>
          <a:xfrm>
            <a:off x="4325112" y="4974336"/>
            <a:ext cx="3529584" cy="960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mdpr-decor notch"/>
          <p:cNvSpPr/>
          <p:nvPr/>
        </p:nvSpPr>
        <p:spPr>
          <a:xfrm>
            <a:off x="4782312" y="5271516"/>
            <a:ext cx="320040" cy="274320"/>
          </a:xfrm>
          <a:prstGeom prst="rect">
            <a:avLst/>
          </a:prstGeom>
          <a:solidFill>
            <a:srgbClr val="FDE68A"/>
          </a:solidFill>
          <a:ln w="1016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mdpr-text catalog-title"/>
          <p:cNvSpPr txBox="1"/>
          <p:nvPr/>
        </p:nvSpPr>
        <p:spPr>
          <a:xfrm>
            <a:off x="5285231" y="5093208"/>
            <a:ext cx="2404872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00" b="1">
                <a:solidFill>
                  <a:srgbClr val="111827"/>
                </a:solidFill>
              </a:rPr>
              <a:t>side-notch-card</a:t>
            </a:r>
          </a:p>
        </p:txBody>
      </p:sp>
      <p:sp>
        <p:nvSpPr>
          <p:cNvPr id="61" name="mdpr-text catalog-body"/>
          <p:cNvSpPr txBox="1"/>
          <p:nvPr/>
        </p:nvSpPr>
        <p:spPr>
          <a:xfrm>
            <a:off x="5285231" y="5394960"/>
            <a:ext cx="2404872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0">
                <a:solidFill>
                  <a:srgbClr val="475569"/>
                </a:solidFill>
              </a:rPr>
              <a:t>side notch; aligned text</a:t>
            </a:r>
          </a:p>
        </p:txBody>
      </p:sp>
      <p:sp>
        <p:nvSpPr>
          <p:cNvPr id="62" name="mdpr-text catalog-token"/>
          <p:cNvSpPr txBox="1"/>
          <p:nvPr/>
        </p:nvSpPr>
        <p:spPr>
          <a:xfrm>
            <a:off x="5285231" y="5660136"/>
            <a:ext cx="2404872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1">
                <a:solidFill>
                  <a:srgbClr val="E11D48"/>
                </a:solidFill>
              </a:rPr>
              <a:t>theme-token driven</a:t>
            </a:r>
          </a:p>
        </p:txBody>
      </p:sp>
      <p:sp>
        <p:nvSpPr>
          <p:cNvPr id="63" name="mdpr-surface catalog-card"/>
          <p:cNvSpPr/>
          <p:nvPr/>
        </p:nvSpPr>
        <p:spPr>
          <a:xfrm>
            <a:off x="8083295" y="4974336"/>
            <a:ext cx="3529584" cy="960120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mdpr-decor image-slot"/>
          <p:cNvSpPr/>
          <p:nvPr/>
        </p:nvSpPr>
        <p:spPr>
          <a:xfrm>
            <a:off x="8247887" y="5225796"/>
            <a:ext cx="420624" cy="457200"/>
          </a:xfrm>
          <a:prstGeom prst="rect">
            <a:avLst/>
          </a:prstGeom>
          <a:solidFill>
            <a:srgbClr val="DBEAFE"/>
          </a:solidFill>
          <a:ln w="1016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mdpr-decor"/>
          <p:cNvSpPr/>
          <p:nvPr/>
        </p:nvSpPr>
        <p:spPr>
          <a:xfrm>
            <a:off x="8705087" y="5344668"/>
            <a:ext cx="219456" cy="32004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mdpr-decor image-slot"/>
          <p:cNvSpPr/>
          <p:nvPr/>
        </p:nvSpPr>
        <p:spPr>
          <a:xfrm>
            <a:off x="8247887" y="5244084"/>
            <a:ext cx="566928" cy="420624"/>
          </a:xfrm>
          <a:prstGeom prst="rect">
            <a:avLst/>
          </a:prstGeom>
          <a:solidFill>
            <a:srgbClr val="DBEAFE"/>
          </a:solidFill>
          <a:ln w="1016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mdpr-text catalog-title"/>
          <p:cNvSpPr txBox="1"/>
          <p:nvPr/>
        </p:nvSpPr>
        <p:spPr>
          <a:xfrm>
            <a:off x="9043415" y="5093208"/>
            <a:ext cx="2404872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00" b="1">
                <a:solidFill>
                  <a:srgbClr val="111827"/>
                </a:solidFill>
              </a:rPr>
              <a:t>floating-label-pin</a:t>
            </a:r>
          </a:p>
        </p:txBody>
      </p:sp>
      <p:sp>
        <p:nvSpPr>
          <p:cNvPr id="68" name="mdpr-text catalog-body"/>
          <p:cNvSpPr txBox="1"/>
          <p:nvPr/>
        </p:nvSpPr>
        <p:spPr>
          <a:xfrm>
            <a:off x="9043415" y="5394960"/>
            <a:ext cx="2404872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0">
                <a:solidFill>
                  <a:srgbClr val="475569"/>
                </a:solidFill>
              </a:rPr>
              <a:t>small pin; image edge</a:t>
            </a:r>
          </a:p>
        </p:txBody>
      </p:sp>
      <p:sp>
        <p:nvSpPr>
          <p:cNvPr id="69" name="mdpr-text catalog-token"/>
          <p:cNvSpPr txBox="1"/>
          <p:nvPr/>
        </p:nvSpPr>
        <p:spPr>
          <a:xfrm>
            <a:off x="9043415" y="5660136"/>
            <a:ext cx="2404872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1">
                <a:solidFill>
                  <a:srgbClr val="16A34A"/>
                </a:solidFill>
              </a:rPr>
              <a:t>theme-token driven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dpr-text"/>
          <p:cNvSpPr txBox="1"/>
          <p:nvPr/>
        </p:nvSpPr>
        <p:spPr>
          <a:xfrm>
            <a:off x="502920" y="310896"/>
            <a:ext cx="7955279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2400" b="1">
                <a:solidFill>
                  <a:srgbClr val="111827"/>
                </a:solidFill>
              </a:rPr>
              <a:t>Object Shape Grammar Catalog 2</a:t>
            </a:r>
          </a:p>
        </p:txBody>
      </p:sp>
      <p:sp>
        <p:nvSpPr>
          <p:cNvPr id="3" name="mdpr-text"/>
          <p:cNvSpPr txBox="1"/>
          <p:nvPr/>
        </p:nvSpPr>
        <p:spPr>
          <a:xfrm>
            <a:off x="521207" y="768096"/>
            <a:ext cx="10241280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</a:rPr>
              <a:t>Editable preview objects generated from the 60+ structural archetype catalog.</a:t>
            </a:r>
          </a:p>
        </p:txBody>
      </p:sp>
      <p:sp>
        <p:nvSpPr>
          <p:cNvPr id="4" name="mdpr-decor"/>
          <p:cNvSpPr/>
          <p:nvPr/>
        </p:nvSpPr>
        <p:spPr>
          <a:xfrm>
            <a:off x="530352" y="1097280"/>
            <a:ext cx="1280160" cy="32004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mdpr-surface catalog-card"/>
          <p:cNvSpPr/>
          <p:nvPr/>
        </p:nvSpPr>
        <p:spPr>
          <a:xfrm>
            <a:off x="566928" y="1325880"/>
            <a:ext cx="3529584" cy="960120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mdpr-decor image-slot"/>
          <p:cNvSpPr/>
          <p:nvPr/>
        </p:nvSpPr>
        <p:spPr>
          <a:xfrm>
            <a:off x="731520" y="1577340"/>
            <a:ext cx="420624" cy="457200"/>
          </a:xfrm>
          <a:prstGeom prst="rect">
            <a:avLst/>
          </a:prstGeom>
          <a:solidFill>
            <a:srgbClr val="DBEAFE"/>
          </a:solidFill>
          <a:ln w="1016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mdpr-decor"/>
          <p:cNvSpPr/>
          <p:nvPr/>
        </p:nvSpPr>
        <p:spPr>
          <a:xfrm>
            <a:off x="1188720" y="1696212"/>
            <a:ext cx="219456" cy="32004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mdpr-decor image-slot"/>
          <p:cNvSpPr/>
          <p:nvPr/>
        </p:nvSpPr>
        <p:spPr>
          <a:xfrm>
            <a:off x="731520" y="1595628"/>
            <a:ext cx="566928" cy="420624"/>
          </a:xfrm>
          <a:prstGeom prst="rect">
            <a:avLst/>
          </a:prstGeom>
          <a:solidFill>
            <a:srgbClr val="DBEAFE"/>
          </a:solidFill>
          <a:ln w="1016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mdpr-text catalog-title"/>
          <p:cNvSpPr txBox="1"/>
          <p:nvPr/>
        </p:nvSpPr>
        <p:spPr>
          <a:xfrm>
            <a:off x="1527048" y="1444752"/>
            <a:ext cx="2404872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00" b="1">
                <a:solidFill>
                  <a:srgbClr val="111827"/>
                </a:solidFill>
              </a:rPr>
              <a:t>caption-underlay</a:t>
            </a:r>
          </a:p>
        </p:txBody>
      </p:sp>
      <p:sp>
        <p:nvSpPr>
          <p:cNvPr id="10" name="mdpr-text catalog-body"/>
          <p:cNvSpPr txBox="1"/>
          <p:nvPr/>
        </p:nvSpPr>
        <p:spPr>
          <a:xfrm>
            <a:off x="1527048" y="1746504"/>
            <a:ext cx="2404872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0">
                <a:solidFill>
                  <a:srgbClr val="475569"/>
                </a:solidFill>
              </a:rPr>
              <a:t>caption band; single line label</a:t>
            </a:r>
          </a:p>
        </p:txBody>
      </p:sp>
      <p:sp>
        <p:nvSpPr>
          <p:cNvPr id="11" name="mdpr-text catalog-token"/>
          <p:cNvSpPr txBox="1"/>
          <p:nvPr/>
        </p:nvSpPr>
        <p:spPr>
          <a:xfrm>
            <a:off x="1527048" y="2011680"/>
            <a:ext cx="2404872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1">
                <a:solidFill>
                  <a:srgbClr val="0F766E"/>
                </a:solidFill>
              </a:rPr>
              <a:t>theme-token driven</a:t>
            </a:r>
          </a:p>
        </p:txBody>
      </p:sp>
      <p:sp>
        <p:nvSpPr>
          <p:cNvPr id="12" name="mdpr-surface catalog-card"/>
          <p:cNvSpPr/>
          <p:nvPr/>
        </p:nvSpPr>
        <p:spPr>
          <a:xfrm>
            <a:off x="4325112" y="1325880"/>
            <a:ext cx="3529584" cy="960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mdpr-decor label-tab"/>
          <p:cNvSpPr/>
          <p:nvPr/>
        </p:nvSpPr>
        <p:spPr>
          <a:xfrm>
            <a:off x="4489703" y="1632204"/>
            <a:ext cx="384048" cy="347472"/>
          </a:xfrm>
          <a:prstGeom prst="roundRect">
            <a:avLst/>
          </a:prstGeom>
          <a:solidFill>
            <a:srgbClr val="2563EB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mdpr-text-in-decor"/>
          <p:cNvSpPr txBox="1"/>
          <p:nvPr/>
        </p:nvSpPr>
        <p:spPr>
          <a:xfrm>
            <a:off x="4489703" y="1632204"/>
            <a:ext cx="38404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5" name="mdpr-text catalog-title"/>
          <p:cNvSpPr txBox="1"/>
          <p:nvPr/>
        </p:nvSpPr>
        <p:spPr>
          <a:xfrm>
            <a:off x="5285231" y="1444752"/>
            <a:ext cx="2404872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00" b="1">
                <a:solidFill>
                  <a:srgbClr val="111827"/>
                </a:solidFill>
              </a:rPr>
              <a:t>rank-ribbon-card</a:t>
            </a:r>
          </a:p>
        </p:txBody>
      </p:sp>
      <p:sp>
        <p:nvSpPr>
          <p:cNvPr id="16" name="mdpr-text catalog-body"/>
          <p:cNvSpPr txBox="1"/>
          <p:nvPr/>
        </p:nvSpPr>
        <p:spPr>
          <a:xfrm>
            <a:off x="5285231" y="1746504"/>
            <a:ext cx="2404872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0">
                <a:solidFill>
                  <a:srgbClr val="475569"/>
                </a:solidFill>
              </a:rPr>
              <a:t>rank ribbon; large number</a:t>
            </a:r>
          </a:p>
        </p:txBody>
      </p:sp>
      <p:sp>
        <p:nvSpPr>
          <p:cNvPr id="17" name="mdpr-text catalog-token"/>
          <p:cNvSpPr txBox="1"/>
          <p:nvPr/>
        </p:nvSpPr>
        <p:spPr>
          <a:xfrm>
            <a:off x="5285231" y="2011680"/>
            <a:ext cx="2404872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1">
                <a:solidFill>
                  <a:srgbClr val="2563EB"/>
                </a:solidFill>
              </a:rPr>
              <a:t>theme-token driven</a:t>
            </a:r>
          </a:p>
        </p:txBody>
      </p:sp>
      <p:sp>
        <p:nvSpPr>
          <p:cNvPr id="18" name="mdpr-surface catalog-card"/>
          <p:cNvSpPr/>
          <p:nvPr/>
        </p:nvSpPr>
        <p:spPr>
          <a:xfrm>
            <a:off x="8083295" y="1325880"/>
            <a:ext cx="3529584" cy="960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mdpr-decor"/>
          <p:cNvSpPr/>
          <p:nvPr/>
        </p:nvSpPr>
        <p:spPr>
          <a:xfrm>
            <a:off x="8293607" y="1687068"/>
            <a:ext cx="237744" cy="237744"/>
          </a:xfrm>
          <a:prstGeom prst="ellipse">
            <a:avLst/>
          </a:prstGeom>
          <a:solidFill>
            <a:srgbClr val="C2410C"/>
          </a:solidFill>
          <a:ln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mdpr-decor"/>
          <p:cNvSpPr/>
          <p:nvPr/>
        </p:nvSpPr>
        <p:spPr>
          <a:xfrm>
            <a:off x="8595359" y="1796796"/>
            <a:ext cx="384048" cy="18288"/>
          </a:xfrm>
          <a:prstGeom prst="rect">
            <a:avLst/>
          </a:prstGeom>
          <a:solidFill>
            <a:srgbClr val="C2410C"/>
          </a:solidFill>
          <a:ln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mdpr-text catalog-title"/>
          <p:cNvSpPr txBox="1"/>
          <p:nvPr/>
        </p:nvSpPr>
        <p:spPr>
          <a:xfrm>
            <a:off x="9043415" y="1444752"/>
            <a:ext cx="2404872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00" b="1">
                <a:solidFill>
                  <a:srgbClr val="111827"/>
                </a:solidFill>
              </a:rPr>
              <a:t>micro-icon-marker</a:t>
            </a:r>
          </a:p>
        </p:txBody>
      </p:sp>
      <p:sp>
        <p:nvSpPr>
          <p:cNvPr id="22" name="mdpr-text catalog-body"/>
          <p:cNvSpPr txBox="1"/>
          <p:nvPr/>
        </p:nvSpPr>
        <p:spPr>
          <a:xfrm>
            <a:off x="9043415" y="1746504"/>
            <a:ext cx="2404872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0">
                <a:solidFill>
                  <a:srgbClr val="475569"/>
                </a:solidFill>
              </a:rPr>
              <a:t>one monotone icon; left gutter</a:t>
            </a:r>
          </a:p>
        </p:txBody>
      </p:sp>
      <p:sp>
        <p:nvSpPr>
          <p:cNvPr id="23" name="mdpr-text catalog-token"/>
          <p:cNvSpPr txBox="1"/>
          <p:nvPr/>
        </p:nvSpPr>
        <p:spPr>
          <a:xfrm>
            <a:off x="9043415" y="2011680"/>
            <a:ext cx="2404872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1">
                <a:solidFill>
                  <a:srgbClr val="C2410C"/>
                </a:solidFill>
              </a:rPr>
              <a:t>theme-token driven</a:t>
            </a:r>
          </a:p>
        </p:txBody>
      </p:sp>
      <p:sp>
        <p:nvSpPr>
          <p:cNvPr id="24" name="mdpr-surface catalog-card"/>
          <p:cNvSpPr/>
          <p:nvPr/>
        </p:nvSpPr>
        <p:spPr>
          <a:xfrm>
            <a:off x="566928" y="2542032"/>
            <a:ext cx="3529584" cy="960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mdpr-decor"/>
          <p:cNvSpPr/>
          <p:nvPr/>
        </p:nvSpPr>
        <p:spPr>
          <a:xfrm>
            <a:off x="731520" y="2724912"/>
            <a:ext cx="676656" cy="32004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mdpr-text catalog-title"/>
          <p:cNvSpPr txBox="1"/>
          <p:nvPr/>
        </p:nvSpPr>
        <p:spPr>
          <a:xfrm>
            <a:off x="1527048" y="2660904"/>
            <a:ext cx="2404872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00" b="1">
                <a:solidFill>
                  <a:srgbClr val="111827"/>
                </a:solidFill>
              </a:rPr>
              <a:t>double-rule-header</a:t>
            </a:r>
          </a:p>
        </p:txBody>
      </p:sp>
      <p:sp>
        <p:nvSpPr>
          <p:cNvPr id="27" name="mdpr-text catalog-body"/>
          <p:cNvSpPr txBox="1"/>
          <p:nvPr/>
        </p:nvSpPr>
        <p:spPr>
          <a:xfrm>
            <a:off x="1527048" y="2962656"/>
            <a:ext cx="2404872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0">
                <a:solidFill>
                  <a:srgbClr val="475569"/>
                </a:solidFill>
              </a:rPr>
              <a:t>two rules; header label</a:t>
            </a:r>
          </a:p>
        </p:txBody>
      </p:sp>
      <p:sp>
        <p:nvSpPr>
          <p:cNvPr id="28" name="mdpr-text catalog-token"/>
          <p:cNvSpPr txBox="1"/>
          <p:nvPr/>
        </p:nvSpPr>
        <p:spPr>
          <a:xfrm>
            <a:off x="1527048" y="3227832"/>
            <a:ext cx="2404872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1">
                <a:solidFill>
                  <a:srgbClr val="7C3AED"/>
                </a:solidFill>
              </a:rPr>
              <a:t>theme-token driven</a:t>
            </a:r>
          </a:p>
        </p:txBody>
      </p:sp>
      <p:sp>
        <p:nvSpPr>
          <p:cNvPr id="29" name="mdpr-surface catalog-card"/>
          <p:cNvSpPr/>
          <p:nvPr/>
        </p:nvSpPr>
        <p:spPr>
          <a:xfrm>
            <a:off x="4325112" y="2542032"/>
            <a:ext cx="3529584" cy="960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mdpr-text catalog-title"/>
          <p:cNvSpPr txBox="1"/>
          <p:nvPr/>
        </p:nvSpPr>
        <p:spPr>
          <a:xfrm>
            <a:off x="5285231" y="2660904"/>
            <a:ext cx="2404872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00" b="1">
                <a:solidFill>
                  <a:srgbClr val="111827"/>
                </a:solidFill>
              </a:rPr>
              <a:t>soft-shadow-lift</a:t>
            </a:r>
          </a:p>
        </p:txBody>
      </p:sp>
      <p:sp>
        <p:nvSpPr>
          <p:cNvPr id="31" name="mdpr-text catalog-body"/>
          <p:cNvSpPr txBox="1"/>
          <p:nvPr/>
        </p:nvSpPr>
        <p:spPr>
          <a:xfrm>
            <a:off x="5285231" y="2962656"/>
            <a:ext cx="2404872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0">
                <a:solidFill>
                  <a:srgbClr val="475569"/>
                </a:solidFill>
              </a:rPr>
              <a:t>shallow shadow; plain surface</a:t>
            </a:r>
          </a:p>
        </p:txBody>
      </p:sp>
      <p:sp>
        <p:nvSpPr>
          <p:cNvPr id="32" name="mdpr-text catalog-token"/>
          <p:cNvSpPr txBox="1"/>
          <p:nvPr/>
        </p:nvSpPr>
        <p:spPr>
          <a:xfrm>
            <a:off x="5285231" y="3227832"/>
            <a:ext cx="2404872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1">
                <a:solidFill>
                  <a:srgbClr val="E11D48"/>
                </a:solidFill>
              </a:rPr>
              <a:t>theme-token driven</a:t>
            </a:r>
          </a:p>
        </p:txBody>
      </p:sp>
      <p:sp>
        <p:nvSpPr>
          <p:cNvPr id="33" name="mdpr-surface catalog-card"/>
          <p:cNvSpPr/>
          <p:nvPr/>
        </p:nvSpPr>
        <p:spPr>
          <a:xfrm>
            <a:off x="8083295" y="2542032"/>
            <a:ext cx="3529584" cy="960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mdpr-decor inset-label"/>
          <p:cNvSpPr/>
          <p:nvPr/>
        </p:nvSpPr>
        <p:spPr>
          <a:xfrm>
            <a:off x="8247887" y="2820924"/>
            <a:ext cx="676656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mdpr-decor inset-label-bar"/>
          <p:cNvSpPr/>
          <p:nvPr/>
        </p:nvSpPr>
        <p:spPr>
          <a:xfrm>
            <a:off x="8321039" y="2921508"/>
            <a:ext cx="146304" cy="201168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mdpr-decor inset-label-text"/>
          <p:cNvSpPr/>
          <p:nvPr/>
        </p:nvSpPr>
        <p:spPr>
          <a:xfrm>
            <a:off x="8540495" y="3003804"/>
            <a:ext cx="292608" cy="16459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mdpr-text catalog-title"/>
          <p:cNvSpPr txBox="1"/>
          <p:nvPr/>
        </p:nvSpPr>
        <p:spPr>
          <a:xfrm>
            <a:off x="9043415" y="2660904"/>
            <a:ext cx="2404872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00" b="1">
                <a:solidFill>
                  <a:srgbClr val="111827"/>
                </a:solidFill>
              </a:rPr>
              <a:t>inset-label-bar</a:t>
            </a:r>
          </a:p>
        </p:txBody>
      </p:sp>
      <p:sp>
        <p:nvSpPr>
          <p:cNvPr id="38" name="mdpr-text catalog-body"/>
          <p:cNvSpPr txBox="1"/>
          <p:nvPr/>
        </p:nvSpPr>
        <p:spPr>
          <a:xfrm>
            <a:off x="9043415" y="2962656"/>
            <a:ext cx="2404872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0">
                <a:solidFill>
                  <a:srgbClr val="475569"/>
                </a:solidFill>
              </a:rPr>
              <a:t>inset bar; category label</a:t>
            </a:r>
          </a:p>
        </p:txBody>
      </p:sp>
      <p:sp>
        <p:nvSpPr>
          <p:cNvPr id="39" name="mdpr-text catalog-token"/>
          <p:cNvSpPr txBox="1"/>
          <p:nvPr/>
        </p:nvSpPr>
        <p:spPr>
          <a:xfrm>
            <a:off x="9043415" y="3227832"/>
            <a:ext cx="2404872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1">
                <a:solidFill>
                  <a:srgbClr val="16A34A"/>
                </a:solidFill>
              </a:rPr>
              <a:t>theme-token driven</a:t>
            </a:r>
          </a:p>
        </p:txBody>
      </p:sp>
      <p:sp>
        <p:nvSpPr>
          <p:cNvPr id="40" name="mdpr-surface catalog-card"/>
          <p:cNvSpPr/>
          <p:nvPr/>
        </p:nvSpPr>
        <p:spPr>
          <a:xfrm>
            <a:off x="566928" y="3758184"/>
            <a:ext cx="3529584" cy="960120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mdpr-decor"/>
          <p:cNvSpPr/>
          <p:nvPr/>
        </p:nvSpPr>
        <p:spPr>
          <a:xfrm>
            <a:off x="731520" y="3941064"/>
            <a:ext cx="54864" cy="59436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mdpr-text catalog-title"/>
          <p:cNvSpPr txBox="1"/>
          <p:nvPr/>
        </p:nvSpPr>
        <p:spPr>
          <a:xfrm>
            <a:off x="1527048" y="3877056"/>
            <a:ext cx="2404872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00" b="1">
                <a:solidFill>
                  <a:srgbClr val="111827"/>
                </a:solidFill>
              </a:rPr>
              <a:t>vertical-step-rail</a:t>
            </a:r>
          </a:p>
        </p:txBody>
      </p:sp>
      <p:sp>
        <p:nvSpPr>
          <p:cNvPr id="43" name="mdpr-text catalog-body"/>
          <p:cNvSpPr txBox="1"/>
          <p:nvPr/>
        </p:nvSpPr>
        <p:spPr>
          <a:xfrm>
            <a:off x="1527048" y="4178808"/>
            <a:ext cx="2404872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0">
                <a:solidFill>
                  <a:srgbClr val="475569"/>
                </a:solidFill>
              </a:rPr>
              <a:t>vertical rail; node dot; wrapped text</a:t>
            </a:r>
          </a:p>
        </p:txBody>
      </p:sp>
      <p:sp>
        <p:nvSpPr>
          <p:cNvPr id="44" name="mdpr-text catalog-token"/>
          <p:cNvSpPr txBox="1"/>
          <p:nvPr/>
        </p:nvSpPr>
        <p:spPr>
          <a:xfrm>
            <a:off x="1527048" y="4443984"/>
            <a:ext cx="2404872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1">
                <a:solidFill>
                  <a:srgbClr val="0F766E"/>
                </a:solidFill>
              </a:rPr>
              <a:t>theme-token driven</a:t>
            </a:r>
          </a:p>
        </p:txBody>
      </p:sp>
      <p:sp>
        <p:nvSpPr>
          <p:cNvPr id="45" name="mdpr-surface catalog-card"/>
          <p:cNvSpPr/>
          <p:nvPr/>
        </p:nvSpPr>
        <p:spPr>
          <a:xfrm>
            <a:off x="4325112" y="3758184"/>
            <a:ext cx="3529584" cy="960120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mdpr-decor"/>
          <p:cNvSpPr/>
          <p:nvPr/>
        </p:nvSpPr>
        <p:spPr>
          <a:xfrm>
            <a:off x="4489703" y="3941064"/>
            <a:ext cx="54864" cy="59436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mdpr-text catalog-title"/>
          <p:cNvSpPr txBox="1"/>
          <p:nvPr/>
        </p:nvSpPr>
        <p:spPr>
          <a:xfrm>
            <a:off x="5285231" y="3877056"/>
            <a:ext cx="2404872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00" b="1">
                <a:solidFill>
                  <a:srgbClr val="111827"/>
                </a:solidFill>
              </a:rPr>
              <a:t>horizontal-step-rail</a:t>
            </a:r>
          </a:p>
        </p:txBody>
      </p:sp>
      <p:sp>
        <p:nvSpPr>
          <p:cNvPr id="48" name="mdpr-text catalog-body"/>
          <p:cNvSpPr txBox="1"/>
          <p:nvPr/>
        </p:nvSpPr>
        <p:spPr>
          <a:xfrm>
            <a:off x="5285231" y="4178808"/>
            <a:ext cx="2404872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0">
                <a:solidFill>
                  <a:srgbClr val="475569"/>
                </a:solidFill>
              </a:rPr>
              <a:t>horizontal rail; number nodes</a:t>
            </a:r>
          </a:p>
        </p:txBody>
      </p:sp>
      <p:sp>
        <p:nvSpPr>
          <p:cNvPr id="49" name="mdpr-text catalog-token"/>
          <p:cNvSpPr txBox="1"/>
          <p:nvPr/>
        </p:nvSpPr>
        <p:spPr>
          <a:xfrm>
            <a:off x="5285231" y="4443984"/>
            <a:ext cx="2404872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1">
                <a:solidFill>
                  <a:srgbClr val="2563EB"/>
                </a:solidFill>
              </a:rPr>
              <a:t>theme-token driven</a:t>
            </a:r>
          </a:p>
        </p:txBody>
      </p:sp>
      <p:sp>
        <p:nvSpPr>
          <p:cNvPr id="50" name="mdpr-surface catalog-card"/>
          <p:cNvSpPr/>
          <p:nvPr/>
        </p:nvSpPr>
        <p:spPr>
          <a:xfrm>
            <a:off x="8083295" y="3758184"/>
            <a:ext cx="3529584" cy="960120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mdpr-text catalog-title"/>
          <p:cNvSpPr txBox="1"/>
          <p:nvPr/>
        </p:nvSpPr>
        <p:spPr>
          <a:xfrm>
            <a:off x="9043415" y="3877056"/>
            <a:ext cx="2404872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00" b="1">
                <a:solidFill>
                  <a:srgbClr val="111827"/>
                </a:solidFill>
              </a:rPr>
              <a:t>paired-contrast-edge</a:t>
            </a:r>
          </a:p>
        </p:txBody>
      </p:sp>
      <p:sp>
        <p:nvSpPr>
          <p:cNvPr id="52" name="mdpr-text catalog-body"/>
          <p:cNvSpPr txBox="1"/>
          <p:nvPr/>
        </p:nvSpPr>
        <p:spPr>
          <a:xfrm>
            <a:off x="9043415" y="4178808"/>
            <a:ext cx="2404872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0">
                <a:solidFill>
                  <a:srgbClr val="475569"/>
                </a:solidFill>
              </a:rPr>
              <a:t>two edge colors; split label</a:t>
            </a:r>
          </a:p>
        </p:txBody>
      </p:sp>
      <p:sp>
        <p:nvSpPr>
          <p:cNvPr id="53" name="mdpr-text catalog-token"/>
          <p:cNvSpPr txBox="1"/>
          <p:nvPr/>
        </p:nvSpPr>
        <p:spPr>
          <a:xfrm>
            <a:off x="9043415" y="4443984"/>
            <a:ext cx="2404872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1">
                <a:solidFill>
                  <a:srgbClr val="C2410C"/>
                </a:solidFill>
              </a:rPr>
              <a:t>theme-token driven</a:t>
            </a:r>
          </a:p>
        </p:txBody>
      </p:sp>
      <p:sp>
        <p:nvSpPr>
          <p:cNvPr id="54" name="mdpr-surface catalog-card"/>
          <p:cNvSpPr/>
          <p:nvPr/>
        </p:nvSpPr>
        <p:spPr>
          <a:xfrm>
            <a:off x="566928" y="4974336"/>
            <a:ext cx="3529584" cy="960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mdpr-decor"/>
          <p:cNvSpPr/>
          <p:nvPr/>
        </p:nvSpPr>
        <p:spPr>
          <a:xfrm>
            <a:off x="731520" y="5157216"/>
            <a:ext cx="676656" cy="32004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mdpr-text catalog-title"/>
          <p:cNvSpPr txBox="1"/>
          <p:nvPr/>
        </p:nvSpPr>
        <p:spPr>
          <a:xfrm>
            <a:off x="1527048" y="5093208"/>
            <a:ext cx="2404872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00" b="1">
                <a:solidFill>
                  <a:srgbClr val="111827"/>
                </a:solidFill>
              </a:rPr>
              <a:t>quote-rule-card</a:t>
            </a:r>
          </a:p>
        </p:txBody>
      </p:sp>
      <p:sp>
        <p:nvSpPr>
          <p:cNvPr id="57" name="mdpr-text catalog-body"/>
          <p:cNvSpPr txBox="1"/>
          <p:nvPr/>
        </p:nvSpPr>
        <p:spPr>
          <a:xfrm>
            <a:off x="1527048" y="5394960"/>
            <a:ext cx="2404872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0">
                <a:solidFill>
                  <a:srgbClr val="475569"/>
                </a:solidFill>
              </a:rPr>
              <a:t>left quote rule; body</a:t>
            </a:r>
          </a:p>
        </p:txBody>
      </p:sp>
      <p:sp>
        <p:nvSpPr>
          <p:cNvPr id="58" name="mdpr-text catalog-token"/>
          <p:cNvSpPr txBox="1"/>
          <p:nvPr/>
        </p:nvSpPr>
        <p:spPr>
          <a:xfrm>
            <a:off x="1527048" y="5660136"/>
            <a:ext cx="2404872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1">
                <a:solidFill>
                  <a:srgbClr val="7C3AED"/>
                </a:solidFill>
              </a:rPr>
              <a:t>theme-token driven</a:t>
            </a:r>
          </a:p>
        </p:txBody>
      </p:sp>
      <p:sp>
        <p:nvSpPr>
          <p:cNvPr id="59" name="mdpr-surface catalog-card"/>
          <p:cNvSpPr/>
          <p:nvPr/>
        </p:nvSpPr>
        <p:spPr>
          <a:xfrm>
            <a:off x="4325112" y="4974336"/>
            <a:ext cx="3529584" cy="960120"/>
          </a:xfrm>
          <a:prstGeom prst="roundRect">
            <a:avLst/>
          </a:prstGeom>
          <a:solidFill>
            <a:srgbClr val="F0FDF4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mdpr-text catalog-title"/>
          <p:cNvSpPr txBox="1"/>
          <p:nvPr/>
        </p:nvSpPr>
        <p:spPr>
          <a:xfrm>
            <a:off x="5285231" y="5093208"/>
            <a:ext cx="2404872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00" b="1">
                <a:solidFill>
                  <a:srgbClr val="111827"/>
                </a:solidFill>
              </a:rPr>
              <a:t>metric-lead-card</a:t>
            </a:r>
          </a:p>
        </p:txBody>
      </p:sp>
      <p:sp>
        <p:nvSpPr>
          <p:cNvPr id="61" name="mdpr-text catalog-body"/>
          <p:cNvSpPr txBox="1"/>
          <p:nvPr/>
        </p:nvSpPr>
        <p:spPr>
          <a:xfrm>
            <a:off x="5285231" y="5394960"/>
            <a:ext cx="2404872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0">
                <a:solidFill>
                  <a:srgbClr val="475569"/>
                </a:solidFill>
              </a:rPr>
              <a:t>large number; unit; caption</a:t>
            </a:r>
          </a:p>
        </p:txBody>
      </p:sp>
      <p:sp>
        <p:nvSpPr>
          <p:cNvPr id="62" name="mdpr-text catalog-token"/>
          <p:cNvSpPr txBox="1"/>
          <p:nvPr/>
        </p:nvSpPr>
        <p:spPr>
          <a:xfrm>
            <a:off x="5285231" y="5660136"/>
            <a:ext cx="2404872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1">
                <a:solidFill>
                  <a:srgbClr val="E11D48"/>
                </a:solidFill>
              </a:rPr>
              <a:t>theme-token driven</a:t>
            </a:r>
          </a:p>
        </p:txBody>
      </p:sp>
      <p:sp>
        <p:nvSpPr>
          <p:cNvPr id="63" name="mdpr-surface catalog-card"/>
          <p:cNvSpPr/>
          <p:nvPr/>
        </p:nvSpPr>
        <p:spPr>
          <a:xfrm>
            <a:off x="8083295" y="4974336"/>
            <a:ext cx="3529584" cy="960120"/>
          </a:xfrm>
          <a:prstGeom prst="roundRect">
            <a:avLst/>
          </a:prstGeom>
          <a:solidFill>
            <a:srgbClr val="F1F5F9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mdpr-decor"/>
          <p:cNvSpPr/>
          <p:nvPr/>
        </p:nvSpPr>
        <p:spPr>
          <a:xfrm>
            <a:off x="8302751" y="5289804"/>
            <a:ext cx="530352" cy="13716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mdpr-decor"/>
          <p:cNvSpPr/>
          <p:nvPr/>
        </p:nvSpPr>
        <p:spPr>
          <a:xfrm>
            <a:off x="8302751" y="5454396"/>
            <a:ext cx="530352" cy="13716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mdpr-decor"/>
          <p:cNvSpPr/>
          <p:nvPr/>
        </p:nvSpPr>
        <p:spPr>
          <a:xfrm>
            <a:off x="8302751" y="5618988"/>
            <a:ext cx="530352" cy="13716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mdpr-decor"/>
          <p:cNvSpPr/>
          <p:nvPr/>
        </p:nvSpPr>
        <p:spPr>
          <a:xfrm>
            <a:off x="8476487" y="5198364"/>
            <a:ext cx="13716" cy="512064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mdpr-decor"/>
          <p:cNvSpPr/>
          <p:nvPr/>
        </p:nvSpPr>
        <p:spPr>
          <a:xfrm>
            <a:off x="8659367" y="5198364"/>
            <a:ext cx="13716" cy="512064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mdpr-decor"/>
          <p:cNvSpPr/>
          <p:nvPr/>
        </p:nvSpPr>
        <p:spPr>
          <a:xfrm>
            <a:off x="8247887" y="5381244"/>
            <a:ext cx="676656" cy="18288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mdpr-decor"/>
          <p:cNvSpPr/>
          <p:nvPr/>
        </p:nvSpPr>
        <p:spPr>
          <a:xfrm>
            <a:off x="8247887" y="5527548"/>
            <a:ext cx="676656" cy="18288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mdpr-decor"/>
          <p:cNvSpPr/>
          <p:nvPr/>
        </p:nvSpPr>
        <p:spPr>
          <a:xfrm>
            <a:off x="8476487" y="5244084"/>
            <a:ext cx="18288" cy="420624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mdpr-decor"/>
          <p:cNvSpPr/>
          <p:nvPr/>
        </p:nvSpPr>
        <p:spPr>
          <a:xfrm>
            <a:off x="8705087" y="5244084"/>
            <a:ext cx="18288" cy="420624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mdpr-text catalog-title"/>
          <p:cNvSpPr txBox="1"/>
          <p:nvPr/>
        </p:nvSpPr>
        <p:spPr>
          <a:xfrm>
            <a:off x="9043415" y="5093208"/>
            <a:ext cx="2404872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00" b="1">
                <a:solidFill>
                  <a:srgbClr val="111827"/>
                </a:solidFill>
              </a:rPr>
              <a:t>checklist-grid-card</a:t>
            </a:r>
          </a:p>
        </p:txBody>
      </p:sp>
      <p:sp>
        <p:nvSpPr>
          <p:cNvPr id="74" name="mdpr-text catalog-body"/>
          <p:cNvSpPr txBox="1"/>
          <p:nvPr/>
        </p:nvSpPr>
        <p:spPr>
          <a:xfrm>
            <a:off x="9043415" y="5394960"/>
            <a:ext cx="2404872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0">
                <a:solidFill>
                  <a:srgbClr val="475569"/>
                </a:solidFill>
              </a:rPr>
              <a:t>check marker; two-column grid</a:t>
            </a:r>
          </a:p>
        </p:txBody>
      </p:sp>
      <p:sp>
        <p:nvSpPr>
          <p:cNvPr id="75" name="mdpr-text catalog-token"/>
          <p:cNvSpPr txBox="1"/>
          <p:nvPr/>
        </p:nvSpPr>
        <p:spPr>
          <a:xfrm>
            <a:off x="9043415" y="5660136"/>
            <a:ext cx="2404872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1">
                <a:solidFill>
                  <a:srgbClr val="16A34A"/>
                </a:solidFill>
              </a:rPr>
              <a:t>theme-token driven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dpr-text"/>
          <p:cNvSpPr txBox="1"/>
          <p:nvPr/>
        </p:nvSpPr>
        <p:spPr>
          <a:xfrm>
            <a:off x="502920" y="310896"/>
            <a:ext cx="7955279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2400" b="1">
                <a:solidFill>
                  <a:srgbClr val="111827"/>
                </a:solidFill>
              </a:rPr>
              <a:t>Object Shape Grammar Catalog 3</a:t>
            </a:r>
          </a:p>
        </p:txBody>
      </p:sp>
      <p:sp>
        <p:nvSpPr>
          <p:cNvPr id="3" name="mdpr-text"/>
          <p:cNvSpPr txBox="1"/>
          <p:nvPr/>
        </p:nvSpPr>
        <p:spPr>
          <a:xfrm>
            <a:off x="521207" y="768096"/>
            <a:ext cx="10241280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</a:rPr>
              <a:t>Editable preview objects generated from the 60+ structural archetype catalog.</a:t>
            </a:r>
          </a:p>
        </p:txBody>
      </p:sp>
      <p:sp>
        <p:nvSpPr>
          <p:cNvPr id="4" name="mdpr-decor"/>
          <p:cNvSpPr/>
          <p:nvPr/>
        </p:nvSpPr>
        <p:spPr>
          <a:xfrm>
            <a:off x="530352" y="1097280"/>
            <a:ext cx="1280160" cy="32004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mdpr-surface catalog-card"/>
          <p:cNvSpPr/>
          <p:nvPr/>
        </p:nvSpPr>
        <p:spPr>
          <a:xfrm>
            <a:off x="566928" y="1325880"/>
            <a:ext cx="3529584" cy="960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mdpr-text-in-decor"/>
          <p:cNvSpPr txBox="1"/>
          <p:nvPr/>
        </p:nvSpPr>
        <p:spPr>
          <a:xfrm>
            <a:off x="731520" y="1586484"/>
            <a:ext cx="621792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1">
                <a:solidFill>
                  <a:srgbClr val="0F766E"/>
                </a:solidFill>
              </a:rPr>
              <a:t>MUST</a:t>
            </a:r>
          </a:p>
        </p:txBody>
      </p:sp>
      <p:sp>
        <p:nvSpPr>
          <p:cNvPr id="7" name="mdpr-decor constraint-line"/>
          <p:cNvSpPr/>
          <p:nvPr/>
        </p:nvSpPr>
        <p:spPr>
          <a:xfrm>
            <a:off x="896112" y="1796796"/>
            <a:ext cx="457200" cy="16459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mdpr-decor constraint-line"/>
          <p:cNvSpPr/>
          <p:nvPr/>
        </p:nvSpPr>
        <p:spPr>
          <a:xfrm>
            <a:off x="896112" y="1952244"/>
            <a:ext cx="384048" cy="16459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mdpr-decor constraint-indent"/>
          <p:cNvSpPr/>
          <p:nvPr/>
        </p:nvSpPr>
        <p:spPr>
          <a:xfrm>
            <a:off x="804672" y="1769364"/>
            <a:ext cx="32004" cy="256032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mdpr-text catalog-title"/>
          <p:cNvSpPr txBox="1"/>
          <p:nvPr/>
        </p:nvSpPr>
        <p:spPr>
          <a:xfrm>
            <a:off x="1527048" y="1444752"/>
            <a:ext cx="2404872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00" b="1">
                <a:solidFill>
                  <a:srgbClr val="111827"/>
                </a:solidFill>
              </a:rPr>
              <a:t>constraint-stack-card</a:t>
            </a:r>
          </a:p>
        </p:txBody>
      </p:sp>
      <p:sp>
        <p:nvSpPr>
          <p:cNvPr id="11" name="mdpr-text catalog-body"/>
          <p:cNvSpPr txBox="1"/>
          <p:nvPr/>
        </p:nvSpPr>
        <p:spPr>
          <a:xfrm>
            <a:off x="1527048" y="1746504"/>
            <a:ext cx="2404872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0">
                <a:solidFill>
                  <a:srgbClr val="475569"/>
                </a:solidFill>
              </a:rPr>
              <a:t>bold label; indented description</a:t>
            </a:r>
          </a:p>
        </p:txBody>
      </p:sp>
      <p:sp>
        <p:nvSpPr>
          <p:cNvPr id="12" name="mdpr-text catalog-token"/>
          <p:cNvSpPr txBox="1"/>
          <p:nvPr/>
        </p:nvSpPr>
        <p:spPr>
          <a:xfrm>
            <a:off x="1527048" y="2011680"/>
            <a:ext cx="2404872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1">
                <a:solidFill>
                  <a:srgbClr val="0F766E"/>
                </a:solidFill>
              </a:rPr>
              <a:t>theme-token driven</a:t>
            </a:r>
          </a:p>
        </p:txBody>
      </p:sp>
      <p:sp>
        <p:nvSpPr>
          <p:cNvPr id="13" name="mdpr-surface catalog-card"/>
          <p:cNvSpPr/>
          <p:nvPr/>
        </p:nvSpPr>
        <p:spPr>
          <a:xfrm>
            <a:off x="4325112" y="1325880"/>
            <a:ext cx="3529584" cy="960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mdpr-decor"/>
          <p:cNvSpPr/>
          <p:nvPr/>
        </p:nvSpPr>
        <p:spPr>
          <a:xfrm>
            <a:off x="4489703" y="1508760"/>
            <a:ext cx="676656" cy="3200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mdpr-text catalog-title"/>
          <p:cNvSpPr txBox="1"/>
          <p:nvPr/>
        </p:nvSpPr>
        <p:spPr>
          <a:xfrm>
            <a:off x="5285231" y="1444752"/>
            <a:ext cx="2404872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00" b="1">
                <a:solidFill>
                  <a:srgbClr val="111827"/>
                </a:solidFill>
              </a:rPr>
              <a:t>label-overline-card</a:t>
            </a:r>
          </a:p>
        </p:txBody>
      </p:sp>
      <p:sp>
        <p:nvSpPr>
          <p:cNvPr id="16" name="mdpr-text catalog-body"/>
          <p:cNvSpPr txBox="1"/>
          <p:nvPr/>
        </p:nvSpPr>
        <p:spPr>
          <a:xfrm>
            <a:off x="5285231" y="1746504"/>
            <a:ext cx="2404872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0">
                <a:solidFill>
                  <a:srgbClr val="475569"/>
                </a:solidFill>
              </a:rPr>
              <a:t>overline; title; body</a:t>
            </a:r>
          </a:p>
        </p:txBody>
      </p:sp>
      <p:sp>
        <p:nvSpPr>
          <p:cNvPr id="17" name="mdpr-text catalog-token"/>
          <p:cNvSpPr txBox="1"/>
          <p:nvPr/>
        </p:nvSpPr>
        <p:spPr>
          <a:xfrm>
            <a:off x="5285231" y="2011680"/>
            <a:ext cx="2404872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1">
                <a:solidFill>
                  <a:srgbClr val="2563EB"/>
                </a:solidFill>
              </a:rPr>
              <a:t>theme-token driven</a:t>
            </a:r>
          </a:p>
        </p:txBody>
      </p:sp>
      <p:sp>
        <p:nvSpPr>
          <p:cNvPr id="18" name="mdpr-surface catalog-card"/>
          <p:cNvSpPr/>
          <p:nvPr/>
        </p:nvSpPr>
        <p:spPr>
          <a:xfrm>
            <a:off x="8083295" y="1325880"/>
            <a:ext cx="3529584" cy="960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mdpr-decor subtle-band"/>
          <p:cNvSpPr/>
          <p:nvPr/>
        </p:nvSpPr>
        <p:spPr>
          <a:xfrm>
            <a:off x="8247887" y="1623060"/>
            <a:ext cx="676656" cy="365760"/>
          </a:xfrm>
          <a:prstGeom prst="rect">
            <a:avLst/>
          </a:prstGeom>
          <a:solidFill>
            <a:srgbClr val="E2E8F0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mdpr-decor subtle-band-line"/>
          <p:cNvSpPr/>
          <p:nvPr/>
        </p:nvSpPr>
        <p:spPr>
          <a:xfrm>
            <a:off x="8321039" y="1778508"/>
            <a:ext cx="493776" cy="16459"/>
          </a:xfrm>
          <a:prstGeom prst="rect">
            <a:avLst/>
          </a:prstGeom>
          <a:solidFill>
            <a:srgbClr val="C2410C"/>
          </a:solidFill>
          <a:ln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mdpr-text catalog-title"/>
          <p:cNvSpPr txBox="1"/>
          <p:nvPr/>
        </p:nvSpPr>
        <p:spPr>
          <a:xfrm>
            <a:off x="9043415" y="1444752"/>
            <a:ext cx="2404872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00" b="1">
                <a:solidFill>
                  <a:srgbClr val="111827"/>
                </a:solidFill>
              </a:rPr>
              <a:t>subtle-band-card</a:t>
            </a:r>
          </a:p>
        </p:txBody>
      </p:sp>
      <p:sp>
        <p:nvSpPr>
          <p:cNvPr id="22" name="mdpr-text catalog-body"/>
          <p:cNvSpPr txBox="1"/>
          <p:nvPr/>
        </p:nvSpPr>
        <p:spPr>
          <a:xfrm>
            <a:off x="9043415" y="1746504"/>
            <a:ext cx="2404872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0">
                <a:solidFill>
                  <a:srgbClr val="475569"/>
                </a:solidFill>
              </a:rPr>
              <a:t>surface band; text group</a:t>
            </a:r>
          </a:p>
        </p:txBody>
      </p:sp>
      <p:sp>
        <p:nvSpPr>
          <p:cNvPr id="23" name="mdpr-text catalog-token"/>
          <p:cNvSpPr txBox="1"/>
          <p:nvPr/>
        </p:nvSpPr>
        <p:spPr>
          <a:xfrm>
            <a:off x="9043415" y="2011680"/>
            <a:ext cx="2404872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1">
                <a:solidFill>
                  <a:srgbClr val="C2410C"/>
                </a:solidFill>
              </a:rPr>
              <a:t>theme-token driven</a:t>
            </a:r>
          </a:p>
        </p:txBody>
      </p:sp>
      <p:sp>
        <p:nvSpPr>
          <p:cNvPr id="24" name="mdpr-surface catalog-card"/>
          <p:cNvSpPr/>
          <p:nvPr/>
        </p:nvSpPr>
        <p:spPr>
          <a:xfrm>
            <a:off x="566928" y="2542032"/>
            <a:ext cx="3529584" cy="960120"/>
          </a:xfrm>
          <a:prstGeom prst="roundRect">
            <a:avLst/>
          </a:prstGeom>
          <a:solidFill>
            <a:srgbClr val="F0FDF4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mdpr-decor arc-corner"/>
          <p:cNvSpPr/>
          <p:nvPr/>
        </p:nvSpPr>
        <p:spPr>
          <a:xfrm>
            <a:off x="777240" y="2802636"/>
            <a:ext cx="475488" cy="32004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mdpr-decor arc-corner"/>
          <p:cNvSpPr/>
          <p:nvPr/>
        </p:nvSpPr>
        <p:spPr>
          <a:xfrm>
            <a:off x="777240" y="2802636"/>
            <a:ext cx="32004" cy="47548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mdpr-decor arc-dot"/>
          <p:cNvSpPr/>
          <p:nvPr/>
        </p:nvSpPr>
        <p:spPr>
          <a:xfrm>
            <a:off x="1143000" y="3049524"/>
            <a:ext cx="201168" cy="201168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mdpr-text-in-decor"/>
          <p:cNvSpPr txBox="1"/>
          <p:nvPr/>
        </p:nvSpPr>
        <p:spPr>
          <a:xfrm>
            <a:off x="749808" y="3122676"/>
            <a:ext cx="530352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7C3AED"/>
                </a:solidFill>
              </a:rPr>
              <a:t>78%</a:t>
            </a:r>
          </a:p>
        </p:txBody>
      </p:sp>
      <p:sp>
        <p:nvSpPr>
          <p:cNvPr id="29" name="mdpr-text catalog-title"/>
          <p:cNvSpPr txBox="1"/>
          <p:nvPr/>
        </p:nvSpPr>
        <p:spPr>
          <a:xfrm>
            <a:off x="1527048" y="2660904"/>
            <a:ext cx="2404872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00" b="1">
                <a:solidFill>
                  <a:srgbClr val="111827"/>
                </a:solidFill>
              </a:rPr>
              <a:t>arc-corner-emphasis</a:t>
            </a:r>
          </a:p>
        </p:txBody>
      </p:sp>
      <p:sp>
        <p:nvSpPr>
          <p:cNvPr id="30" name="mdpr-text catalog-body"/>
          <p:cNvSpPr txBox="1"/>
          <p:nvPr/>
        </p:nvSpPr>
        <p:spPr>
          <a:xfrm>
            <a:off x="1527048" y="2962656"/>
            <a:ext cx="2404872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0">
                <a:solidFill>
                  <a:srgbClr val="475569"/>
                </a:solidFill>
              </a:rPr>
              <a:t>arc corner; label</a:t>
            </a:r>
          </a:p>
        </p:txBody>
      </p:sp>
      <p:sp>
        <p:nvSpPr>
          <p:cNvPr id="31" name="mdpr-text catalog-token"/>
          <p:cNvSpPr txBox="1"/>
          <p:nvPr/>
        </p:nvSpPr>
        <p:spPr>
          <a:xfrm>
            <a:off x="1527048" y="3227832"/>
            <a:ext cx="2404872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1">
                <a:solidFill>
                  <a:srgbClr val="7C3AED"/>
                </a:solidFill>
              </a:rPr>
              <a:t>theme-token driven</a:t>
            </a:r>
          </a:p>
        </p:txBody>
      </p:sp>
      <p:sp>
        <p:nvSpPr>
          <p:cNvPr id="32" name="mdpr-surface catalog-card"/>
          <p:cNvSpPr/>
          <p:nvPr/>
        </p:nvSpPr>
        <p:spPr>
          <a:xfrm>
            <a:off x="4325112" y="2542032"/>
            <a:ext cx="3529584" cy="960120"/>
          </a:xfrm>
          <a:prstGeom prst="roundRect">
            <a:avLst/>
          </a:prstGeom>
          <a:solidFill>
            <a:srgbClr val="F0FDF4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mdpr-decor"/>
          <p:cNvSpPr/>
          <p:nvPr/>
        </p:nvSpPr>
        <p:spPr>
          <a:xfrm>
            <a:off x="4636007" y="2820924"/>
            <a:ext cx="420624" cy="420624"/>
          </a:xfrm>
          <a:prstGeom prst="ellipse">
            <a:avLst/>
          </a:prstGeom>
          <a:solidFill>
            <a:srgbClr val="E11D48"/>
          </a:solidFill>
          <a:ln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mdpr-decor"/>
          <p:cNvSpPr/>
          <p:nvPr/>
        </p:nvSpPr>
        <p:spPr>
          <a:xfrm>
            <a:off x="4736592" y="2921508"/>
            <a:ext cx="219456" cy="219456"/>
          </a:xfrm>
          <a:prstGeom prst="ellipse">
            <a:avLst/>
          </a:prstGeom>
          <a:solidFill>
            <a:srgbClr val="F0FDF4"/>
          </a:solidFill>
          <a:ln>
            <a:solidFill>
              <a:srgbClr val="F0FD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mdpr-decor chip"/>
          <p:cNvSpPr/>
          <p:nvPr/>
        </p:nvSpPr>
        <p:spPr>
          <a:xfrm>
            <a:off x="4581143" y="2903220"/>
            <a:ext cx="457200" cy="237744"/>
          </a:xfrm>
          <a:prstGeom prst="roundRect">
            <a:avLst/>
          </a:prstGeom>
          <a:solidFill>
            <a:srgbClr val="E11D48"/>
          </a:solidFill>
          <a:ln w="1016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mdpr-text catalog-title"/>
          <p:cNvSpPr txBox="1"/>
          <p:nvPr/>
        </p:nvSpPr>
        <p:spPr>
          <a:xfrm>
            <a:off x="5285231" y="2660904"/>
            <a:ext cx="2404872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00" b="1">
                <a:solidFill>
                  <a:srgbClr val="111827"/>
                </a:solidFill>
              </a:rPr>
              <a:t>target-ring-badge</a:t>
            </a:r>
          </a:p>
        </p:txBody>
      </p:sp>
      <p:sp>
        <p:nvSpPr>
          <p:cNvPr id="37" name="mdpr-text catalog-body"/>
          <p:cNvSpPr txBox="1"/>
          <p:nvPr/>
        </p:nvSpPr>
        <p:spPr>
          <a:xfrm>
            <a:off x="5285231" y="2962656"/>
            <a:ext cx="2404872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0">
                <a:solidFill>
                  <a:srgbClr val="475569"/>
                </a:solidFill>
              </a:rPr>
              <a:t>ring badge; metric</a:t>
            </a:r>
          </a:p>
        </p:txBody>
      </p:sp>
      <p:sp>
        <p:nvSpPr>
          <p:cNvPr id="38" name="mdpr-text catalog-token"/>
          <p:cNvSpPr txBox="1"/>
          <p:nvPr/>
        </p:nvSpPr>
        <p:spPr>
          <a:xfrm>
            <a:off x="5285231" y="3227832"/>
            <a:ext cx="2404872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1">
                <a:solidFill>
                  <a:srgbClr val="E11D48"/>
                </a:solidFill>
              </a:rPr>
              <a:t>theme-token driven</a:t>
            </a:r>
          </a:p>
        </p:txBody>
      </p:sp>
      <p:sp>
        <p:nvSpPr>
          <p:cNvPr id="39" name="mdpr-surface catalog-card"/>
          <p:cNvSpPr/>
          <p:nvPr/>
        </p:nvSpPr>
        <p:spPr>
          <a:xfrm>
            <a:off x="8083295" y="2542032"/>
            <a:ext cx="3529584" cy="960120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mdpr-decor image-slot"/>
          <p:cNvSpPr/>
          <p:nvPr/>
        </p:nvSpPr>
        <p:spPr>
          <a:xfrm>
            <a:off x="8247887" y="2793492"/>
            <a:ext cx="420624" cy="457200"/>
          </a:xfrm>
          <a:prstGeom prst="rect">
            <a:avLst/>
          </a:prstGeom>
          <a:solidFill>
            <a:srgbClr val="DBEAFE"/>
          </a:solidFill>
          <a:ln w="1016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mdpr-decor"/>
          <p:cNvSpPr/>
          <p:nvPr/>
        </p:nvSpPr>
        <p:spPr>
          <a:xfrm>
            <a:off x="8705087" y="2912364"/>
            <a:ext cx="219456" cy="32004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mdpr-decor image-slot"/>
          <p:cNvSpPr/>
          <p:nvPr/>
        </p:nvSpPr>
        <p:spPr>
          <a:xfrm>
            <a:off x="8247887" y="2811780"/>
            <a:ext cx="566928" cy="420624"/>
          </a:xfrm>
          <a:prstGeom prst="rect">
            <a:avLst/>
          </a:prstGeom>
          <a:solidFill>
            <a:srgbClr val="DBEAFE"/>
          </a:solidFill>
          <a:ln w="1016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mdpr-text catalog-title"/>
          <p:cNvSpPr txBox="1"/>
          <p:nvPr/>
        </p:nvSpPr>
        <p:spPr>
          <a:xfrm>
            <a:off x="9043415" y="2660904"/>
            <a:ext cx="2404872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00" b="1">
                <a:solidFill>
                  <a:srgbClr val="111827"/>
                </a:solidFill>
              </a:rPr>
              <a:t>image-sidecar-card</a:t>
            </a:r>
          </a:p>
        </p:txBody>
      </p:sp>
      <p:sp>
        <p:nvSpPr>
          <p:cNvPr id="44" name="mdpr-text catalog-body"/>
          <p:cNvSpPr txBox="1"/>
          <p:nvPr/>
        </p:nvSpPr>
        <p:spPr>
          <a:xfrm>
            <a:off x="9043415" y="2962656"/>
            <a:ext cx="2404872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0">
                <a:solidFill>
                  <a:srgbClr val="475569"/>
                </a:solidFill>
              </a:rPr>
              <a:t>reserved image sidecar; text block</a:t>
            </a:r>
          </a:p>
        </p:txBody>
      </p:sp>
      <p:sp>
        <p:nvSpPr>
          <p:cNvPr id="45" name="mdpr-text catalog-token"/>
          <p:cNvSpPr txBox="1"/>
          <p:nvPr/>
        </p:nvSpPr>
        <p:spPr>
          <a:xfrm>
            <a:off x="9043415" y="3227832"/>
            <a:ext cx="2404872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1">
                <a:solidFill>
                  <a:srgbClr val="16A34A"/>
                </a:solidFill>
              </a:rPr>
              <a:t>theme-token driven</a:t>
            </a:r>
          </a:p>
        </p:txBody>
      </p:sp>
      <p:sp>
        <p:nvSpPr>
          <p:cNvPr id="46" name="mdpr-surface catalog-card"/>
          <p:cNvSpPr/>
          <p:nvPr/>
        </p:nvSpPr>
        <p:spPr>
          <a:xfrm>
            <a:off x="566928" y="3758184"/>
            <a:ext cx="3529584" cy="960120"/>
          </a:xfrm>
          <a:prstGeom prst="roundRect">
            <a:avLst/>
          </a:prstGeom>
          <a:solidFill>
            <a:srgbClr val="F1F5F9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mdpr-decor table-summary"/>
          <p:cNvSpPr/>
          <p:nvPr/>
        </p:nvSpPr>
        <p:spPr>
          <a:xfrm>
            <a:off x="731520" y="3982212"/>
            <a:ext cx="658368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mdpr-decor table-header"/>
          <p:cNvSpPr/>
          <p:nvPr/>
        </p:nvSpPr>
        <p:spPr>
          <a:xfrm>
            <a:off x="731520" y="3982212"/>
            <a:ext cx="658368" cy="73152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mdpr-decor table-row"/>
          <p:cNvSpPr/>
          <p:nvPr/>
        </p:nvSpPr>
        <p:spPr>
          <a:xfrm>
            <a:off x="786384" y="4165092"/>
            <a:ext cx="548640" cy="12801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mdpr-decor table-dot"/>
          <p:cNvSpPr/>
          <p:nvPr/>
        </p:nvSpPr>
        <p:spPr>
          <a:xfrm>
            <a:off x="804672" y="4133088"/>
            <a:ext cx="64008" cy="64008"/>
          </a:xfrm>
          <a:prstGeom prst="ellipse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mdpr-decor table-row"/>
          <p:cNvSpPr/>
          <p:nvPr/>
        </p:nvSpPr>
        <p:spPr>
          <a:xfrm>
            <a:off x="786384" y="4329684"/>
            <a:ext cx="548640" cy="12801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mdpr-decor table-dot"/>
          <p:cNvSpPr/>
          <p:nvPr/>
        </p:nvSpPr>
        <p:spPr>
          <a:xfrm>
            <a:off x="804672" y="4297680"/>
            <a:ext cx="64008" cy="64008"/>
          </a:xfrm>
          <a:prstGeom prst="ellipse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mdpr-text-in-decor"/>
          <p:cNvSpPr txBox="1"/>
          <p:nvPr/>
        </p:nvSpPr>
        <p:spPr>
          <a:xfrm>
            <a:off x="1115568" y="4137660"/>
            <a:ext cx="228600" cy="118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1">
                <a:solidFill>
                  <a:srgbClr val="0F766E"/>
                </a:solidFill>
              </a:rPr>
              <a:t>42</a:t>
            </a:r>
          </a:p>
        </p:txBody>
      </p:sp>
      <p:sp>
        <p:nvSpPr>
          <p:cNvPr id="54" name="mdpr-text-in-decor"/>
          <p:cNvSpPr txBox="1"/>
          <p:nvPr/>
        </p:nvSpPr>
        <p:spPr>
          <a:xfrm>
            <a:off x="1115568" y="4302252"/>
            <a:ext cx="228600" cy="118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1">
                <a:solidFill>
                  <a:srgbClr val="0F766E"/>
                </a:solidFill>
              </a:rPr>
              <a:t>18</a:t>
            </a:r>
          </a:p>
        </p:txBody>
      </p:sp>
      <p:sp>
        <p:nvSpPr>
          <p:cNvPr id="55" name="mdpr-text catalog-title"/>
          <p:cNvSpPr txBox="1"/>
          <p:nvPr/>
        </p:nvSpPr>
        <p:spPr>
          <a:xfrm>
            <a:off x="1527048" y="3877056"/>
            <a:ext cx="2404872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00" b="1">
                <a:solidFill>
                  <a:srgbClr val="111827"/>
                </a:solidFill>
              </a:rPr>
              <a:t>table-summary-card</a:t>
            </a:r>
          </a:p>
        </p:txBody>
      </p:sp>
      <p:sp>
        <p:nvSpPr>
          <p:cNvPr id="56" name="mdpr-text catalog-body"/>
          <p:cNvSpPr txBox="1"/>
          <p:nvPr/>
        </p:nvSpPr>
        <p:spPr>
          <a:xfrm>
            <a:off x="1527048" y="4178808"/>
            <a:ext cx="2404872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0">
                <a:solidFill>
                  <a:srgbClr val="475569"/>
                </a:solidFill>
              </a:rPr>
              <a:t>header label; two compact facts</a:t>
            </a:r>
          </a:p>
        </p:txBody>
      </p:sp>
      <p:sp>
        <p:nvSpPr>
          <p:cNvPr id="57" name="mdpr-text catalog-token"/>
          <p:cNvSpPr txBox="1"/>
          <p:nvPr/>
        </p:nvSpPr>
        <p:spPr>
          <a:xfrm>
            <a:off x="1527048" y="4443984"/>
            <a:ext cx="2404872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1">
                <a:solidFill>
                  <a:srgbClr val="0F766E"/>
                </a:solidFill>
              </a:rPr>
              <a:t>theme-token driven</a:t>
            </a:r>
          </a:p>
        </p:txBody>
      </p:sp>
      <p:sp>
        <p:nvSpPr>
          <p:cNvPr id="58" name="mdpr-surface catalog-card"/>
          <p:cNvSpPr/>
          <p:nvPr/>
        </p:nvSpPr>
        <p:spPr>
          <a:xfrm>
            <a:off x="4325112" y="3758184"/>
            <a:ext cx="3529584" cy="960120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mdpr-decor"/>
          <p:cNvSpPr/>
          <p:nvPr/>
        </p:nvSpPr>
        <p:spPr>
          <a:xfrm>
            <a:off x="4535423" y="4119372"/>
            <a:ext cx="237744" cy="237744"/>
          </a:xfrm>
          <a:prstGeom prst="ellipse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mdpr-decor"/>
          <p:cNvSpPr/>
          <p:nvPr/>
        </p:nvSpPr>
        <p:spPr>
          <a:xfrm>
            <a:off x="4837175" y="4229100"/>
            <a:ext cx="384048" cy="18288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mdpr-text catalog-title"/>
          <p:cNvSpPr txBox="1"/>
          <p:nvPr/>
        </p:nvSpPr>
        <p:spPr>
          <a:xfrm>
            <a:off x="5285231" y="3877056"/>
            <a:ext cx="2404872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00" b="1">
                <a:solidFill>
                  <a:srgbClr val="111827"/>
                </a:solidFill>
              </a:rPr>
              <a:t>connector-dot-card</a:t>
            </a:r>
          </a:p>
        </p:txBody>
      </p:sp>
      <p:sp>
        <p:nvSpPr>
          <p:cNvPr id="62" name="mdpr-text catalog-body"/>
          <p:cNvSpPr txBox="1"/>
          <p:nvPr/>
        </p:nvSpPr>
        <p:spPr>
          <a:xfrm>
            <a:off x="5285231" y="4178808"/>
            <a:ext cx="2404872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0">
                <a:solidFill>
                  <a:srgbClr val="475569"/>
                </a:solidFill>
              </a:rPr>
              <a:t>edge dot; connector anchor</a:t>
            </a:r>
          </a:p>
        </p:txBody>
      </p:sp>
      <p:sp>
        <p:nvSpPr>
          <p:cNvPr id="63" name="mdpr-text catalog-token"/>
          <p:cNvSpPr txBox="1"/>
          <p:nvPr/>
        </p:nvSpPr>
        <p:spPr>
          <a:xfrm>
            <a:off x="5285231" y="4443984"/>
            <a:ext cx="2404872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1">
                <a:solidFill>
                  <a:srgbClr val="2563EB"/>
                </a:solidFill>
              </a:rPr>
              <a:t>theme-token driven</a:t>
            </a:r>
          </a:p>
        </p:txBody>
      </p:sp>
      <p:sp>
        <p:nvSpPr>
          <p:cNvPr id="64" name="mdpr-surface catalog-card"/>
          <p:cNvSpPr/>
          <p:nvPr/>
        </p:nvSpPr>
        <p:spPr>
          <a:xfrm>
            <a:off x="8083295" y="3758184"/>
            <a:ext cx="3529584" cy="960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mdpr-text catalog-title"/>
          <p:cNvSpPr txBox="1"/>
          <p:nvPr/>
        </p:nvSpPr>
        <p:spPr>
          <a:xfrm>
            <a:off x="9043415" y="3877056"/>
            <a:ext cx="2404872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00" b="1">
                <a:solidFill>
                  <a:srgbClr val="111827"/>
                </a:solidFill>
              </a:rPr>
              <a:t>plain-safe-card</a:t>
            </a:r>
          </a:p>
        </p:txBody>
      </p:sp>
      <p:sp>
        <p:nvSpPr>
          <p:cNvPr id="66" name="mdpr-text catalog-body"/>
          <p:cNvSpPr txBox="1"/>
          <p:nvPr/>
        </p:nvSpPr>
        <p:spPr>
          <a:xfrm>
            <a:off x="9043415" y="4178808"/>
            <a:ext cx="2404872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0">
                <a:solidFill>
                  <a:srgbClr val="475569"/>
                </a:solidFill>
              </a:rPr>
              <a:t>minimal padding; no ornament</a:t>
            </a:r>
          </a:p>
        </p:txBody>
      </p:sp>
      <p:sp>
        <p:nvSpPr>
          <p:cNvPr id="67" name="mdpr-text catalog-token"/>
          <p:cNvSpPr txBox="1"/>
          <p:nvPr/>
        </p:nvSpPr>
        <p:spPr>
          <a:xfrm>
            <a:off x="9043415" y="4443984"/>
            <a:ext cx="2404872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1">
                <a:solidFill>
                  <a:srgbClr val="C2410C"/>
                </a:solidFill>
              </a:rPr>
              <a:t>theme-token driven</a:t>
            </a:r>
          </a:p>
        </p:txBody>
      </p:sp>
      <p:sp>
        <p:nvSpPr>
          <p:cNvPr id="68" name="mdpr-surface catalog-card"/>
          <p:cNvSpPr/>
          <p:nvPr/>
        </p:nvSpPr>
        <p:spPr>
          <a:xfrm>
            <a:off x="566928" y="4974336"/>
            <a:ext cx="3529584" cy="960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mdpr-decor paper"/>
          <p:cNvSpPr/>
          <p:nvPr/>
        </p:nvSpPr>
        <p:spPr>
          <a:xfrm>
            <a:off x="841248" y="5234940"/>
            <a:ext cx="420624" cy="438912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mdpr-decor"/>
          <p:cNvSpPr/>
          <p:nvPr/>
        </p:nvSpPr>
        <p:spPr>
          <a:xfrm>
            <a:off x="896112" y="5399532"/>
            <a:ext cx="310896" cy="16459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mdpr-decor"/>
          <p:cNvSpPr/>
          <p:nvPr/>
        </p:nvSpPr>
        <p:spPr>
          <a:xfrm>
            <a:off x="658368" y="5344668"/>
            <a:ext cx="219456" cy="219456"/>
          </a:xfrm>
          <a:prstGeom prst="ellipse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mdpr-decor"/>
          <p:cNvSpPr/>
          <p:nvPr/>
        </p:nvSpPr>
        <p:spPr>
          <a:xfrm>
            <a:off x="1261872" y="5344668"/>
            <a:ext cx="219456" cy="219456"/>
          </a:xfrm>
          <a:prstGeom prst="ellipse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mdpr-text catalog-title"/>
          <p:cNvSpPr txBox="1"/>
          <p:nvPr/>
        </p:nvSpPr>
        <p:spPr>
          <a:xfrm>
            <a:off x="1527048" y="5093208"/>
            <a:ext cx="2404872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00" b="1">
                <a:solidFill>
                  <a:srgbClr val="111827"/>
                </a:solidFill>
              </a:rPr>
              <a:t>rounded-ticket-panel</a:t>
            </a:r>
          </a:p>
        </p:txBody>
      </p:sp>
      <p:sp>
        <p:nvSpPr>
          <p:cNvPr id="74" name="mdpr-text catalog-body"/>
          <p:cNvSpPr txBox="1"/>
          <p:nvPr/>
        </p:nvSpPr>
        <p:spPr>
          <a:xfrm>
            <a:off x="1527048" y="5394960"/>
            <a:ext cx="2404872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0">
                <a:solidFill>
                  <a:srgbClr val="475569"/>
                </a:solidFill>
              </a:rPr>
              <a:t>large rounded ticket; punched corner cue</a:t>
            </a:r>
          </a:p>
        </p:txBody>
      </p:sp>
      <p:sp>
        <p:nvSpPr>
          <p:cNvPr id="75" name="mdpr-text catalog-token"/>
          <p:cNvSpPr txBox="1"/>
          <p:nvPr/>
        </p:nvSpPr>
        <p:spPr>
          <a:xfrm>
            <a:off x="1527048" y="5660136"/>
            <a:ext cx="2404872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1">
                <a:solidFill>
                  <a:srgbClr val="7C3AED"/>
                </a:solidFill>
              </a:rPr>
              <a:t>theme-token driven</a:t>
            </a:r>
          </a:p>
        </p:txBody>
      </p:sp>
      <p:sp>
        <p:nvSpPr>
          <p:cNvPr id="76" name="mdpr-surface catalog-card"/>
          <p:cNvSpPr/>
          <p:nvPr/>
        </p:nvSpPr>
        <p:spPr>
          <a:xfrm>
            <a:off x="4325112" y="4974336"/>
            <a:ext cx="3529584" cy="960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mdpr-decor paper"/>
          <p:cNvSpPr/>
          <p:nvPr/>
        </p:nvSpPr>
        <p:spPr>
          <a:xfrm>
            <a:off x="4599431" y="5234940"/>
            <a:ext cx="420624" cy="438912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mdpr-decor"/>
          <p:cNvSpPr/>
          <p:nvPr/>
        </p:nvSpPr>
        <p:spPr>
          <a:xfrm>
            <a:off x="4654295" y="5399532"/>
            <a:ext cx="310896" cy="16459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mdpr-text catalog-title"/>
          <p:cNvSpPr txBox="1"/>
          <p:nvPr/>
        </p:nvSpPr>
        <p:spPr>
          <a:xfrm>
            <a:off x="5285231" y="5093208"/>
            <a:ext cx="2404872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00" b="1">
                <a:solidFill>
                  <a:srgbClr val="111827"/>
                </a:solidFill>
              </a:rPr>
              <a:t>paperclip-corner</a:t>
            </a:r>
          </a:p>
        </p:txBody>
      </p:sp>
      <p:sp>
        <p:nvSpPr>
          <p:cNvPr id="80" name="mdpr-text catalog-body"/>
          <p:cNvSpPr txBox="1"/>
          <p:nvPr/>
        </p:nvSpPr>
        <p:spPr>
          <a:xfrm>
            <a:off x="5285231" y="5394960"/>
            <a:ext cx="2404872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0">
                <a:solidFill>
                  <a:srgbClr val="475569"/>
                </a:solidFill>
              </a:rPr>
              <a:t>small clip mark; corner overlap</a:t>
            </a:r>
          </a:p>
        </p:txBody>
      </p:sp>
      <p:sp>
        <p:nvSpPr>
          <p:cNvPr id="81" name="mdpr-text catalog-token"/>
          <p:cNvSpPr txBox="1"/>
          <p:nvPr/>
        </p:nvSpPr>
        <p:spPr>
          <a:xfrm>
            <a:off x="5285231" y="5660136"/>
            <a:ext cx="2404872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1">
                <a:solidFill>
                  <a:srgbClr val="E11D48"/>
                </a:solidFill>
              </a:rPr>
              <a:t>theme-token driven</a:t>
            </a:r>
          </a:p>
        </p:txBody>
      </p:sp>
      <p:sp>
        <p:nvSpPr>
          <p:cNvPr id="82" name="mdpr-surface catalog-card"/>
          <p:cNvSpPr/>
          <p:nvPr/>
        </p:nvSpPr>
        <p:spPr>
          <a:xfrm>
            <a:off x="8083295" y="4974336"/>
            <a:ext cx="3529584" cy="960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mdpr-text catalog-title"/>
          <p:cNvSpPr txBox="1"/>
          <p:nvPr/>
        </p:nvSpPr>
        <p:spPr>
          <a:xfrm>
            <a:off x="9043415" y="5093208"/>
            <a:ext cx="2404872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00" b="1">
                <a:solidFill>
                  <a:srgbClr val="111827"/>
                </a:solidFill>
              </a:rPr>
              <a:t>binder-hole-strip</a:t>
            </a:r>
          </a:p>
        </p:txBody>
      </p:sp>
      <p:sp>
        <p:nvSpPr>
          <p:cNvPr id="84" name="mdpr-text catalog-body"/>
          <p:cNvSpPr txBox="1"/>
          <p:nvPr/>
        </p:nvSpPr>
        <p:spPr>
          <a:xfrm>
            <a:off x="9043415" y="5394960"/>
            <a:ext cx="2404872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0">
                <a:solidFill>
                  <a:srgbClr val="475569"/>
                </a:solidFill>
              </a:rPr>
              <a:t>hole strip; ruled background</a:t>
            </a:r>
          </a:p>
        </p:txBody>
      </p:sp>
      <p:sp>
        <p:nvSpPr>
          <p:cNvPr id="85" name="mdpr-text catalog-token"/>
          <p:cNvSpPr txBox="1"/>
          <p:nvPr/>
        </p:nvSpPr>
        <p:spPr>
          <a:xfrm>
            <a:off x="9043415" y="5660136"/>
            <a:ext cx="2404872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1">
                <a:solidFill>
                  <a:srgbClr val="16A34A"/>
                </a:solidFill>
              </a:rPr>
              <a:t>theme-token driven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dpr-text"/>
          <p:cNvSpPr txBox="1"/>
          <p:nvPr/>
        </p:nvSpPr>
        <p:spPr>
          <a:xfrm>
            <a:off x="502920" y="310896"/>
            <a:ext cx="7955279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2400" b="1">
                <a:solidFill>
                  <a:srgbClr val="111827"/>
                </a:solidFill>
              </a:rPr>
              <a:t>Object Shape Grammar Catalog 4</a:t>
            </a:r>
          </a:p>
        </p:txBody>
      </p:sp>
      <p:sp>
        <p:nvSpPr>
          <p:cNvPr id="3" name="mdpr-text"/>
          <p:cNvSpPr txBox="1"/>
          <p:nvPr/>
        </p:nvSpPr>
        <p:spPr>
          <a:xfrm>
            <a:off x="521207" y="768096"/>
            <a:ext cx="10241280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</a:rPr>
              <a:t>Editable preview objects generated from the 60+ structural archetype catalog.</a:t>
            </a:r>
          </a:p>
        </p:txBody>
      </p:sp>
      <p:sp>
        <p:nvSpPr>
          <p:cNvPr id="4" name="mdpr-decor"/>
          <p:cNvSpPr/>
          <p:nvPr/>
        </p:nvSpPr>
        <p:spPr>
          <a:xfrm>
            <a:off x="530352" y="1097280"/>
            <a:ext cx="1280160" cy="32004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mdpr-surface catalog-card"/>
          <p:cNvSpPr/>
          <p:nvPr/>
        </p:nvSpPr>
        <p:spPr>
          <a:xfrm>
            <a:off x="566928" y="1325880"/>
            <a:ext cx="3529584" cy="960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mdpr-text catalog-title"/>
          <p:cNvSpPr txBox="1"/>
          <p:nvPr/>
        </p:nvSpPr>
        <p:spPr>
          <a:xfrm>
            <a:off x="1527048" y="1444752"/>
            <a:ext cx="2404872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00" b="1">
                <a:solidFill>
                  <a:srgbClr val="111827"/>
                </a:solidFill>
              </a:rPr>
              <a:t>tape-label</a:t>
            </a:r>
          </a:p>
        </p:txBody>
      </p:sp>
      <p:sp>
        <p:nvSpPr>
          <p:cNvPr id="7" name="mdpr-text catalog-body"/>
          <p:cNvSpPr txBox="1"/>
          <p:nvPr/>
        </p:nvSpPr>
        <p:spPr>
          <a:xfrm>
            <a:off x="1527048" y="1746504"/>
            <a:ext cx="2404872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0">
                <a:solidFill>
                  <a:srgbClr val="475569"/>
                </a:solidFill>
              </a:rPr>
              <a:t>short tape surface; caption</a:t>
            </a:r>
          </a:p>
        </p:txBody>
      </p:sp>
      <p:sp>
        <p:nvSpPr>
          <p:cNvPr id="8" name="mdpr-text catalog-token"/>
          <p:cNvSpPr txBox="1"/>
          <p:nvPr/>
        </p:nvSpPr>
        <p:spPr>
          <a:xfrm>
            <a:off x="1527048" y="2011680"/>
            <a:ext cx="2404872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1">
                <a:solidFill>
                  <a:srgbClr val="0F766E"/>
                </a:solidFill>
              </a:rPr>
              <a:t>theme-token driven</a:t>
            </a:r>
          </a:p>
        </p:txBody>
      </p:sp>
      <p:sp>
        <p:nvSpPr>
          <p:cNvPr id="9" name="mdpr-surface catalog-card"/>
          <p:cNvSpPr/>
          <p:nvPr/>
        </p:nvSpPr>
        <p:spPr>
          <a:xfrm>
            <a:off x="4325112" y="1325880"/>
            <a:ext cx="3529584" cy="960120"/>
          </a:xfrm>
          <a:prstGeom prst="roundRect">
            <a:avLst/>
          </a:prstGeom>
          <a:solidFill>
            <a:srgbClr val="FFF7ED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mdpr-decor"/>
          <p:cNvSpPr/>
          <p:nvPr/>
        </p:nvSpPr>
        <p:spPr>
          <a:xfrm>
            <a:off x="4782312" y="1915668"/>
            <a:ext cx="164592" cy="164592"/>
          </a:xfrm>
          <a:prstGeom prst="ellipse">
            <a:avLst/>
          </a:prstGeom>
          <a:solidFill>
            <a:srgbClr val="FFF7ED"/>
          </a:solidFill>
          <a:ln>
            <a:solidFill>
              <a:srgbClr val="FFF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mdpr-text catalog-title"/>
          <p:cNvSpPr txBox="1"/>
          <p:nvPr/>
        </p:nvSpPr>
        <p:spPr>
          <a:xfrm>
            <a:off x="5285231" y="1444752"/>
            <a:ext cx="2404872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00" b="1">
                <a:solidFill>
                  <a:srgbClr val="111827"/>
                </a:solidFill>
              </a:rPr>
              <a:t>speech-bubble-callout</a:t>
            </a:r>
          </a:p>
        </p:txBody>
      </p:sp>
      <p:sp>
        <p:nvSpPr>
          <p:cNvPr id="12" name="mdpr-text catalog-body"/>
          <p:cNvSpPr txBox="1"/>
          <p:nvPr/>
        </p:nvSpPr>
        <p:spPr>
          <a:xfrm>
            <a:off x="5285231" y="1746504"/>
            <a:ext cx="2404872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0">
                <a:solidFill>
                  <a:srgbClr val="475569"/>
                </a:solidFill>
              </a:rPr>
              <a:t>bubble; tail; short text</a:t>
            </a:r>
          </a:p>
        </p:txBody>
      </p:sp>
      <p:sp>
        <p:nvSpPr>
          <p:cNvPr id="13" name="mdpr-text catalog-token"/>
          <p:cNvSpPr txBox="1"/>
          <p:nvPr/>
        </p:nvSpPr>
        <p:spPr>
          <a:xfrm>
            <a:off x="5285231" y="2011680"/>
            <a:ext cx="2404872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1">
                <a:solidFill>
                  <a:srgbClr val="2563EB"/>
                </a:solidFill>
              </a:rPr>
              <a:t>theme-token driven</a:t>
            </a:r>
          </a:p>
        </p:txBody>
      </p:sp>
      <p:sp>
        <p:nvSpPr>
          <p:cNvPr id="14" name="mdpr-surface catalog-card"/>
          <p:cNvSpPr/>
          <p:nvPr/>
        </p:nvSpPr>
        <p:spPr>
          <a:xfrm>
            <a:off x="8083295" y="1325880"/>
            <a:ext cx="3529584" cy="960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mdpr-text catalog-title"/>
          <p:cNvSpPr txBox="1"/>
          <p:nvPr/>
        </p:nvSpPr>
        <p:spPr>
          <a:xfrm>
            <a:off x="9043415" y="1444752"/>
            <a:ext cx="2404872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00" b="1">
                <a:solidFill>
                  <a:srgbClr val="111827"/>
                </a:solidFill>
              </a:rPr>
              <a:t>diagonal-sash-label</a:t>
            </a:r>
          </a:p>
        </p:txBody>
      </p:sp>
      <p:sp>
        <p:nvSpPr>
          <p:cNvPr id="16" name="mdpr-text catalog-body"/>
          <p:cNvSpPr txBox="1"/>
          <p:nvPr/>
        </p:nvSpPr>
        <p:spPr>
          <a:xfrm>
            <a:off x="9043415" y="1746504"/>
            <a:ext cx="2404872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0">
                <a:solidFill>
                  <a:srgbClr val="475569"/>
                </a:solidFill>
              </a:rPr>
              <a:t>diagonal sash; short word</a:t>
            </a:r>
          </a:p>
        </p:txBody>
      </p:sp>
      <p:sp>
        <p:nvSpPr>
          <p:cNvPr id="17" name="mdpr-text catalog-token"/>
          <p:cNvSpPr txBox="1"/>
          <p:nvPr/>
        </p:nvSpPr>
        <p:spPr>
          <a:xfrm>
            <a:off x="9043415" y="2011680"/>
            <a:ext cx="2404872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1">
                <a:solidFill>
                  <a:srgbClr val="C2410C"/>
                </a:solidFill>
              </a:rPr>
              <a:t>theme-token driven</a:t>
            </a:r>
          </a:p>
        </p:txBody>
      </p:sp>
      <p:sp>
        <p:nvSpPr>
          <p:cNvPr id="18" name="mdpr-surface catalog-card"/>
          <p:cNvSpPr/>
          <p:nvPr/>
        </p:nvSpPr>
        <p:spPr>
          <a:xfrm>
            <a:off x="566928" y="2542032"/>
            <a:ext cx="3529584" cy="960120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mdpr-text catalog-title"/>
          <p:cNvSpPr txBox="1"/>
          <p:nvPr/>
        </p:nvSpPr>
        <p:spPr>
          <a:xfrm>
            <a:off x="1527048" y="2660904"/>
            <a:ext cx="2404872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00" b="1">
                <a:solidFill>
                  <a:srgbClr val="111827"/>
                </a:solidFill>
              </a:rPr>
              <a:t>pill-step-node</a:t>
            </a:r>
          </a:p>
        </p:txBody>
      </p:sp>
      <p:sp>
        <p:nvSpPr>
          <p:cNvPr id="20" name="mdpr-text catalog-body"/>
          <p:cNvSpPr txBox="1"/>
          <p:nvPr/>
        </p:nvSpPr>
        <p:spPr>
          <a:xfrm>
            <a:off x="1527048" y="2962656"/>
            <a:ext cx="2404872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0">
                <a:solidFill>
                  <a:srgbClr val="475569"/>
                </a:solidFill>
              </a:rPr>
              <a:t>pill node; short label</a:t>
            </a:r>
          </a:p>
        </p:txBody>
      </p:sp>
      <p:sp>
        <p:nvSpPr>
          <p:cNvPr id="21" name="mdpr-text catalog-token"/>
          <p:cNvSpPr txBox="1"/>
          <p:nvPr/>
        </p:nvSpPr>
        <p:spPr>
          <a:xfrm>
            <a:off x="1527048" y="3227832"/>
            <a:ext cx="2404872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1">
                <a:solidFill>
                  <a:srgbClr val="7C3AED"/>
                </a:solidFill>
              </a:rPr>
              <a:t>theme-token driven</a:t>
            </a:r>
          </a:p>
        </p:txBody>
      </p:sp>
      <p:sp>
        <p:nvSpPr>
          <p:cNvPr id="22" name="mdpr-surface catalog-card"/>
          <p:cNvSpPr/>
          <p:nvPr/>
        </p:nvSpPr>
        <p:spPr>
          <a:xfrm>
            <a:off x="4325112" y="2542032"/>
            <a:ext cx="3529584" cy="960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mdpr-decor paper"/>
          <p:cNvSpPr/>
          <p:nvPr/>
        </p:nvSpPr>
        <p:spPr>
          <a:xfrm>
            <a:off x="4599431" y="2802636"/>
            <a:ext cx="420624" cy="438912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mdpr-decor"/>
          <p:cNvSpPr/>
          <p:nvPr/>
        </p:nvSpPr>
        <p:spPr>
          <a:xfrm>
            <a:off x="4654295" y="2967228"/>
            <a:ext cx="310896" cy="16459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mdpr-decor notch"/>
          <p:cNvSpPr/>
          <p:nvPr/>
        </p:nvSpPr>
        <p:spPr>
          <a:xfrm>
            <a:off x="4782312" y="2839212"/>
            <a:ext cx="320040" cy="274320"/>
          </a:xfrm>
          <a:prstGeom prst="rect">
            <a:avLst/>
          </a:prstGeom>
          <a:solidFill>
            <a:srgbClr val="FDE68A"/>
          </a:solidFill>
          <a:ln w="1016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mdpr-text catalog-title"/>
          <p:cNvSpPr txBox="1"/>
          <p:nvPr/>
        </p:nvSpPr>
        <p:spPr>
          <a:xfrm>
            <a:off x="5285231" y="2660904"/>
            <a:ext cx="2404872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00" b="1">
                <a:solidFill>
                  <a:srgbClr val="111827"/>
                </a:solidFill>
              </a:rPr>
              <a:t>folded-corner-card</a:t>
            </a:r>
          </a:p>
        </p:txBody>
      </p:sp>
      <p:sp>
        <p:nvSpPr>
          <p:cNvPr id="27" name="mdpr-text catalog-body"/>
          <p:cNvSpPr txBox="1"/>
          <p:nvPr/>
        </p:nvSpPr>
        <p:spPr>
          <a:xfrm>
            <a:off x="5285231" y="2962656"/>
            <a:ext cx="2404872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0">
                <a:solidFill>
                  <a:srgbClr val="475569"/>
                </a:solidFill>
              </a:rPr>
              <a:t>fold mark; body</a:t>
            </a:r>
          </a:p>
        </p:txBody>
      </p:sp>
      <p:sp>
        <p:nvSpPr>
          <p:cNvPr id="28" name="mdpr-text catalog-token"/>
          <p:cNvSpPr txBox="1"/>
          <p:nvPr/>
        </p:nvSpPr>
        <p:spPr>
          <a:xfrm>
            <a:off x="5285231" y="3227832"/>
            <a:ext cx="2404872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1">
                <a:solidFill>
                  <a:srgbClr val="E11D48"/>
                </a:solidFill>
              </a:rPr>
              <a:t>theme-token driven</a:t>
            </a:r>
          </a:p>
        </p:txBody>
      </p:sp>
      <p:sp>
        <p:nvSpPr>
          <p:cNvPr id="29" name="mdpr-surface catalog-card"/>
          <p:cNvSpPr/>
          <p:nvPr/>
        </p:nvSpPr>
        <p:spPr>
          <a:xfrm>
            <a:off x="8083295" y="2542032"/>
            <a:ext cx="3529584" cy="960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mdpr-decor paper"/>
          <p:cNvSpPr/>
          <p:nvPr/>
        </p:nvSpPr>
        <p:spPr>
          <a:xfrm>
            <a:off x="8357615" y="2802636"/>
            <a:ext cx="420624" cy="438912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mdpr-decor"/>
          <p:cNvSpPr/>
          <p:nvPr/>
        </p:nvSpPr>
        <p:spPr>
          <a:xfrm>
            <a:off x="8412479" y="2967228"/>
            <a:ext cx="310896" cy="16459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mdpr-text catalog-title"/>
          <p:cNvSpPr txBox="1"/>
          <p:nvPr/>
        </p:nvSpPr>
        <p:spPr>
          <a:xfrm>
            <a:off x="9043415" y="2660904"/>
            <a:ext cx="2404872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00" b="1">
                <a:solidFill>
                  <a:srgbClr val="111827"/>
                </a:solidFill>
              </a:rPr>
              <a:t>stacked-paper-cards</a:t>
            </a:r>
          </a:p>
        </p:txBody>
      </p:sp>
      <p:sp>
        <p:nvSpPr>
          <p:cNvPr id="33" name="mdpr-text catalog-body"/>
          <p:cNvSpPr txBox="1"/>
          <p:nvPr/>
        </p:nvSpPr>
        <p:spPr>
          <a:xfrm>
            <a:off x="9043415" y="2962656"/>
            <a:ext cx="2404872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0">
                <a:solidFill>
                  <a:srgbClr val="475569"/>
                </a:solidFill>
              </a:rPr>
              <a:t>offset sheets; front card</a:t>
            </a:r>
          </a:p>
        </p:txBody>
      </p:sp>
      <p:sp>
        <p:nvSpPr>
          <p:cNvPr id="34" name="mdpr-text catalog-token"/>
          <p:cNvSpPr txBox="1"/>
          <p:nvPr/>
        </p:nvSpPr>
        <p:spPr>
          <a:xfrm>
            <a:off x="9043415" y="3227832"/>
            <a:ext cx="2404872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1">
                <a:solidFill>
                  <a:srgbClr val="16A34A"/>
                </a:solidFill>
              </a:rPr>
              <a:t>theme-token driven</a:t>
            </a:r>
          </a:p>
        </p:txBody>
      </p:sp>
      <p:sp>
        <p:nvSpPr>
          <p:cNvPr id="35" name="mdpr-surface catalog-card"/>
          <p:cNvSpPr/>
          <p:nvPr/>
        </p:nvSpPr>
        <p:spPr>
          <a:xfrm>
            <a:off x="566928" y="3758184"/>
            <a:ext cx="3529584" cy="960120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mdpr-text catalog-title"/>
          <p:cNvSpPr txBox="1"/>
          <p:nvPr/>
        </p:nvSpPr>
        <p:spPr>
          <a:xfrm>
            <a:off x="1527048" y="3877056"/>
            <a:ext cx="2404872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00" b="1">
                <a:solidFill>
                  <a:srgbClr val="111827"/>
                </a:solidFill>
              </a:rPr>
              <a:t>overlap-lens-diagram</a:t>
            </a:r>
          </a:p>
        </p:txBody>
      </p:sp>
      <p:sp>
        <p:nvSpPr>
          <p:cNvPr id="37" name="mdpr-text catalog-body"/>
          <p:cNvSpPr txBox="1"/>
          <p:nvPr/>
        </p:nvSpPr>
        <p:spPr>
          <a:xfrm>
            <a:off x="1527048" y="4178808"/>
            <a:ext cx="2404872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0">
                <a:solidFill>
                  <a:srgbClr val="475569"/>
                </a:solidFill>
              </a:rPr>
              <a:t>two translucent shapes; center label</a:t>
            </a:r>
          </a:p>
        </p:txBody>
      </p:sp>
      <p:sp>
        <p:nvSpPr>
          <p:cNvPr id="38" name="mdpr-text catalog-token"/>
          <p:cNvSpPr txBox="1"/>
          <p:nvPr/>
        </p:nvSpPr>
        <p:spPr>
          <a:xfrm>
            <a:off x="1527048" y="4443984"/>
            <a:ext cx="2404872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1">
                <a:solidFill>
                  <a:srgbClr val="0F766E"/>
                </a:solidFill>
              </a:rPr>
              <a:t>theme-token driven</a:t>
            </a:r>
          </a:p>
        </p:txBody>
      </p:sp>
      <p:sp>
        <p:nvSpPr>
          <p:cNvPr id="39" name="mdpr-surface catalog-card"/>
          <p:cNvSpPr/>
          <p:nvPr/>
        </p:nvSpPr>
        <p:spPr>
          <a:xfrm>
            <a:off x="4325112" y="3758184"/>
            <a:ext cx="3529584" cy="960120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mdpr-decor"/>
          <p:cNvSpPr/>
          <p:nvPr/>
        </p:nvSpPr>
        <p:spPr>
          <a:xfrm>
            <a:off x="4809743" y="3982212"/>
            <a:ext cx="22860" cy="51206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mdpr-decor"/>
          <p:cNvSpPr/>
          <p:nvPr/>
        </p:nvSpPr>
        <p:spPr>
          <a:xfrm>
            <a:off x="4562855" y="4238244"/>
            <a:ext cx="512064" cy="2286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mdpr-text catalog-title"/>
          <p:cNvSpPr txBox="1"/>
          <p:nvPr/>
        </p:nvSpPr>
        <p:spPr>
          <a:xfrm>
            <a:off x="5285231" y="3877056"/>
            <a:ext cx="2404872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00" b="1">
                <a:solidFill>
                  <a:srgbClr val="111827"/>
                </a:solidFill>
              </a:rPr>
              <a:t>axis-quadrant-map</a:t>
            </a:r>
          </a:p>
        </p:txBody>
      </p:sp>
      <p:sp>
        <p:nvSpPr>
          <p:cNvPr id="43" name="mdpr-text catalog-body"/>
          <p:cNvSpPr txBox="1"/>
          <p:nvPr/>
        </p:nvSpPr>
        <p:spPr>
          <a:xfrm>
            <a:off x="5285231" y="4178808"/>
            <a:ext cx="2404872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0">
                <a:solidFill>
                  <a:srgbClr val="475569"/>
                </a:solidFill>
              </a:rPr>
              <a:t>cross axes; quadrant labels</a:t>
            </a:r>
          </a:p>
        </p:txBody>
      </p:sp>
      <p:sp>
        <p:nvSpPr>
          <p:cNvPr id="44" name="mdpr-text catalog-token"/>
          <p:cNvSpPr txBox="1"/>
          <p:nvPr/>
        </p:nvSpPr>
        <p:spPr>
          <a:xfrm>
            <a:off x="5285231" y="4443984"/>
            <a:ext cx="2404872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1">
                <a:solidFill>
                  <a:srgbClr val="2563EB"/>
                </a:solidFill>
              </a:rPr>
              <a:t>theme-token driven</a:t>
            </a:r>
          </a:p>
        </p:txBody>
      </p:sp>
      <p:sp>
        <p:nvSpPr>
          <p:cNvPr id="45" name="mdpr-surface catalog-card"/>
          <p:cNvSpPr/>
          <p:nvPr/>
        </p:nvSpPr>
        <p:spPr>
          <a:xfrm>
            <a:off x="8083295" y="3758184"/>
            <a:ext cx="3529584" cy="960120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mdpr-text catalog-title"/>
          <p:cNvSpPr txBox="1"/>
          <p:nvPr/>
        </p:nvSpPr>
        <p:spPr>
          <a:xfrm>
            <a:off x="9043415" y="3877056"/>
            <a:ext cx="2404872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00" b="1">
                <a:solidFill>
                  <a:srgbClr val="111827"/>
                </a:solidFill>
              </a:rPr>
              <a:t>ladder-step-diagram</a:t>
            </a:r>
          </a:p>
        </p:txBody>
      </p:sp>
      <p:sp>
        <p:nvSpPr>
          <p:cNvPr id="47" name="mdpr-text catalog-body"/>
          <p:cNvSpPr txBox="1"/>
          <p:nvPr/>
        </p:nvSpPr>
        <p:spPr>
          <a:xfrm>
            <a:off x="9043415" y="4178808"/>
            <a:ext cx="2404872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0">
                <a:solidFill>
                  <a:srgbClr val="475569"/>
                </a:solidFill>
              </a:rPr>
              <a:t>stepped blocks; ascending labels</a:t>
            </a:r>
          </a:p>
        </p:txBody>
      </p:sp>
      <p:sp>
        <p:nvSpPr>
          <p:cNvPr id="48" name="mdpr-text catalog-token"/>
          <p:cNvSpPr txBox="1"/>
          <p:nvPr/>
        </p:nvSpPr>
        <p:spPr>
          <a:xfrm>
            <a:off x="9043415" y="4443984"/>
            <a:ext cx="2404872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1">
                <a:solidFill>
                  <a:srgbClr val="C2410C"/>
                </a:solidFill>
              </a:rPr>
              <a:t>theme-token driven</a:t>
            </a:r>
          </a:p>
        </p:txBody>
      </p:sp>
      <p:sp>
        <p:nvSpPr>
          <p:cNvPr id="49" name="mdpr-surface catalog-card"/>
          <p:cNvSpPr/>
          <p:nvPr/>
        </p:nvSpPr>
        <p:spPr>
          <a:xfrm>
            <a:off x="566928" y="4974336"/>
            <a:ext cx="3529584" cy="960120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mdpr-decor"/>
          <p:cNvSpPr/>
          <p:nvPr/>
        </p:nvSpPr>
        <p:spPr>
          <a:xfrm>
            <a:off x="841248" y="5253228"/>
            <a:ext cx="146304" cy="146304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mdpr-decor"/>
          <p:cNvSpPr/>
          <p:nvPr/>
        </p:nvSpPr>
        <p:spPr>
          <a:xfrm>
            <a:off x="1152144" y="5408676"/>
            <a:ext cx="146304" cy="146304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mdpr-decor"/>
          <p:cNvSpPr/>
          <p:nvPr/>
        </p:nvSpPr>
        <p:spPr>
          <a:xfrm>
            <a:off x="896112" y="5637276"/>
            <a:ext cx="146304" cy="146304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mdpr-text catalog-title"/>
          <p:cNvSpPr txBox="1"/>
          <p:nvPr/>
        </p:nvSpPr>
        <p:spPr>
          <a:xfrm>
            <a:off x="1527048" y="5093208"/>
            <a:ext cx="2404872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00" b="1">
                <a:solidFill>
                  <a:srgbClr val="111827"/>
                </a:solidFill>
              </a:rPr>
              <a:t>loop-arrow-cycle</a:t>
            </a:r>
          </a:p>
        </p:txBody>
      </p:sp>
      <p:sp>
        <p:nvSpPr>
          <p:cNvPr id="54" name="mdpr-text catalog-body"/>
          <p:cNvSpPr txBox="1"/>
          <p:nvPr/>
        </p:nvSpPr>
        <p:spPr>
          <a:xfrm>
            <a:off x="1527048" y="5394960"/>
            <a:ext cx="2404872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0">
                <a:solidFill>
                  <a:srgbClr val="475569"/>
                </a:solidFill>
              </a:rPr>
              <a:t>curved arrows; nodes</a:t>
            </a:r>
          </a:p>
        </p:txBody>
      </p:sp>
      <p:sp>
        <p:nvSpPr>
          <p:cNvPr id="55" name="mdpr-text catalog-token"/>
          <p:cNvSpPr txBox="1"/>
          <p:nvPr/>
        </p:nvSpPr>
        <p:spPr>
          <a:xfrm>
            <a:off x="1527048" y="5660136"/>
            <a:ext cx="2404872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1">
                <a:solidFill>
                  <a:srgbClr val="7C3AED"/>
                </a:solidFill>
              </a:rPr>
              <a:t>theme-token driven</a:t>
            </a:r>
          </a:p>
        </p:txBody>
      </p:sp>
      <p:sp>
        <p:nvSpPr>
          <p:cNvPr id="56" name="mdpr-surface catalog-card"/>
          <p:cNvSpPr/>
          <p:nvPr/>
        </p:nvSpPr>
        <p:spPr>
          <a:xfrm>
            <a:off x="4325112" y="4974336"/>
            <a:ext cx="3529584" cy="960120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mdpr-decor"/>
          <p:cNvSpPr/>
          <p:nvPr/>
        </p:nvSpPr>
        <p:spPr>
          <a:xfrm>
            <a:off x="4718303" y="5326380"/>
            <a:ext cx="256032" cy="256032"/>
          </a:xfrm>
          <a:prstGeom prst="ellipse">
            <a:avLst/>
          </a:prstGeom>
          <a:solidFill>
            <a:srgbClr val="E11D48"/>
          </a:solidFill>
          <a:ln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mdpr-decor"/>
          <p:cNvSpPr/>
          <p:nvPr/>
        </p:nvSpPr>
        <p:spPr>
          <a:xfrm>
            <a:off x="4581143" y="5454396"/>
            <a:ext cx="502920" cy="16459"/>
          </a:xfrm>
          <a:prstGeom prst="rect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mdpr-decor"/>
          <p:cNvSpPr/>
          <p:nvPr/>
        </p:nvSpPr>
        <p:spPr>
          <a:xfrm>
            <a:off x="4837175" y="5216652"/>
            <a:ext cx="16459" cy="475488"/>
          </a:xfrm>
          <a:prstGeom prst="rect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mdpr-decor"/>
          <p:cNvSpPr/>
          <p:nvPr/>
        </p:nvSpPr>
        <p:spPr>
          <a:xfrm>
            <a:off x="4507991" y="5216652"/>
            <a:ext cx="118872" cy="118872"/>
          </a:xfrm>
          <a:prstGeom prst="ellipse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mdpr-decor"/>
          <p:cNvSpPr/>
          <p:nvPr/>
        </p:nvSpPr>
        <p:spPr>
          <a:xfrm>
            <a:off x="4965192" y="5234940"/>
            <a:ext cx="118872" cy="118872"/>
          </a:xfrm>
          <a:prstGeom prst="ellipse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mdpr-decor"/>
          <p:cNvSpPr/>
          <p:nvPr/>
        </p:nvSpPr>
        <p:spPr>
          <a:xfrm>
            <a:off x="4526279" y="5682996"/>
            <a:ext cx="118872" cy="118872"/>
          </a:xfrm>
          <a:prstGeom prst="ellipse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mdpr-decor"/>
          <p:cNvSpPr/>
          <p:nvPr/>
        </p:nvSpPr>
        <p:spPr>
          <a:xfrm>
            <a:off x="4974336" y="5655564"/>
            <a:ext cx="118872" cy="118872"/>
          </a:xfrm>
          <a:prstGeom prst="ellipse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mdpr-text catalog-title"/>
          <p:cNvSpPr txBox="1"/>
          <p:nvPr/>
        </p:nvSpPr>
        <p:spPr>
          <a:xfrm>
            <a:off x="5285231" y="5093208"/>
            <a:ext cx="2404872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00" b="1">
                <a:solidFill>
                  <a:srgbClr val="111827"/>
                </a:solidFill>
              </a:rPr>
              <a:t>center-hub-spokes</a:t>
            </a:r>
          </a:p>
        </p:txBody>
      </p:sp>
      <p:sp>
        <p:nvSpPr>
          <p:cNvPr id="65" name="mdpr-text catalog-body"/>
          <p:cNvSpPr txBox="1"/>
          <p:nvPr/>
        </p:nvSpPr>
        <p:spPr>
          <a:xfrm>
            <a:off x="5285231" y="5394960"/>
            <a:ext cx="2404872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0">
                <a:solidFill>
                  <a:srgbClr val="475569"/>
                </a:solidFill>
              </a:rPr>
              <a:t>center node; spokes; outer nodes</a:t>
            </a:r>
          </a:p>
        </p:txBody>
      </p:sp>
      <p:sp>
        <p:nvSpPr>
          <p:cNvPr id="66" name="mdpr-text catalog-token"/>
          <p:cNvSpPr txBox="1"/>
          <p:nvPr/>
        </p:nvSpPr>
        <p:spPr>
          <a:xfrm>
            <a:off x="5285231" y="5660136"/>
            <a:ext cx="2404872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1">
                <a:solidFill>
                  <a:srgbClr val="E11D48"/>
                </a:solidFill>
              </a:rPr>
              <a:t>theme-token driven</a:t>
            </a:r>
          </a:p>
        </p:txBody>
      </p:sp>
      <p:sp>
        <p:nvSpPr>
          <p:cNvPr id="67" name="mdpr-surface catalog-card"/>
          <p:cNvSpPr/>
          <p:nvPr/>
        </p:nvSpPr>
        <p:spPr>
          <a:xfrm>
            <a:off x="8083295" y="4974336"/>
            <a:ext cx="3529584" cy="960120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mdpr-text catalog-title"/>
          <p:cNvSpPr txBox="1"/>
          <p:nvPr/>
        </p:nvSpPr>
        <p:spPr>
          <a:xfrm>
            <a:off x="9043415" y="5093208"/>
            <a:ext cx="2404872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00" b="1">
                <a:solidFill>
                  <a:srgbClr val="111827"/>
                </a:solidFill>
              </a:rPr>
              <a:t>timeline-marker-strip</a:t>
            </a:r>
          </a:p>
        </p:txBody>
      </p:sp>
      <p:sp>
        <p:nvSpPr>
          <p:cNvPr id="69" name="mdpr-text catalog-body"/>
          <p:cNvSpPr txBox="1"/>
          <p:nvPr/>
        </p:nvSpPr>
        <p:spPr>
          <a:xfrm>
            <a:off x="9043415" y="5394960"/>
            <a:ext cx="2404872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0">
                <a:solidFill>
                  <a:srgbClr val="475569"/>
                </a:solidFill>
              </a:rPr>
              <a:t>horizontal line; markers</a:t>
            </a:r>
          </a:p>
        </p:txBody>
      </p:sp>
      <p:sp>
        <p:nvSpPr>
          <p:cNvPr id="70" name="mdpr-text catalog-token"/>
          <p:cNvSpPr txBox="1"/>
          <p:nvPr/>
        </p:nvSpPr>
        <p:spPr>
          <a:xfrm>
            <a:off x="9043415" y="5660136"/>
            <a:ext cx="2404872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1">
                <a:solidFill>
                  <a:srgbClr val="16A34A"/>
                </a:solidFill>
              </a:rPr>
              <a:t>theme-token driven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dpr-text"/>
          <p:cNvSpPr txBox="1"/>
          <p:nvPr/>
        </p:nvSpPr>
        <p:spPr>
          <a:xfrm>
            <a:off x="502920" y="310896"/>
            <a:ext cx="7955279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2400" b="1">
                <a:solidFill>
                  <a:srgbClr val="111827"/>
                </a:solidFill>
              </a:rPr>
              <a:t>Object Shape Grammar Catalog 5</a:t>
            </a:r>
          </a:p>
        </p:txBody>
      </p:sp>
      <p:sp>
        <p:nvSpPr>
          <p:cNvPr id="3" name="mdpr-text"/>
          <p:cNvSpPr txBox="1"/>
          <p:nvPr/>
        </p:nvSpPr>
        <p:spPr>
          <a:xfrm>
            <a:off x="521207" y="768096"/>
            <a:ext cx="10241280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</a:rPr>
              <a:t>Editable preview objects generated from the 60+ structural archetype catalog.</a:t>
            </a:r>
          </a:p>
        </p:txBody>
      </p:sp>
      <p:sp>
        <p:nvSpPr>
          <p:cNvPr id="4" name="mdpr-decor"/>
          <p:cNvSpPr/>
          <p:nvPr/>
        </p:nvSpPr>
        <p:spPr>
          <a:xfrm>
            <a:off x="530352" y="1097280"/>
            <a:ext cx="1280160" cy="32004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mdpr-surface catalog-card"/>
          <p:cNvSpPr/>
          <p:nvPr/>
        </p:nvSpPr>
        <p:spPr>
          <a:xfrm>
            <a:off x="566928" y="1325880"/>
            <a:ext cx="3529584" cy="960120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mdpr-decor timeline-line"/>
          <p:cNvSpPr/>
          <p:nvPr/>
        </p:nvSpPr>
        <p:spPr>
          <a:xfrm>
            <a:off x="896112" y="1549908"/>
            <a:ext cx="18288" cy="512064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mdpr-decor timeline-dot"/>
          <p:cNvSpPr/>
          <p:nvPr/>
        </p:nvSpPr>
        <p:spPr>
          <a:xfrm>
            <a:off x="832104" y="1632204"/>
            <a:ext cx="128016" cy="128016"/>
          </a:xfrm>
          <a:prstGeom prst="ellipse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mdpr-decor timeline-card"/>
          <p:cNvSpPr/>
          <p:nvPr/>
        </p:nvSpPr>
        <p:spPr>
          <a:xfrm>
            <a:off x="1024128" y="1604772"/>
            <a:ext cx="310896" cy="146304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mdpr-decor timeline-dot"/>
          <p:cNvSpPr/>
          <p:nvPr/>
        </p:nvSpPr>
        <p:spPr>
          <a:xfrm>
            <a:off x="832104" y="1915668"/>
            <a:ext cx="128016" cy="128016"/>
          </a:xfrm>
          <a:prstGeom prst="ellipse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mdpr-decor timeline-card"/>
          <p:cNvSpPr/>
          <p:nvPr/>
        </p:nvSpPr>
        <p:spPr>
          <a:xfrm>
            <a:off x="1024128" y="1888236"/>
            <a:ext cx="310896" cy="146304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mdpr-text catalog-title"/>
          <p:cNvSpPr txBox="1"/>
          <p:nvPr/>
        </p:nvSpPr>
        <p:spPr>
          <a:xfrm>
            <a:off x="1527048" y="1444752"/>
            <a:ext cx="2404872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00" b="1">
                <a:solidFill>
                  <a:srgbClr val="111827"/>
                </a:solidFill>
              </a:rPr>
              <a:t>vertical-timeline-cards</a:t>
            </a:r>
          </a:p>
        </p:txBody>
      </p:sp>
      <p:sp>
        <p:nvSpPr>
          <p:cNvPr id="12" name="mdpr-text catalog-body"/>
          <p:cNvSpPr txBox="1"/>
          <p:nvPr/>
        </p:nvSpPr>
        <p:spPr>
          <a:xfrm>
            <a:off x="1527048" y="1746504"/>
            <a:ext cx="2404872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0">
                <a:solidFill>
                  <a:srgbClr val="475569"/>
                </a:solidFill>
              </a:rPr>
              <a:t>vertical line; side cards</a:t>
            </a:r>
          </a:p>
        </p:txBody>
      </p:sp>
      <p:sp>
        <p:nvSpPr>
          <p:cNvPr id="13" name="mdpr-text catalog-token"/>
          <p:cNvSpPr txBox="1"/>
          <p:nvPr/>
        </p:nvSpPr>
        <p:spPr>
          <a:xfrm>
            <a:off x="1527048" y="2011680"/>
            <a:ext cx="2404872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1">
                <a:solidFill>
                  <a:srgbClr val="0F766E"/>
                </a:solidFill>
              </a:rPr>
              <a:t>theme-token driven</a:t>
            </a:r>
          </a:p>
        </p:txBody>
      </p:sp>
      <p:sp>
        <p:nvSpPr>
          <p:cNvPr id="14" name="mdpr-surface catalog-card"/>
          <p:cNvSpPr/>
          <p:nvPr/>
        </p:nvSpPr>
        <p:spPr>
          <a:xfrm>
            <a:off x="4325112" y="1325880"/>
            <a:ext cx="3529584" cy="960120"/>
          </a:xfrm>
          <a:prstGeom prst="roundRect">
            <a:avLst/>
          </a:prstGeom>
          <a:solidFill>
            <a:srgbClr val="F0FDF4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mdpr-decor"/>
          <p:cNvSpPr/>
          <p:nvPr/>
        </p:nvSpPr>
        <p:spPr>
          <a:xfrm>
            <a:off x="4489703" y="1915668"/>
            <a:ext cx="676656" cy="45720"/>
          </a:xfrm>
          <a:prstGeom prst="rect">
            <a:avLst/>
          </a:prstGeom>
          <a:solidFill>
            <a:srgbClr val="D1D5DB"/>
          </a:solidFill>
          <a:ln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mdpr-decor"/>
          <p:cNvSpPr/>
          <p:nvPr/>
        </p:nvSpPr>
        <p:spPr>
          <a:xfrm>
            <a:off x="4489703" y="1915668"/>
            <a:ext cx="460126" cy="4572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mdpr-text catalog-title"/>
          <p:cNvSpPr txBox="1"/>
          <p:nvPr/>
        </p:nvSpPr>
        <p:spPr>
          <a:xfrm>
            <a:off x="5285231" y="1444752"/>
            <a:ext cx="2404872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00" b="1">
                <a:solidFill>
                  <a:srgbClr val="111827"/>
                </a:solidFill>
              </a:rPr>
              <a:t>stair-progress-meter</a:t>
            </a:r>
          </a:p>
        </p:txBody>
      </p:sp>
      <p:sp>
        <p:nvSpPr>
          <p:cNvPr id="18" name="mdpr-text catalog-body"/>
          <p:cNvSpPr txBox="1"/>
          <p:nvPr/>
        </p:nvSpPr>
        <p:spPr>
          <a:xfrm>
            <a:off x="5285231" y="1746504"/>
            <a:ext cx="2404872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0">
                <a:solidFill>
                  <a:srgbClr val="475569"/>
                </a:solidFill>
              </a:rPr>
              <a:t>step blocks; current highlight</a:t>
            </a:r>
          </a:p>
        </p:txBody>
      </p:sp>
      <p:sp>
        <p:nvSpPr>
          <p:cNvPr id="19" name="mdpr-text catalog-token"/>
          <p:cNvSpPr txBox="1"/>
          <p:nvPr/>
        </p:nvSpPr>
        <p:spPr>
          <a:xfrm>
            <a:off x="5285231" y="2011680"/>
            <a:ext cx="2404872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1">
                <a:solidFill>
                  <a:srgbClr val="2563EB"/>
                </a:solidFill>
              </a:rPr>
              <a:t>theme-token driven</a:t>
            </a:r>
          </a:p>
        </p:txBody>
      </p:sp>
      <p:sp>
        <p:nvSpPr>
          <p:cNvPr id="20" name="mdpr-surface catalog-card"/>
          <p:cNvSpPr/>
          <p:nvPr/>
        </p:nvSpPr>
        <p:spPr>
          <a:xfrm>
            <a:off x="8083295" y="1325880"/>
            <a:ext cx="3529584" cy="960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mdpr-decor donut"/>
          <p:cNvSpPr/>
          <p:nvPr/>
        </p:nvSpPr>
        <p:spPr>
          <a:xfrm>
            <a:off x="8394191" y="1586484"/>
            <a:ext cx="438912" cy="438912"/>
          </a:xfrm>
          <a:prstGeom prst="ellipse">
            <a:avLst/>
          </a:prstGeom>
          <a:solidFill>
            <a:srgbClr val="C2410C"/>
          </a:solidFill>
          <a:ln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mdpr-decor donut-hole"/>
          <p:cNvSpPr/>
          <p:nvPr/>
        </p:nvSpPr>
        <p:spPr>
          <a:xfrm>
            <a:off x="8503919" y="1696212"/>
            <a:ext cx="219456" cy="219456"/>
          </a:xfrm>
          <a:prstGeom prst="ellipse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mdpr-decor donut-label"/>
          <p:cNvSpPr/>
          <p:nvPr/>
        </p:nvSpPr>
        <p:spPr>
          <a:xfrm>
            <a:off x="8266175" y="1623060"/>
            <a:ext cx="201168" cy="16459"/>
          </a:xfrm>
          <a:prstGeom prst="rect">
            <a:avLst/>
          </a:prstGeom>
          <a:solidFill>
            <a:srgbClr val="C2410C"/>
          </a:solidFill>
          <a:ln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mdpr-decor donut-label"/>
          <p:cNvSpPr/>
          <p:nvPr/>
        </p:nvSpPr>
        <p:spPr>
          <a:xfrm>
            <a:off x="8741663" y="1952244"/>
            <a:ext cx="164592" cy="16459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mdpr-text catalog-title"/>
          <p:cNvSpPr txBox="1"/>
          <p:nvPr/>
        </p:nvSpPr>
        <p:spPr>
          <a:xfrm>
            <a:off x="9043415" y="1444752"/>
            <a:ext cx="2404872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00" b="1">
                <a:solidFill>
                  <a:srgbClr val="111827"/>
                </a:solidFill>
              </a:rPr>
              <a:t>donut-label-ring</a:t>
            </a:r>
          </a:p>
        </p:txBody>
      </p:sp>
      <p:sp>
        <p:nvSpPr>
          <p:cNvPr id="26" name="mdpr-text catalog-body"/>
          <p:cNvSpPr txBox="1"/>
          <p:nvPr/>
        </p:nvSpPr>
        <p:spPr>
          <a:xfrm>
            <a:off x="9043415" y="1746504"/>
            <a:ext cx="2404872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0">
                <a:solidFill>
                  <a:srgbClr val="475569"/>
                </a:solidFill>
              </a:rPr>
              <a:t>donut ring; outside labels</a:t>
            </a:r>
          </a:p>
        </p:txBody>
      </p:sp>
      <p:sp>
        <p:nvSpPr>
          <p:cNvPr id="27" name="mdpr-text catalog-token"/>
          <p:cNvSpPr txBox="1"/>
          <p:nvPr/>
        </p:nvSpPr>
        <p:spPr>
          <a:xfrm>
            <a:off x="9043415" y="2011680"/>
            <a:ext cx="2404872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1">
                <a:solidFill>
                  <a:srgbClr val="C2410C"/>
                </a:solidFill>
              </a:rPr>
              <a:t>theme-token driven</a:t>
            </a:r>
          </a:p>
        </p:txBody>
      </p:sp>
      <p:sp>
        <p:nvSpPr>
          <p:cNvPr id="28" name="mdpr-surface catalog-card"/>
          <p:cNvSpPr/>
          <p:nvPr/>
        </p:nvSpPr>
        <p:spPr>
          <a:xfrm>
            <a:off x="566928" y="2542032"/>
            <a:ext cx="3529584" cy="960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mdpr-decor gauge"/>
          <p:cNvSpPr/>
          <p:nvPr/>
        </p:nvSpPr>
        <p:spPr>
          <a:xfrm>
            <a:off x="877824" y="2802636"/>
            <a:ext cx="438912" cy="438912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mdpr-decor gauge-hole"/>
          <p:cNvSpPr/>
          <p:nvPr/>
        </p:nvSpPr>
        <p:spPr>
          <a:xfrm>
            <a:off x="978408" y="2903220"/>
            <a:ext cx="237744" cy="237744"/>
          </a:xfrm>
          <a:prstGeom prst="ellipse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mdpr-decor gauge-needle"/>
          <p:cNvSpPr/>
          <p:nvPr/>
        </p:nvSpPr>
        <p:spPr>
          <a:xfrm>
            <a:off x="1078992" y="3022092"/>
            <a:ext cx="219456" cy="2286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mdpr-text-in-decor"/>
          <p:cNvSpPr txBox="1"/>
          <p:nvPr/>
        </p:nvSpPr>
        <p:spPr>
          <a:xfrm>
            <a:off x="978408" y="2976372"/>
            <a:ext cx="228600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7C3AED"/>
                </a:solidFill>
              </a:rPr>
              <a:t>78</a:t>
            </a:r>
          </a:p>
        </p:txBody>
      </p:sp>
      <p:sp>
        <p:nvSpPr>
          <p:cNvPr id="33" name="mdpr-text catalog-title"/>
          <p:cNvSpPr txBox="1"/>
          <p:nvPr/>
        </p:nvSpPr>
        <p:spPr>
          <a:xfrm>
            <a:off x="1527048" y="2660904"/>
            <a:ext cx="2404872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00" b="1">
                <a:solidFill>
                  <a:srgbClr val="111827"/>
                </a:solidFill>
              </a:rPr>
              <a:t>gauge-score-card</a:t>
            </a:r>
          </a:p>
        </p:txBody>
      </p:sp>
      <p:sp>
        <p:nvSpPr>
          <p:cNvPr id="34" name="mdpr-text catalog-body"/>
          <p:cNvSpPr txBox="1"/>
          <p:nvPr/>
        </p:nvSpPr>
        <p:spPr>
          <a:xfrm>
            <a:off x="1527048" y="2962656"/>
            <a:ext cx="2404872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0">
                <a:solidFill>
                  <a:srgbClr val="475569"/>
                </a:solidFill>
              </a:rPr>
              <a:t>semi gauge; score; caption</a:t>
            </a:r>
          </a:p>
        </p:txBody>
      </p:sp>
      <p:sp>
        <p:nvSpPr>
          <p:cNvPr id="35" name="mdpr-text catalog-token"/>
          <p:cNvSpPr txBox="1"/>
          <p:nvPr/>
        </p:nvSpPr>
        <p:spPr>
          <a:xfrm>
            <a:off x="1527048" y="3227832"/>
            <a:ext cx="2404872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1">
                <a:solidFill>
                  <a:srgbClr val="7C3AED"/>
                </a:solidFill>
              </a:rPr>
              <a:t>theme-token driven</a:t>
            </a:r>
          </a:p>
        </p:txBody>
      </p:sp>
      <p:sp>
        <p:nvSpPr>
          <p:cNvPr id="36" name="mdpr-surface catalog-card"/>
          <p:cNvSpPr/>
          <p:nvPr/>
        </p:nvSpPr>
        <p:spPr>
          <a:xfrm>
            <a:off x="4325112" y="2542032"/>
            <a:ext cx="3529584" cy="960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mdpr-decor"/>
          <p:cNvSpPr/>
          <p:nvPr/>
        </p:nvSpPr>
        <p:spPr>
          <a:xfrm>
            <a:off x="4581143" y="3076956"/>
            <a:ext cx="91440" cy="146304"/>
          </a:xfrm>
          <a:prstGeom prst="rect">
            <a:avLst/>
          </a:prstGeom>
          <a:solidFill>
            <a:srgbClr val="E11D48"/>
          </a:solidFill>
          <a:ln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mdpr-decor"/>
          <p:cNvSpPr/>
          <p:nvPr/>
        </p:nvSpPr>
        <p:spPr>
          <a:xfrm>
            <a:off x="4745735" y="2930652"/>
            <a:ext cx="91440" cy="292608"/>
          </a:xfrm>
          <a:prstGeom prst="rect">
            <a:avLst/>
          </a:prstGeom>
          <a:solidFill>
            <a:srgbClr val="E11D48"/>
          </a:solidFill>
          <a:ln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mdpr-decor"/>
          <p:cNvSpPr/>
          <p:nvPr/>
        </p:nvSpPr>
        <p:spPr>
          <a:xfrm>
            <a:off x="4910327" y="3003804"/>
            <a:ext cx="91440" cy="219456"/>
          </a:xfrm>
          <a:prstGeom prst="rect">
            <a:avLst/>
          </a:prstGeom>
          <a:solidFill>
            <a:srgbClr val="E11D48"/>
          </a:solidFill>
          <a:ln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mdpr-text catalog-title"/>
          <p:cNvSpPr txBox="1"/>
          <p:nvPr/>
        </p:nvSpPr>
        <p:spPr>
          <a:xfrm>
            <a:off x="5285231" y="2660904"/>
            <a:ext cx="2404872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00" b="1">
                <a:solidFill>
                  <a:srgbClr val="111827"/>
                </a:solidFill>
              </a:rPr>
              <a:t>small-multiple-bars</a:t>
            </a:r>
          </a:p>
        </p:txBody>
      </p:sp>
      <p:sp>
        <p:nvSpPr>
          <p:cNvPr id="41" name="mdpr-text catalog-body"/>
          <p:cNvSpPr txBox="1"/>
          <p:nvPr/>
        </p:nvSpPr>
        <p:spPr>
          <a:xfrm>
            <a:off x="5285231" y="2962656"/>
            <a:ext cx="2404872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0">
                <a:solidFill>
                  <a:srgbClr val="475569"/>
                </a:solidFill>
              </a:rPr>
              <a:t>equal mini bars; shared labels</a:t>
            </a:r>
          </a:p>
        </p:txBody>
      </p:sp>
      <p:sp>
        <p:nvSpPr>
          <p:cNvPr id="42" name="mdpr-text catalog-token"/>
          <p:cNvSpPr txBox="1"/>
          <p:nvPr/>
        </p:nvSpPr>
        <p:spPr>
          <a:xfrm>
            <a:off x="5285231" y="3227832"/>
            <a:ext cx="2404872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1">
                <a:solidFill>
                  <a:srgbClr val="E11D48"/>
                </a:solidFill>
              </a:rPr>
              <a:t>theme-token driven</a:t>
            </a:r>
          </a:p>
        </p:txBody>
      </p:sp>
      <p:sp>
        <p:nvSpPr>
          <p:cNvPr id="43" name="mdpr-surface catalog-card"/>
          <p:cNvSpPr/>
          <p:nvPr/>
        </p:nvSpPr>
        <p:spPr>
          <a:xfrm>
            <a:off x="8083295" y="2542032"/>
            <a:ext cx="3529584" cy="960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mdpr-decor trend"/>
          <p:cNvSpPr/>
          <p:nvPr/>
        </p:nvSpPr>
        <p:spPr>
          <a:xfrm>
            <a:off x="8284463" y="3150108"/>
            <a:ext cx="164592" cy="18288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mdpr-decor trend"/>
          <p:cNvSpPr/>
          <p:nvPr/>
        </p:nvSpPr>
        <p:spPr>
          <a:xfrm>
            <a:off x="8449055" y="3095244"/>
            <a:ext cx="182880" cy="18288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mdpr-decor trend"/>
          <p:cNvSpPr/>
          <p:nvPr/>
        </p:nvSpPr>
        <p:spPr>
          <a:xfrm>
            <a:off x="8631935" y="2994660"/>
            <a:ext cx="201168" cy="18288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mdpr-text-in-decor"/>
          <p:cNvSpPr txBox="1"/>
          <p:nvPr/>
        </p:nvSpPr>
        <p:spPr>
          <a:xfrm>
            <a:off x="8302751" y="2857500"/>
            <a:ext cx="530352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CBD5E1"/>
                </a:solidFill>
              </a:rPr>
              <a:t>trend</a:t>
            </a:r>
          </a:p>
        </p:txBody>
      </p:sp>
      <p:sp>
        <p:nvSpPr>
          <p:cNvPr id="48" name="mdpr-text catalog-title"/>
          <p:cNvSpPr txBox="1"/>
          <p:nvPr/>
        </p:nvSpPr>
        <p:spPr>
          <a:xfrm>
            <a:off x="9043415" y="2660904"/>
            <a:ext cx="2404872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00" b="1">
                <a:solidFill>
                  <a:srgbClr val="111827"/>
                </a:solidFill>
              </a:rPr>
              <a:t>trend-line-backdrop</a:t>
            </a:r>
          </a:p>
        </p:txBody>
      </p:sp>
      <p:sp>
        <p:nvSpPr>
          <p:cNvPr id="49" name="mdpr-text catalog-body"/>
          <p:cNvSpPr txBox="1"/>
          <p:nvPr/>
        </p:nvSpPr>
        <p:spPr>
          <a:xfrm>
            <a:off x="9043415" y="2962656"/>
            <a:ext cx="2404872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0">
                <a:solidFill>
                  <a:srgbClr val="475569"/>
                </a:solidFill>
              </a:rPr>
              <a:t>low contrast line; foreground statement</a:t>
            </a:r>
          </a:p>
        </p:txBody>
      </p:sp>
      <p:sp>
        <p:nvSpPr>
          <p:cNvPr id="50" name="mdpr-text catalog-token"/>
          <p:cNvSpPr txBox="1"/>
          <p:nvPr/>
        </p:nvSpPr>
        <p:spPr>
          <a:xfrm>
            <a:off x="9043415" y="3227832"/>
            <a:ext cx="2404872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1">
                <a:solidFill>
                  <a:srgbClr val="16A34A"/>
                </a:solidFill>
              </a:rPr>
              <a:t>theme-token driven</a:t>
            </a:r>
          </a:p>
        </p:txBody>
      </p:sp>
      <p:sp>
        <p:nvSpPr>
          <p:cNvPr id="51" name="mdpr-surface catalog-card"/>
          <p:cNvSpPr/>
          <p:nvPr/>
        </p:nvSpPr>
        <p:spPr>
          <a:xfrm>
            <a:off x="566928" y="3758184"/>
            <a:ext cx="3529584" cy="960120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mdpr-decor image-slot"/>
          <p:cNvSpPr/>
          <p:nvPr/>
        </p:nvSpPr>
        <p:spPr>
          <a:xfrm>
            <a:off x="731520" y="4009644"/>
            <a:ext cx="420624" cy="457200"/>
          </a:xfrm>
          <a:prstGeom prst="rect">
            <a:avLst/>
          </a:prstGeom>
          <a:solidFill>
            <a:srgbClr val="DBEAFE"/>
          </a:solidFill>
          <a:ln w="1016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mdpr-decor"/>
          <p:cNvSpPr/>
          <p:nvPr/>
        </p:nvSpPr>
        <p:spPr>
          <a:xfrm>
            <a:off x="1188720" y="4128516"/>
            <a:ext cx="219456" cy="32004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mdpr-decor image-slot"/>
          <p:cNvSpPr/>
          <p:nvPr/>
        </p:nvSpPr>
        <p:spPr>
          <a:xfrm>
            <a:off x="731520" y="4027932"/>
            <a:ext cx="566928" cy="420624"/>
          </a:xfrm>
          <a:prstGeom prst="rect">
            <a:avLst/>
          </a:prstGeom>
          <a:solidFill>
            <a:srgbClr val="DBEAFE"/>
          </a:solidFill>
          <a:ln w="1016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mdpr-text catalog-title"/>
          <p:cNvSpPr txBox="1"/>
          <p:nvPr/>
        </p:nvSpPr>
        <p:spPr>
          <a:xfrm>
            <a:off x="1527048" y="3877056"/>
            <a:ext cx="2404872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00" b="1">
                <a:solidFill>
                  <a:srgbClr val="111827"/>
                </a:solidFill>
              </a:rPr>
              <a:t>pictorial-anchor-labels</a:t>
            </a:r>
          </a:p>
        </p:txBody>
      </p:sp>
      <p:sp>
        <p:nvSpPr>
          <p:cNvPr id="56" name="mdpr-text catalog-body"/>
          <p:cNvSpPr txBox="1"/>
          <p:nvPr/>
        </p:nvSpPr>
        <p:spPr>
          <a:xfrm>
            <a:off x="1527048" y="4178808"/>
            <a:ext cx="2404872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0">
                <a:solidFill>
                  <a:srgbClr val="475569"/>
                </a:solidFill>
              </a:rPr>
              <a:t>image anchor; attached labels</a:t>
            </a:r>
          </a:p>
        </p:txBody>
      </p:sp>
      <p:sp>
        <p:nvSpPr>
          <p:cNvPr id="57" name="mdpr-text catalog-token"/>
          <p:cNvSpPr txBox="1"/>
          <p:nvPr/>
        </p:nvSpPr>
        <p:spPr>
          <a:xfrm>
            <a:off x="1527048" y="4443984"/>
            <a:ext cx="2404872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1">
                <a:solidFill>
                  <a:srgbClr val="0F766E"/>
                </a:solidFill>
              </a:rPr>
              <a:t>theme-token driven</a:t>
            </a:r>
          </a:p>
        </p:txBody>
      </p:sp>
      <p:sp>
        <p:nvSpPr>
          <p:cNvPr id="58" name="mdpr-surface catalog-card"/>
          <p:cNvSpPr/>
          <p:nvPr/>
        </p:nvSpPr>
        <p:spPr>
          <a:xfrm>
            <a:off x="4325112" y="3758184"/>
            <a:ext cx="3529584" cy="960120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mdpr-decor image-slot"/>
          <p:cNvSpPr/>
          <p:nvPr/>
        </p:nvSpPr>
        <p:spPr>
          <a:xfrm>
            <a:off x="4489703" y="4009644"/>
            <a:ext cx="420624" cy="457200"/>
          </a:xfrm>
          <a:prstGeom prst="rect">
            <a:avLst/>
          </a:prstGeom>
          <a:solidFill>
            <a:srgbClr val="DBEAFE"/>
          </a:solidFill>
          <a:ln w="1016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mdpr-decor"/>
          <p:cNvSpPr/>
          <p:nvPr/>
        </p:nvSpPr>
        <p:spPr>
          <a:xfrm>
            <a:off x="4946903" y="4128516"/>
            <a:ext cx="219456" cy="3200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mdpr-decor image-slot"/>
          <p:cNvSpPr/>
          <p:nvPr/>
        </p:nvSpPr>
        <p:spPr>
          <a:xfrm>
            <a:off x="4489703" y="4027932"/>
            <a:ext cx="566928" cy="420624"/>
          </a:xfrm>
          <a:prstGeom prst="rect">
            <a:avLst/>
          </a:prstGeom>
          <a:solidFill>
            <a:srgbClr val="DBEAFE"/>
          </a:solidFill>
          <a:ln w="1016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mdpr-text catalog-title"/>
          <p:cNvSpPr txBox="1"/>
          <p:nvPr/>
        </p:nvSpPr>
        <p:spPr>
          <a:xfrm>
            <a:off x="5285231" y="3877056"/>
            <a:ext cx="2404872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00" b="1">
                <a:solidFill>
                  <a:srgbClr val="111827"/>
                </a:solidFill>
              </a:rPr>
              <a:t>photo-window-mask</a:t>
            </a:r>
          </a:p>
        </p:txBody>
      </p:sp>
      <p:sp>
        <p:nvSpPr>
          <p:cNvPr id="63" name="mdpr-text catalog-body"/>
          <p:cNvSpPr txBox="1"/>
          <p:nvPr/>
        </p:nvSpPr>
        <p:spPr>
          <a:xfrm>
            <a:off x="5285231" y="4178808"/>
            <a:ext cx="2404872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0">
                <a:solidFill>
                  <a:srgbClr val="475569"/>
                </a:solidFill>
              </a:rPr>
              <a:t>cropped window; caption</a:t>
            </a:r>
          </a:p>
        </p:txBody>
      </p:sp>
      <p:sp>
        <p:nvSpPr>
          <p:cNvPr id="64" name="mdpr-text catalog-token"/>
          <p:cNvSpPr txBox="1"/>
          <p:nvPr/>
        </p:nvSpPr>
        <p:spPr>
          <a:xfrm>
            <a:off x="5285231" y="4443984"/>
            <a:ext cx="2404872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1">
                <a:solidFill>
                  <a:srgbClr val="2563EB"/>
                </a:solidFill>
              </a:rPr>
              <a:t>theme-token driven</a:t>
            </a:r>
          </a:p>
        </p:txBody>
      </p:sp>
      <p:sp>
        <p:nvSpPr>
          <p:cNvPr id="65" name="mdpr-surface catalog-card"/>
          <p:cNvSpPr/>
          <p:nvPr/>
        </p:nvSpPr>
        <p:spPr>
          <a:xfrm>
            <a:off x="8083295" y="3758184"/>
            <a:ext cx="3529584" cy="960120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mdpr-decor image-slot"/>
          <p:cNvSpPr/>
          <p:nvPr/>
        </p:nvSpPr>
        <p:spPr>
          <a:xfrm>
            <a:off x="8247887" y="4009644"/>
            <a:ext cx="420624" cy="457200"/>
          </a:xfrm>
          <a:prstGeom prst="rect">
            <a:avLst/>
          </a:prstGeom>
          <a:solidFill>
            <a:srgbClr val="DBEAFE"/>
          </a:solidFill>
          <a:ln w="1016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mdpr-decor"/>
          <p:cNvSpPr/>
          <p:nvPr/>
        </p:nvSpPr>
        <p:spPr>
          <a:xfrm>
            <a:off x="8705087" y="4128516"/>
            <a:ext cx="219456" cy="32004"/>
          </a:xfrm>
          <a:prstGeom prst="rect">
            <a:avLst/>
          </a:prstGeom>
          <a:solidFill>
            <a:srgbClr val="C2410C"/>
          </a:solidFill>
          <a:ln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mdpr-decor image-slot"/>
          <p:cNvSpPr/>
          <p:nvPr/>
        </p:nvSpPr>
        <p:spPr>
          <a:xfrm>
            <a:off x="8247887" y="4027932"/>
            <a:ext cx="566928" cy="420624"/>
          </a:xfrm>
          <a:prstGeom prst="rect">
            <a:avLst/>
          </a:prstGeom>
          <a:solidFill>
            <a:srgbClr val="DBEAFE"/>
          </a:solidFill>
          <a:ln w="1016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mdpr-text catalog-title"/>
          <p:cNvSpPr txBox="1"/>
          <p:nvPr/>
        </p:nvSpPr>
        <p:spPr>
          <a:xfrm>
            <a:off x="9043415" y="3877056"/>
            <a:ext cx="2404872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00" b="1">
                <a:solidFill>
                  <a:srgbClr val="111827"/>
                </a:solidFill>
              </a:rPr>
              <a:t>image-caption-split</a:t>
            </a:r>
          </a:p>
        </p:txBody>
      </p:sp>
      <p:sp>
        <p:nvSpPr>
          <p:cNvPr id="70" name="mdpr-text catalog-body"/>
          <p:cNvSpPr txBox="1"/>
          <p:nvPr/>
        </p:nvSpPr>
        <p:spPr>
          <a:xfrm>
            <a:off x="9043415" y="4178808"/>
            <a:ext cx="2404872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0">
                <a:solidFill>
                  <a:srgbClr val="475569"/>
                </a:solidFill>
              </a:rPr>
              <a:t>image region; caption rail</a:t>
            </a:r>
          </a:p>
        </p:txBody>
      </p:sp>
      <p:sp>
        <p:nvSpPr>
          <p:cNvPr id="71" name="mdpr-text catalog-token"/>
          <p:cNvSpPr txBox="1"/>
          <p:nvPr/>
        </p:nvSpPr>
        <p:spPr>
          <a:xfrm>
            <a:off x="9043415" y="4443984"/>
            <a:ext cx="2404872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1">
                <a:solidFill>
                  <a:srgbClr val="C2410C"/>
                </a:solidFill>
              </a:rPr>
              <a:t>theme-token driven</a:t>
            </a:r>
          </a:p>
        </p:txBody>
      </p:sp>
      <p:sp>
        <p:nvSpPr>
          <p:cNvPr id="72" name="mdpr-surface catalog-card"/>
          <p:cNvSpPr/>
          <p:nvPr/>
        </p:nvSpPr>
        <p:spPr>
          <a:xfrm>
            <a:off x="566928" y="4974336"/>
            <a:ext cx="3529584" cy="960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mdpr-decor tag-chip"/>
          <p:cNvSpPr/>
          <p:nvPr/>
        </p:nvSpPr>
        <p:spPr>
          <a:xfrm>
            <a:off x="749808" y="5308092"/>
            <a:ext cx="256032" cy="146304"/>
          </a:xfrm>
          <a:prstGeom prst="roundRect">
            <a:avLst/>
          </a:prstGeom>
          <a:solidFill>
            <a:srgbClr val="7C3AED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mdpr-decor tag-chip"/>
          <p:cNvSpPr/>
          <p:nvPr/>
        </p:nvSpPr>
        <p:spPr>
          <a:xfrm>
            <a:off x="1060704" y="5308092"/>
            <a:ext cx="292608" cy="146304"/>
          </a:xfrm>
          <a:prstGeom prst="roundRect">
            <a:avLst/>
          </a:prstGeom>
          <a:solidFill>
            <a:srgbClr val="CBD5E1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mdpr-decor tag-chip"/>
          <p:cNvSpPr/>
          <p:nvPr/>
        </p:nvSpPr>
        <p:spPr>
          <a:xfrm>
            <a:off x="804672" y="5564124"/>
            <a:ext cx="310896" cy="146304"/>
          </a:xfrm>
          <a:prstGeom prst="roundRect">
            <a:avLst/>
          </a:prstGeom>
          <a:solidFill>
            <a:srgbClr val="7C3AED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mdpr-decor tag-chip"/>
          <p:cNvSpPr/>
          <p:nvPr/>
        </p:nvSpPr>
        <p:spPr>
          <a:xfrm>
            <a:off x="1170432" y="5564124"/>
            <a:ext cx="219456" cy="146304"/>
          </a:xfrm>
          <a:prstGeom prst="roundRect">
            <a:avLst/>
          </a:prstGeom>
          <a:solidFill>
            <a:srgbClr val="CBD5E1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mdpr-text catalog-title"/>
          <p:cNvSpPr txBox="1"/>
          <p:nvPr/>
        </p:nvSpPr>
        <p:spPr>
          <a:xfrm>
            <a:off x="1527048" y="5093208"/>
            <a:ext cx="2404872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00" b="1">
                <a:solidFill>
                  <a:srgbClr val="111827"/>
                </a:solidFill>
              </a:rPr>
              <a:t>tag-cloud-strip</a:t>
            </a:r>
          </a:p>
        </p:txBody>
      </p:sp>
      <p:sp>
        <p:nvSpPr>
          <p:cNvPr id="78" name="mdpr-text catalog-body"/>
          <p:cNvSpPr txBox="1"/>
          <p:nvPr/>
        </p:nvSpPr>
        <p:spPr>
          <a:xfrm>
            <a:off x="1527048" y="5394960"/>
            <a:ext cx="2404872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0">
                <a:solidFill>
                  <a:srgbClr val="475569"/>
                </a:solidFill>
              </a:rPr>
              <a:t>small chips; wrap row</a:t>
            </a:r>
          </a:p>
        </p:txBody>
      </p:sp>
      <p:sp>
        <p:nvSpPr>
          <p:cNvPr id="79" name="mdpr-text catalog-token"/>
          <p:cNvSpPr txBox="1"/>
          <p:nvPr/>
        </p:nvSpPr>
        <p:spPr>
          <a:xfrm>
            <a:off x="1527048" y="5660136"/>
            <a:ext cx="2404872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1">
                <a:solidFill>
                  <a:srgbClr val="7C3AED"/>
                </a:solidFill>
              </a:rPr>
              <a:t>theme-token driven</a:t>
            </a:r>
          </a:p>
        </p:txBody>
      </p:sp>
      <p:sp>
        <p:nvSpPr>
          <p:cNvPr id="80" name="mdpr-surface catalog-card"/>
          <p:cNvSpPr/>
          <p:nvPr/>
        </p:nvSpPr>
        <p:spPr>
          <a:xfrm>
            <a:off x="4325112" y="4974336"/>
            <a:ext cx="3529584" cy="960120"/>
          </a:xfrm>
          <a:prstGeom prst="roundRect">
            <a:avLst/>
          </a:prstGeom>
          <a:solidFill>
            <a:srgbClr val="F1F5F9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mdpr-decor status-row"/>
          <p:cNvSpPr/>
          <p:nvPr/>
        </p:nvSpPr>
        <p:spPr>
          <a:xfrm>
            <a:off x="4617719" y="5271516"/>
            <a:ext cx="475488" cy="12801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mdpr-decor status-row"/>
          <p:cNvSpPr/>
          <p:nvPr/>
        </p:nvSpPr>
        <p:spPr>
          <a:xfrm>
            <a:off x="4617719" y="5417820"/>
            <a:ext cx="475488" cy="12801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mdpr-decor status-row"/>
          <p:cNvSpPr/>
          <p:nvPr/>
        </p:nvSpPr>
        <p:spPr>
          <a:xfrm>
            <a:off x="4617719" y="5564124"/>
            <a:ext cx="475488" cy="12801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mdpr-decor status-dot"/>
          <p:cNvSpPr/>
          <p:nvPr/>
        </p:nvSpPr>
        <p:spPr>
          <a:xfrm>
            <a:off x="4507991" y="5225796"/>
            <a:ext cx="109728" cy="109728"/>
          </a:xfrm>
          <a:prstGeom prst="ellipse">
            <a:avLst/>
          </a:prstGeom>
          <a:solidFill>
            <a:srgbClr val="E11D48"/>
          </a:solidFill>
          <a:ln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mdpr-decor status-dot"/>
          <p:cNvSpPr/>
          <p:nvPr/>
        </p:nvSpPr>
        <p:spPr>
          <a:xfrm>
            <a:off x="4507991" y="5372100"/>
            <a:ext cx="109728" cy="109728"/>
          </a:xfrm>
          <a:prstGeom prst="ellipse">
            <a:avLst/>
          </a:prstGeom>
          <a:solidFill>
            <a:srgbClr val="E11D48"/>
          </a:solidFill>
          <a:ln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mdpr-text catalog-title"/>
          <p:cNvSpPr txBox="1"/>
          <p:nvPr/>
        </p:nvSpPr>
        <p:spPr>
          <a:xfrm>
            <a:off x="5285231" y="5093208"/>
            <a:ext cx="2404872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00" b="1">
                <a:solidFill>
                  <a:srgbClr val="111827"/>
                </a:solidFill>
              </a:rPr>
              <a:t>status-dot-table</a:t>
            </a:r>
          </a:p>
        </p:txBody>
      </p:sp>
      <p:sp>
        <p:nvSpPr>
          <p:cNvPr id="87" name="mdpr-text catalog-body"/>
          <p:cNvSpPr txBox="1"/>
          <p:nvPr/>
        </p:nvSpPr>
        <p:spPr>
          <a:xfrm>
            <a:off x="5285231" y="5394960"/>
            <a:ext cx="2404872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0">
                <a:solidFill>
                  <a:srgbClr val="475569"/>
                </a:solidFill>
              </a:rPr>
              <a:t>dot status column; row labels</a:t>
            </a:r>
          </a:p>
        </p:txBody>
      </p:sp>
      <p:sp>
        <p:nvSpPr>
          <p:cNvPr id="88" name="mdpr-text catalog-token"/>
          <p:cNvSpPr txBox="1"/>
          <p:nvPr/>
        </p:nvSpPr>
        <p:spPr>
          <a:xfrm>
            <a:off x="5285231" y="5660136"/>
            <a:ext cx="2404872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1">
                <a:solidFill>
                  <a:srgbClr val="E11D48"/>
                </a:solidFill>
              </a:rPr>
              <a:t>theme-token driven</a:t>
            </a:r>
          </a:p>
        </p:txBody>
      </p:sp>
      <p:sp>
        <p:nvSpPr>
          <p:cNvPr id="89" name="mdpr-surface catalog-card"/>
          <p:cNvSpPr/>
          <p:nvPr/>
        </p:nvSpPr>
        <p:spPr>
          <a:xfrm>
            <a:off x="8083295" y="4974336"/>
            <a:ext cx="3529584" cy="960120"/>
          </a:xfrm>
          <a:prstGeom prst="roundRect">
            <a:avLst/>
          </a:prstGeom>
          <a:solidFill>
            <a:srgbClr val="F1F5F9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mdpr-decor heat-cell"/>
          <p:cNvSpPr/>
          <p:nvPr/>
        </p:nvSpPr>
        <p:spPr>
          <a:xfrm>
            <a:off x="8357615" y="5271516"/>
            <a:ext cx="164592" cy="164592"/>
          </a:xfrm>
          <a:prstGeom prst="rect">
            <a:avLst/>
          </a:prstGeom>
          <a:solidFill>
            <a:srgbClr val="DCFCE7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mdpr-decor heat-cell"/>
          <p:cNvSpPr/>
          <p:nvPr/>
        </p:nvSpPr>
        <p:spPr>
          <a:xfrm>
            <a:off x="8522207" y="5271516"/>
            <a:ext cx="164592" cy="164592"/>
          </a:xfrm>
          <a:prstGeom prst="rect">
            <a:avLst/>
          </a:prstGeom>
          <a:solidFill>
            <a:srgbClr val="FEF3C7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mdpr-decor heat-cell"/>
          <p:cNvSpPr/>
          <p:nvPr/>
        </p:nvSpPr>
        <p:spPr>
          <a:xfrm>
            <a:off x="8357615" y="5436108"/>
            <a:ext cx="164592" cy="164592"/>
          </a:xfrm>
          <a:prstGeom prst="rect">
            <a:avLst/>
          </a:prstGeom>
          <a:solidFill>
            <a:srgbClr val="FED7AA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mdpr-decor heat-cell"/>
          <p:cNvSpPr/>
          <p:nvPr/>
        </p:nvSpPr>
        <p:spPr>
          <a:xfrm>
            <a:off x="8522207" y="5436108"/>
            <a:ext cx="164592" cy="164592"/>
          </a:xfrm>
          <a:prstGeom prst="rect">
            <a:avLst/>
          </a:prstGeom>
          <a:solidFill>
            <a:srgbClr val="FEE2E2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mdpr-decor heat-label"/>
          <p:cNvSpPr/>
          <p:nvPr/>
        </p:nvSpPr>
        <p:spPr>
          <a:xfrm>
            <a:off x="8741663" y="5344668"/>
            <a:ext cx="146304" cy="16459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mdpr-text catalog-title"/>
          <p:cNvSpPr txBox="1"/>
          <p:nvPr/>
        </p:nvSpPr>
        <p:spPr>
          <a:xfrm>
            <a:off x="9043415" y="5093208"/>
            <a:ext cx="2404872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00" b="1">
                <a:solidFill>
                  <a:srgbClr val="111827"/>
                </a:solidFill>
              </a:rPr>
              <a:t>risk-heat-grid</a:t>
            </a:r>
          </a:p>
        </p:txBody>
      </p:sp>
      <p:sp>
        <p:nvSpPr>
          <p:cNvPr id="96" name="mdpr-text catalog-body"/>
          <p:cNvSpPr txBox="1"/>
          <p:nvPr/>
        </p:nvSpPr>
        <p:spPr>
          <a:xfrm>
            <a:off x="9043415" y="5394960"/>
            <a:ext cx="2404872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0">
                <a:solidFill>
                  <a:srgbClr val="475569"/>
                </a:solidFill>
              </a:rPr>
              <a:t>grid; severity tint</a:t>
            </a:r>
          </a:p>
        </p:txBody>
      </p:sp>
      <p:sp>
        <p:nvSpPr>
          <p:cNvPr id="97" name="mdpr-text catalog-token"/>
          <p:cNvSpPr txBox="1"/>
          <p:nvPr/>
        </p:nvSpPr>
        <p:spPr>
          <a:xfrm>
            <a:off x="9043415" y="5660136"/>
            <a:ext cx="2404872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1">
                <a:solidFill>
                  <a:srgbClr val="16A34A"/>
                </a:solidFill>
              </a:rPr>
              <a:t>theme-token driven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dpr-text"/>
          <p:cNvSpPr txBox="1"/>
          <p:nvPr/>
        </p:nvSpPr>
        <p:spPr>
          <a:xfrm>
            <a:off x="502920" y="310896"/>
            <a:ext cx="7955279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2400" b="1">
                <a:solidFill>
                  <a:srgbClr val="111827"/>
                </a:solidFill>
              </a:rPr>
              <a:t>Object Shape Grammar Catalog 6</a:t>
            </a:r>
          </a:p>
        </p:txBody>
      </p:sp>
      <p:sp>
        <p:nvSpPr>
          <p:cNvPr id="3" name="mdpr-text"/>
          <p:cNvSpPr txBox="1"/>
          <p:nvPr/>
        </p:nvSpPr>
        <p:spPr>
          <a:xfrm>
            <a:off x="521207" y="768096"/>
            <a:ext cx="10241280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</a:rPr>
              <a:t>Editable preview objects generated from the 60+ structural archetype catalog.</a:t>
            </a:r>
          </a:p>
        </p:txBody>
      </p:sp>
      <p:sp>
        <p:nvSpPr>
          <p:cNvPr id="4" name="mdpr-decor"/>
          <p:cNvSpPr/>
          <p:nvPr/>
        </p:nvSpPr>
        <p:spPr>
          <a:xfrm>
            <a:off x="530352" y="1097280"/>
            <a:ext cx="1280160" cy="32004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mdpr-surface catalog-card"/>
          <p:cNvSpPr/>
          <p:nvPr/>
        </p:nvSpPr>
        <p:spPr>
          <a:xfrm>
            <a:off x="566928" y="1325880"/>
            <a:ext cx="3529584" cy="960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mdpr-decor"/>
          <p:cNvSpPr/>
          <p:nvPr/>
        </p:nvSpPr>
        <p:spPr>
          <a:xfrm>
            <a:off x="731520" y="1508760"/>
            <a:ext cx="54864" cy="59436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mdpr-text catalog-title"/>
          <p:cNvSpPr txBox="1"/>
          <p:nvPr/>
        </p:nvSpPr>
        <p:spPr>
          <a:xfrm>
            <a:off x="1527048" y="1444752"/>
            <a:ext cx="2404872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00" b="1">
                <a:solidFill>
                  <a:srgbClr val="111827"/>
                </a:solidFill>
              </a:rPr>
              <a:t>left-accent-rail</a:t>
            </a:r>
          </a:p>
        </p:txBody>
      </p:sp>
      <p:sp>
        <p:nvSpPr>
          <p:cNvPr id="8" name="mdpr-text catalog-body"/>
          <p:cNvSpPr txBox="1"/>
          <p:nvPr/>
        </p:nvSpPr>
        <p:spPr>
          <a:xfrm>
            <a:off x="1527048" y="1746504"/>
            <a:ext cx="2404872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0">
                <a:solidFill>
                  <a:srgbClr val="475569"/>
                </a:solidFill>
              </a:rPr>
              <a:t>vertical rail; title/body block</a:t>
            </a:r>
          </a:p>
        </p:txBody>
      </p:sp>
      <p:sp>
        <p:nvSpPr>
          <p:cNvPr id="9" name="mdpr-text catalog-token"/>
          <p:cNvSpPr txBox="1"/>
          <p:nvPr/>
        </p:nvSpPr>
        <p:spPr>
          <a:xfrm>
            <a:off x="1527048" y="2011680"/>
            <a:ext cx="2404872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1">
                <a:solidFill>
                  <a:srgbClr val="0F766E"/>
                </a:solidFill>
              </a:rPr>
              <a:t>theme-token driven</a:t>
            </a:r>
          </a:p>
        </p:txBody>
      </p:sp>
      <p:sp>
        <p:nvSpPr>
          <p:cNvPr id="10" name="mdpr-surface catalog-card"/>
          <p:cNvSpPr/>
          <p:nvPr/>
        </p:nvSpPr>
        <p:spPr>
          <a:xfrm>
            <a:off x="4325112" y="1325880"/>
            <a:ext cx="3529584" cy="960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mdpr-decor"/>
          <p:cNvSpPr/>
          <p:nvPr/>
        </p:nvSpPr>
        <p:spPr>
          <a:xfrm>
            <a:off x="4489703" y="1508760"/>
            <a:ext cx="676656" cy="3200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mdpr-text catalog-title"/>
          <p:cNvSpPr txBox="1"/>
          <p:nvPr/>
        </p:nvSpPr>
        <p:spPr>
          <a:xfrm>
            <a:off x="5285231" y="1444752"/>
            <a:ext cx="2404872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00" b="1">
                <a:solidFill>
                  <a:srgbClr val="111827"/>
                </a:solidFill>
              </a:rPr>
              <a:t>top-hairline-rule</a:t>
            </a:r>
          </a:p>
        </p:txBody>
      </p:sp>
      <p:sp>
        <p:nvSpPr>
          <p:cNvPr id="13" name="mdpr-text catalog-body"/>
          <p:cNvSpPr txBox="1"/>
          <p:nvPr/>
        </p:nvSpPr>
        <p:spPr>
          <a:xfrm>
            <a:off x="5285231" y="1746504"/>
            <a:ext cx="2404872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0">
                <a:solidFill>
                  <a:srgbClr val="475569"/>
                </a:solidFill>
              </a:rPr>
              <a:t>hairline rule; quiet surface</a:t>
            </a:r>
          </a:p>
        </p:txBody>
      </p:sp>
      <p:sp>
        <p:nvSpPr>
          <p:cNvPr id="14" name="mdpr-text catalog-token"/>
          <p:cNvSpPr txBox="1"/>
          <p:nvPr/>
        </p:nvSpPr>
        <p:spPr>
          <a:xfrm>
            <a:off x="5285231" y="2011680"/>
            <a:ext cx="2404872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1">
                <a:solidFill>
                  <a:srgbClr val="2563EB"/>
                </a:solidFill>
              </a:rPr>
              <a:t>theme-token driven</a:t>
            </a:r>
          </a:p>
        </p:txBody>
      </p:sp>
      <p:sp>
        <p:nvSpPr>
          <p:cNvPr id="15" name="mdpr-surface catalog-card"/>
          <p:cNvSpPr/>
          <p:nvPr/>
        </p:nvSpPr>
        <p:spPr>
          <a:xfrm>
            <a:off x="8083295" y="1325880"/>
            <a:ext cx="3529584" cy="960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mdpr-decor label-tab"/>
          <p:cNvSpPr/>
          <p:nvPr/>
        </p:nvSpPr>
        <p:spPr>
          <a:xfrm>
            <a:off x="8247887" y="1632204"/>
            <a:ext cx="384048" cy="347472"/>
          </a:xfrm>
          <a:prstGeom prst="roundRect">
            <a:avLst/>
          </a:prstGeom>
          <a:solidFill>
            <a:srgbClr val="C2410C"/>
          </a:solidFill>
          <a:ln w="1016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mdpr-text-in-decor"/>
          <p:cNvSpPr txBox="1"/>
          <p:nvPr/>
        </p:nvSpPr>
        <p:spPr>
          <a:xfrm>
            <a:off x="8247887" y="1632204"/>
            <a:ext cx="38404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9</a:t>
            </a:r>
          </a:p>
        </p:txBody>
      </p:sp>
      <p:sp>
        <p:nvSpPr>
          <p:cNvPr id="18" name="mdpr-text catalog-title"/>
          <p:cNvSpPr txBox="1"/>
          <p:nvPr/>
        </p:nvSpPr>
        <p:spPr>
          <a:xfrm>
            <a:off x="9043415" y="1444752"/>
            <a:ext cx="2404872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00" b="1">
                <a:solidFill>
                  <a:srgbClr val="111827"/>
                </a:solidFill>
              </a:rPr>
              <a:t>number-tab</a:t>
            </a:r>
          </a:p>
        </p:txBody>
      </p:sp>
      <p:sp>
        <p:nvSpPr>
          <p:cNvPr id="19" name="mdpr-text catalog-body"/>
          <p:cNvSpPr txBox="1"/>
          <p:nvPr/>
        </p:nvSpPr>
        <p:spPr>
          <a:xfrm>
            <a:off x="9043415" y="1746504"/>
            <a:ext cx="2404872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0">
                <a:solidFill>
                  <a:srgbClr val="475569"/>
                </a:solidFill>
              </a:rPr>
              <a:t>small tab; number; aligned title</a:t>
            </a:r>
          </a:p>
        </p:txBody>
      </p:sp>
      <p:sp>
        <p:nvSpPr>
          <p:cNvPr id="20" name="mdpr-text catalog-token"/>
          <p:cNvSpPr txBox="1"/>
          <p:nvPr/>
        </p:nvSpPr>
        <p:spPr>
          <a:xfrm>
            <a:off x="9043415" y="2011680"/>
            <a:ext cx="2404872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1">
                <a:solidFill>
                  <a:srgbClr val="C2410C"/>
                </a:solidFill>
              </a:rPr>
              <a:t>theme-token driven</a:t>
            </a:r>
          </a:p>
        </p:txBody>
      </p:sp>
      <p:sp>
        <p:nvSpPr>
          <p:cNvPr id="21" name="mdpr-surface catalog-card"/>
          <p:cNvSpPr/>
          <p:nvPr/>
        </p:nvSpPr>
        <p:spPr>
          <a:xfrm>
            <a:off x="566928" y="2542032"/>
            <a:ext cx="3529584" cy="960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mdpr-decor chip"/>
          <p:cNvSpPr/>
          <p:nvPr/>
        </p:nvSpPr>
        <p:spPr>
          <a:xfrm>
            <a:off x="822960" y="2903220"/>
            <a:ext cx="457200" cy="237744"/>
          </a:xfrm>
          <a:prstGeom prst="roundRect">
            <a:avLst/>
          </a:prstGeom>
          <a:solidFill>
            <a:srgbClr val="7C3AED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mdpr-text catalog-title"/>
          <p:cNvSpPr txBox="1"/>
          <p:nvPr/>
        </p:nvSpPr>
        <p:spPr>
          <a:xfrm>
            <a:off x="1527048" y="2660904"/>
            <a:ext cx="2404872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00" b="1">
                <a:solidFill>
                  <a:srgbClr val="111827"/>
                </a:solidFill>
              </a:rPr>
              <a:t>corner-chip</a:t>
            </a:r>
          </a:p>
        </p:txBody>
      </p:sp>
      <p:sp>
        <p:nvSpPr>
          <p:cNvPr id="24" name="mdpr-text catalog-body"/>
          <p:cNvSpPr txBox="1"/>
          <p:nvPr/>
        </p:nvSpPr>
        <p:spPr>
          <a:xfrm>
            <a:off x="1527048" y="2962656"/>
            <a:ext cx="2404872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0">
                <a:solidFill>
                  <a:srgbClr val="475569"/>
                </a:solidFill>
              </a:rPr>
              <a:t>corner chip; compact label</a:t>
            </a:r>
          </a:p>
        </p:txBody>
      </p:sp>
      <p:sp>
        <p:nvSpPr>
          <p:cNvPr id="25" name="mdpr-text catalog-token"/>
          <p:cNvSpPr txBox="1"/>
          <p:nvPr/>
        </p:nvSpPr>
        <p:spPr>
          <a:xfrm>
            <a:off x="1527048" y="3227832"/>
            <a:ext cx="2404872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1">
                <a:solidFill>
                  <a:srgbClr val="7C3AED"/>
                </a:solidFill>
              </a:rPr>
              <a:t>theme-token driven</a:t>
            </a:r>
          </a:p>
        </p:txBody>
      </p:sp>
      <p:sp>
        <p:nvSpPr>
          <p:cNvPr id="26" name="mdpr-surface catalog-card"/>
          <p:cNvSpPr/>
          <p:nvPr/>
        </p:nvSpPr>
        <p:spPr>
          <a:xfrm>
            <a:off x="4325112" y="2542032"/>
            <a:ext cx="3529584" cy="960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mdpr-decor"/>
          <p:cNvSpPr/>
          <p:nvPr/>
        </p:nvSpPr>
        <p:spPr>
          <a:xfrm>
            <a:off x="4489703" y="2724912"/>
            <a:ext cx="36576" cy="594360"/>
          </a:xfrm>
          <a:prstGeom prst="rect">
            <a:avLst/>
          </a:prstGeom>
          <a:solidFill>
            <a:srgbClr val="E11D48"/>
          </a:solidFill>
          <a:ln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mdpr-decor"/>
          <p:cNvSpPr/>
          <p:nvPr/>
        </p:nvSpPr>
        <p:spPr>
          <a:xfrm>
            <a:off x="4489703" y="2724912"/>
            <a:ext cx="292608" cy="32004"/>
          </a:xfrm>
          <a:prstGeom prst="rect">
            <a:avLst/>
          </a:prstGeom>
          <a:solidFill>
            <a:srgbClr val="E11D48"/>
          </a:solidFill>
          <a:ln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mdpr-decor"/>
          <p:cNvSpPr/>
          <p:nvPr/>
        </p:nvSpPr>
        <p:spPr>
          <a:xfrm>
            <a:off x="4489703" y="3287268"/>
            <a:ext cx="292608" cy="32004"/>
          </a:xfrm>
          <a:prstGeom prst="rect">
            <a:avLst/>
          </a:prstGeom>
          <a:solidFill>
            <a:srgbClr val="E11D48"/>
          </a:solidFill>
          <a:ln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mdpr-text catalog-title"/>
          <p:cNvSpPr txBox="1"/>
          <p:nvPr/>
        </p:nvSpPr>
        <p:spPr>
          <a:xfrm>
            <a:off x="5285231" y="2660904"/>
            <a:ext cx="2404872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00" b="1">
                <a:solidFill>
                  <a:srgbClr val="111827"/>
                </a:solidFill>
              </a:rPr>
              <a:t>bracket-callout</a:t>
            </a:r>
          </a:p>
        </p:txBody>
      </p:sp>
      <p:sp>
        <p:nvSpPr>
          <p:cNvPr id="31" name="mdpr-text catalog-body"/>
          <p:cNvSpPr txBox="1"/>
          <p:nvPr/>
        </p:nvSpPr>
        <p:spPr>
          <a:xfrm>
            <a:off x="5285231" y="2962656"/>
            <a:ext cx="2404872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0">
                <a:solidFill>
                  <a:srgbClr val="475569"/>
                </a:solidFill>
              </a:rPr>
              <a:t>thin bracket; label; indented body</a:t>
            </a:r>
          </a:p>
        </p:txBody>
      </p:sp>
      <p:sp>
        <p:nvSpPr>
          <p:cNvPr id="32" name="mdpr-text catalog-token"/>
          <p:cNvSpPr txBox="1"/>
          <p:nvPr/>
        </p:nvSpPr>
        <p:spPr>
          <a:xfrm>
            <a:off x="5285231" y="3227832"/>
            <a:ext cx="2404872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1">
                <a:solidFill>
                  <a:srgbClr val="E11D48"/>
                </a:solidFill>
              </a:rPr>
              <a:t>theme-token driven</a:t>
            </a:r>
          </a:p>
        </p:txBody>
      </p:sp>
      <p:sp>
        <p:nvSpPr>
          <p:cNvPr id="33" name="mdpr-surface catalog-card"/>
          <p:cNvSpPr/>
          <p:nvPr/>
        </p:nvSpPr>
        <p:spPr>
          <a:xfrm>
            <a:off x="8083295" y="2542032"/>
            <a:ext cx="3529584" cy="960120"/>
          </a:xfrm>
          <a:prstGeom prst="roundRect">
            <a:avLst/>
          </a:prstGeom>
          <a:solidFill>
            <a:srgbClr val="F0FDF4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mdpr-decor"/>
          <p:cNvSpPr/>
          <p:nvPr/>
        </p:nvSpPr>
        <p:spPr>
          <a:xfrm>
            <a:off x="8247887" y="3131820"/>
            <a:ext cx="676656" cy="45720"/>
          </a:xfrm>
          <a:prstGeom prst="rect">
            <a:avLst/>
          </a:prstGeom>
          <a:solidFill>
            <a:srgbClr val="D1D5DB"/>
          </a:solidFill>
          <a:ln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mdpr-decor"/>
          <p:cNvSpPr/>
          <p:nvPr/>
        </p:nvSpPr>
        <p:spPr>
          <a:xfrm>
            <a:off x="8247887" y="3131820"/>
            <a:ext cx="460126" cy="45720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mdpr-text catalog-title"/>
          <p:cNvSpPr txBox="1"/>
          <p:nvPr/>
        </p:nvSpPr>
        <p:spPr>
          <a:xfrm>
            <a:off x="9043415" y="2660904"/>
            <a:ext cx="2404872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00" b="1">
                <a:solidFill>
                  <a:srgbClr val="111827"/>
                </a:solidFill>
              </a:rPr>
              <a:t>bottom-meter</a:t>
            </a:r>
          </a:p>
        </p:txBody>
      </p:sp>
      <p:sp>
        <p:nvSpPr>
          <p:cNvPr id="37" name="mdpr-text catalog-body"/>
          <p:cNvSpPr txBox="1"/>
          <p:nvPr/>
        </p:nvSpPr>
        <p:spPr>
          <a:xfrm>
            <a:off x="9043415" y="2962656"/>
            <a:ext cx="2404872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0">
                <a:solidFill>
                  <a:srgbClr val="475569"/>
                </a:solidFill>
              </a:rPr>
              <a:t>bottom meter; short label</a:t>
            </a:r>
          </a:p>
        </p:txBody>
      </p:sp>
      <p:sp>
        <p:nvSpPr>
          <p:cNvPr id="38" name="mdpr-text catalog-token"/>
          <p:cNvSpPr txBox="1"/>
          <p:nvPr/>
        </p:nvSpPr>
        <p:spPr>
          <a:xfrm>
            <a:off x="9043415" y="3227832"/>
            <a:ext cx="2404872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1">
                <a:solidFill>
                  <a:srgbClr val="16A34A"/>
                </a:solidFill>
              </a:rPr>
              <a:t>theme-token driven</a:t>
            </a:r>
          </a:p>
        </p:txBody>
      </p:sp>
      <p:sp>
        <p:nvSpPr>
          <p:cNvPr id="39" name="mdpr-surface catalog-card"/>
          <p:cNvSpPr/>
          <p:nvPr/>
        </p:nvSpPr>
        <p:spPr>
          <a:xfrm>
            <a:off x="566928" y="3758184"/>
            <a:ext cx="3529584" cy="960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mdpr-decor notch"/>
          <p:cNvSpPr/>
          <p:nvPr/>
        </p:nvSpPr>
        <p:spPr>
          <a:xfrm>
            <a:off x="1024128" y="4055364"/>
            <a:ext cx="320040" cy="274320"/>
          </a:xfrm>
          <a:prstGeom prst="rect">
            <a:avLst/>
          </a:prstGeom>
          <a:solidFill>
            <a:srgbClr val="FDE68A"/>
          </a:solidFill>
          <a:ln w="1016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mdpr-text catalog-title"/>
          <p:cNvSpPr txBox="1"/>
          <p:nvPr/>
        </p:nvSpPr>
        <p:spPr>
          <a:xfrm>
            <a:off x="1527048" y="3877056"/>
            <a:ext cx="2404872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00" b="1">
                <a:solidFill>
                  <a:srgbClr val="111827"/>
                </a:solidFill>
              </a:rPr>
              <a:t>side-notch</a:t>
            </a:r>
          </a:p>
        </p:txBody>
      </p:sp>
      <p:sp>
        <p:nvSpPr>
          <p:cNvPr id="42" name="mdpr-text catalog-body"/>
          <p:cNvSpPr txBox="1"/>
          <p:nvPr/>
        </p:nvSpPr>
        <p:spPr>
          <a:xfrm>
            <a:off x="1527048" y="4178808"/>
            <a:ext cx="2404872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0">
                <a:solidFill>
                  <a:srgbClr val="475569"/>
                </a:solidFill>
              </a:rPr>
              <a:t>side notch; aligned text</a:t>
            </a:r>
          </a:p>
        </p:txBody>
      </p:sp>
      <p:sp>
        <p:nvSpPr>
          <p:cNvPr id="43" name="mdpr-text catalog-token"/>
          <p:cNvSpPr txBox="1"/>
          <p:nvPr/>
        </p:nvSpPr>
        <p:spPr>
          <a:xfrm>
            <a:off x="1527048" y="4443984"/>
            <a:ext cx="2404872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1">
                <a:solidFill>
                  <a:srgbClr val="0F766E"/>
                </a:solidFill>
              </a:rPr>
              <a:t>theme-token driven</a:t>
            </a:r>
          </a:p>
        </p:txBody>
      </p:sp>
      <p:sp>
        <p:nvSpPr>
          <p:cNvPr id="44" name="mdpr-surface catalog-card"/>
          <p:cNvSpPr/>
          <p:nvPr/>
        </p:nvSpPr>
        <p:spPr>
          <a:xfrm>
            <a:off x="4325112" y="3758184"/>
            <a:ext cx="3529584" cy="960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mdpr-decor label-tab"/>
          <p:cNvSpPr/>
          <p:nvPr/>
        </p:nvSpPr>
        <p:spPr>
          <a:xfrm>
            <a:off x="4489703" y="4064508"/>
            <a:ext cx="384048" cy="347472"/>
          </a:xfrm>
          <a:prstGeom prst="roundRect">
            <a:avLst/>
          </a:prstGeom>
          <a:solidFill>
            <a:srgbClr val="2563EB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mdpr-text-in-decor"/>
          <p:cNvSpPr txBox="1"/>
          <p:nvPr/>
        </p:nvSpPr>
        <p:spPr>
          <a:xfrm>
            <a:off x="4489703" y="4064508"/>
            <a:ext cx="38404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47" name="mdpr-text catalog-title"/>
          <p:cNvSpPr txBox="1"/>
          <p:nvPr/>
        </p:nvSpPr>
        <p:spPr>
          <a:xfrm>
            <a:off x="5285231" y="3877056"/>
            <a:ext cx="2404872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00" b="1">
                <a:solidFill>
                  <a:srgbClr val="111827"/>
                </a:solidFill>
              </a:rPr>
              <a:t>rank-ribbon</a:t>
            </a:r>
          </a:p>
        </p:txBody>
      </p:sp>
      <p:sp>
        <p:nvSpPr>
          <p:cNvPr id="48" name="mdpr-text catalog-body"/>
          <p:cNvSpPr txBox="1"/>
          <p:nvPr/>
        </p:nvSpPr>
        <p:spPr>
          <a:xfrm>
            <a:off x="5285231" y="4178808"/>
            <a:ext cx="2404872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0">
                <a:solidFill>
                  <a:srgbClr val="475569"/>
                </a:solidFill>
              </a:rPr>
              <a:t>rank ribbon; large number</a:t>
            </a:r>
          </a:p>
        </p:txBody>
      </p:sp>
      <p:sp>
        <p:nvSpPr>
          <p:cNvPr id="49" name="mdpr-text catalog-token"/>
          <p:cNvSpPr txBox="1"/>
          <p:nvPr/>
        </p:nvSpPr>
        <p:spPr>
          <a:xfrm>
            <a:off x="5285231" y="4443984"/>
            <a:ext cx="2404872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00" b="1">
                <a:solidFill>
                  <a:srgbClr val="2563EB"/>
                </a:solidFill>
              </a:rPr>
              <a:t>theme-token driven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dpr-text"/>
          <p:cNvSpPr txBox="1"/>
          <p:nvPr/>
        </p:nvSpPr>
        <p:spPr>
          <a:xfrm>
            <a:off x="502920" y="310896"/>
            <a:ext cx="7955279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2400" b="1">
                <a:solidFill>
                  <a:srgbClr val="111827"/>
                </a:solidFill>
              </a:rPr>
              <a:t>Coverage Audit Summary</a:t>
            </a:r>
          </a:p>
        </p:txBody>
      </p:sp>
      <p:sp>
        <p:nvSpPr>
          <p:cNvPr id="3" name="mdpr-surface audit-claim"/>
          <p:cNvSpPr/>
          <p:nvPr/>
        </p:nvSpPr>
        <p:spPr>
          <a:xfrm>
            <a:off x="685800" y="1024128"/>
            <a:ext cx="10469880" cy="475488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mdpr-text audit-claim"/>
          <p:cNvSpPr txBox="1"/>
          <p:nvPr/>
        </p:nvSpPr>
        <p:spPr>
          <a:xfrm>
            <a:off x="932688" y="1133856"/>
            <a:ext cx="982980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300" b="1">
                <a:solidFill>
                  <a:srgbClr val="065F46"/>
                </a:solidFill>
              </a:rPr>
              <a:t>Theme feel and object diversity are verified from generated PPTX and PNG artifacts, not from documentation alone.</a:t>
            </a:r>
          </a:p>
        </p:txBody>
      </p:sp>
      <p:sp>
        <p:nvSpPr>
          <p:cNvPr id="5" name="mdpr-surface"/>
          <p:cNvSpPr/>
          <p:nvPr/>
        </p:nvSpPr>
        <p:spPr>
          <a:xfrm>
            <a:off x="685800" y="1664208"/>
            <a:ext cx="4297680" cy="4389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mdpr-text"/>
          <p:cNvSpPr txBox="1"/>
          <p:nvPr/>
        </p:nvSpPr>
        <p:spPr>
          <a:xfrm>
            <a:off x="896112" y="1737360"/>
            <a:ext cx="237744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1">
                <a:solidFill>
                  <a:srgbClr val="475569"/>
                </a:solidFill>
              </a:rPr>
              <a:t>Catalog patterns</a:t>
            </a:r>
          </a:p>
        </p:txBody>
      </p:sp>
      <p:sp>
        <p:nvSpPr>
          <p:cNvPr id="7" name="mdpr-text"/>
          <p:cNvSpPr txBox="1"/>
          <p:nvPr/>
        </p:nvSpPr>
        <p:spPr>
          <a:xfrm>
            <a:off x="3931920" y="1719072"/>
            <a:ext cx="640080" cy="21945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1400" b="1">
                <a:solidFill>
                  <a:srgbClr val="0F766E"/>
                </a:solidFill>
              </a:rPr>
              <a:t>68</a:t>
            </a:r>
          </a:p>
        </p:txBody>
      </p:sp>
      <p:sp>
        <p:nvSpPr>
          <p:cNvPr id="8" name="mdpr-surface"/>
          <p:cNvSpPr/>
          <p:nvPr/>
        </p:nvSpPr>
        <p:spPr>
          <a:xfrm>
            <a:off x="685800" y="2322576"/>
            <a:ext cx="4297680" cy="4389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mdpr-text"/>
          <p:cNvSpPr txBox="1"/>
          <p:nvPr/>
        </p:nvSpPr>
        <p:spPr>
          <a:xfrm>
            <a:off x="896112" y="2395728"/>
            <a:ext cx="237744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1">
                <a:solidFill>
                  <a:srgbClr val="475569"/>
                </a:solidFill>
              </a:rPr>
              <a:t>Unique shape kinds</a:t>
            </a:r>
          </a:p>
        </p:txBody>
      </p:sp>
      <p:sp>
        <p:nvSpPr>
          <p:cNvPr id="10" name="mdpr-text"/>
          <p:cNvSpPr txBox="1"/>
          <p:nvPr/>
        </p:nvSpPr>
        <p:spPr>
          <a:xfrm>
            <a:off x="3931920" y="2377440"/>
            <a:ext cx="640080" cy="21945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1400" b="1">
                <a:solidFill>
                  <a:srgbClr val="0F766E"/>
                </a:solidFill>
              </a:rPr>
              <a:t>68</a:t>
            </a:r>
          </a:p>
        </p:txBody>
      </p:sp>
      <p:sp>
        <p:nvSpPr>
          <p:cNvPr id="11" name="mdpr-surface"/>
          <p:cNvSpPr/>
          <p:nvPr/>
        </p:nvSpPr>
        <p:spPr>
          <a:xfrm>
            <a:off x="685800" y="2980944"/>
            <a:ext cx="4297680" cy="4389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mdpr-text"/>
          <p:cNvSpPr txBox="1"/>
          <p:nvPr/>
        </p:nvSpPr>
        <p:spPr>
          <a:xfrm>
            <a:off x="896112" y="3054096"/>
            <a:ext cx="237744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1">
                <a:solidFill>
                  <a:srgbClr val="475569"/>
                </a:solidFill>
              </a:rPr>
              <a:t>Archetypes</a:t>
            </a:r>
          </a:p>
        </p:txBody>
      </p:sp>
      <p:sp>
        <p:nvSpPr>
          <p:cNvPr id="13" name="mdpr-text"/>
          <p:cNvSpPr txBox="1"/>
          <p:nvPr/>
        </p:nvSpPr>
        <p:spPr>
          <a:xfrm>
            <a:off x="3931920" y="3035808"/>
            <a:ext cx="640080" cy="21945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1400" b="1">
                <a:solidFill>
                  <a:srgbClr val="0F766E"/>
                </a:solidFill>
              </a:rPr>
              <a:t>68</a:t>
            </a:r>
          </a:p>
        </p:txBody>
      </p:sp>
      <p:sp>
        <p:nvSpPr>
          <p:cNvPr id="14" name="mdpr-surface"/>
          <p:cNvSpPr/>
          <p:nvPr/>
        </p:nvSpPr>
        <p:spPr>
          <a:xfrm>
            <a:off x="685800" y="3639312"/>
            <a:ext cx="4297680" cy="4389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mdpr-text"/>
          <p:cNvSpPr txBox="1"/>
          <p:nvPr/>
        </p:nvSpPr>
        <p:spPr>
          <a:xfrm>
            <a:off x="896112" y="3712464"/>
            <a:ext cx="237744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1">
                <a:solidFill>
                  <a:srgbClr val="475569"/>
                </a:solidFill>
              </a:rPr>
              <a:t>Theme-token ready</a:t>
            </a:r>
          </a:p>
        </p:txBody>
      </p:sp>
      <p:sp>
        <p:nvSpPr>
          <p:cNvPr id="16" name="mdpr-text"/>
          <p:cNvSpPr txBox="1"/>
          <p:nvPr/>
        </p:nvSpPr>
        <p:spPr>
          <a:xfrm>
            <a:off x="3931920" y="3694176"/>
            <a:ext cx="640080" cy="21945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1400" b="1">
                <a:solidFill>
                  <a:srgbClr val="0F766E"/>
                </a:solidFill>
              </a:rPr>
              <a:t>68</a:t>
            </a:r>
          </a:p>
        </p:txBody>
      </p:sp>
      <p:sp>
        <p:nvSpPr>
          <p:cNvPr id="17" name="mdpr-surface"/>
          <p:cNvSpPr/>
          <p:nvPr/>
        </p:nvSpPr>
        <p:spPr>
          <a:xfrm>
            <a:off x="5532120" y="1664208"/>
            <a:ext cx="5623560" cy="2011680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mdpr-text"/>
          <p:cNvSpPr txBox="1"/>
          <p:nvPr/>
        </p:nvSpPr>
        <p:spPr>
          <a:xfrm>
            <a:off x="5779008" y="1874519"/>
            <a:ext cx="4846320" cy="25603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111827"/>
                </a:solidFill>
              </a:rPr>
              <a:t>Families</a:t>
            </a:r>
          </a:p>
        </p:txBody>
      </p:sp>
      <p:sp>
        <p:nvSpPr>
          <p:cNvPr id="19" name="mdpr-text"/>
          <p:cNvSpPr txBox="1"/>
          <p:nvPr/>
        </p:nvSpPr>
        <p:spPr>
          <a:xfrm>
            <a:off x="5779008" y="2185416"/>
            <a:ext cx="4937760" cy="8229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>
                <a:solidFill>
                  <a:srgbClr val="475569"/>
                </a:solidFill>
              </a:rPr>
              <a:t>callout, card, chart, comparison, constraint, decoration, diagram, fallback, header, icon, image, label, list, metric, quote, ranking, surface, table</a:t>
            </a:r>
          </a:p>
        </p:txBody>
      </p:sp>
      <p:sp>
        <p:nvSpPr>
          <p:cNvPr id="20" name="mdpr-text"/>
          <p:cNvSpPr txBox="1"/>
          <p:nvPr/>
        </p:nvSpPr>
        <p:spPr>
          <a:xfrm>
            <a:off x="5779008" y="3127248"/>
            <a:ext cx="4754880" cy="25603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00" b="1">
                <a:solidFill>
                  <a:srgbClr val="0F766E"/>
                </a:solidFill>
              </a:rPr>
              <a:t>Average theme RGB distance: 206.77</a:t>
            </a:r>
          </a:p>
        </p:txBody>
      </p:sp>
      <p:sp>
        <p:nvSpPr>
          <p:cNvPr id="21" name="mdpr-surface"/>
          <p:cNvSpPr/>
          <p:nvPr/>
        </p:nvSpPr>
        <p:spPr>
          <a:xfrm>
            <a:off x="5532120" y="3995928"/>
            <a:ext cx="5623560" cy="1417320"/>
          </a:xfrm>
          <a:prstGeom prst="roundRect">
            <a:avLst/>
          </a:prstGeom>
          <a:solidFill>
            <a:srgbClr val="FFF7ED"/>
          </a:solidFill>
          <a:ln w="10160">
            <a:solidFill>
              <a:srgbClr val="FED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mdpr-text"/>
          <p:cNvSpPr txBox="1"/>
          <p:nvPr/>
        </p:nvSpPr>
        <p:spPr>
          <a:xfrm>
            <a:off x="5779008" y="4178808"/>
            <a:ext cx="493776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300" b="1">
                <a:solidFill>
                  <a:srgbClr val="9A3412"/>
                </a:solidFill>
              </a:rPr>
              <a:t>Manual visual review note</a:t>
            </a:r>
          </a:p>
        </p:txBody>
      </p:sp>
      <p:sp>
        <p:nvSpPr>
          <p:cNvPr id="23" name="mdpr-text"/>
          <p:cNvSpPr txBox="1"/>
          <p:nvPr/>
        </p:nvSpPr>
        <p:spPr>
          <a:xfrm>
            <a:off x="5779008" y="4526280"/>
            <a:ext cx="4937760" cy="49377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>
                <a:solidFill>
                  <a:srgbClr val="9A3412"/>
                </a:solidFill>
              </a:rPr>
              <a:t>Diversity is now judged by 60+ structural archetypes across 18 object families, not by repeated card decoration variants.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