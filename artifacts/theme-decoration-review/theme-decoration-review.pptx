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640080" y="685800"/>
            <a:ext cx="8595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</a:rPr>
              <a:t>MDPR Theme and Decoration Review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658368" y="1417320"/>
            <a:ext cx="9601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Actual PPTX review deck generated from theme matrix renders, object shape catalog, and deterministic coverage audit.</a:t>
            </a:r>
          </a:p>
        </p:txBody>
      </p:sp>
      <p:sp>
        <p:nvSpPr>
          <p:cNvPr id="4" name="mdpr-surface"/>
          <p:cNvSpPr/>
          <p:nvPr/>
        </p:nvSpPr>
        <p:spPr>
          <a:xfrm>
            <a:off x="685800" y="2240280"/>
            <a:ext cx="221284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dpr-text"/>
          <p:cNvSpPr txBox="1"/>
          <p:nvPr/>
        </p:nvSpPr>
        <p:spPr>
          <a:xfrm>
            <a:off x="850392" y="235915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475569"/>
                </a:solidFill>
              </a:rPr>
              <a:t>OBJECT KINDS</a:t>
            </a:r>
          </a:p>
        </p:txBody>
      </p:sp>
      <p:sp>
        <p:nvSpPr>
          <p:cNvPr id="6" name="mdpr-text"/>
          <p:cNvSpPr txBox="1"/>
          <p:nvPr/>
        </p:nvSpPr>
        <p:spPr>
          <a:xfrm>
            <a:off x="850392" y="2670048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</a:rPr>
              <a:t>68</a:t>
            </a:r>
          </a:p>
        </p:txBody>
      </p:sp>
      <p:sp>
        <p:nvSpPr>
          <p:cNvPr id="7" name="mdpr-surface"/>
          <p:cNvSpPr/>
          <p:nvPr/>
        </p:nvSpPr>
        <p:spPr>
          <a:xfrm>
            <a:off x="3429000" y="2240280"/>
            <a:ext cx="221284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dpr-text"/>
          <p:cNvSpPr txBox="1"/>
          <p:nvPr/>
        </p:nvSpPr>
        <p:spPr>
          <a:xfrm>
            <a:off x="3593592" y="235915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475569"/>
                </a:solidFill>
              </a:rPr>
              <a:t>TOKEN-READY</a:t>
            </a:r>
          </a:p>
        </p:txBody>
      </p:sp>
      <p:sp>
        <p:nvSpPr>
          <p:cNvPr id="9" name="mdpr-text"/>
          <p:cNvSpPr txBox="1"/>
          <p:nvPr/>
        </p:nvSpPr>
        <p:spPr>
          <a:xfrm>
            <a:off x="3593592" y="2670048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</a:rPr>
              <a:t>68</a:t>
            </a:r>
          </a:p>
        </p:txBody>
      </p:sp>
      <p:sp>
        <p:nvSpPr>
          <p:cNvPr id="10" name="mdpr-surface"/>
          <p:cNvSpPr/>
          <p:nvPr/>
        </p:nvSpPr>
        <p:spPr>
          <a:xfrm>
            <a:off x="6172200" y="2240280"/>
            <a:ext cx="221284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dpr-text"/>
          <p:cNvSpPr txBox="1"/>
          <p:nvPr/>
        </p:nvSpPr>
        <p:spPr>
          <a:xfrm>
            <a:off x="6336792" y="235915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475569"/>
                </a:solidFill>
              </a:rPr>
              <a:t>THEME COMBOS</a:t>
            </a:r>
          </a:p>
        </p:txBody>
      </p:sp>
      <p:sp>
        <p:nvSpPr>
          <p:cNvPr id="12" name="mdpr-text"/>
          <p:cNvSpPr txBox="1"/>
          <p:nvPr/>
        </p:nvSpPr>
        <p:spPr>
          <a:xfrm>
            <a:off x="6336792" y="2670048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</a:rPr>
              <a:t>10</a:t>
            </a:r>
          </a:p>
        </p:txBody>
      </p:sp>
      <p:sp>
        <p:nvSpPr>
          <p:cNvPr id="13" name="mdpr-surface"/>
          <p:cNvSpPr/>
          <p:nvPr/>
        </p:nvSpPr>
        <p:spPr>
          <a:xfrm>
            <a:off x="8915400" y="2240280"/>
            <a:ext cx="221284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dpr-text"/>
          <p:cNvSpPr txBox="1"/>
          <p:nvPr/>
        </p:nvSpPr>
        <p:spPr>
          <a:xfrm>
            <a:off x="9079992" y="235915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475569"/>
                </a:solidFill>
              </a:rPr>
              <a:t>ASSESSMENT</a:t>
            </a:r>
          </a:p>
        </p:txBody>
      </p:sp>
      <p:sp>
        <p:nvSpPr>
          <p:cNvPr id="15" name="mdpr-text"/>
          <p:cNvSpPr txBox="1"/>
          <p:nvPr/>
        </p:nvSpPr>
        <p:spPr>
          <a:xfrm>
            <a:off x="9079992" y="2670048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</a:rPr>
              <a:t>sufficient</a:t>
            </a:r>
          </a:p>
        </p:txBody>
      </p:sp>
      <p:sp>
        <p:nvSpPr>
          <p:cNvPr id="16" name="mdpr-text"/>
          <p:cNvSpPr txBox="1"/>
          <p:nvPr/>
        </p:nvSpPr>
        <p:spPr>
          <a:xfrm>
            <a:off x="713232" y="3794760"/>
            <a:ext cx="987552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Pass criteria: at least 30 distinct object shape kinds, every counted kind bound to theme tokens, and actual PowerPoint-exported theme previews passing style/color checks.</a:t>
            </a:r>
          </a:p>
        </p:txBody>
      </p:sp>
      <p:sp>
        <p:nvSpPr>
          <p:cNvPr id="17" name="mdpr-surface"/>
          <p:cNvSpPr/>
          <p:nvPr/>
        </p:nvSpPr>
        <p:spPr>
          <a:xfrm>
            <a:off x="713232" y="4617720"/>
            <a:ext cx="10698480" cy="100584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dpr-text"/>
          <p:cNvSpPr txBox="1"/>
          <p:nvPr/>
        </p:nvSpPr>
        <p:spPr>
          <a:xfrm>
            <a:off x="960120" y="4800600"/>
            <a:ext cx="99669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</a:rPr>
              <a:t>This deck is itself a verification artifact: it contains the rendered contact sheets, editable pattern preview objects, and the audit summary path.</a:t>
            </a:r>
          </a:p>
        </p:txBody>
      </p:sp>
      <p:sp>
        <p:nvSpPr>
          <p:cNvPr id="19" name="mdpr-text"/>
          <p:cNvSpPr txBox="1"/>
          <p:nvPr/>
        </p:nvSpPr>
        <p:spPr>
          <a:xfrm>
            <a:off x="960120" y="5285232"/>
            <a:ext cx="99669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47857"/>
                </a:solidFill>
              </a:rPr>
              <a:t>artifacts/theme-decoration-review/theme-decoration-coverage-report.json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Theme Cover Matrix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PowerPoint-exported cover previews for style/color/harmony combinations.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heme-style-color-cover-contact-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052" y="1234440"/>
            <a:ext cx="899053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Theme Proof Object Matrix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PowerPoint-exported arc-ring proof slides using each resolved theme palette.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heme-style-color-proof-contact-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052" y="1234440"/>
            <a:ext cx="899053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Reference Corpus Expansion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Only source-neutral structure counts and derived grammar are kept in the repository.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dpr-surface reference-metric"/>
          <p:cNvSpPr/>
          <p:nvPr/>
        </p:nvSpPr>
        <p:spPr>
          <a:xfrm>
            <a:off x="658368" y="1554480"/>
            <a:ext cx="1874519" cy="100584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dpr-text"/>
          <p:cNvSpPr txBox="1"/>
          <p:nvPr/>
        </p:nvSpPr>
        <p:spPr>
          <a:xfrm>
            <a:off x="822959" y="1719072"/>
            <a:ext cx="141732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475569"/>
                </a:solidFill>
              </a:rPr>
              <a:t>PPT FILES</a:t>
            </a:r>
          </a:p>
        </p:txBody>
      </p:sp>
      <p:sp>
        <p:nvSpPr>
          <p:cNvPr id="7" name="mdpr-text"/>
          <p:cNvSpPr txBox="1"/>
          <p:nvPr/>
        </p:nvSpPr>
        <p:spPr>
          <a:xfrm>
            <a:off x="822959" y="1993392"/>
            <a:ext cx="14173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</a:rPr>
              <a:t>80</a:t>
            </a:r>
          </a:p>
        </p:txBody>
      </p:sp>
      <p:sp>
        <p:nvSpPr>
          <p:cNvPr id="8" name="mdpr-surface reference-metric"/>
          <p:cNvSpPr/>
          <p:nvPr/>
        </p:nvSpPr>
        <p:spPr>
          <a:xfrm>
            <a:off x="2898648" y="1554480"/>
            <a:ext cx="1874519" cy="100584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dpr-text"/>
          <p:cNvSpPr txBox="1"/>
          <p:nvPr/>
        </p:nvSpPr>
        <p:spPr>
          <a:xfrm>
            <a:off x="3063240" y="1719072"/>
            <a:ext cx="141732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475569"/>
                </a:solidFill>
              </a:rPr>
              <a:t>SLIDES</a:t>
            </a:r>
          </a:p>
        </p:txBody>
      </p:sp>
      <p:sp>
        <p:nvSpPr>
          <p:cNvPr id="10" name="mdpr-text"/>
          <p:cNvSpPr txBox="1"/>
          <p:nvPr/>
        </p:nvSpPr>
        <p:spPr>
          <a:xfrm>
            <a:off x="3063240" y="1993392"/>
            <a:ext cx="14173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</a:rPr>
              <a:t>797</a:t>
            </a:r>
          </a:p>
        </p:txBody>
      </p:sp>
      <p:sp>
        <p:nvSpPr>
          <p:cNvPr id="11" name="mdpr-surface reference-metric"/>
          <p:cNvSpPr/>
          <p:nvPr/>
        </p:nvSpPr>
        <p:spPr>
          <a:xfrm>
            <a:off x="5138928" y="1554480"/>
            <a:ext cx="1874519" cy="100584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dpr-text"/>
          <p:cNvSpPr txBox="1"/>
          <p:nvPr/>
        </p:nvSpPr>
        <p:spPr>
          <a:xfrm>
            <a:off x="5303520" y="1719072"/>
            <a:ext cx="141732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475569"/>
                </a:solidFill>
              </a:rPr>
              <a:t>RENDERED PNGS</a:t>
            </a:r>
          </a:p>
        </p:txBody>
      </p:sp>
      <p:sp>
        <p:nvSpPr>
          <p:cNvPr id="13" name="mdpr-text"/>
          <p:cNvSpPr txBox="1"/>
          <p:nvPr/>
        </p:nvSpPr>
        <p:spPr>
          <a:xfrm>
            <a:off x="5303520" y="1993392"/>
            <a:ext cx="14173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C2410C"/>
                </a:solidFill>
              </a:rPr>
              <a:t>1,594</a:t>
            </a:r>
          </a:p>
        </p:txBody>
      </p:sp>
      <p:sp>
        <p:nvSpPr>
          <p:cNvPr id="14" name="mdpr-surface reference-metric"/>
          <p:cNvSpPr/>
          <p:nvPr/>
        </p:nvSpPr>
        <p:spPr>
          <a:xfrm>
            <a:off x="7379208" y="1554480"/>
            <a:ext cx="1874519" cy="100584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dpr-text"/>
          <p:cNvSpPr txBox="1"/>
          <p:nvPr/>
        </p:nvSpPr>
        <p:spPr>
          <a:xfrm>
            <a:off x="7543800" y="1719072"/>
            <a:ext cx="141732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475569"/>
                </a:solidFill>
              </a:rPr>
              <a:t>PNG SAMPLES</a:t>
            </a:r>
          </a:p>
        </p:txBody>
      </p:sp>
      <p:sp>
        <p:nvSpPr>
          <p:cNvPr id="16" name="mdpr-text"/>
          <p:cNvSpPr txBox="1"/>
          <p:nvPr/>
        </p:nvSpPr>
        <p:spPr>
          <a:xfrm>
            <a:off x="7543800" y="1993392"/>
            <a:ext cx="14173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</a:rPr>
              <a:t>160</a:t>
            </a:r>
          </a:p>
        </p:txBody>
      </p:sp>
      <p:sp>
        <p:nvSpPr>
          <p:cNvPr id="17" name="mdpr-surface reference-metric"/>
          <p:cNvSpPr/>
          <p:nvPr/>
        </p:nvSpPr>
        <p:spPr>
          <a:xfrm>
            <a:off x="9619488" y="1554480"/>
            <a:ext cx="1874519" cy="10058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dpr-text"/>
          <p:cNvSpPr txBox="1"/>
          <p:nvPr/>
        </p:nvSpPr>
        <p:spPr>
          <a:xfrm>
            <a:off x="9784080" y="1719072"/>
            <a:ext cx="141732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475569"/>
                </a:solidFill>
              </a:rPr>
              <a:t>DERIVED PATTERNS</a:t>
            </a:r>
          </a:p>
        </p:txBody>
      </p:sp>
      <p:sp>
        <p:nvSpPr>
          <p:cNvPr id="19" name="mdpr-text"/>
          <p:cNvSpPr txBox="1"/>
          <p:nvPr/>
        </p:nvSpPr>
        <p:spPr>
          <a:xfrm>
            <a:off x="9784080" y="1993392"/>
            <a:ext cx="14173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E11D48"/>
                </a:solidFill>
              </a:rPr>
              <a:t>60</a:t>
            </a:r>
          </a:p>
        </p:txBody>
      </p:sp>
      <p:sp>
        <p:nvSpPr>
          <p:cNvPr id="20" name="mdpr-surface reference-policy"/>
          <p:cNvSpPr/>
          <p:nvPr/>
        </p:nvSpPr>
        <p:spPr>
          <a:xfrm>
            <a:off x="749808" y="3200400"/>
            <a:ext cx="49834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dpr-text"/>
          <p:cNvSpPr txBox="1"/>
          <p:nvPr/>
        </p:nvSpPr>
        <p:spPr>
          <a:xfrm>
            <a:off x="1005840" y="3456432"/>
            <a:ext cx="443484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</a:rPr>
              <a:t>Corpus assets stay local. Public artifacts store counts, object families, and coherence guards only.</a:t>
            </a:r>
          </a:p>
        </p:txBody>
      </p:sp>
      <p:sp>
        <p:nvSpPr>
          <p:cNvPr id="22" name="mdpr-surface diversity-policy"/>
          <p:cNvSpPr/>
          <p:nvPr/>
        </p:nvSpPr>
        <p:spPr>
          <a:xfrm>
            <a:off x="6400800" y="3200400"/>
            <a:ext cx="4526280" cy="150876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dpr-text"/>
          <p:cNvSpPr txBox="1"/>
          <p:nvPr/>
        </p:nvSpPr>
        <p:spPr>
          <a:xfrm>
            <a:off x="6675120" y="3429000"/>
            <a:ext cx="3977639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9A3412"/>
                </a:solidFill>
              </a:rPr>
              <a:t>Diversity is measured by structural archetype count and family spread, not by repeated card variants.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Structural Archetype Atlas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Representative non-card object grammars from the source-neutral 60-pattern catalog.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dpr-surface atlas"/>
          <p:cNvSpPr/>
          <p:nvPr/>
        </p:nvSpPr>
        <p:spPr>
          <a:xfrm>
            <a:off x="621792" y="1417320"/>
            <a:ext cx="2395728" cy="12252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dpr-decor"/>
          <p:cNvSpPr/>
          <p:nvPr/>
        </p:nvSpPr>
        <p:spPr>
          <a:xfrm>
            <a:off x="1655064" y="1865376"/>
            <a:ext cx="329184" cy="329184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dpr-decor"/>
          <p:cNvSpPr/>
          <p:nvPr/>
        </p:nvSpPr>
        <p:spPr>
          <a:xfrm>
            <a:off x="1225296" y="2020824"/>
            <a:ext cx="118872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dpr-decor"/>
          <p:cNvSpPr/>
          <p:nvPr/>
        </p:nvSpPr>
        <p:spPr>
          <a:xfrm>
            <a:off x="1810512" y="1645920"/>
            <a:ext cx="18288" cy="76809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dpr-decor"/>
          <p:cNvSpPr/>
          <p:nvPr/>
        </p:nvSpPr>
        <p:spPr>
          <a:xfrm>
            <a:off x="1252728" y="1682496"/>
            <a:ext cx="182880" cy="182880"/>
          </a:xfrm>
          <a:prstGeom prst="ellipse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dpr-decor"/>
          <p:cNvSpPr/>
          <p:nvPr/>
        </p:nvSpPr>
        <p:spPr>
          <a:xfrm>
            <a:off x="2276856" y="1700784"/>
            <a:ext cx="182880" cy="182880"/>
          </a:xfrm>
          <a:prstGeom prst="ellipse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dpr-decor"/>
          <p:cNvSpPr/>
          <p:nvPr/>
        </p:nvSpPr>
        <p:spPr>
          <a:xfrm>
            <a:off x="1289304" y="2377440"/>
            <a:ext cx="182880" cy="182880"/>
          </a:xfrm>
          <a:prstGeom prst="ellipse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dpr-decor"/>
          <p:cNvSpPr/>
          <p:nvPr/>
        </p:nvSpPr>
        <p:spPr>
          <a:xfrm>
            <a:off x="2313432" y="2350008"/>
            <a:ext cx="182880" cy="182880"/>
          </a:xfrm>
          <a:prstGeom prst="ellipse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dpr-text"/>
          <p:cNvSpPr txBox="1"/>
          <p:nvPr/>
        </p:nvSpPr>
        <p:spPr>
          <a:xfrm>
            <a:off x="877824" y="2258568"/>
            <a:ext cx="1883664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</a:rPr>
              <a:t>center-hub-spokes</a:t>
            </a:r>
          </a:p>
        </p:txBody>
      </p:sp>
      <p:sp>
        <p:nvSpPr>
          <p:cNvPr id="14" name="mdpr-surface atlas"/>
          <p:cNvSpPr/>
          <p:nvPr/>
        </p:nvSpPr>
        <p:spPr>
          <a:xfrm>
            <a:off x="3474720" y="1417320"/>
            <a:ext cx="2395728" cy="12252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dpr-decor"/>
          <p:cNvSpPr/>
          <p:nvPr/>
        </p:nvSpPr>
        <p:spPr>
          <a:xfrm>
            <a:off x="4233672" y="1773936"/>
            <a:ext cx="274320" cy="2743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dpr-text-in-decor"/>
          <p:cNvSpPr txBox="1"/>
          <p:nvPr/>
        </p:nvSpPr>
        <p:spPr>
          <a:xfrm>
            <a:off x="4233672" y="17739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mdpr-decor"/>
          <p:cNvSpPr/>
          <p:nvPr/>
        </p:nvSpPr>
        <p:spPr>
          <a:xfrm>
            <a:off x="5111496" y="1901952"/>
            <a:ext cx="274320" cy="2743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dpr-text-in-decor"/>
          <p:cNvSpPr txBox="1"/>
          <p:nvPr/>
        </p:nvSpPr>
        <p:spPr>
          <a:xfrm>
            <a:off x="5111496" y="19019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mdpr-decor"/>
          <p:cNvSpPr/>
          <p:nvPr/>
        </p:nvSpPr>
        <p:spPr>
          <a:xfrm>
            <a:off x="4690872" y="2002536"/>
            <a:ext cx="274320" cy="2743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dpr-text-in-decor"/>
          <p:cNvSpPr txBox="1"/>
          <p:nvPr/>
        </p:nvSpPr>
        <p:spPr>
          <a:xfrm>
            <a:off x="4690872" y="20025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mdpr-arrow"/>
          <p:cNvSpPr/>
          <p:nvPr/>
        </p:nvSpPr>
        <p:spPr>
          <a:xfrm>
            <a:off x="4535424" y="1572768"/>
            <a:ext cx="347472" cy="146304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dpr-text"/>
          <p:cNvSpPr txBox="1"/>
          <p:nvPr/>
        </p:nvSpPr>
        <p:spPr>
          <a:xfrm>
            <a:off x="3730752" y="2258568"/>
            <a:ext cx="1883664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</a:rPr>
              <a:t>loop-arrow-cycle</a:t>
            </a:r>
          </a:p>
        </p:txBody>
      </p:sp>
      <p:sp>
        <p:nvSpPr>
          <p:cNvPr id="23" name="mdpr-surface atlas"/>
          <p:cNvSpPr/>
          <p:nvPr/>
        </p:nvSpPr>
        <p:spPr>
          <a:xfrm>
            <a:off x="6327648" y="1417320"/>
            <a:ext cx="2395728" cy="12252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dpr-decor"/>
          <p:cNvSpPr/>
          <p:nvPr/>
        </p:nvSpPr>
        <p:spPr>
          <a:xfrm>
            <a:off x="6620256" y="2029968"/>
            <a:ext cx="1810512" cy="18288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dpr-decor"/>
          <p:cNvSpPr/>
          <p:nvPr/>
        </p:nvSpPr>
        <p:spPr>
          <a:xfrm>
            <a:off x="7525512" y="1673352"/>
            <a:ext cx="18288" cy="512064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dpr-surface"/>
          <p:cNvSpPr/>
          <p:nvPr/>
        </p:nvSpPr>
        <p:spPr>
          <a:xfrm>
            <a:off x="6711696" y="1764792"/>
            <a:ext cx="41148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dpr-surface"/>
          <p:cNvSpPr/>
          <p:nvPr/>
        </p:nvSpPr>
        <p:spPr>
          <a:xfrm>
            <a:off x="7900416" y="1764792"/>
            <a:ext cx="41148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dpr-surface"/>
          <p:cNvSpPr/>
          <p:nvPr/>
        </p:nvSpPr>
        <p:spPr>
          <a:xfrm>
            <a:off x="6711696" y="1984248"/>
            <a:ext cx="41148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dpr-surface"/>
          <p:cNvSpPr/>
          <p:nvPr/>
        </p:nvSpPr>
        <p:spPr>
          <a:xfrm>
            <a:off x="7900416" y="1984248"/>
            <a:ext cx="41148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dpr-text"/>
          <p:cNvSpPr txBox="1"/>
          <p:nvPr/>
        </p:nvSpPr>
        <p:spPr>
          <a:xfrm>
            <a:off x="6583680" y="2258568"/>
            <a:ext cx="1883664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</a:rPr>
              <a:t>axis-quadrant-map</a:t>
            </a:r>
          </a:p>
        </p:txBody>
      </p:sp>
      <p:sp>
        <p:nvSpPr>
          <p:cNvPr id="31" name="mdpr-surface atlas"/>
          <p:cNvSpPr/>
          <p:nvPr/>
        </p:nvSpPr>
        <p:spPr>
          <a:xfrm>
            <a:off x="9180576" y="1417320"/>
            <a:ext cx="2395728" cy="12252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dpr-decor"/>
          <p:cNvSpPr/>
          <p:nvPr/>
        </p:nvSpPr>
        <p:spPr>
          <a:xfrm>
            <a:off x="9592055" y="1892808"/>
            <a:ext cx="274320" cy="2743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dpr-decor"/>
          <p:cNvSpPr/>
          <p:nvPr/>
        </p:nvSpPr>
        <p:spPr>
          <a:xfrm>
            <a:off x="9985248" y="2029968"/>
            <a:ext cx="1005840" cy="274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dpr-surface"/>
          <p:cNvSpPr/>
          <p:nvPr/>
        </p:nvSpPr>
        <p:spPr>
          <a:xfrm>
            <a:off x="10872215" y="1828800"/>
            <a:ext cx="438912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dpr-text"/>
          <p:cNvSpPr txBox="1"/>
          <p:nvPr/>
        </p:nvSpPr>
        <p:spPr>
          <a:xfrm>
            <a:off x="9436607" y="2258568"/>
            <a:ext cx="1883664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</a:rPr>
              <a:t>vertical-timeline-cards</a:t>
            </a:r>
          </a:p>
        </p:txBody>
      </p:sp>
      <p:sp>
        <p:nvSpPr>
          <p:cNvPr id="36" name="mdpr-surface atlas"/>
          <p:cNvSpPr/>
          <p:nvPr/>
        </p:nvSpPr>
        <p:spPr>
          <a:xfrm>
            <a:off x="621792" y="2953512"/>
            <a:ext cx="2395728" cy="1225296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dpr-decor"/>
          <p:cNvSpPr/>
          <p:nvPr/>
        </p:nvSpPr>
        <p:spPr>
          <a:xfrm>
            <a:off x="1536192" y="3264408"/>
            <a:ext cx="566928" cy="566928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dpr-decor"/>
          <p:cNvSpPr/>
          <p:nvPr/>
        </p:nvSpPr>
        <p:spPr>
          <a:xfrm>
            <a:off x="1682496" y="3410712"/>
            <a:ext cx="292608" cy="292608"/>
          </a:xfrm>
          <a:prstGeom prst="ellipse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dpr-decor"/>
          <p:cNvSpPr/>
          <p:nvPr/>
        </p:nvSpPr>
        <p:spPr>
          <a:xfrm>
            <a:off x="2258568" y="3364991"/>
            <a:ext cx="512064" cy="18288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dpr-decor"/>
          <p:cNvSpPr/>
          <p:nvPr/>
        </p:nvSpPr>
        <p:spPr>
          <a:xfrm>
            <a:off x="2258568" y="3730752"/>
            <a:ext cx="420624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dpr-text"/>
          <p:cNvSpPr txBox="1"/>
          <p:nvPr/>
        </p:nvSpPr>
        <p:spPr>
          <a:xfrm>
            <a:off x="877824" y="3794760"/>
            <a:ext cx="1883664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</a:rPr>
              <a:t>donut-label-ring</a:t>
            </a:r>
          </a:p>
        </p:txBody>
      </p:sp>
      <p:sp>
        <p:nvSpPr>
          <p:cNvPr id="42" name="mdpr-surface atlas"/>
          <p:cNvSpPr/>
          <p:nvPr/>
        </p:nvSpPr>
        <p:spPr>
          <a:xfrm>
            <a:off x="3474720" y="2953512"/>
            <a:ext cx="2395728" cy="1225296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dpr-decor"/>
          <p:cNvSpPr/>
          <p:nvPr/>
        </p:nvSpPr>
        <p:spPr>
          <a:xfrm>
            <a:off x="4343400" y="3246120"/>
            <a:ext cx="658368" cy="658368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dpr-decor"/>
          <p:cNvSpPr/>
          <p:nvPr/>
        </p:nvSpPr>
        <p:spPr>
          <a:xfrm>
            <a:off x="4443984" y="3346704"/>
            <a:ext cx="457200" cy="457200"/>
          </a:xfrm>
          <a:prstGeom prst="ellipse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dpr-decor"/>
          <p:cNvSpPr/>
          <p:nvPr/>
        </p:nvSpPr>
        <p:spPr>
          <a:xfrm>
            <a:off x="4636008" y="3602736"/>
            <a:ext cx="384048" cy="274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dpr-text-in-decor"/>
          <p:cNvSpPr txBox="1"/>
          <p:nvPr/>
        </p:nvSpPr>
        <p:spPr>
          <a:xfrm>
            <a:off x="4462272" y="3493008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78</a:t>
            </a:r>
          </a:p>
        </p:txBody>
      </p:sp>
      <p:sp>
        <p:nvSpPr>
          <p:cNvPr id="47" name="mdpr-text"/>
          <p:cNvSpPr txBox="1"/>
          <p:nvPr/>
        </p:nvSpPr>
        <p:spPr>
          <a:xfrm>
            <a:off x="3730752" y="3794760"/>
            <a:ext cx="1883664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</a:rPr>
              <a:t>gauge-score-card</a:t>
            </a:r>
          </a:p>
        </p:txBody>
      </p:sp>
      <p:sp>
        <p:nvSpPr>
          <p:cNvPr id="48" name="mdpr-surface atlas"/>
          <p:cNvSpPr/>
          <p:nvPr/>
        </p:nvSpPr>
        <p:spPr>
          <a:xfrm>
            <a:off x="6327648" y="2953512"/>
            <a:ext cx="2395728" cy="122529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dpr-decor"/>
          <p:cNvSpPr/>
          <p:nvPr/>
        </p:nvSpPr>
        <p:spPr>
          <a:xfrm>
            <a:off x="6620256" y="3566160"/>
            <a:ext cx="1810512" cy="1828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dpr-decor"/>
          <p:cNvSpPr/>
          <p:nvPr/>
        </p:nvSpPr>
        <p:spPr>
          <a:xfrm>
            <a:off x="7525512" y="3209544"/>
            <a:ext cx="18288" cy="5120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mdpr-surface"/>
          <p:cNvSpPr/>
          <p:nvPr/>
        </p:nvSpPr>
        <p:spPr>
          <a:xfrm>
            <a:off x="6711696" y="3300984"/>
            <a:ext cx="41148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dpr-surface"/>
          <p:cNvSpPr/>
          <p:nvPr/>
        </p:nvSpPr>
        <p:spPr>
          <a:xfrm>
            <a:off x="7900416" y="3300984"/>
            <a:ext cx="41148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dpr-surface"/>
          <p:cNvSpPr/>
          <p:nvPr/>
        </p:nvSpPr>
        <p:spPr>
          <a:xfrm>
            <a:off x="6711696" y="3520440"/>
            <a:ext cx="41148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mdpr-surface"/>
          <p:cNvSpPr/>
          <p:nvPr/>
        </p:nvSpPr>
        <p:spPr>
          <a:xfrm>
            <a:off x="7900416" y="3520440"/>
            <a:ext cx="41148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dpr-text"/>
          <p:cNvSpPr txBox="1"/>
          <p:nvPr/>
        </p:nvSpPr>
        <p:spPr>
          <a:xfrm>
            <a:off x="6583680" y="3794760"/>
            <a:ext cx="1883664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</a:rPr>
              <a:t>risk-heat-grid</a:t>
            </a:r>
          </a:p>
        </p:txBody>
      </p:sp>
      <p:sp>
        <p:nvSpPr>
          <p:cNvPr id="56" name="mdpr-surface atlas"/>
          <p:cNvSpPr/>
          <p:nvPr/>
        </p:nvSpPr>
        <p:spPr>
          <a:xfrm>
            <a:off x="9180576" y="2953512"/>
            <a:ext cx="2395728" cy="122529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dpr-decor"/>
          <p:cNvSpPr/>
          <p:nvPr/>
        </p:nvSpPr>
        <p:spPr>
          <a:xfrm>
            <a:off x="9500615" y="3282696"/>
            <a:ext cx="1755648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dpr-decor"/>
          <p:cNvSpPr/>
          <p:nvPr/>
        </p:nvSpPr>
        <p:spPr>
          <a:xfrm>
            <a:off x="9500615" y="3447288"/>
            <a:ext cx="1755648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dpr-decor"/>
          <p:cNvSpPr/>
          <p:nvPr/>
        </p:nvSpPr>
        <p:spPr>
          <a:xfrm>
            <a:off x="9500615" y="3611879"/>
            <a:ext cx="1755648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mdpr-decor"/>
          <p:cNvSpPr/>
          <p:nvPr/>
        </p:nvSpPr>
        <p:spPr>
          <a:xfrm>
            <a:off x="9500615" y="3776472"/>
            <a:ext cx="1755648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mdpr-decor"/>
          <p:cNvSpPr/>
          <p:nvPr/>
        </p:nvSpPr>
        <p:spPr>
          <a:xfrm>
            <a:off x="9729215" y="3209544"/>
            <a:ext cx="13716" cy="65836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mdpr-decor"/>
          <p:cNvSpPr/>
          <p:nvPr/>
        </p:nvSpPr>
        <p:spPr>
          <a:xfrm>
            <a:off x="10232136" y="3209544"/>
            <a:ext cx="13716" cy="65836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mdpr-decor"/>
          <p:cNvSpPr/>
          <p:nvPr/>
        </p:nvSpPr>
        <p:spPr>
          <a:xfrm>
            <a:off x="10735055" y="3209544"/>
            <a:ext cx="13716" cy="65836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mdpr-decor"/>
          <p:cNvSpPr/>
          <p:nvPr/>
        </p:nvSpPr>
        <p:spPr>
          <a:xfrm>
            <a:off x="9619488" y="3392424"/>
            <a:ext cx="118872" cy="11887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mdpr-decor"/>
          <p:cNvSpPr/>
          <p:nvPr/>
        </p:nvSpPr>
        <p:spPr>
          <a:xfrm>
            <a:off x="9619488" y="3575304"/>
            <a:ext cx="118872" cy="118872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mdpr-text"/>
          <p:cNvSpPr txBox="1"/>
          <p:nvPr/>
        </p:nvSpPr>
        <p:spPr>
          <a:xfrm>
            <a:off x="9436607" y="3794760"/>
            <a:ext cx="1883664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</a:rPr>
              <a:t>status-dot-table</a:t>
            </a:r>
          </a:p>
        </p:txBody>
      </p:sp>
      <p:sp>
        <p:nvSpPr>
          <p:cNvPr id="67" name="mdpr-surface atlas"/>
          <p:cNvSpPr/>
          <p:nvPr/>
        </p:nvSpPr>
        <p:spPr>
          <a:xfrm>
            <a:off x="621792" y="4489704"/>
            <a:ext cx="2395728" cy="12252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mdpr-surface"/>
          <p:cNvSpPr/>
          <p:nvPr/>
        </p:nvSpPr>
        <p:spPr>
          <a:xfrm>
            <a:off x="941832" y="4837176"/>
            <a:ext cx="868680" cy="804672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mdpr-surface"/>
          <p:cNvSpPr/>
          <p:nvPr/>
        </p:nvSpPr>
        <p:spPr>
          <a:xfrm>
            <a:off x="1947672" y="4965192"/>
            <a:ext cx="822960" cy="201168"/>
          </a:xfrm>
          <a:prstGeom prst="roundRect">
            <a:avLst/>
          </a:prstGeom>
          <a:solidFill>
            <a:srgbClr val="C2410C"/>
          </a:solidFill>
          <a:ln w="1016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mdpr-decor"/>
          <p:cNvSpPr/>
          <p:nvPr/>
        </p:nvSpPr>
        <p:spPr>
          <a:xfrm>
            <a:off x="1947672" y="5312664"/>
            <a:ext cx="868680" cy="27432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mdpr-text"/>
          <p:cNvSpPr txBox="1"/>
          <p:nvPr/>
        </p:nvSpPr>
        <p:spPr>
          <a:xfrm>
            <a:off x="877824" y="5330952"/>
            <a:ext cx="1883664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</a:rPr>
              <a:t>image-caption-split</a:t>
            </a:r>
          </a:p>
        </p:txBody>
      </p:sp>
      <p:sp>
        <p:nvSpPr>
          <p:cNvPr id="72" name="mdpr-surface atlas"/>
          <p:cNvSpPr/>
          <p:nvPr/>
        </p:nvSpPr>
        <p:spPr>
          <a:xfrm>
            <a:off x="3474720" y="4489704"/>
            <a:ext cx="2395728" cy="12252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mdpr-surface"/>
          <p:cNvSpPr/>
          <p:nvPr/>
        </p:nvSpPr>
        <p:spPr>
          <a:xfrm>
            <a:off x="3794760" y="4837176"/>
            <a:ext cx="868680" cy="804672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mdpr-surface"/>
          <p:cNvSpPr/>
          <p:nvPr/>
        </p:nvSpPr>
        <p:spPr>
          <a:xfrm>
            <a:off x="4800600" y="4965192"/>
            <a:ext cx="822960" cy="201168"/>
          </a:xfrm>
          <a:prstGeom prst="round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mdpr-decor"/>
          <p:cNvSpPr/>
          <p:nvPr/>
        </p:nvSpPr>
        <p:spPr>
          <a:xfrm>
            <a:off x="4800600" y="5312664"/>
            <a:ext cx="868680" cy="27432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mdpr-text"/>
          <p:cNvSpPr txBox="1"/>
          <p:nvPr/>
        </p:nvSpPr>
        <p:spPr>
          <a:xfrm>
            <a:off x="3730752" y="5330952"/>
            <a:ext cx="1883664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</a:rPr>
              <a:t>pictorial-anchor-labels</a:t>
            </a:r>
          </a:p>
        </p:txBody>
      </p:sp>
      <p:sp>
        <p:nvSpPr>
          <p:cNvPr id="77" name="mdpr-surface atlas"/>
          <p:cNvSpPr/>
          <p:nvPr/>
        </p:nvSpPr>
        <p:spPr>
          <a:xfrm>
            <a:off x="6327648" y="4489704"/>
            <a:ext cx="2395728" cy="1225296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mdpr-surface"/>
          <p:cNvSpPr/>
          <p:nvPr/>
        </p:nvSpPr>
        <p:spPr>
          <a:xfrm>
            <a:off x="6986016" y="4873752"/>
            <a:ext cx="9144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mdpr-surface"/>
          <p:cNvSpPr/>
          <p:nvPr/>
        </p:nvSpPr>
        <p:spPr>
          <a:xfrm>
            <a:off x="6858000" y="4782312"/>
            <a:ext cx="9144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mdpr-decor"/>
          <p:cNvSpPr/>
          <p:nvPr/>
        </p:nvSpPr>
        <p:spPr>
          <a:xfrm>
            <a:off x="6986016" y="5020056"/>
            <a:ext cx="53035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mdpr-text"/>
          <p:cNvSpPr txBox="1"/>
          <p:nvPr/>
        </p:nvSpPr>
        <p:spPr>
          <a:xfrm>
            <a:off x="6583680" y="5330952"/>
            <a:ext cx="1883664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</a:rPr>
              <a:t>stacked-paper-cards</a:t>
            </a:r>
          </a:p>
        </p:txBody>
      </p:sp>
      <p:sp>
        <p:nvSpPr>
          <p:cNvPr id="82" name="mdpr-surface atlas"/>
          <p:cNvSpPr/>
          <p:nvPr/>
        </p:nvSpPr>
        <p:spPr>
          <a:xfrm>
            <a:off x="9180576" y="4489704"/>
            <a:ext cx="2395728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mdpr-surface"/>
          <p:cNvSpPr/>
          <p:nvPr/>
        </p:nvSpPr>
        <p:spPr>
          <a:xfrm>
            <a:off x="9546336" y="4928616"/>
            <a:ext cx="502920" cy="256032"/>
          </a:xfrm>
          <a:prstGeom prst="round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mdpr-surface"/>
          <p:cNvSpPr/>
          <p:nvPr/>
        </p:nvSpPr>
        <p:spPr>
          <a:xfrm>
            <a:off x="10369296" y="4928616"/>
            <a:ext cx="658368" cy="256032"/>
          </a:xfrm>
          <a:prstGeom prst="roundRect">
            <a:avLst/>
          </a:prstGeom>
          <a:solidFill>
            <a:srgbClr val="CBD5E1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mdpr-surface"/>
          <p:cNvSpPr/>
          <p:nvPr/>
        </p:nvSpPr>
        <p:spPr>
          <a:xfrm>
            <a:off x="9546336" y="5312664"/>
            <a:ext cx="438912" cy="256032"/>
          </a:xfrm>
          <a:prstGeom prst="round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mdpr-surface"/>
          <p:cNvSpPr/>
          <p:nvPr/>
        </p:nvSpPr>
        <p:spPr>
          <a:xfrm>
            <a:off x="10369296" y="5312664"/>
            <a:ext cx="786384" cy="256032"/>
          </a:xfrm>
          <a:prstGeom prst="roundRect">
            <a:avLst/>
          </a:prstGeom>
          <a:solidFill>
            <a:srgbClr val="CBD5E1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mdpr-text"/>
          <p:cNvSpPr txBox="1"/>
          <p:nvPr/>
        </p:nvSpPr>
        <p:spPr>
          <a:xfrm>
            <a:off x="9436607" y="5330952"/>
            <a:ext cx="1883664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</a:rPr>
              <a:t>tag-cloud-strip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Layout Diversity Review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The review deck exercises non-card layouts: timeline, split comparison, data proof, and editorial image framing.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dpr-text"/>
          <p:cNvSpPr txBox="1"/>
          <p:nvPr/>
        </p:nvSpPr>
        <p:spPr>
          <a:xfrm>
            <a:off x="685800" y="1325880"/>
            <a:ext cx="19202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Sequence rail</a:t>
            </a:r>
          </a:p>
        </p:txBody>
      </p:sp>
      <p:sp>
        <p:nvSpPr>
          <p:cNvPr id="6" name="mdpr-decor"/>
          <p:cNvSpPr/>
          <p:nvPr/>
        </p:nvSpPr>
        <p:spPr>
          <a:xfrm>
            <a:off x="777240" y="1956816"/>
            <a:ext cx="4709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dpr-decor"/>
          <p:cNvSpPr/>
          <p:nvPr/>
        </p:nvSpPr>
        <p:spPr>
          <a:xfrm>
            <a:off x="822960" y="1847088"/>
            <a:ext cx="256032" cy="25603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dpr-text"/>
          <p:cNvSpPr txBox="1"/>
          <p:nvPr/>
        </p:nvSpPr>
        <p:spPr>
          <a:xfrm>
            <a:off x="548640" y="2157984"/>
            <a:ext cx="8229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</a:rPr>
              <a:t>Parse</a:t>
            </a:r>
          </a:p>
        </p:txBody>
      </p:sp>
      <p:sp>
        <p:nvSpPr>
          <p:cNvPr id="9" name="mdpr-decor"/>
          <p:cNvSpPr/>
          <p:nvPr/>
        </p:nvSpPr>
        <p:spPr>
          <a:xfrm>
            <a:off x="2377440" y="1847088"/>
            <a:ext cx="256032" cy="25603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dpr-text"/>
          <p:cNvSpPr txBox="1"/>
          <p:nvPr/>
        </p:nvSpPr>
        <p:spPr>
          <a:xfrm>
            <a:off x="2103120" y="2157984"/>
            <a:ext cx="8229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</a:rPr>
              <a:t>Plan</a:t>
            </a:r>
          </a:p>
        </p:txBody>
      </p:sp>
      <p:sp>
        <p:nvSpPr>
          <p:cNvPr id="11" name="mdpr-decor"/>
          <p:cNvSpPr/>
          <p:nvPr/>
        </p:nvSpPr>
        <p:spPr>
          <a:xfrm>
            <a:off x="3931920" y="1847088"/>
            <a:ext cx="256032" cy="25603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dpr-text"/>
          <p:cNvSpPr txBox="1"/>
          <p:nvPr/>
        </p:nvSpPr>
        <p:spPr>
          <a:xfrm>
            <a:off x="3657600" y="2157984"/>
            <a:ext cx="8229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</a:rPr>
              <a:t>Render</a:t>
            </a:r>
          </a:p>
        </p:txBody>
      </p:sp>
      <p:sp>
        <p:nvSpPr>
          <p:cNvPr id="13" name="mdpr-decor"/>
          <p:cNvSpPr/>
          <p:nvPr/>
        </p:nvSpPr>
        <p:spPr>
          <a:xfrm>
            <a:off x="5486400" y="1847088"/>
            <a:ext cx="256032" cy="25603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dpr-text"/>
          <p:cNvSpPr txBox="1"/>
          <p:nvPr/>
        </p:nvSpPr>
        <p:spPr>
          <a:xfrm>
            <a:off x="5212080" y="2157984"/>
            <a:ext cx="8229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</a:rPr>
              <a:t>Review</a:t>
            </a:r>
          </a:p>
        </p:txBody>
      </p:sp>
      <p:sp>
        <p:nvSpPr>
          <p:cNvPr id="15" name="mdpr-text"/>
          <p:cNvSpPr txBox="1"/>
          <p:nvPr/>
        </p:nvSpPr>
        <p:spPr>
          <a:xfrm>
            <a:off x="6080760" y="1325880"/>
            <a:ext cx="21945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Split comparison</a:t>
            </a:r>
          </a:p>
        </p:txBody>
      </p:sp>
      <p:sp>
        <p:nvSpPr>
          <p:cNvPr id="16" name="mdpr-surface layout-comparison"/>
          <p:cNvSpPr/>
          <p:nvPr/>
        </p:nvSpPr>
        <p:spPr>
          <a:xfrm>
            <a:off x="6080760" y="1719072"/>
            <a:ext cx="2331720" cy="100584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dpr-surface layout-comparison"/>
          <p:cNvSpPr/>
          <p:nvPr/>
        </p:nvSpPr>
        <p:spPr>
          <a:xfrm>
            <a:off x="8549640" y="1719072"/>
            <a:ext cx="2331720" cy="100584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dpr-text"/>
          <p:cNvSpPr txBox="1"/>
          <p:nvPr/>
        </p:nvSpPr>
        <p:spPr>
          <a:xfrm>
            <a:off x="6309360" y="1874519"/>
            <a:ext cx="1874519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65F46"/>
                </a:solidFill>
              </a:rPr>
              <a:t>Rule base
owns geometry</a:t>
            </a:r>
          </a:p>
        </p:txBody>
      </p:sp>
      <p:sp>
        <p:nvSpPr>
          <p:cNvPr id="19" name="mdpr-text"/>
          <p:cNvSpPr txBox="1"/>
          <p:nvPr/>
        </p:nvSpPr>
        <p:spPr>
          <a:xfrm>
            <a:off x="8778240" y="1874519"/>
            <a:ext cx="1874519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9A3412"/>
                </a:solidFill>
              </a:rPr>
              <a:t>LLM hint
adds intent</a:t>
            </a:r>
          </a:p>
        </p:txBody>
      </p:sp>
      <p:sp>
        <p:nvSpPr>
          <p:cNvPr id="20" name="mdpr-text"/>
          <p:cNvSpPr txBox="1"/>
          <p:nvPr/>
        </p:nvSpPr>
        <p:spPr>
          <a:xfrm>
            <a:off x="685800" y="3154680"/>
            <a:ext cx="21945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Data proof</a:t>
            </a:r>
          </a:p>
        </p:txBody>
      </p:sp>
      <p:sp>
        <p:nvSpPr>
          <p:cNvPr id="21" name="mdpr-surface data-proof"/>
          <p:cNvSpPr/>
          <p:nvPr/>
        </p:nvSpPr>
        <p:spPr>
          <a:xfrm>
            <a:off x="685800" y="3520440"/>
            <a:ext cx="480060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dpr-decor bar"/>
          <p:cNvSpPr/>
          <p:nvPr/>
        </p:nvSpPr>
        <p:spPr>
          <a:xfrm>
            <a:off x="1005840" y="4297680"/>
            <a:ext cx="292608" cy="411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dpr-decor bar"/>
          <p:cNvSpPr/>
          <p:nvPr/>
        </p:nvSpPr>
        <p:spPr>
          <a:xfrm>
            <a:off x="1554480" y="3959352"/>
            <a:ext cx="292608" cy="7498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dpr-decor bar"/>
          <p:cNvSpPr/>
          <p:nvPr/>
        </p:nvSpPr>
        <p:spPr>
          <a:xfrm>
            <a:off x="2103120" y="4142232"/>
            <a:ext cx="292608" cy="566928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dpr-decor bar"/>
          <p:cNvSpPr/>
          <p:nvPr/>
        </p:nvSpPr>
        <p:spPr>
          <a:xfrm>
            <a:off x="2651760" y="3721608"/>
            <a:ext cx="292608" cy="9875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dpr-text"/>
          <p:cNvSpPr txBox="1"/>
          <p:nvPr/>
        </p:nvSpPr>
        <p:spPr>
          <a:xfrm>
            <a:off x="3429000" y="3675887"/>
            <a:ext cx="1645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</a:rPr>
              <a:t>98 slides</a:t>
            </a:r>
          </a:p>
        </p:txBody>
      </p:sp>
      <p:sp>
        <p:nvSpPr>
          <p:cNvPr id="27" name="mdpr-text"/>
          <p:cNvSpPr txBox="1"/>
          <p:nvPr/>
        </p:nvSpPr>
        <p:spPr>
          <a:xfrm>
            <a:off x="3429000" y="4078224"/>
            <a:ext cx="169164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exported through PowerPoint before review</a:t>
            </a:r>
          </a:p>
        </p:txBody>
      </p:sp>
      <p:sp>
        <p:nvSpPr>
          <p:cNvPr id="28" name="mdpr-decor"/>
          <p:cNvSpPr/>
          <p:nvPr/>
        </p:nvSpPr>
        <p:spPr>
          <a:xfrm>
            <a:off x="3429000" y="4754880"/>
            <a:ext cx="1554480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dpr-text"/>
          <p:cNvSpPr txBox="1"/>
          <p:nvPr/>
        </p:nvSpPr>
        <p:spPr>
          <a:xfrm>
            <a:off x="6080760" y="3154680"/>
            <a:ext cx="2468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Editorial frame</a:t>
            </a:r>
          </a:p>
        </p:txBody>
      </p:sp>
      <p:sp>
        <p:nvSpPr>
          <p:cNvPr id="30" name="mdpr-surface image-frame"/>
          <p:cNvSpPr/>
          <p:nvPr/>
        </p:nvSpPr>
        <p:spPr>
          <a:xfrm>
            <a:off x="6080760" y="3520440"/>
            <a:ext cx="1920240" cy="1737360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dpr-surface caption-card"/>
          <p:cNvSpPr/>
          <p:nvPr/>
        </p:nvSpPr>
        <p:spPr>
          <a:xfrm>
            <a:off x="8183879" y="3749039"/>
            <a:ext cx="269748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dpr-text"/>
          <p:cNvSpPr txBox="1"/>
          <p:nvPr/>
        </p:nvSpPr>
        <p:spPr>
          <a:xfrm>
            <a:off x="8430768" y="3950208"/>
            <a:ext cx="21488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Image-aware layouts keep caption and proof text in separate regions.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Connected Process Layout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Arrows connect aligned parent regions; inner labels remain centered inside their own marker shapes.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dpr-surface process"/>
          <p:cNvSpPr/>
          <p:nvPr/>
        </p:nvSpPr>
        <p:spPr>
          <a:xfrm>
            <a:off x="713232" y="2011680"/>
            <a:ext cx="2057400" cy="150876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dpr-decor centered-marker"/>
          <p:cNvSpPr/>
          <p:nvPr/>
        </p:nvSpPr>
        <p:spPr>
          <a:xfrm>
            <a:off x="923544" y="2487168"/>
            <a:ext cx="457200" cy="45720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dpr-text-in-decor"/>
          <p:cNvSpPr txBox="1"/>
          <p:nvPr/>
        </p:nvSpPr>
        <p:spPr>
          <a:xfrm>
            <a:off x="923544" y="24871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mdpr-text"/>
          <p:cNvSpPr txBox="1"/>
          <p:nvPr/>
        </p:nvSpPr>
        <p:spPr>
          <a:xfrm>
            <a:off x="1490472" y="2331720"/>
            <a:ext cx="146304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</a:rPr>
              <a:t>Markdown
semantics</a:t>
            </a:r>
          </a:p>
        </p:txBody>
      </p:sp>
      <p:sp>
        <p:nvSpPr>
          <p:cNvPr id="9" name="mdpr-arrow"/>
          <p:cNvSpPr/>
          <p:nvPr/>
        </p:nvSpPr>
        <p:spPr>
          <a:xfrm>
            <a:off x="2889504" y="2587752"/>
            <a:ext cx="402336" cy="237744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dpr-surface process"/>
          <p:cNvSpPr/>
          <p:nvPr/>
        </p:nvSpPr>
        <p:spPr>
          <a:xfrm>
            <a:off x="3502152" y="2011680"/>
            <a:ext cx="2057400" cy="150876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dpr-decor centered-marker"/>
          <p:cNvSpPr/>
          <p:nvPr/>
        </p:nvSpPr>
        <p:spPr>
          <a:xfrm>
            <a:off x="3712464" y="2487168"/>
            <a:ext cx="45720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dpr-text-in-decor"/>
          <p:cNvSpPr txBox="1"/>
          <p:nvPr/>
        </p:nvSpPr>
        <p:spPr>
          <a:xfrm>
            <a:off x="3712464" y="24871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3" name="mdpr-text"/>
          <p:cNvSpPr txBox="1"/>
          <p:nvPr/>
        </p:nvSpPr>
        <p:spPr>
          <a:xfrm>
            <a:off x="4279392" y="2331720"/>
            <a:ext cx="146304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</a:rPr>
              <a:t>Rule-based
layout</a:t>
            </a:r>
          </a:p>
        </p:txBody>
      </p:sp>
      <p:sp>
        <p:nvSpPr>
          <p:cNvPr id="14" name="mdpr-arrow"/>
          <p:cNvSpPr/>
          <p:nvPr/>
        </p:nvSpPr>
        <p:spPr>
          <a:xfrm>
            <a:off x="5678424" y="2587752"/>
            <a:ext cx="402336" cy="237744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dpr-surface process"/>
          <p:cNvSpPr/>
          <p:nvPr/>
        </p:nvSpPr>
        <p:spPr>
          <a:xfrm>
            <a:off x="6291072" y="2011680"/>
            <a:ext cx="2057400" cy="150876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dpr-decor centered-marker"/>
          <p:cNvSpPr/>
          <p:nvPr/>
        </p:nvSpPr>
        <p:spPr>
          <a:xfrm>
            <a:off x="6501384" y="2487168"/>
            <a:ext cx="457200" cy="457200"/>
          </a:xfrm>
          <a:prstGeom prst="ellipse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dpr-text-in-decor"/>
          <p:cNvSpPr txBox="1"/>
          <p:nvPr/>
        </p:nvSpPr>
        <p:spPr>
          <a:xfrm>
            <a:off x="6501384" y="24871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8" name="mdpr-text"/>
          <p:cNvSpPr txBox="1"/>
          <p:nvPr/>
        </p:nvSpPr>
        <p:spPr>
          <a:xfrm>
            <a:off x="7068312" y="2331720"/>
            <a:ext cx="146304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</a:rPr>
              <a:t>Editable
PPT objects</a:t>
            </a:r>
          </a:p>
        </p:txBody>
      </p:sp>
      <p:sp>
        <p:nvSpPr>
          <p:cNvPr id="19" name="mdpr-arrow"/>
          <p:cNvSpPr/>
          <p:nvPr/>
        </p:nvSpPr>
        <p:spPr>
          <a:xfrm>
            <a:off x="8467344" y="2587752"/>
            <a:ext cx="402336" cy="237744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dpr-surface process"/>
          <p:cNvSpPr/>
          <p:nvPr/>
        </p:nvSpPr>
        <p:spPr>
          <a:xfrm>
            <a:off x="9079991" y="2011680"/>
            <a:ext cx="2057400" cy="150876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dpr-decor centered-marker"/>
          <p:cNvSpPr/>
          <p:nvPr/>
        </p:nvSpPr>
        <p:spPr>
          <a:xfrm>
            <a:off x="9290303" y="2487168"/>
            <a:ext cx="457200" cy="4572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dpr-text-in-decor"/>
          <p:cNvSpPr txBox="1"/>
          <p:nvPr/>
        </p:nvSpPr>
        <p:spPr>
          <a:xfrm>
            <a:off x="9290303" y="24871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3" name="mdpr-text"/>
          <p:cNvSpPr txBox="1"/>
          <p:nvPr/>
        </p:nvSpPr>
        <p:spPr>
          <a:xfrm>
            <a:off x="9857231" y="2331720"/>
            <a:ext cx="146304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</a:rPr>
              <a:t>Visual
validation</a:t>
            </a:r>
          </a:p>
        </p:txBody>
      </p:sp>
      <p:sp>
        <p:nvSpPr>
          <p:cNvPr id="24" name="mdpr-surface note"/>
          <p:cNvSpPr/>
          <p:nvPr/>
        </p:nvSpPr>
        <p:spPr>
          <a:xfrm>
            <a:off x="1143000" y="4617720"/>
            <a:ext cx="9646920" cy="6583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dpr-text"/>
          <p:cNvSpPr txBox="1"/>
          <p:nvPr/>
        </p:nvSpPr>
        <p:spPr>
          <a:xfrm>
            <a:off x="1417320" y="4736592"/>
            <a:ext cx="9052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</a:rPr>
              <a:t>Validation target: markers and labels share vertical centers; arrows touch parent-region edges without crossing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Mixed Object Stress Layout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Tables, metrics, chart-like marks, icon markers, and callouts are composed without forcing empty-space filler.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dpr-surface metric"/>
          <p:cNvSpPr/>
          <p:nvPr/>
        </p:nvSpPr>
        <p:spPr>
          <a:xfrm>
            <a:off x="658368" y="1417320"/>
            <a:ext cx="2743200" cy="114300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dpr-text"/>
          <p:cNvSpPr txBox="1"/>
          <p:nvPr/>
        </p:nvSpPr>
        <p:spPr>
          <a:xfrm>
            <a:off x="914400" y="1609344"/>
            <a:ext cx="10058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0F766E"/>
                </a:solidFill>
              </a:rPr>
              <a:t>68</a:t>
            </a:r>
          </a:p>
        </p:txBody>
      </p:sp>
      <p:sp>
        <p:nvSpPr>
          <p:cNvPr id="7" name="mdpr-text"/>
          <p:cNvSpPr txBox="1"/>
          <p:nvPr/>
        </p:nvSpPr>
        <p:spPr>
          <a:xfrm>
            <a:off x="1874519" y="1627632"/>
            <a:ext cx="11887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</a:rPr>
              <a:t>object
kinds</a:t>
            </a:r>
          </a:p>
        </p:txBody>
      </p:sp>
      <p:sp>
        <p:nvSpPr>
          <p:cNvPr id="8" name="mdpr-surface table"/>
          <p:cNvSpPr/>
          <p:nvPr/>
        </p:nvSpPr>
        <p:spPr>
          <a:xfrm>
            <a:off x="3840480" y="1417320"/>
            <a:ext cx="338328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dpr-decor table-rule"/>
          <p:cNvSpPr/>
          <p:nvPr/>
        </p:nvSpPr>
        <p:spPr>
          <a:xfrm>
            <a:off x="4041648" y="1737360"/>
            <a:ext cx="29718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dpr-text"/>
          <p:cNvSpPr txBox="1"/>
          <p:nvPr/>
        </p:nvSpPr>
        <p:spPr>
          <a:xfrm>
            <a:off x="4096512" y="1773936"/>
            <a:ext cx="128016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</a:rPr>
              <a:t>Cards</a:t>
            </a:r>
          </a:p>
        </p:txBody>
      </p:sp>
      <p:sp>
        <p:nvSpPr>
          <p:cNvPr id="11" name="mdpr-text"/>
          <p:cNvSpPr txBox="1"/>
          <p:nvPr/>
        </p:nvSpPr>
        <p:spPr>
          <a:xfrm>
            <a:off x="6446520" y="1773936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</a:rPr>
              <a:t>14</a:t>
            </a:r>
          </a:p>
        </p:txBody>
      </p:sp>
      <p:sp>
        <p:nvSpPr>
          <p:cNvPr id="12" name="mdpr-decor table-rule"/>
          <p:cNvSpPr/>
          <p:nvPr/>
        </p:nvSpPr>
        <p:spPr>
          <a:xfrm>
            <a:off x="4041648" y="2084831"/>
            <a:ext cx="29718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dpr-text"/>
          <p:cNvSpPr txBox="1"/>
          <p:nvPr/>
        </p:nvSpPr>
        <p:spPr>
          <a:xfrm>
            <a:off x="4096512" y="2121408"/>
            <a:ext cx="128016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Diagrams</a:t>
            </a:r>
          </a:p>
        </p:txBody>
      </p:sp>
      <p:sp>
        <p:nvSpPr>
          <p:cNvPr id="14" name="mdpr-text"/>
          <p:cNvSpPr txBox="1"/>
          <p:nvPr/>
        </p:nvSpPr>
        <p:spPr>
          <a:xfrm>
            <a:off x="6446520" y="2121408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</a:rPr>
              <a:t>11</a:t>
            </a:r>
          </a:p>
        </p:txBody>
      </p:sp>
      <p:sp>
        <p:nvSpPr>
          <p:cNvPr id="15" name="mdpr-decor table-rule"/>
          <p:cNvSpPr/>
          <p:nvPr/>
        </p:nvSpPr>
        <p:spPr>
          <a:xfrm>
            <a:off x="4041648" y="2432304"/>
            <a:ext cx="29718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dpr-text"/>
          <p:cNvSpPr txBox="1"/>
          <p:nvPr/>
        </p:nvSpPr>
        <p:spPr>
          <a:xfrm>
            <a:off x="4096512" y="2468880"/>
            <a:ext cx="128016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Metrics</a:t>
            </a:r>
          </a:p>
        </p:txBody>
      </p:sp>
      <p:sp>
        <p:nvSpPr>
          <p:cNvPr id="17" name="mdpr-text"/>
          <p:cNvSpPr txBox="1"/>
          <p:nvPr/>
        </p:nvSpPr>
        <p:spPr>
          <a:xfrm>
            <a:off x="6446520" y="246888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</a:rPr>
              <a:t>6</a:t>
            </a:r>
          </a:p>
        </p:txBody>
      </p:sp>
      <p:sp>
        <p:nvSpPr>
          <p:cNvPr id="18" name="mdpr-decor table-rule"/>
          <p:cNvSpPr/>
          <p:nvPr/>
        </p:nvSpPr>
        <p:spPr>
          <a:xfrm>
            <a:off x="4041648" y="2779776"/>
            <a:ext cx="297180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dpr-text"/>
          <p:cNvSpPr txBox="1"/>
          <p:nvPr/>
        </p:nvSpPr>
        <p:spPr>
          <a:xfrm>
            <a:off x="4096512" y="2816352"/>
            <a:ext cx="128016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Images</a:t>
            </a:r>
          </a:p>
        </p:txBody>
      </p:sp>
      <p:sp>
        <p:nvSpPr>
          <p:cNvPr id="20" name="mdpr-text"/>
          <p:cNvSpPr txBox="1"/>
          <p:nvPr/>
        </p:nvSpPr>
        <p:spPr>
          <a:xfrm>
            <a:off x="6446520" y="2816352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</a:rPr>
              <a:t>6</a:t>
            </a:r>
          </a:p>
        </p:txBody>
      </p:sp>
      <p:sp>
        <p:nvSpPr>
          <p:cNvPr id="21" name="mdpr-surface chart"/>
          <p:cNvSpPr/>
          <p:nvPr/>
        </p:nvSpPr>
        <p:spPr>
          <a:xfrm>
            <a:off x="7726679" y="1417320"/>
            <a:ext cx="361188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dpr-decor chart-bar"/>
          <p:cNvSpPr/>
          <p:nvPr/>
        </p:nvSpPr>
        <p:spPr>
          <a:xfrm>
            <a:off x="8046720" y="2606039"/>
            <a:ext cx="219456" cy="4114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dpr-decor chart-bar"/>
          <p:cNvSpPr/>
          <p:nvPr/>
        </p:nvSpPr>
        <p:spPr>
          <a:xfrm>
            <a:off x="8467344" y="2194560"/>
            <a:ext cx="219456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dpr-decor chart-bar"/>
          <p:cNvSpPr/>
          <p:nvPr/>
        </p:nvSpPr>
        <p:spPr>
          <a:xfrm>
            <a:off x="8887968" y="2450591"/>
            <a:ext cx="219456" cy="566928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dpr-decor chart-bar"/>
          <p:cNvSpPr/>
          <p:nvPr/>
        </p:nvSpPr>
        <p:spPr>
          <a:xfrm>
            <a:off x="9308592" y="1920239"/>
            <a:ext cx="219456" cy="10972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dpr-decor chart-bar"/>
          <p:cNvSpPr/>
          <p:nvPr/>
        </p:nvSpPr>
        <p:spPr>
          <a:xfrm>
            <a:off x="9729216" y="2304287"/>
            <a:ext cx="219456" cy="71323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dpr-text"/>
          <p:cNvSpPr txBox="1"/>
          <p:nvPr/>
        </p:nvSpPr>
        <p:spPr>
          <a:xfrm>
            <a:off x="10378440" y="1828800"/>
            <a:ext cx="640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E11D48"/>
                </a:solidFill>
              </a:rPr>
              <a:t>18</a:t>
            </a:r>
          </a:p>
        </p:txBody>
      </p:sp>
      <p:sp>
        <p:nvSpPr>
          <p:cNvPr id="28" name="mdpr-text"/>
          <p:cNvSpPr txBox="1"/>
          <p:nvPr/>
        </p:nvSpPr>
        <p:spPr>
          <a:xfrm>
            <a:off x="10012680" y="2304288"/>
            <a:ext cx="13258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</a:rPr>
              <a:t>object families
checked</a:t>
            </a:r>
          </a:p>
        </p:txBody>
      </p:sp>
      <p:sp>
        <p:nvSpPr>
          <p:cNvPr id="29" name="mdpr-decor bullet"/>
          <p:cNvSpPr/>
          <p:nvPr/>
        </p:nvSpPr>
        <p:spPr>
          <a:xfrm>
            <a:off x="822960" y="4224528"/>
            <a:ext cx="201168" cy="201168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dpr-text-in-decor"/>
          <p:cNvSpPr txBox="1"/>
          <p:nvPr/>
        </p:nvSpPr>
        <p:spPr>
          <a:xfrm>
            <a:off x="822960" y="422452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1" name="mdpr-text"/>
          <p:cNvSpPr txBox="1"/>
          <p:nvPr/>
        </p:nvSpPr>
        <p:spPr>
          <a:xfrm>
            <a:off x="1143000" y="4160520"/>
            <a:ext cx="46634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No text crosses shape boundary</a:t>
            </a:r>
          </a:p>
        </p:txBody>
      </p:sp>
      <p:sp>
        <p:nvSpPr>
          <p:cNvPr id="32" name="mdpr-decor bullet"/>
          <p:cNvSpPr/>
          <p:nvPr/>
        </p:nvSpPr>
        <p:spPr>
          <a:xfrm>
            <a:off x="822960" y="4681728"/>
            <a:ext cx="201168" cy="201168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dpr-text-in-decor"/>
          <p:cNvSpPr txBox="1"/>
          <p:nvPr/>
        </p:nvSpPr>
        <p:spPr>
          <a:xfrm>
            <a:off x="822960" y="468172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4" name="mdpr-text"/>
          <p:cNvSpPr txBox="1"/>
          <p:nvPr/>
        </p:nvSpPr>
        <p:spPr>
          <a:xfrm>
            <a:off x="1143000" y="4617720"/>
            <a:ext cx="46634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Decoration lives outside text box</a:t>
            </a:r>
          </a:p>
        </p:txBody>
      </p:sp>
      <p:sp>
        <p:nvSpPr>
          <p:cNvPr id="35" name="mdpr-decor bullet"/>
          <p:cNvSpPr/>
          <p:nvPr/>
        </p:nvSpPr>
        <p:spPr>
          <a:xfrm>
            <a:off x="822960" y="5138928"/>
            <a:ext cx="201168" cy="201168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dpr-text-in-decor"/>
          <p:cNvSpPr txBox="1"/>
          <p:nvPr/>
        </p:nvSpPr>
        <p:spPr>
          <a:xfrm>
            <a:off x="822960" y="513892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7" name="mdpr-text"/>
          <p:cNvSpPr txBox="1"/>
          <p:nvPr/>
        </p:nvSpPr>
        <p:spPr>
          <a:xfrm>
            <a:off x="1143000" y="5074920"/>
            <a:ext cx="46634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Minimum font stays readable</a:t>
            </a:r>
          </a:p>
        </p:txBody>
      </p:sp>
      <p:sp>
        <p:nvSpPr>
          <p:cNvPr id="38" name="mdpr-surface callout"/>
          <p:cNvSpPr/>
          <p:nvPr/>
        </p:nvSpPr>
        <p:spPr>
          <a:xfrm>
            <a:off x="6492240" y="4069080"/>
            <a:ext cx="4297680" cy="132588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dpr-text"/>
          <p:cNvSpPr txBox="1"/>
          <p:nvPr/>
        </p:nvSpPr>
        <p:spPr>
          <a:xfrm>
            <a:off x="6812280" y="4343400"/>
            <a:ext cx="365760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9A3412"/>
                </a:solidFill>
              </a:rPr>
              <a:t>Review note: layout variation is checked by slide families, not by card-count alone.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Theme Style Primitive Matrix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The same card, table, chart, and marker primitives change decoration grammar under each theme style.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dpr-theme-cell"/>
          <p:cNvSpPr/>
          <p:nvPr/>
        </p:nvSpPr>
        <p:spPr>
          <a:xfrm>
            <a:off x="566928" y="1298448"/>
            <a:ext cx="2487168" cy="1810512"/>
          </a:xfrm>
          <a:prstGeom prst="rect">
            <a:avLst/>
          </a:prstGeom>
          <a:solidFill>
            <a:srgbClr val="F8FAFC"/>
          </a:solidFill>
          <a:ln w="1016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dpr-surface primitive-simple-card"/>
          <p:cNvSpPr/>
          <p:nvPr/>
        </p:nvSpPr>
        <p:spPr>
          <a:xfrm>
            <a:off x="749808" y="1572768"/>
            <a:ext cx="1060704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dpr-effect simple-rule"/>
          <p:cNvSpPr/>
          <p:nvPr/>
        </p:nvSpPr>
        <p:spPr>
          <a:xfrm>
            <a:off x="914400" y="1719072"/>
            <a:ext cx="530352" cy="25603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dpr-text primitive-label"/>
          <p:cNvSpPr txBox="1"/>
          <p:nvPr/>
        </p:nvSpPr>
        <p:spPr>
          <a:xfrm>
            <a:off x="877824" y="1709928"/>
            <a:ext cx="713232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</a:rPr>
              <a:t>CARD</a:t>
            </a:r>
          </a:p>
        </p:txBody>
      </p:sp>
      <p:sp>
        <p:nvSpPr>
          <p:cNvPr id="9" name="mdpr-surface primitive-simple-table"/>
          <p:cNvSpPr/>
          <p:nvPr/>
        </p:nvSpPr>
        <p:spPr>
          <a:xfrm>
            <a:off x="1975104" y="1572768"/>
            <a:ext cx="786384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dpr-effect simple-rule"/>
          <p:cNvSpPr/>
          <p:nvPr/>
        </p:nvSpPr>
        <p:spPr>
          <a:xfrm>
            <a:off x="2139696" y="1719072"/>
            <a:ext cx="530352" cy="25603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dpr-decor primitive-table-row"/>
          <p:cNvSpPr/>
          <p:nvPr/>
        </p:nvSpPr>
        <p:spPr>
          <a:xfrm>
            <a:off x="2084831" y="170992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dpr-decor primitive-table-row"/>
          <p:cNvSpPr/>
          <p:nvPr/>
        </p:nvSpPr>
        <p:spPr>
          <a:xfrm>
            <a:off x="2084831" y="184708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dpr-decor primitive-table-row"/>
          <p:cNvSpPr/>
          <p:nvPr/>
        </p:nvSpPr>
        <p:spPr>
          <a:xfrm>
            <a:off x="2084831" y="198424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dpr-decor primitive-chart-bar"/>
          <p:cNvSpPr/>
          <p:nvPr/>
        </p:nvSpPr>
        <p:spPr>
          <a:xfrm>
            <a:off x="896112" y="2569464"/>
            <a:ext cx="100584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dpr-decor primitive-chart-bar"/>
          <p:cNvSpPr/>
          <p:nvPr/>
        </p:nvSpPr>
        <p:spPr>
          <a:xfrm>
            <a:off x="1097280" y="2423160"/>
            <a:ext cx="100584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dpr-decor primitive-chart-bar"/>
          <p:cNvSpPr/>
          <p:nvPr/>
        </p:nvSpPr>
        <p:spPr>
          <a:xfrm>
            <a:off x="1298448" y="2496312"/>
            <a:ext cx="100584" cy="23774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dpr-decor primitive-marker"/>
          <p:cNvSpPr/>
          <p:nvPr/>
        </p:nvSpPr>
        <p:spPr>
          <a:xfrm>
            <a:off x="2139696" y="2414015"/>
            <a:ext cx="256032" cy="25603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dpr-text-in-decor"/>
          <p:cNvSpPr txBox="1"/>
          <p:nvPr/>
        </p:nvSpPr>
        <p:spPr>
          <a:xfrm>
            <a:off x="2139696" y="2414015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9" name="mdpr-text primitive-caption"/>
          <p:cNvSpPr txBox="1"/>
          <p:nvPr/>
        </p:nvSpPr>
        <p:spPr>
          <a:xfrm>
            <a:off x="2414016" y="2350008"/>
            <a:ext cx="53035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11827"/>
                </a:solidFill>
              </a:rPr>
              <a:t>mark</a:t>
            </a:r>
          </a:p>
        </p:txBody>
      </p:sp>
      <p:sp>
        <p:nvSpPr>
          <p:cNvPr id="20" name="mdpr-text primitive-style"/>
          <p:cNvSpPr txBox="1"/>
          <p:nvPr/>
        </p:nvSpPr>
        <p:spPr>
          <a:xfrm>
            <a:off x="749808" y="1353312"/>
            <a:ext cx="12344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SIMPLE</a:t>
            </a:r>
          </a:p>
        </p:txBody>
      </p:sp>
      <p:sp>
        <p:nvSpPr>
          <p:cNvPr id="21" name="mdpr-text primitive-effect"/>
          <p:cNvSpPr txBox="1"/>
          <p:nvPr/>
        </p:nvSpPr>
        <p:spPr>
          <a:xfrm>
            <a:off x="1865376" y="1353312"/>
            <a:ext cx="10058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</a:rPr>
              <a:t>none</a:t>
            </a:r>
          </a:p>
        </p:txBody>
      </p:sp>
      <p:sp>
        <p:nvSpPr>
          <p:cNvPr id="22" name="mdpr-theme-cell"/>
          <p:cNvSpPr/>
          <p:nvPr/>
        </p:nvSpPr>
        <p:spPr>
          <a:xfrm>
            <a:off x="3419856" y="1298448"/>
            <a:ext cx="2487168" cy="1810512"/>
          </a:xfrm>
          <a:prstGeom prst="rect">
            <a:avLst/>
          </a:prstGeom>
          <a:solidFill>
            <a:srgbClr val="F8FAFC"/>
          </a:solidFill>
          <a:ln w="1016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dpr-surface primitive-minimalism-card"/>
          <p:cNvSpPr/>
          <p:nvPr/>
        </p:nvSpPr>
        <p:spPr>
          <a:xfrm>
            <a:off x="3602736" y="1572768"/>
            <a:ext cx="1060704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dpr-effect minimalism-rule"/>
          <p:cNvSpPr/>
          <p:nvPr/>
        </p:nvSpPr>
        <p:spPr>
          <a:xfrm>
            <a:off x="3730752" y="1700784"/>
            <a:ext cx="296997" cy="1097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dpr-text primitive-label"/>
          <p:cNvSpPr txBox="1"/>
          <p:nvPr/>
        </p:nvSpPr>
        <p:spPr>
          <a:xfrm>
            <a:off x="3730752" y="1709928"/>
            <a:ext cx="713232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</a:rPr>
              <a:t>CARD</a:t>
            </a:r>
          </a:p>
        </p:txBody>
      </p:sp>
      <p:sp>
        <p:nvSpPr>
          <p:cNvPr id="26" name="mdpr-surface primitive-minimalism-table"/>
          <p:cNvSpPr/>
          <p:nvPr/>
        </p:nvSpPr>
        <p:spPr>
          <a:xfrm>
            <a:off x="4828032" y="1572768"/>
            <a:ext cx="786384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dpr-effect minimalism-rule"/>
          <p:cNvSpPr/>
          <p:nvPr/>
        </p:nvSpPr>
        <p:spPr>
          <a:xfrm>
            <a:off x="4956048" y="1700784"/>
            <a:ext cx="220187" cy="1097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dpr-decor primitive-table-row"/>
          <p:cNvSpPr/>
          <p:nvPr/>
        </p:nvSpPr>
        <p:spPr>
          <a:xfrm>
            <a:off x="4937760" y="170992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dpr-decor primitive-table-row"/>
          <p:cNvSpPr/>
          <p:nvPr/>
        </p:nvSpPr>
        <p:spPr>
          <a:xfrm>
            <a:off x="4937760" y="184708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dpr-decor primitive-table-row"/>
          <p:cNvSpPr/>
          <p:nvPr/>
        </p:nvSpPr>
        <p:spPr>
          <a:xfrm>
            <a:off x="4937760" y="198424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dpr-decor primitive-chart-bar"/>
          <p:cNvSpPr/>
          <p:nvPr/>
        </p:nvSpPr>
        <p:spPr>
          <a:xfrm>
            <a:off x="3749040" y="2569464"/>
            <a:ext cx="100584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dpr-decor primitive-chart-bar"/>
          <p:cNvSpPr/>
          <p:nvPr/>
        </p:nvSpPr>
        <p:spPr>
          <a:xfrm>
            <a:off x="3950208" y="2423160"/>
            <a:ext cx="100584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dpr-decor primitive-chart-bar"/>
          <p:cNvSpPr/>
          <p:nvPr/>
        </p:nvSpPr>
        <p:spPr>
          <a:xfrm>
            <a:off x="4151376" y="2496312"/>
            <a:ext cx="100584" cy="23774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dpr-decor primitive-marker"/>
          <p:cNvSpPr/>
          <p:nvPr/>
        </p:nvSpPr>
        <p:spPr>
          <a:xfrm>
            <a:off x="4992624" y="2414015"/>
            <a:ext cx="256032" cy="25603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dpr-text-in-decor"/>
          <p:cNvSpPr txBox="1"/>
          <p:nvPr/>
        </p:nvSpPr>
        <p:spPr>
          <a:xfrm>
            <a:off x="4992624" y="2414015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mdpr-text primitive-caption"/>
          <p:cNvSpPr txBox="1"/>
          <p:nvPr/>
        </p:nvSpPr>
        <p:spPr>
          <a:xfrm>
            <a:off x="5266944" y="2350008"/>
            <a:ext cx="53035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11827"/>
                </a:solidFill>
              </a:rPr>
              <a:t>mark</a:t>
            </a:r>
          </a:p>
        </p:txBody>
      </p:sp>
      <p:sp>
        <p:nvSpPr>
          <p:cNvPr id="37" name="mdpr-text primitive-style"/>
          <p:cNvSpPr txBox="1"/>
          <p:nvPr/>
        </p:nvSpPr>
        <p:spPr>
          <a:xfrm>
            <a:off x="3602736" y="1353312"/>
            <a:ext cx="12344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MINIMALISM</a:t>
            </a:r>
          </a:p>
        </p:txBody>
      </p:sp>
      <p:sp>
        <p:nvSpPr>
          <p:cNvPr id="38" name="mdpr-text primitive-effect"/>
          <p:cNvSpPr txBox="1"/>
          <p:nvPr/>
        </p:nvSpPr>
        <p:spPr>
          <a:xfrm>
            <a:off x="4718304" y="1353312"/>
            <a:ext cx="10058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</a:rPr>
              <a:t>none</a:t>
            </a:r>
          </a:p>
        </p:txBody>
      </p:sp>
      <p:sp>
        <p:nvSpPr>
          <p:cNvPr id="39" name="mdpr-theme-cell"/>
          <p:cNvSpPr/>
          <p:nvPr/>
        </p:nvSpPr>
        <p:spPr>
          <a:xfrm>
            <a:off x="6272784" y="1298448"/>
            <a:ext cx="2487168" cy="1810512"/>
          </a:xfrm>
          <a:prstGeom prst="rect">
            <a:avLst/>
          </a:prstGeom>
          <a:solidFill>
            <a:srgbClr val="F8FAFC"/>
          </a:solidFill>
          <a:ln w="1016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dpr-effect-shadow"/>
          <p:cNvSpPr/>
          <p:nvPr/>
        </p:nvSpPr>
        <p:spPr>
          <a:xfrm>
            <a:off x="6496812" y="1623060"/>
            <a:ext cx="1060704" cy="658368"/>
          </a:xfrm>
          <a:prstGeom prst="roundRect">
            <a:avLst/>
          </a:prstGeom>
          <a:solidFill>
            <a:srgbClr val="EAEFF4"/>
          </a:solidFill>
          <a:ln>
            <a:solidFill>
              <a:srgbClr val="EA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dpr-surface primitive-newmorphism-card"/>
          <p:cNvSpPr/>
          <p:nvPr/>
        </p:nvSpPr>
        <p:spPr>
          <a:xfrm>
            <a:off x="6455664" y="1572768"/>
            <a:ext cx="1060704" cy="658368"/>
          </a:xfrm>
          <a:prstGeom prst="roundRect">
            <a:avLst/>
          </a:prstGeom>
          <a:solidFill>
            <a:srgbClr val="FAFCFD"/>
          </a:solidFill>
          <a:ln w="10160"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dpr-effect newmorphism-highlight"/>
          <p:cNvSpPr/>
          <p:nvPr/>
        </p:nvSpPr>
        <p:spPr>
          <a:xfrm>
            <a:off x="6583680" y="1682495"/>
            <a:ext cx="445495" cy="146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dpr-effect newmorphism-lowlight"/>
          <p:cNvSpPr/>
          <p:nvPr/>
        </p:nvSpPr>
        <p:spPr>
          <a:xfrm>
            <a:off x="7039051" y="2084831"/>
            <a:ext cx="339425" cy="14630"/>
          </a:xfrm>
          <a:prstGeom prst="rect">
            <a:avLst/>
          </a:prstGeom>
          <a:solidFill>
            <a:srgbClr val="DBE2E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dpr-effect newmorphism-accent"/>
          <p:cNvSpPr/>
          <p:nvPr/>
        </p:nvSpPr>
        <p:spPr>
          <a:xfrm>
            <a:off x="7205472" y="1700784"/>
            <a:ext cx="109728" cy="109728"/>
          </a:xfrm>
          <a:prstGeom prst="ellipse">
            <a:avLst/>
          </a:prstGeom>
          <a:solidFill>
            <a:srgbClr val="93C1BE"/>
          </a:solidFill>
          <a:ln>
            <a:solidFill>
              <a:srgbClr val="93C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dpr-text primitive-label"/>
          <p:cNvSpPr txBox="1"/>
          <p:nvPr/>
        </p:nvSpPr>
        <p:spPr>
          <a:xfrm>
            <a:off x="6583680" y="1709928"/>
            <a:ext cx="713232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</a:rPr>
              <a:t>CARD</a:t>
            </a:r>
          </a:p>
        </p:txBody>
      </p:sp>
      <p:sp>
        <p:nvSpPr>
          <p:cNvPr id="46" name="mdpr-effect-shadow"/>
          <p:cNvSpPr/>
          <p:nvPr/>
        </p:nvSpPr>
        <p:spPr>
          <a:xfrm>
            <a:off x="7722108" y="1623060"/>
            <a:ext cx="786384" cy="658368"/>
          </a:xfrm>
          <a:prstGeom prst="roundRect">
            <a:avLst/>
          </a:prstGeom>
          <a:solidFill>
            <a:srgbClr val="EAEFF4"/>
          </a:solidFill>
          <a:ln>
            <a:solidFill>
              <a:srgbClr val="EA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dpr-surface primitive-newmorphism-table"/>
          <p:cNvSpPr/>
          <p:nvPr/>
        </p:nvSpPr>
        <p:spPr>
          <a:xfrm>
            <a:off x="7680960" y="1572768"/>
            <a:ext cx="786384" cy="658368"/>
          </a:xfrm>
          <a:prstGeom prst="roundRect">
            <a:avLst/>
          </a:prstGeom>
          <a:solidFill>
            <a:srgbClr val="FAFCFD"/>
          </a:solidFill>
          <a:ln w="10160"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dpr-effect newmorphism-highlight"/>
          <p:cNvSpPr/>
          <p:nvPr/>
        </p:nvSpPr>
        <p:spPr>
          <a:xfrm>
            <a:off x="7808976" y="1682495"/>
            <a:ext cx="330281" cy="146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dpr-effect newmorphism-lowlight"/>
          <p:cNvSpPr/>
          <p:nvPr/>
        </p:nvSpPr>
        <p:spPr>
          <a:xfrm>
            <a:off x="8113471" y="2084831"/>
            <a:ext cx="251642" cy="14630"/>
          </a:xfrm>
          <a:prstGeom prst="rect">
            <a:avLst/>
          </a:prstGeom>
          <a:solidFill>
            <a:srgbClr val="DBE2E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dpr-effect newmorphism-accent"/>
          <p:cNvSpPr/>
          <p:nvPr/>
        </p:nvSpPr>
        <p:spPr>
          <a:xfrm>
            <a:off x="8156448" y="1700784"/>
            <a:ext cx="109728" cy="109728"/>
          </a:xfrm>
          <a:prstGeom prst="ellipse">
            <a:avLst/>
          </a:prstGeom>
          <a:solidFill>
            <a:srgbClr val="93C1BE"/>
          </a:solidFill>
          <a:ln>
            <a:solidFill>
              <a:srgbClr val="93C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mdpr-decor primitive-table-row"/>
          <p:cNvSpPr/>
          <p:nvPr/>
        </p:nvSpPr>
        <p:spPr>
          <a:xfrm>
            <a:off x="7790688" y="170992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dpr-decor primitive-table-row"/>
          <p:cNvSpPr/>
          <p:nvPr/>
        </p:nvSpPr>
        <p:spPr>
          <a:xfrm>
            <a:off x="7790688" y="184708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dpr-decor primitive-table-row"/>
          <p:cNvSpPr/>
          <p:nvPr/>
        </p:nvSpPr>
        <p:spPr>
          <a:xfrm>
            <a:off x="7790688" y="198424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mdpr-decor primitive-chart-bar"/>
          <p:cNvSpPr/>
          <p:nvPr/>
        </p:nvSpPr>
        <p:spPr>
          <a:xfrm>
            <a:off x="6601968" y="2569464"/>
            <a:ext cx="100584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dpr-decor primitive-chart-bar"/>
          <p:cNvSpPr/>
          <p:nvPr/>
        </p:nvSpPr>
        <p:spPr>
          <a:xfrm>
            <a:off x="6803136" y="2423160"/>
            <a:ext cx="100584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dpr-decor primitive-chart-bar"/>
          <p:cNvSpPr/>
          <p:nvPr/>
        </p:nvSpPr>
        <p:spPr>
          <a:xfrm>
            <a:off x="7004304" y="2496312"/>
            <a:ext cx="100584" cy="23774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dpr-decor primitive-marker"/>
          <p:cNvSpPr/>
          <p:nvPr/>
        </p:nvSpPr>
        <p:spPr>
          <a:xfrm>
            <a:off x="7845552" y="2414015"/>
            <a:ext cx="256032" cy="25603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dpr-text-in-decor"/>
          <p:cNvSpPr txBox="1"/>
          <p:nvPr/>
        </p:nvSpPr>
        <p:spPr>
          <a:xfrm>
            <a:off x="7845552" y="2414015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59" name="mdpr-text primitive-caption"/>
          <p:cNvSpPr txBox="1"/>
          <p:nvPr/>
        </p:nvSpPr>
        <p:spPr>
          <a:xfrm>
            <a:off x="8119872" y="2350008"/>
            <a:ext cx="53035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11827"/>
                </a:solidFill>
              </a:rPr>
              <a:t>mark</a:t>
            </a:r>
          </a:p>
        </p:txBody>
      </p:sp>
      <p:sp>
        <p:nvSpPr>
          <p:cNvPr id="60" name="mdpr-text primitive-style"/>
          <p:cNvSpPr txBox="1"/>
          <p:nvPr/>
        </p:nvSpPr>
        <p:spPr>
          <a:xfrm>
            <a:off x="6455664" y="1353312"/>
            <a:ext cx="12344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NEWMORPHISM</a:t>
            </a:r>
          </a:p>
        </p:txBody>
      </p:sp>
      <p:sp>
        <p:nvSpPr>
          <p:cNvPr id="61" name="mdpr-text primitive-effect"/>
          <p:cNvSpPr txBox="1"/>
          <p:nvPr/>
        </p:nvSpPr>
        <p:spPr>
          <a:xfrm>
            <a:off x="7571232" y="1353312"/>
            <a:ext cx="10058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</a:rPr>
              <a:t>newmorphic</a:t>
            </a:r>
          </a:p>
        </p:txBody>
      </p:sp>
      <p:sp>
        <p:nvSpPr>
          <p:cNvPr id="62" name="mdpr-theme-cell"/>
          <p:cNvSpPr/>
          <p:nvPr/>
        </p:nvSpPr>
        <p:spPr>
          <a:xfrm>
            <a:off x="9125711" y="1298448"/>
            <a:ext cx="2487168" cy="1810512"/>
          </a:xfrm>
          <a:prstGeom prst="rect">
            <a:avLst/>
          </a:prstGeom>
          <a:solidFill>
            <a:srgbClr val="0B1020"/>
          </a:solidFill>
          <a:ln w="10160">
            <a:solidFill>
              <a:srgbClr val="757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mdpr-effect-shadow"/>
          <p:cNvSpPr/>
          <p:nvPr/>
        </p:nvSpPr>
        <p:spPr>
          <a:xfrm>
            <a:off x="9349739" y="1623060"/>
            <a:ext cx="1060704" cy="658368"/>
          </a:xfrm>
          <a:prstGeom prst="roundRect">
            <a:avLst/>
          </a:prstGeom>
          <a:solidFill>
            <a:srgbClr val="757C8A"/>
          </a:solidFill>
          <a:ln>
            <a:solidFill>
              <a:srgbClr val="757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mdpr-surface primitive-glass-card"/>
          <p:cNvSpPr/>
          <p:nvPr/>
        </p:nvSpPr>
        <p:spPr>
          <a:xfrm>
            <a:off x="9308591" y="1572768"/>
            <a:ext cx="1060704" cy="658368"/>
          </a:xfrm>
          <a:prstGeom prst="roundRect">
            <a:avLst/>
          </a:prstGeom>
          <a:solidFill>
            <a:srgbClr val="131B31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mdpr-effect glass-highlight"/>
          <p:cNvSpPr/>
          <p:nvPr/>
        </p:nvSpPr>
        <p:spPr>
          <a:xfrm>
            <a:off x="9473183" y="1737360"/>
            <a:ext cx="731519" cy="16459"/>
          </a:xfrm>
          <a:prstGeom prst="rect">
            <a:avLst/>
          </a:prstGeom>
          <a:solidFill>
            <a:srgbClr val="D4E6E5"/>
          </a:solidFill>
          <a:ln>
            <a:solidFill>
              <a:srgbClr val="D4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mdpr-effect glass-glow"/>
          <p:cNvSpPr/>
          <p:nvPr/>
        </p:nvSpPr>
        <p:spPr>
          <a:xfrm>
            <a:off x="9957815" y="1737360"/>
            <a:ext cx="164592" cy="164592"/>
          </a:xfrm>
          <a:prstGeom prst="ellipse">
            <a:avLst/>
          </a:prstGeom>
          <a:solidFill>
            <a:srgbClr val="4B9892"/>
          </a:solidFill>
          <a:ln>
            <a:solidFill>
              <a:srgbClr val="4B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mdpr-text primitive-label"/>
          <p:cNvSpPr txBox="1"/>
          <p:nvPr/>
        </p:nvSpPr>
        <p:spPr>
          <a:xfrm>
            <a:off x="9436607" y="1709928"/>
            <a:ext cx="713232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F8FAFC"/>
                </a:solidFill>
              </a:rPr>
              <a:t>CARD</a:t>
            </a:r>
          </a:p>
        </p:txBody>
      </p:sp>
      <p:sp>
        <p:nvSpPr>
          <p:cNvPr id="68" name="mdpr-effect-shadow"/>
          <p:cNvSpPr/>
          <p:nvPr/>
        </p:nvSpPr>
        <p:spPr>
          <a:xfrm>
            <a:off x="10575036" y="1623060"/>
            <a:ext cx="786384" cy="658368"/>
          </a:xfrm>
          <a:prstGeom prst="roundRect">
            <a:avLst/>
          </a:prstGeom>
          <a:solidFill>
            <a:srgbClr val="757C8A"/>
          </a:solidFill>
          <a:ln>
            <a:solidFill>
              <a:srgbClr val="757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mdpr-surface primitive-glass-table"/>
          <p:cNvSpPr/>
          <p:nvPr/>
        </p:nvSpPr>
        <p:spPr>
          <a:xfrm>
            <a:off x="10533888" y="1572768"/>
            <a:ext cx="786384" cy="658368"/>
          </a:xfrm>
          <a:prstGeom prst="roundRect">
            <a:avLst/>
          </a:prstGeom>
          <a:solidFill>
            <a:srgbClr val="131B31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mdpr-effect glass-highlight"/>
          <p:cNvSpPr/>
          <p:nvPr/>
        </p:nvSpPr>
        <p:spPr>
          <a:xfrm>
            <a:off x="10698480" y="1737360"/>
            <a:ext cx="457200" cy="16459"/>
          </a:xfrm>
          <a:prstGeom prst="rect">
            <a:avLst/>
          </a:prstGeom>
          <a:solidFill>
            <a:srgbClr val="D4E6E5"/>
          </a:solidFill>
          <a:ln>
            <a:solidFill>
              <a:srgbClr val="D4E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mdpr-effect glass-glow"/>
          <p:cNvSpPr/>
          <p:nvPr/>
        </p:nvSpPr>
        <p:spPr>
          <a:xfrm>
            <a:off x="10908792" y="1737360"/>
            <a:ext cx="164592" cy="164592"/>
          </a:xfrm>
          <a:prstGeom prst="ellipse">
            <a:avLst/>
          </a:prstGeom>
          <a:solidFill>
            <a:srgbClr val="4B9892"/>
          </a:solidFill>
          <a:ln>
            <a:solidFill>
              <a:srgbClr val="4B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mdpr-decor primitive-table-row"/>
          <p:cNvSpPr/>
          <p:nvPr/>
        </p:nvSpPr>
        <p:spPr>
          <a:xfrm>
            <a:off x="10643615" y="1709928"/>
            <a:ext cx="530352" cy="9144"/>
          </a:xfrm>
          <a:prstGeom prst="rect">
            <a:avLst/>
          </a:prstGeom>
          <a:solidFill>
            <a:srgbClr val="A8B2BE"/>
          </a:solidFill>
          <a:ln>
            <a:solidFill>
              <a:srgbClr val="A8B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mdpr-decor primitive-table-row"/>
          <p:cNvSpPr/>
          <p:nvPr/>
        </p:nvSpPr>
        <p:spPr>
          <a:xfrm>
            <a:off x="10643615" y="1847088"/>
            <a:ext cx="530352" cy="9144"/>
          </a:xfrm>
          <a:prstGeom prst="rect">
            <a:avLst/>
          </a:prstGeom>
          <a:solidFill>
            <a:srgbClr val="A8B2BE"/>
          </a:solidFill>
          <a:ln>
            <a:solidFill>
              <a:srgbClr val="A8B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mdpr-decor primitive-table-row"/>
          <p:cNvSpPr/>
          <p:nvPr/>
        </p:nvSpPr>
        <p:spPr>
          <a:xfrm>
            <a:off x="10643615" y="1984248"/>
            <a:ext cx="530352" cy="9144"/>
          </a:xfrm>
          <a:prstGeom prst="rect">
            <a:avLst/>
          </a:prstGeom>
          <a:solidFill>
            <a:srgbClr val="A8B2BE"/>
          </a:solidFill>
          <a:ln>
            <a:solidFill>
              <a:srgbClr val="A8B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mdpr-decor primitive-chart-bar"/>
          <p:cNvSpPr/>
          <p:nvPr/>
        </p:nvSpPr>
        <p:spPr>
          <a:xfrm>
            <a:off x="9454895" y="2569464"/>
            <a:ext cx="100584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mdpr-decor primitive-chart-bar"/>
          <p:cNvSpPr/>
          <p:nvPr/>
        </p:nvSpPr>
        <p:spPr>
          <a:xfrm>
            <a:off x="9656063" y="2423160"/>
            <a:ext cx="100584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mdpr-decor primitive-chart-bar"/>
          <p:cNvSpPr/>
          <p:nvPr/>
        </p:nvSpPr>
        <p:spPr>
          <a:xfrm>
            <a:off x="9857231" y="2496312"/>
            <a:ext cx="100584" cy="23774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mdpr-decor primitive-marker"/>
          <p:cNvSpPr/>
          <p:nvPr/>
        </p:nvSpPr>
        <p:spPr>
          <a:xfrm>
            <a:off x="10698480" y="2414015"/>
            <a:ext cx="256032" cy="25603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mdpr-text-in-decor"/>
          <p:cNvSpPr txBox="1"/>
          <p:nvPr/>
        </p:nvSpPr>
        <p:spPr>
          <a:xfrm>
            <a:off x="10698480" y="2414015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80" name="mdpr-text primitive-caption"/>
          <p:cNvSpPr txBox="1"/>
          <p:nvPr/>
        </p:nvSpPr>
        <p:spPr>
          <a:xfrm>
            <a:off x="10972799" y="2350008"/>
            <a:ext cx="53035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F8FAFC"/>
                </a:solidFill>
              </a:rPr>
              <a:t>mark</a:t>
            </a:r>
          </a:p>
        </p:txBody>
      </p:sp>
      <p:sp>
        <p:nvSpPr>
          <p:cNvPr id="81" name="mdpr-text primitive-style"/>
          <p:cNvSpPr txBox="1"/>
          <p:nvPr/>
        </p:nvSpPr>
        <p:spPr>
          <a:xfrm>
            <a:off x="9308591" y="1353312"/>
            <a:ext cx="12344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GLASS</a:t>
            </a:r>
          </a:p>
        </p:txBody>
      </p:sp>
      <p:sp>
        <p:nvSpPr>
          <p:cNvPr id="82" name="mdpr-text primitive-effect"/>
          <p:cNvSpPr txBox="1"/>
          <p:nvPr/>
        </p:nvSpPr>
        <p:spPr>
          <a:xfrm>
            <a:off x="10424159" y="1353312"/>
            <a:ext cx="10058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F8FAFC"/>
                </a:solidFill>
              </a:rPr>
              <a:t>glass</a:t>
            </a:r>
          </a:p>
        </p:txBody>
      </p:sp>
      <p:sp>
        <p:nvSpPr>
          <p:cNvPr id="83" name="mdpr-theme-cell"/>
          <p:cNvSpPr/>
          <p:nvPr/>
        </p:nvSpPr>
        <p:spPr>
          <a:xfrm>
            <a:off x="566928" y="3538728"/>
            <a:ext cx="2487168" cy="1810512"/>
          </a:xfrm>
          <a:prstGeom prst="rect">
            <a:avLst/>
          </a:prstGeom>
          <a:solidFill>
            <a:srgbClr val="F8FAFC"/>
          </a:solidFill>
          <a:ln w="1016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mdpr-surface primitive-grid-card"/>
          <p:cNvSpPr/>
          <p:nvPr/>
        </p:nvSpPr>
        <p:spPr>
          <a:xfrm>
            <a:off x="749808" y="3813048"/>
            <a:ext cx="1060704" cy="658368"/>
          </a:xfrm>
          <a:prstGeom prst="roundRect">
            <a:avLst/>
          </a:prstGeom>
          <a:solidFill>
            <a:srgbClr val="FEFE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mdpr-effect grid-rule"/>
          <p:cNvSpPr/>
          <p:nvPr/>
        </p:nvSpPr>
        <p:spPr>
          <a:xfrm>
            <a:off x="1099840" y="3904487"/>
            <a:ext cx="9144" cy="475488"/>
          </a:xfrm>
          <a:prstGeom prst="rect">
            <a:avLst/>
          </a:prstGeom>
          <a:solidFill>
            <a:srgbClr val="D8DFE9"/>
          </a:solidFill>
          <a:ln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mdpr-effect grid-rule"/>
          <p:cNvSpPr/>
          <p:nvPr/>
        </p:nvSpPr>
        <p:spPr>
          <a:xfrm>
            <a:off x="1449872" y="3904487"/>
            <a:ext cx="9144" cy="475488"/>
          </a:xfrm>
          <a:prstGeom prst="rect">
            <a:avLst/>
          </a:prstGeom>
          <a:solidFill>
            <a:srgbClr val="D8DFE9"/>
          </a:solidFill>
          <a:ln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mdpr-effect grid-rule"/>
          <p:cNvSpPr/>
          <p:nvPr/>
        </p:nvSpPr>
        <p:spPr>
          <a:xfrm>
            <a:off x="841248" y="4089562"/>
            <a:ext cx="877824" cy="9144"/>
          </a:xfrm>
          <a:prstGeom prst="rect">
            <a:avLst/>
          </a:prstGeom>
          <a:solidFill>
            <a:srgbClr val="D8DFE9"/>
          </a:solidFill>
          <a:ln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mdpr-effect grid-rule"/>
          <p:cNvSpPr/>
          <p:nvPr/>
        </p:nvSpPr>
        <p:spPr>
          <a:xfrm>
            <a:off x="841248" y="4287072"/>
            <a:ext cx="877824" cy="9144"/>
          </a:xfrm>
          <a:prstGeom prst="rect">
            <a:avLst/>
          </a:prstGeom>
          <a:solidFill>
            <a:srgbClr val="D8DFE9"/>
          </a:solidFill>
          <a:ln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mdpr-text primitive-label"/>
          <p:cNvSpPr txBox="1"/>
          <p:nvPr/>
        </p:nvSpPr>
        <p:spPr>
          <a:xfrm>
            <a:off x="877824" y="3950208"/>
            <a:ext cx="713232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</a:rPr>
              <a:t>CARD</a:t>
            </a:r>
          </a:p>
        </p:txBody>
      </p:sp>
      <p:sp>
        <p:nvSpPr>
          <p:cNvPr id="90" name="mdpr-surface primitive-grid-table"/>
          <p:cNvSpPr/>
          <p:nvPr/>
        </p:nvSpPr>
        <p:spPr>
          <a:xfrm>
            <a:off x="1975104" y="3813048"/>
            <a:ext cx="786384" cy="658368"/>
          </a:xfrm>
          <a:prstGeom prst="roundRect">
            <a:avLst/>
          </a:prstGeom>
          <a:solidFill>
            <a:srgbClr val="FEFE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mdpr-effect grid-rule"/>
          <p:cNvSpPr/>
          <p:nvPr/>
        </p:nvSpPr>
        <p:spPr>
          <a:xfrm>
            <a:off x="2234610" y="3904487"/>
            <a:ext cx="9144" cy="475488"/>
          </a:xfrm>
          <a:prstGeom prst="rect">
            <a:avLst/>
          </a:prstGeom>
          <a:solidFill>
            <a:srgbClr val="D8DFE9"/>
          </a:solidFill>
          <a:ln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mdpr-effect grid-rule"/>
          <p:cNvSpPr/>
          <p:nvPr/>
        </p:nvSpPr>
        <p:spPr>
          <a:xfrm>
            <a:off x="2494117" y="3904487"/>
            <a:ext cx="9144" cy="475488"/>
          </a:xfrm>
          <a:prstGeom prst="rect">
            <a:avLst/>
          </a:prstGeom>
          <a:solidFill>
            <a:srgbClr val="D8DFE9"/>
          </a:solidFill>
          <a:ln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mdpr-effect grid-rule"/>
          <p:cNvSpPr/>
          <p:nvPr/>
        </p:nvSpPr>
        <p:spPr>
          <a:xfrm>
            <a:off x="2066544" y="4089562"/>
            <a:ext cx="603503" cy="9144"/>
          </a:xfrm>
          <a:prstGeom prst="rect">
            <a:avLst/>
          </a:prstGeom>
          <a:solidFill>
            <a:srgbClr val="D8DFE9"/>
          </a:solidFill>
          <a:ln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mdpr-effect grid-rule"/>
          <p:cNvSpPr/>
          <p:nvPr/>
        </p:nvSpPr>
        <p:spPr>
          <a:xfrm>
            <a:off x="2066544" y="4287072"/>
            <a:ext cx="603503" cy="9144"/>
          </a:xfrm>
          <a:prstGeom prst="rect">
            <a:avLst/>
          </a:prstGeom>
          <a:solidFill>
            <a:srgbClr val="D8DFE9"/>
          </a:solidFill>
          <a:ln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mdpr-decor primitive-table-row"/>
          <p:cNvSpPr/>
          <p:nvPr/>
        </p:nvSpPr>
        <p:spPr>
          <a:xfrm>
            <a:off x="2084831" y="395020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mdpr-decor primitive-table-row"/>
          <p:cNvSpPr/>
          <p:nvPr/>
        </p:nvSpPr>
        <p:spPr>
          <a:xfrm>
            <a:off x="2084831" y="408736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mdpr-decor primitive-table-row"/>
          <p:cNvSpPr/>
          <p:nvPr/>
        </p:nvSpPr>
        <p:spPr>
          <a:xfrm>
            <a:off x="2084831" y="422452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mdpr-decor primitive-chart-bar"/>
          <p:cNvSpPr/>
          <p:nvPr/>
        </p:nvSpPr>
        <p:spPr>
          <a:xfrm>
            <a:off x="896112" y="4809744"/>
            <a:ext cx="100584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mdpr-decor primitive-chart-bar"/>
          <p:cNvSpPr/>
          <p:nvPr/>
        </p:nvSpPr>
        <p:spPr>
          <a:xfrm>
            <a:off x="1097280" y="4663440"/>
            <a:ext cx="100584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mdpr-decor primitive-chart-bar"/>
          <p:cNvSpPr/>
          <p:nvPr/>
        </p:nvSpPr>
        <p:spPr>
          <a:xfrm>
            <a:off x="1298448" y="4736592"/>
            <a:ext cx="100584" cy="23774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mdpr-decor primitive-marker"/>
          <p:cNvSpPr/>
          <p:nvPr/>
        </p:nvSpPr>
        <p:spPr>
          <a:xfrm>
            <a:off x="2139696" y="4654296"/>
            <a:ext cx="256032" cy="25603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mdpr-text-in-decor"/>
          <p:cNvSpPr txBox="1"/>
          <p:nvPr/>
        </p:nvSpPr>
        <p:spPr>
          <a:xfrm>
            <a:off x="2139696" y="465429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03" name="mdpr-text primitive-caption"/>
          <p:cNvSpPr txBox="1"/>
          <p:nvPr/>
        </p:nvSpPr>
        <p:spPr>
          <a:xfrm>
            <a:off x="2414016" y="4590288"/>
            <a:ext cx="53035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11827"/>
                </a:solidFill>
              </a:rPr>
              <a:t>mark</a:t>
            </a:r>
          </a:p>
        </p:txBody>
      </p:sp>
      <p:sp>
        <p:nvSpPr>
          <p:cNvPr id="104" name="mdpr-text primitive-style"/>
          <p:cNvSpPr txBox="1"/>
          <p:nvPr/>
        </p:nvSpPr>
        <p:spPr>
          <a:xfrm>
            <a:off x="749808" y="3593592"/>
            <a:ext cx="12344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GRID</a:t>
            </a:r>
          </a:p>
        </p:txBody>
      </p:sp>
      <p:sp>
        <p:nvSpPr>
          <p:cNvPr id="105" name="mdpr-text primitive-effect"/>
          <p:cNvSpPr txBox="1"/>
          <p:nvPr/>
        </p:nvSpPr>
        <p:spPr>
          <a:xfrm>
            <a:off x="1865376" y="3593592"/>
            <a:ext cx="10058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</a:rPr>
              <a:t>none</a:t>
            </a:r>
          </a:p>
        </p:txBody>
      </p:sp>
      <p:sp>
        <p:nvSpPr>
          <p:cNvPr id="106" name="mdpr-theme-cell"/>
          <p:cNvSpPr/>
          <p:nvPr/>
        </p:nvSpPr>
        <p:spPr>
          <a:xfrm>
            <a:off x="3419856" y="3538728"/>
            <a:ext cx="2487168" cy="1810512"/>
          </a:xfrm>
          <a:prstGeom prst="rect">
            <a:avLst/>
          </a:prstGeom>
          <a:solidFill>
            <a:srgbClr val="0B1020"/>
          </a:solidFill>
          <a:ln w="10160">
            <a:solidFill>
              <a:srgbClr val="757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mdpr-surface primitive-data-card"/>
          <p:cNvSpPr/>
          <p:nvPr/>
        </p:nvSpPr>
        <p:spPr>
          <a:xfrm>
            <a:off x="3602736" y="3813048"/>
            <a:ext cx="1060704" cy="658368"/>
          </a:xfrm>
          <a:prstGeom prst="roundRect">
            <a:avLst/>
          </a:prstGeom>
          <a:solidFill>
            <a:srgbClr val="162038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mdpr-effect data-baseline"/>
          <p:cNvSpPr/>
          <p:nvPr/>
        </p:nvSpPr>
        <p:spPr>
          <a:xfrm>
            <a:off x="3767328" y="4288536"/>
            <a:ext cx="731519" cy="16459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mdpr-effect data-microbar"/>
          <p:cNvSpPr/>
          <p:nvPr/>
        </p:nvSpPr>
        <p:spPr>
          <a:xfrm>
            <a:off x="3858768" y="4133087"/>
            <a:ext cx="73152" cy="10972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mdpr-effect data-microbar"/>
          <p:cNvSpPr/>
          <p:nvPr/>
        </p:nvSpPr>
        <p:spPr>
          <a:xfrm>
            <a:off x="4023360" y="4041648"/>
            <a:ext cx="73152" cy="20116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mdpr-effect data-microbar"/>
          <p:cNvSpPr/>
          <p:nvPr/>
        </p:nvSpPr>
        <p:spPr>
          <a:xfrm>
            <a:off x="4187952" y="4096511"/>
            <a:ext cx="73152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mdpr-text primitive-label"/>
          <p:cNvSpPr txBox="1"/>
          <p:nvPr/>
        </p:nvSpPr>
        <p:spPr>
          <a:xfrm>
            <a:off x="3730752" y="3950208"/>
            <a:ext cx="713232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F8FAFC"/>
                </a:solidFill>
              </a:rPr>
              <a:t>CARD</a:t>
            </a:r>
          </a:p>
        </p:txBody>
      </p:sp>
      <p:sp>
        <p:nvSpPr>
          <p:cNvPr id="113" name="mdpr-surface primitive-data-table"/>
          <p:cNvSpPr/>
          <p:nvPr/>
        </p:nvSpPr>
        <p:spPr>
          <a:xfrm>
            <a:off x="4828032" y="3813048"/>
            <a:ext cx="786384" cy="658368"/>
          </a:xfrm>
          <a:prstGeom prst="roundRect">
            <a:avLst/>
          </a:prstGeom>
          <a:solidFill>
            <a:srgbClr val="162038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mdpr-effect data-baseline"/>
          <p:cNvSpPr/>
          <p:nvPr/>
        </p:nvSpPr>
        <p:spPr>
          <a:xfrm>
            <a:off x="4992624" y="4288536"/>
            <a:ext cx="457200" cy="16459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mdpr-effect data-microbar"/>
          <p:cNvSpPr/>
          <p:nvPr/>
        </p:nvSpPr>
        <p:spPr>
          <a:xfrm>
            <a:off x="5084064" y="4133087"/>
            <a:ext cx="73152" cy="10972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mdpr-effect data-microbar"/>
          <p:cNvSpPr/>
          <p:nvPr/>
        </p:nvSpPr>
        <p:spPr>
          <a:xfrm>
            <a:off x="5248656" y="4041648"/>
            <a:ext cx="73152" cy="20116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mdpr-effect data-microbar"/>
          <p:cNvSpPr/>
          <p:nvPr/>
        </p:nvSpPr>
        <p:spPr>
          <a:xfrm>
            <a:off x="5413248" y="4096511"/>
            <a:ext cx="73152" cy="1463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mdpr-decor primitive-table-row"/>
          <p:cNvSpPr/>
          <p:nvPr/>
        </p:nvSpPr>
        <p:spPr>
          <a:xfrm>
            <a:off x="4937760" y="3950208"/>
            <a:ext cx="530352" cy="9144"/>
          </a:xfrm>
          <a:prstGeom prst="rect">
            <a:avLst/>
          </a:prstGeom>
          <a:solidFill>
            <a:srgbClr val="A8B2BE"/>
          </a:solidFill>
          <a:ln>
            <a:solidFill>
              <a:srgbClr val="A8B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mdpr-decor primitive-table-row"/>
          <p:cNvSpPr/>
          <p:nvPr/>
        </p:nvSpPr>
        <p:spPr>
          <a:xfrm>
            <a:off x="4937760" y="4087368"/>
            <a:ext cx="530352" cy="9144"/>
          </a:xfrm>
          <a:prstGeom prst="rect">
            <a:avLst/>
          </a:prstGeom>
          <a:solidFill>
            <a:srgbClr val="A8B2BE"/>
          </a:solidFill>
          <a:ln>
            <a:solidFill>
              <a:srgbClr val="A8B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mdpr-decor primitive-table-row"/>
          <p:cNvSpPr/>
          <p:nvPr/>
        </p:nvSpPr>
        <p:spPr>
          <a:xfrm>
            <a:off x="4937760" y="4224528"/>
            <a:ext cx="530352" cy="9144"/>
          </a:xfrm>
          <a:prstGeom prst="rect">
            <a:avLst/>
          </a:prstGeom>
          <a:solidFill>
            <a:srgbClr val="A8B2BE"/>
          </a:solidFill>
          <a:ln>
            <a:solidFill>
              <a:srgbClr val="A8B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mdpr-decor primitive-chart-bar"/>
          <p:cNvSpPr/>
          <p:nvPr/>
        </p:nvSpPr>
        <p:spPr>
          <a:xfrm>
            <a:off x="3749040" y="4809744"/>
            <a:ext cx="100584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mdpr-decor primitive-chart-bar"/>
          <p:cNvSpPr/>
          <p:nvPr/>
        </p:nvSpPr>
        <p:spPr>
          <a:xfrm>
            <a:off x="3950208" y="4663440"/>
            <a:ext cx="100584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mdpr-decor primitive-chart-bar"/>
          <p:cNvSpPr/>
          <p:nvPr/>
        </p:nvSpPr>
        <p:spPr>
          <a:xfrm>
            <a:off x="4151376" y="4736592"/>
            <a:ext cx="100584" cy="23774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mdpr-decor primitive-marker"/>
          <p:cNvSpPr/>
          <p:nvPr/>
        </p:nvSpPr>
        <p:spPr>
          <a:xfrm>
            <a:off x="4992624" y="4654296"/>
            <a:ext cx="256032" cy="25603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mdpr-text-in-decor"/>
          <p:cNvSpPr txBox="1"/>
          <p:nvPr/>
        </p:nvSpPr>
        <p:spPr>
          <a:xfrm>
            <a:off x="4992624" y="465429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26" name="mdpr-text primitive-caption"/>
          <p:cNvSpPr txBox="1"/>
          <p:nvPr/>
        </p:nvSpPr>
        <p:spPr>
          <a:xfrm>
            <a:off x="5266944" y="4590288"/>
            <a:ext cx="53035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F8FAFC"/>
                </a:solidFill>
              </a:rPr>
              <a:t>mark</a:t>
            </a:r>
          </a:p>
        </p:txBody>
      </p:sp>
      <p:sp>
        <p:nvSpPr>
          <p:cNvPr id="127" name="mdpr-text primitive-style"/>
          <p:cNvSpPr txBox="1"/>
          <p:nvPr/>
        </p:nvSpPr>
        <p:spPr>
          <a:xfrm>
            <a:off x="3602736" y="3593592"/>
            <a:ext cx="12344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DATA</a:t>
            </a:r>
          </a:p>
        </p:txBody>
      </p:sp>
      <p:sp>
        <p:nvSpPr>
          <p:cNvPr id="128" name="mdpr-text primitive-effect"/>
          <p:cNvSpPr txBox="1"/>
          <p:nvPr/>
        </p:nvSpPr>
        <p:spPr>
          <a:xfrm>
            <a:off x="4718304" y="3593592"/>
            <a:ext cx="10058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F8FAFC"/>
                </a:solidFill>
              </a:rPr>
              <a:t>none</a:t>
            </a:r>
          </a:p>
        </p:txBody>
      </p:sp>
      <p:sp>
        <p:nvSpPr>
          <p:cNvPr id="129" name="mdpr-theme-cell"/>
          <p:cNvSpPr/>
          <p:nvPr/>
        </p:nvSpPr>
        <p:spPr>
          <a:xfrm>
            <a:off x="6272784" y="3538728"/>
            <a:ext cx="2487168" cy="1810512"/>
          </a:xfrm>
          <a:prstGeom prst="rect">
            <a:avLst/>
          </a:prstGeom>
          <a:solidFill>
            <a:srgbClr val="F8FAFC"/>
          </a:solidFill>
          <a:ln w="1016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mdpr-effect-shadow"/>
          <p:cNvSpPr/>
          <p:nvPr/>
        </p:nvSpPr>
        <p:spPr>
          <a:xfrm>
            <a:off x="6496812" y="3863339"/>
            <a:ext cx="1060704" cy="658368"/>
          </a:xfrm>
          <a:prstGeom prst="roundRect">
            <a:avLst/>
          </a:prstGeom>
          <a:solidFill>
            <a:srgbClr val="EAEFF4"/>
          </a:solidFill>
          <a:ln>
            <a:solidFill>
              <a:srgbClr val="EA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mdpr-surface primitive-magazine-card"/>
          <p:cNvSpPr/>
          <p:nvPr/>
        </p:nvSpPr>
        <p:spPr>
          <a:xfrm>
            <a:off x="6455664" y="3813048"/>
            <a:ext cx="1060704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mdpr-effect magazine-rule"/>
          <p:cNvSpPr/>
          <p:nvPr/>
        </p:nvSpPr>
        <p:spPr>
          <a:xfrm>
            <a:off x="6455664" y="3922776"/>
            <a:ext cx="1060704" cy="16459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mdpr-effect magazine-rail"/>
          <p:cNvSpPr/>
          <p:nvPr/>
        </p:nvSpPr>
        <p:spPr>
          <a:xfrm>
            <a:off x="6565392" y="3813048"/>
            <a:ext cx="32004" cy="65836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mdpr-text primitive-label"/>
          <p:cNvSpPr txBox="1"/>
          <p:nvPr/>
        </p:nvSpPr>
        <p:spPr>
          <a:xfrm>
            <a:off x="6583680" y="3950208"/>
            <a:ext cx="713232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</a:rPr>
              <a:t>CARD</a:t>
            </a:r>
          </a:p>
        </p:txBody>
      </p:sp>
      <p:sp>
        <p:nvSpPr>
          <p:cNvPr id="135" name="mdpr-effect-shadow"/>
          <p:cNvSpPr/>
          <p:nvPr/>
        </p:nvSpPr>
        <p:spPr>
          <a:xfrm>
            <a:off x="7722108" y="3863339"/>
            <a:ext cx="786384" cy="658368"/>
          </a:xfrm>
          <a:prstGeom prst="roundRect">
            <a:avLst/>
          </a:prstGeom>
          <a:solidFill>
            <a:srgbClr val="EAEFF4"/>
          </a:solidFill>
          <a:ln>
            <a:solidFill>
              <a:srgbClr val="EA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mdpr-surface primitive-magazine-table"/>
          <p:cNvSpPr/>
          <p:nvPr/>
        </p:nvSpPr>
        <p:spPr>
          <a:xfrm>
            <a:off x="7680960" y="3813048"/>
            <a:ext cx="786384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mdpr-effect magazine-rule"/>
          <p:cNvSpPr/>
          <p:nvPr/>
        </p:nvSpPr>
        <p:spPr>
          <a:xfrm>
            <a:off x="7680960" y="3922776"/>
            <a:ext cx="786384" cy="16459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mdpr-effect magazine-rail"/>
          <p:cNvSpPr/>
          <p:nvPr/>
        </p:nvSpPr>
        <p:spPr>
          <a:xfrm>
            <a:off x="7790688" y="3813048"/>
            <a:ext cx="32004" cy="65836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mdpr-decor primitive-table-row"/>
          <p:cNvSpPr/>
          <p:nvPr/>
        </p:nvSpPr>
        <p:spPr>
          <a:xfrm>
            <a:off x="7790688" y="395020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mdpr-decor primitive-table-row"/>
          <p:cNvSpPr/>
          <p:nvPr/>
        </p:nvSpPr>
        <p:spPr>
          <a:xfrm>
            <a:off x="7790688" y="408736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mdpr-decor primitive-table-row"/>
          <p:cNvSpPr/>
          <p:nvPr/>
        </p:nvSpPr>
        <p:spPr>
          <a:xfrm>
            <a:off x="7790688" y="422452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mdpr-decor primitive-chart-bar"/>
          <p:cNvSpPr/>
          <p:nvPr/>
        </p:nvSpPr>
        <p:spPr>
          <a:xfrm>
            <a:off x="6601968" y="4809744"/>
            <a:ext cx="100584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mdpr-decor primitive-chart-bar"/>
          <p:cNvSpPr/>
          <p:nvPr/>
        </p:nvSpPr>
        <p:spPr>
          <a:xfrm>
            <a:off x="6803136" y="4663440"/>
            <a:ext cx="100584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mdpr-decor primitive-chart-bar"/>
          <p:cNvSpPr/>
          <p:nvPr/>
        </p:nvSpPr>
        <p:spPr>
          <a:xfrm>
            <a:off x="7004304" y="4736592"/>
            <a:ext cx="100584" cy="23774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mdpr-decor primitive-marker"/>
          <p:cNvSpPr/>
          <p:nvPr/>
        </p:nvSpPr>
        <p:spPr>
          <a:xfrm>
            <a:off x="7845552" y="4654296"/>
            <a:ext cx="256032" cy="25603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mdpr-text-in-decor"/>
          <p:cNvSpPr txBox="1"/>
          <p:nvPr/>
        </p:nvSpPr>
        <p:spPr>
          <a:xfrm>
            <a:off x="7845552" y="465429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47" name="mdpr-text primitive-caption"/>
          <p:cNvSpPr txBox="1"/>
          <p:nvPr/>
        </p:nvSpPr>
        <p:spPr>
          <a:xfrm>
            <a:off x="8119872" y="4590288"/>
            <a:ext cx="53035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11827"/>
                </a:solidFill>
              </a:rPr>
              <a:t>mark</a:t>
            </a:r>
          </a:p>
        </p:txBody>
      </p:sp>
      <p:sp>
        <p:nvSpPr>
          <p:cNvPr id="148" name="mdpr-text primitive-style"/>
          <p:cNvSpPr txBox="1"/>
          <p:nvPr/>
        </p:nvSpPr>
        <p:spPr>
          <a:xfrm>
            <a:off x="6455664" y="3593592"/>
            <a:ext cx="12344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MAGAZINE</a:t>
            </a:r>
          </a:p>
        </p:txBody>
      </p:sp>
      <p:sp>
        <p:nvSpPr>
          <p:cNvPr id="149" name="mdpr-text primitive-effect"/>
          <p:cNvSpPr txBox="1"/>
          <p:nvPr/>
        </p:nvSpPr>
        <p:spPr>
          <a:xfrm>
            <a:off x="7571232" y="3593592"/>
            <a:ext cx="10058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</a:rPr>
              <a:t>soft</a:t>
            </a:r>
          </a:p>
        </p:txBody>
      </p:sp>
      <p:sp>
        <p:nvSpPr>
          <p:cNvPr id="150" name="mdpr-theme-cell"/>
          <p:cNvSpPr/>
          <p:nvPr/>
        </p:nvSpPr>
        <p:spPr>
          <a:xfrm>
            <a:off x="9125711" y="3538728"/>
            <a:ext cx="2487168" cy="1810512"/>
          </a:xfrm>
          <a:prstGeom prst="rect">
            <a:avLst/>
          </a:prstGeom>
          <a:solidFill>
            <a:srgbClr val="F8FAFC"/>
          </a:solidFill>
          <a:ln w="1016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mdpr-effect-shadow"/>
          <p:cNvSpPr/>
          <p:nvPr/>
        </p:nvSpPr>
        <p:spPr>
          <a:xfrm>
            <a:off x="9349739" y="3863339"/>
            <a:ext cx="1060704" cy="658368"/>
          </a:xfrm>
          <a:prstGeom prst="roundRect">
            <a:avLst/>
          </a:prstGeom>
          <a:solidFill>
            <a:srgbClr val="EAEFF4"/>
          </a:solidFill>
          <a:ln>
            <a:solidFill>
              <a:srgbClr val="EA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mdpr-surface primitive-executive-card"/>
          <p:cNvSpPr/>
          <p:nvPr/>
        </p:nvSpPr>
        <p:spPr>
          <a:xfrm>
            <a:off x="9308591" y="3813048"/>
            <a:ext cx="1060704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mdpr-text primitive-label"/>
          <p:cNvSpPr txBox="1"/>
          <p:nvPr/>
        </p:nvSpPr>
        <p:spPr>
          <a:xfrm>
            <a:off x="9436607" y="3950208"/>
            <a:ext cx="713232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</a:rPr>
              <a:t>CARD</a:t>
            </a:r>
          </a:p>
        </p:txBody>
      </p:sp>
      <p:sp>
        <p:nvSpPr>
          <p:cNvPr id="154" name="mdpr-effect-shadow"/>
          <p:cNvSpPr/>
          <p:nvPr/>
        </p:nvSpPr>
        <p:spPr>
          <a:xfrm>
            <a:off x="10575036" y="3863339"/>
            <a:ext cx="786384" cy="658368"/>
          </a:xfrm>
          <a:prstGeom prst="roundRect">
            <a:avLst/>
          </a:prstGeom>
          <a:solidFill>
            <a:srgbClr val="EAEFF4"/>
          </a:solidFill>
          <a:ln>
            <a:solidFill>
              <a:srgbClr val="EA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mdpr-surface primitive-executive-table"/>
          <p:cNvSpPr/>
          <p:nvPr/>
        </p:nvSpPr>
        <p:spPr>
          <a:xfrm>
            <a:off x="10533888" y="3813048"/>
            <a:ext cx="786384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mdpr-decor primitive-table-row"/>
          <p:cNvSpPr/>
          <p:nvPr/>
        </p:nvSpPr>
        <p:spPr>
          <a:xfrm>
            <a:off x="10643615" y="395020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mdpr-decor primitive-table-row"/>
          <p:cNvSpPr/>
          <p:nvPr/>
        </p:nvSpPr>
        <p:spPr>
          <a:xfrm>
            <a:off x="10643615" y="408736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mdpr-decor primitive-table-row"/>
          <p:cNvSpPr/>
          <p:nvPr/>
        </p:nvSpPr>
        <p:spPr>
          <a:xfrm>
            <a:off x="10643615" y="4224528"/>
            <a:ext cx="530352" cy="9144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mdpr-decor primitive-chart-bar"/>
          <p:cNvSpPr/>
          <p:nvPr/>
        </p:nvSpPr>
        <p:spPr>
          <a:xfrm>
            <a:off x="9454895" y="4809744"/>
            <a:ext cx="100584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mdpr-decor primitive-chart-bar"/>
          <p:cNvSpPr/>
          <p:nvPr/>
        </p:nvSpPr>
        <p:spPr>
          <a:xfrm>
            <a:off x="9656063" y="4663440"/>
            <a:ext cx="100584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mdpr-decor primitive-chart-bar"/>
          <p:cNvSpPr/>
          <p:nvPr/>
        </p:nvSpPr>
        <p:spPr>
          <a:xfrm>
            <a:off x="9857231" y="4736592"/>
            <a:ext cx="100584" cy="23774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mdpr-decor primitive-marker"/>
          <p:cNvSpPr/>
          <p:nvPr/>
        </p:nvSpPr>
        <p:spPr>
          <a:xfrm>
            <a:off x="10698480" y="4654296"/>
            <a:ext cx="256032" cy="25603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mdpr-text-in-decor"/>
          <p:cNvSpPr txBox="1"/>
          <p:nvPr/>
        </p:nvSpPr>
        <p:spPr>
          <a:xfrm>
            <a:off x="10698480" y="465429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164" name="mdpr-text primitive-caption"/>
          <p:cNvSpPr txBox="1"/>
          <p:nvPr/>
        </p:nvSpPr>
        <p:spPr>
          <a:xfrm>
            <a:off x="10972799" y="4590288"/>
            <a:ext cx="530352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11827"/>
                </a:solidFill>
              </a:rPr>
              <a:t>mark</a:t>
            </a:r>
          </a:p>
        </p:txBody>
      </p:sp>
      <p:sp>
        <p:nvSpPr>
          <p:cNvPr id="165" name="mdpr-text primitive-style"/>
          <p:cNvSpPr txBox="1"/>
          <p:nvPr/>
        </p:nvSpPr>
        <p:spPr>
          <a:xfrm>
            <a:off x="9308591" y="3593592"/>
            <a:ext cx="12344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EXECUTIVE</a:t>
            </a:r>
          </a:p>
        </p:txBody>
      </p:sp>
      <p:sp>
        <p:nvSpPr>
          <p:cNvPr id="166" name="mdpr-text primitive-effect"/>
          <p:cNvSpPr txBox="1"/>
          <p:nvPr/>
        </p:nvSpPr>
        <p:spPr>
          <a:xfrm>
            <a:off x="10424159" y="3593592"/>
            <a:ext cx="10058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</a:rPr>
              <a:t>soft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Object Shape Grammar Catalog 1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Editable preview objects generated from the 60+ structural archetype catalog.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dpr-surface catalog-card"/>
          <p:cNvSpPr/>
          <p:nvPr/>
        </p:nvSpPr>
        <p:spPr>
          <a:xfrm>
            <a:off x="566928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dpr-decor"/>
          <p:cNvSpPr/>
          <p:nvPr/>
        </p:nvSpPr>
        <p:spPr>
          <a:xfrm>
            <a:off x="731520" y="1508760"/>
            <a:ext cx="54864" cy="5943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dpr-text catalog-title"/>
          <p:cNvSpPr txBox="1"/>
          <p:nvPr/>
        </p:nvSpPr>
        <p:spPr>
          <a:xfrm>
            <a:off x="1527048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accent-rail-card</a:t>
            </a:r>
          </a:p>
        </p:txBody>
      </p:sp>
      <p:sp>
        <p:nvSpPr>
          <p:cNvPr id="8" name="mdpr-text catalog-body"/>
          <p:cNvSpPr txBox="1"/>
          <p:nvPr/>
        </p:nvSpPr>
        <p:spPr>
          <a:xfrm>
            <a:off x="1527048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vertical rail; title/body block</a:t>
            </a:r>
          </a:p>
        </p:txBody>
      </p:sp>
      <p:sp>
        <p:nvSpPr>
          <p:cNvPr id="9" name="mdpr-text catalog-token"/>
          <p:cNvSpPr txBox="1"/>
          <p:nvPr/>
        </p:nvSpPr>
        <p:spPr>
          <a:xfrm>
            <a:off x="1527048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theme-token driven</a:t>
            </a:r>
          </a:p>
        </p:txBody>
      </p:sp>
      <p:sp>
        <p:nvSpPr>
          <p:cNvPr id="10" name="mdpr-surface catalog-card"/>
          <p:cNvSpPr/>
          <p:nvPr/>
        </p:nvSpPr>
        <p:spPr>
          <a:xfrm>
            <a:off x="4325112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dpr-decor"/>
          <p:cNvSpPr/>
          <p:nvPr/>
        </p:nvSpPr>
        <p:spPr>
          <a:xfrm>
            <a:off x="4489703" y="1508760"/>
            <a:ext cx="676656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dpr-text catalog-title"/>
          <p:cNvSpPr txBox="1"/>
          <p:nvPr/>
        </p:nvSpPr>
        <p:spPr>
          <a:xfrm>
            <a:off x="5285231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top-rule-card</a:t>
            </a:r>
          </a:p>
        </p:txBody>
      </p:sp>
      <p:sp>
        <p:nvSpPr>
          <p:cNvPr id="13" name="mdpr-text catalog-body"/>
          <p:cNvSpPr txBox="1"/>
          <p:nvPr/>
        </p:nvSpPr>
        <p:spPr>
          <a:xfrm>
            <a:off x="5285231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hairline rule; quiet surface</a:t>
            </a:r>
          </a:p>
        </p:txBody>
      </p:sp>
      <p:sp>
        <p:nvSpPr>
          <p:cNvPr id="14" name="mdpr-text catalog-token"/>
          <p:cNvSpPr txBox="1"/>
          <p:nvPr/>
        </p:nvSpPr>
        <p:spPr>
          <a:xfrm>
            <a:off x="5285231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2563EB"/>
                </a:solidFill>
              </a:rPr>
              <a:t>theme-token driven</a:t>
            </a:r>
          </a:p>
        </p:txBody>
      </p:sp>
      <p:sp>
        <p:nvSpPr>
          <p:cNvPr id="15" name="mdpr-surface catalog-card"/>
          <p:cNvSpPr/>
          <p:nvPr/>
        </p:nvSpPr>
        <p:spPr>
          <a:xfrm>
            <a:off x="8083295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dpr-decor label-tab"/>
          <p:cNvSpPr/>
          <p:nvPr/>
        </p:nvSpPr>
        <p:spPr>
          <a:xfrm>
            <a:off x="8247887" y="1632204"/>
            <a:ext cx="384048" cy="347472"/>
          </a:xfrm>
          <a:prstGeom prst="roundRect">
            <a:avLst/>
          </a:prstGeom>
          <a:solidFill>
            <a:srgbClr val="C2410C"/>
          </a:solidFill>
          <a:ln w="1016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dpr-text-in-decor"/>
          <p:cNvSpPr txBox="1"/>
          <p:nvPr/>
        </p:nvSpPr>
        <p:spPr>
          <a:xfrm>
            <a:off x="8247887" y="1632204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mdpr-text catalog-title"/>
          <p:cNvSpPr txBox="1"/>
          <p:nvPr/>
        </p:nvSpPr>
        <p:spPr>
          <a:xfrm>
            <a:off x="9043415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number-tab-card</a:t>
            </a:r>
          </a:p>
        </p:txBody>
      </p:sp>
      <p:sp>
        <p:nvSpPr>
          <p:cNvPr id="19" name="mdpr-text catalog-body"/>
          <p:cNvSpPr txBox="1"/>
          <p:nvPr/>
        </p:nvSpPr>
        <p:spPr>
          <a:xfrm>
            <a:off x="9043415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small tab; number; aligned title</a:t>
            </a:r>
          </a:p>
        </p:txBody>
      </p:sp>
      <p:sp>
        <p:nvSpPr>
          <p:cNvPr id="20" name="mdpr-text catalog-token"/>
          <p:cNvSpPr txBox="1"/>
          <p:nvPr/>
        </p:nvSpPr>
        <p:spPr>
          <a:xfrm>
            <a:off x="9043415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C2410C"/>
                </a:solidFill>
              </a:rPr>
              <a:t>theme-token driven</a:t>
            </a:r>
          </a:p>
        </p:txBody>
      </p:sp>
      <p:sp>
        <p:nvSpPr>
          <p:cNvPr id="21" name="mdpr-surface catalog-card"/>
          <p:cNvSpPr/>
          <p:nvPr/>
        </p:nvSpPr>
        <p:spPr>
          <a:xfrm>
            <a:off x="566928" y="2542032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dpr-decor chip"/>
          <p:cNvSpPr/>
          <p:nvPr/>
        </p:nvSpPr>
        <p:spPr>
          <a:xfrm>
            <a:off x="822960" y="2903220"/>
            <a:ext cx="457200" cy="237744"/>
          </a:xfrm>
          <a:prstGeom prst="round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dpr-text catalog-title"/>
          <p:cNvSpPr txBox="1"/>
          <p:nvPr/>
        </p:nvSpPr>
        <p:spPr>
          <a:xfrm>
            <a:off x="1527048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corner-chip-card</a:t>
            </a:r>
          </a:p>
        </p:txBody>
      </p:sp>
      <p:sp>
        <p:nvSpPr>
          <p:cNvPr id="24" name="mdpr-text catalog-body"/>
          <p:cNvSpPr txBox="1"/>
          <p:nvPr/>
        </p:nvSpPr>
        <p:spPr>
          <a:xfrm>
            <a:off x="1527048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corner chip; compact label</a:t>
            </a:r>
          </a:p>
        </p:txBody>
      </p:sp>
      <p:sp>
        <p:nvSpPr>
          <p:cNvPr id="25" name="mdpr-text catalog-token"/>
          <p:cNvSpPr txBox="1"/>
          <p:nvPr/>
        </p:nvSpPr>
        <p:spPr>
          <a:xfrm>
            <a:off x="1527048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7C3AED"/>
                </a:solidFill>
              </a:rPr>
              <a:t>theme-token driven</a:t>
            </a:r>
          </a:p>
        </p:txBody>
      </p:sp>
      <p:sp>
        <p:nvSpPr>
          <p:cNvPr id="26" name="mdpr-surface catalog-card"/>
          <p:cNvSpPr/>
          <p:nvPr/>
        </p:nvSpPr>
        <p:spPr>
          <a:xfrm>
            <a:off x="4325112" y="2542032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dpr-decor"/>
          <p:cNvSpPr/>
          <p:nvPr/>
        </p:nvSpPr>
        <p:spPr>
          <a:xfrm>
            <a:off x="4489703" y="2724912"/>
            <a:ext cx="36576" cy="59436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dpr-decor"/>
          <p:cNvSpPr/>
          <p:nvPr/>
        </p:nvSpPr>
        <p:spPr>
          <a:xfrm>
            <a:off x="4489703" y="2724912"/>
            <a:ext cx="292608" cy="3200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dpr-decor"/>
          <p:cNvSpPr/>
          <p:nvPr/>
        </p:nvSpPr>
        <p:spPr>
          <a:xfrm>
            <a:off x="4489703" y="3287268"/>
            <a:ext cx="292608" cy="3200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dpr-text catalog-title"/>
          <p:cNvSpPr txBox="1"/>
          <p:nvPr/>
        </p:nvSpPr>
        <p:spPr>
          <a:xfrm>
            <a:off x="5285231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bracket-note-card</a:t>
            </a:r>
          </a:p>
        </p:txBody>
      </p:sp>
      <p:sp>
        <p:nvSpPr>
          <p:cNvPr id="31" name="mdpr-text catalog-body"/>
          <p:cNvSpPr txBox="1"/>
          <p:nvPr/>
        </p:nvSpPr>
        <p:spPr>
          <a:xfrm>
            <a:off x="5285231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thin bracket; label; indented body</a:t>
            </a:r>
          </a:p>
        </p:txBody>
      </p:sp>
      <p:sp>
        <p:nvSpPr>
          <p:cNvPr id="32" name="mdpr-text catalog-token"/>
          <p:cNvSpPr txBox="1"/>
          <p:nvPr/>
        </p:nvSpPr>
        <p:spPr>
          <a:xfrm>
            <a:off x="5285231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E11D48"/>
                </a:solidFill>
              </a:rPr>
              <a:t>theme-token driven</a:t>
            </a:r>
          </a:p>
        </p:txBody>
      </p:sp>
      <p:sp>
        <p:nvSpPr>
          <p:cNvPr id="33" name="mdpr-surface catalog-card"/>
          <p:cNvSpPr/>
          <p:nvPr/>
        </p:nvSpPr>
        <p:spPr>
          <a:xfrm>
            <a:off x="8083295" y="2542032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dpr-decor"/>
          <p:cNvSpPr/>
          <p:nvPr/>
        </p:nvSpPr>
        <p:spPr>
          <a:xfrm>
            <a:off x="8293607" y="2903220"/>
            <a:ext cx="237744" cy="237744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dpr-decor"/>
          <p:cNvSpPr/>
          <p:nvPr/>
        </p:nvSpPr>
        <p:spPr>
          <a:xfrm>
            <a:off x="8595359" y="3012948"/>
            <a:ext cx="384048" cy="1828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dpr-text catalog-title"/>
          <p:cNvSpPr txBox="1"/>
          <p:nvPr/>
        </p:nvSpPr>
        <p:spPr>
          <a:xfrm>
            <a:off x="9043415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dot-marker-row</a:t>
            </a:r>
          </a:p>
        </p:txBody>
      </p:sp>
      <p:sp>
        <p:nvSpPr>
          <p:cNvPr id="37" name="mdpr-text catalog-body"/>
          <p:cNvSpPr txBox="1"/>
          <p:nvPr/>
        </p:nvSpPr>
        <p:spPr>
          <a:xfrm>
            <a:off x="9043415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small dot; first-line alignment</a:t>
            </a:r>
          </a:p>
        </p:txBody>
      </p:sp>
      <p:sp>
        <p:nvSpPr>
          <p:cNvPr id="38" name="mdpr-text catalog-token"/>
          <p:cNvSpPr txBox="1"/>
          <p:nvPr/>
        </p:nvSpPr>
        <p:spPr>
          <a:xfrm>
            <a:off x="9043415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6A34A"/>
                </a:solidFill>
              </a:rPr>
              <a:t>theme-token driven</a:t>
            </a:r>
          </a:p>
        </p:txBody>
      </p:sp>
      <p:sp>
        <p:nvSpPr>
          <p:cNvPr id="39" name="mdpr-surface catalog-card"/>
          <p:cNvSpPr/>
          <p:nvPr/>
        </p:nvSpPr>
        <p:spPr>
          <a:xfrm>
            <a:off x="566928" y="3758184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dpr-text catalog-title"/>
          <p:cNvSpPr txBox="1"/>
          <p:nvPr/>
        </p:nvSpPr>
        <p:spPr>
          <a:xfrm>
            <a:off x="1527048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split-tone-row</a:t>
            </a:r>
          </a:p>
        </p:txBody>
      </p:sp>
      <p:sp>
        <p:nvSpPr>
          <p:cNvPr id="41" name="mdpr-text catalog-body"/>
          <p:cNvSpPr txBox="1"/>
          <p:nvPr/>
        </p:nvSpPr>
        <p:spPr>
          <a:xfrm>
            <a:off x="1527048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label zone; body zone</a:t>
            </a:r>
          </a:p>
        </p:txBody>
      </p:sp>
      <p:sp>
        <p:nvSpPr>
          <p:cNvPr id="42" name="mdpr-text catalog-token"/>
          <p:cNvSpPr txBox="1"/>
          <p:nvPr/>
        </p:nvSpPr>
        <p:spPr>
          <a:xfrm>
            <a:off x="1527048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theme-token driven</a:t>
            </a:r>
          </a:p>
        </p:txBody>
      </p:sp>
      <p:sp>
        <p:nvSpPr>
          <p:cNvPr id="43" name="mdpr-surface catalog-card"/>
          <p:cNvSpPr/>
          <p:nvPr/>
        </p:nvSpPr>
        <p:spPr>
          <a:xfrm>
            <a:off x="4325112" y="3758184"/>
            <a:ext cx="3529584" cy="96012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dpr-decor chip"/>
          <p:cNvSpPr/>
          <p:nvPr/>
        </p:nvSpPr>
        <p:spPr>
          <a:xfrm>
            <a:off x="4581143" y="4119372"/>
            <a:ext cx="457200" cy="237744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dpr-text catalog-title"/>
          <p:cNvSpPr txBox="1"/>
          <p:nvPr/>
        </p:nvSpPr>
        <p:spPr>
          <a:xfrm>
            <a:off x="5285231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proof-chip-inline</a:t>
            </a:r>
          </a:p>
        </p:txBody>
      </p:sp>
      <p:sp>
        <p:nvSpPr>
          <p:cNvPr id="46" name="mdpr-text catalog-body"/>
          <p:cNvSpPr txBox="1"/>
          <p:nvPr/>
        </p:nvSpPr>
        <p:spPr>
          <a:xfrm>
            <a:off x="5285231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small chip; metric text</a:t>
            </a:r>
          </a:p>
        </p:txBody>
      </p:sp>
      <p:sp>
        <p:nvSpPr>
          <p:cNvPr id="47" name="mdpr-text catalog-token"/>
          <p:cNvSpPr txBox="1"/>
          <p:nvPr/>
        </p:nvSpPr>
        <p:spPr>
          <a:xfrm>
            <a:off x="5285231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2563EB"/>
                </a:solidFill>
              </a:rPr>
              <a:t>theme-token driven</a:t>
            </a:r>
          </a:p>
        </p:txBody>
      </p:sp>
      <p:sp>
        <p:nvSpPr>
          <p:cNvPr id="48" name="mdpr-surface catalog-card"/>
          <p:cNvSpPr/>
          <p:nvPr/>
        </p:nvSpPr>
        <p:spPr>
          <a:xfrm>
            <a:off x="8083295" y="3758184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dpr-text catalog-title"/>
          <p:cNvSpPr txBox="1"/>
          <p:nvPr/>
        </p:nvSpPr>
        <p:spPr>
          <a:xfrm>
            <a:off x="9043415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thin-outline-card</a:t>
            </a:r>
          </a:p>
        </p:txBody>
      </p:sp>
      <p:sp>
        <p:nvSpPr>
          <p:cNvPr id="50" name="mdpr-text catalog-body"/>
          <p:cNvSpPr txBox="1"/>
          <p:nvPr/>
        </p:nvSpPr>
        <p:spPr>
          <a:xfrm>
            <a:off x="9043415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outline; plain surface</a:t>
            </a:r>
          </a:p>
        </p:txBody>
      </p:sp>
      <p:sp>
        <p:nvSpPr>
          <p:cNvPr id="51" name="mdpr-text catalog-token"/>
          <p:cNvSpPr txBox="1"/>
          <p:nvPr/>
        </p:nvSpPr>
        <p:spPr>
          <a:xfrm>
            <a:off x="9043415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C2410C"/>
                </a:solidFill>
              </a:rPr>
              <a:t>theme-token driven</a:t>
            </a:r>
          </a:p>
        </p:txBody>
      </p:sp>
      <p:sp>
        <p:nvSpPr>
          <p:cNvPr id="52" name="mdpr-surface catalog-card"/>
          <p:cNvSpPr/>
          <p:nvPr/>
        </p:nvSpPr>
        <p:spPr>
          <a:xfrm>
            <a:off x="566928" y="4974336"/>
            <a:ext cx="3529584" cy="96012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dpr-decor"/>
          <p:cNvSpPr/>
          <p:nvPr/>
        </p:nvSpPr>
        <p:spPr>
          <a:xfrm>
            <a:off x="731520" y="5564124"/>
            <a:ext cx="676656" cy="45720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mdpr-decor"/>
          <p:cNvSpPr/>
          <p:nvPr/>
        </p:nvSpPr>
        <p:spPr>
          <a:xfrm>
            <a:off x="731520" y="5564124"/>
            <a:ext cx="460126" cy="457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dpr-text catalog-title"/>
          <p:cNvSpPr txBox="1"/>
          <p:nvPr/>
        </p:nvSpPr>
        <p:spPr>
          <a:xfrm>
            <a:off x="1527048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bottom-meter-card</a:t>
            </a:r>
          </a:p>
        </p:txBody>
      </p:sp>
      <p:sp>
        <p:nvSpPr>
          <p:cNvPr id="56" name="mdpr-text catalog-body"/>
          <p:cNvSpPr txBox="1"/>
          <p:nvPr/>
        </p:nvSpPr>
        <p:spPr>
          <a:xfrm>
            <a:off x="1527048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bottom meter; short label</a:t>
            </a:r>
          </a:p>
        </p:txBody>
      </p:sp>
      <p:sp>
        <p:nvSpPr>
          <p:cNvPr id="57" name="mdpr-text catalog-token"/>
          <p:cNvSpPr txBox="1"/>
          <p:nvPr/>
        </p:nvSpPr>
        <p:spPr>
          <a:xfrm>
            <a:off x="1527048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7C3AED"/>
                </a:solidFill>
              </a:rPr>
              <a:t>theme-token driven</a:t>
            </a:r>
          </a:p>
        </p:txBody>
      </p:sp>
      <p:sp>
        <p:nvSpPr>
          <p:cNvPr id="58" name="mdpr-surface catalog-card"/>
          <p:cNvSpPr/>
          <p:nvPr/>
        </p:nvSpPr>
        <p:spPr>
          <a:xfrm>
            <a:off x="4325112" y="4974336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dpr-decor notch"/>
          <p:cNvSpPr/>
          <p:nvPr/>
        </p:nvSpPr>
        <p:spPr>
          <a:xfrm>
            <a:off x="4782312" y="5271516"/>
            <a:ext cx="320040" cy="274320"/>
          </a:xfrm>
          <a:prstGeom prst="rect">
            <a:avLst/>
          </a:prstGeom>
          <a:solidFill>
            <a:srgbClr val="FDE68A"/>
          </a:solidFill>
          <a:ln w="1016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mdpr-text catalog-title"/>
          <p:cNvSpPr txBox="1"/>
          <p:nvPr/>
        </p:nvSpPr>
        <p:spPr>
          <a:xfrm>
            <a:off x="5285231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side-notch-card</a:t>
            </a:r>
          </a:p>
        </p:txBody>
      </p:sp>
      <p:sp>
        <p:nvSpPr>
          <p:cNvPr id="61" name="mdpr-text catalog-body"/>
          <p:cNvSpPr txBox="1"/>
          <p:nvPr/>
        </p:nvSpPr>
        <p:spPr>
          <a:xfrm>
            <a:off x="5285231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side notch; aligned text</a:t>
            </a:r>
          </a:p>
        </p:txBody>
      </p:sp>
      <p:sp>
        <p:nvSpPr>
          <p:cNvPr id="62" name="mdpr-text catalog-token"/>
          <p:cNvSpPr txBox="1"/>
          <p:nvPr/>
        </p:nvSpPr>
        <p:spPr>
          <a:xfrm>
            <a:off x="5285231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E11D48"/>
                </a:solidFill>
              </a:rPr>
              <a:t>theme-token driven</a:t>
            </a:r>
          </a:p>
        </p:txBody>
      </p:sp>
      <p:sp>
        <p:nvSpPr>
          <p:cNvPr id="63" name="mdpr-surface catalog-card"/>
          <p:cNvSpPr/>
          <p:nvPr/>
        </p:nvSpPr>
        <p:spPr>
          <a:xfrm>
            <a:off x="8083295" y="4974336"/>
            <a:ext cx="3529584" cy="9601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mdpr-decor image-slot"/>
          <p:cNvSpPr/>
          <p:nvPr/>
        </p:nvSpPr>
        <p:spPr>
          <a:xfrm>
            <a:off x="8247887" y="5225796"/>
            <a:ext cx="420624" cy="457200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mdpr-decor"/>
          <p:cNvSpPr/>
          <p:nvPr/>
        </p:nvSpPr>
        <p:spPr>
          <a:xfrm>
            <a:off x="8705087" y="5344668"/>
            <a:ext cx="219456" cy="32004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mdpr-decor image-slot"/>
          <p:cNvSpPr/>
          <p:nvPr/>
        </p:nvSpPr>
        <p:spPr>
          <a:xfrm>
            <a:off x="8247887" y="5244084"/>
            <a:ext cx="566928" cy="420624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mdpr-text catalog-title"/>
          <p:cNvSpPr txBox="1"/>
          <p:nvPr/>
        </p:nvSpPr>
        <p:spPr>
          <a:xfrm>
            <a:off x="9043415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floating-label-pin</a:t>
            </a:r>
          </a:p>
        </p:txBody>
      </p:sp>
      <p:sp>
        <p:nvSpPr>
          <p:cNvPr id="68" name="mdpr-text catalog-body"/>
          <p:cNvSpPr txBox="1"/>
          <p:nvPr/>
        </p:nvSpPr>
        <p:spPr>
          <a:xfrm>
            <a:off x="9043415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small pin; image edge</a:t>
            </a:r>
          </a:p>
        </p:txBody>
      </p:sp>
      <p:sp>
        <p:nvSpPr>
          <p:cNvPr id="69" name="mdpr-text catalog-token"/>
          <p:cNvSpPr txBox="1"/>
          <p:nvPr/>
        </p:nvSpPr>
        <p:spPr>
          <a:xfrm>
            <a:off x="9043415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6A34A"/>
                </a:solidFill>
              </a:rPr>
              <a:t>theme-token driven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Object Shape Grammar Catalog 2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Editable preview objects generated from the 60+ structural archetype catalog.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dpr-surface catalog-card"/>
          <p:cNvSpPr/>
          <p:nvPr/>
        </p:nvSpPr>
        <p:spPr>
          <a:xfrm>
            <a:off x="566928" y="1325880"/>
            <a:ext cx="3529584" cy="9601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dpr-decor image-slot"/>
          <p:cNvSpPr/>
          <p:nvPr/>
        </p:nvSpPr>
        <p:spPr>
          <a:xfrm>
            <a:off x="731520" y="1577340"/>
            <a:ext cx="420624" cy="457200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dpr-decor"/>
          <p:cNvSpPr/>
          <p:nvPr/>
        </p:nvSpPr>
        <p:spPr>
          <a:xfrm>
            <a:off x="1188720" y="1696212"/>
            <a:ext cx="219456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dpr-decor image-slot"/>
          <p:cNvSpPr/>
          <p:nvPr/>
        </p:nvSpPr>
        <p:spPr>
          <a:xfrm>
            <a:off x="731520" y="1595628"/>
            <a:ext cx="566928" cy="420624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dpr-text catalog-title"/>
          <p:cNvSpPr txBox="1"/>
          <p:nvPr/>
        </p:nvSpPr>
        <p:spPr>
          <a:xfrm>
            <a:off x="1527048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caption-underlay</a:t>
            </a:r>
          </a:p>
        </p:txBody>
      </p:sp>
      <p:sp>
        <p:nvSpPr>
          <p:cNvPr id="10" name="mdpr-text catalog-body"/>
          <p:cNvSpPr txBox="1"/>
          <p:nvPr/>
        </p:nvSpPr>
        <p:spPr>
          <a:xfrm>
            <a:off x="1527048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caption band; single line label</a:t>
            </a:r>
          </a:p>
        </p:txBody>
      </p:sp>
      <p:sp>
        <p:nvSpPr>
          <p:cNvPr id="11" name="mdpr-text catalog-token"/>
          <p:cNvSpPr txBox="1"/>
          <p:nvPr/>
        </p:nvSpPr>
        <p:spPr>
          <a:xfrm>
            <a:off x="1527048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theme-token driven</a:t>
            </a:r>
          </a:p>
        </p:txBody>
      </p:sp>
      <p:sp>
        <p:nvSpPr>
          <p:cNvPr id="12" name="mdpr-surface catalog-card"/>
          <p:cNvSpPr/>
          <p:nvPr/>
        </p:nvSpPr>
        <p:spPr>
          <a:xfrm>
            <a:off x="4325112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dpr-decor label-tab"/>
          <p:cNvSpPr/>
          <p:nvPr/>
        </p:nvSpPr>
        <p:spPr>
          <a:xfrm>
            <a:off x="4489703" y="1632204"/>
            <a:ext cx="384048" cy="347472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dpr-text-in-decor"/>
          <p:cNvSpPr txBox="1"/>
          <p:nvPr/>
        </p:nvSpPr>
        <p:spPr>
          <a:xfrm>
            <a:off x="4489703" y="1632204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mdpr-text catalog-title"/>
          <p:cNvSpPr txBox="1"/>
          <p:nvPr/>
        </p:nvSpPr>
        <p:spPr>
          <a:xfrm>
            <a:off x="5285231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rank-ribbon-card</a:t>
            </a:r>
          </a:p>
        </p:txBody>
      </p:sp>
      <p:sp>
        <p:nvSpPr>
          <p:cNvPr id="16" name="mdpr-text catalog-body"/>
          <p:cNvSpPr txBox="1"/>
          <p:nvPr/>
        </p:nvSpPr>
        <p:spPr>
          <a:xfrm>
            <a:off x="5285231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rank ribbon; large number</a:t>
            </a:r>
          </a:p>
        </p:txBody>
      </p:sp>
      <p:sp>
        <p:nvSpPr>
          <p:cNvPr id="17" name="mdpr-text catalog-token"/>
          <p:cNvSpPr txBox="1"/>
          <p:nvPr/>
        </p:nvSpPr>
        <p:spPr>
          <a:xfrm>
            <a:off x="5285231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2563EB"/>
                </a:solidFill>
              </a:rPr>
              <a:t>theme-token driven</a:t>
            </a:r>
          </a:p>
        </p:txBody>
      </p:sp>
      <p:sp>
        <p:nvSpPr>
          <p:cNvPr id="18" name="mdpr-surface catalog-card"/>
          <p:cNvSpPr/>
          <p:nvPr/>
        </p:nvSpPr>
        <p:spPr>
          <a:xfrm>
            <a:off x="8083295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dpr-decor"/>
          <p:cNvSpPr/>
          <p:nvPr/>
        </p:nvSpPr>
        <p:spPr>
          <a:xfrm>
            <a:off x="8293607" y="1687068"/>
            <a:ext cx="237744" cy="237744"/>
          </a:xfrm>
          <a:prstGeom prst="ellipse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dpr-decor"/>
          <p:cNvSpPr/>
          <p:nvPr/>
        </p:nvSpPr>
        <p:spPr>
          <a:xfrm>
            <a:off x="8595359" y="1796796"/>
            <a:ext cx="384048" cy="18288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dpr-text catalog-title"/>
          <p:cNvSpPr txBox="1"/>
          <p:nvPr/>
        </p:nvSpPr>
        <p:spPr>
          <a:xfrm>
            <a:off x="9043415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micro-icon-marker</a:t>
            </a:r>
          </a:p>
        </p:txBody>
      </p:sp>
      <p:sp>
        <p:nvSpPr>
          <p:cNvPr id="22" name="mdpr-text catalog-body"/>
          <p:cNvSpPr txBox="1"/>
          <p:nvPr/>
        </p:nvSpPr>
        <p:spPr>
          <a:xfrm>
            <a:off x="9043415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one monotone icon; left gutter</a:t>
            </a:r>
          </a:p>
        </p:txBody>
      </p:sp>
      <p:sp>
        <p:nvSpPr>
          <p:cNvPr id="23" name="mdpr-text catalog-token"/>
          <p:cNvSpPr txBox="1"/>
          <p:nvPr/>
        </p:nvSpPr>
        <p:spPr>
          <a:xfrm>
            <a:off x="9043415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C2410C"/>
                </a:solidFill>
              </a:rPr>
              <a:t>theme-token driven</a:t>
            </a:r>
          </a:p>
        </p:txBody>
      </p:sp>
      <p:sp>
        <p:nvSpPr>
          <p:cNvPr id="24" name="mdpr-surface catalog-card"/>
          <p:cNvSpPr/>
          <p:nvPr/>
        </p:nvSpPr>
        <p:spPr>
          <a:xfrm>
            <a:off x="566928" y="2542032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dpr-decor"/>
          <p:cNvSpPr/>
          <p:nvPr/>
        </p:nvSpPr>
        <p:spPr>
          <a:xfrm>
            <a:off x="731520" y="2724912"/>
            <a:ext cx="676656" cy="3200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dpr-text catalog-title"/>
          <p:cNvSpPr txBox="1"/>
          <p:nvPr/>
        </p:nvSpPr>
        <p:spPr>
          <a:xfrm>
            <a:off x="1527048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double-rule-header</a:t>
            </a:r>
          </a:p>
        </p:txBody>
      </p:sp>
      <p:sp>
        <p:nvSpPr>
          <p:cNvPr id="27" name="mdpr-text catalog-body"/>
          <p:cNvSpPr txBox="1"/>
          <p:nvPr/>
        </p:nvSpPr>
        <p:spPr>
          <a:xfrm>
            <a:off x="1527048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two rules; header label</a:t>
            </a:r>
          </a:p>
        </p:txBody>
      </p:sp>
      <p:sp>
        <p:nvSpPr>
          <p:cNvPr id="28" name="mdpr-text catalog-token"/>
          <p:cNvSpPr txBox="1"/>
          <p:nvPr/>
        </p:nvSpPr>
        <p:spPr>
          <a:xfrm>
            <a:off x="1527048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7C3AED"/>
                </a:solidFill>
              </a:rPr>
              <a:t>theme-token driven</a:t>
            </a:r>
          </a:p>
        </p:txBody>
      </p:sp>
      <p:sp>
        <p:nvSpPr>
          <p:cNvPr id="29" name="mdpr-surface catalog-card"/>
          <p:cNvSpPr/>
          <p:nvPr/>
        </p:nvSpPr>
        <p:spPr>
          <a:xfrm>
            <a:off x="4325112" y="2542032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dpr-text catalog-title"/>
          <p:cNvSpPr txBox="1"/>
          <p:nvPr/>
        </p:nvSpPr>
        <p:spPr>
          <a:xfrm>
            <a:off x="5285231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soft-shadow-lift</a:t>
            </a:r>
          </a:p>
        </p:txBody>
      </p:sp>
      <p:sp>
        <p:nvSpPr>
          <p:cNvPr id="31" name="mdpr-text catalog-body"/>
          <p:cNvSpPr txBox="1"/>
          <p:nvPr/>
        </p:nvSpPr>
        <p:spPr>
          <a:xfrm>
            <a:off x="5285231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shallow shadow; plain surface</a:t>
            </a:r>
          </a:p>
        </p:txBody>
      </p:sp>
      <p:sp>
        <p:nvSpPr>
          <p:cNvPr id="32" name="mdpr-text catalog-token"/>
          <p:cNvSpPr txBox="1"/>
          <p:nvPr/>
        </p:nvSpPr>
        <p:spPr>
          <a:xfrm>
            <a:off x="5285231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E11D48"/>
                </a:solidFill>
              </a:rPr>
              <a:t>theme-token driven</a:t>
            </a:r>
          </a:p>
        </p:txBody>
      </p:sp>
      <p:sp>
        <p:nvSpPr>
          <p:cNvPr id="33" name="mdpr-surface catalog-card"/>
          <p:cNvSpPr/>
          <p:nvPr/>
        </p:nvSpPr>
        <p:spPr>
          <a:xfrm>
            <a:off x="8083295" y="2542032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dpr-decor inset-label"/>
          <p:cNvSpPr/>
          <p:nvPr/>
        </p:nvSpPr>
        <p:spPr>
          <a:xfrm>
            <a:off x="8247887" y="2820924"/>
            <a:ext cx="676656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dpr-decor inset-label-bar"/>
          <p:cNvSpPr/>
          <p:nvPr/>
        </p:nvSpPr>
        <p:spPr>
          <a:xfrm>
            <a:off x="8321039" y="2921508"/>
            <a:ext cx="146304" cy="20116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dpr-decor inset-label-text"/>
          <p:cNvSpPr/>
          <p:nvPr/>
        </p:nvSpPr>
        <p:spPr>
          <a:xfrm>
            <a:off x="8540495" y="3003804"/>
            <a:ext cx="292608" cy="16459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dpr-text catalog-title"/>
          <p:cNvSpPr txBox="1"/>
          <p:nvPr/>
        </p:nvSpPr>
        <p:spPr>
          <a:xfrm>
            <a:off x="9043415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inset-label-bar</a:t>
            </a:r>
          </a:p>
        </p:txBody>
      </p:sp>
      <p:sp>
        <p:nvSpPr>
          <p:cNvPr id="38" name="mdpr-text catalog-body"/>
          <p:cNvSpPr txBox="1"/>
          <p:nvPr/>
        </p:nvSpPr>
        <p:spPr>
          <a:xfrm>
            <a:off x="9043415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inset bar; category label</a:t>
            </a:r>
          </a:p>
        </p:txBody>
      </p:sp>
      <p:sp>
        <p:nvSpPr>
          <p:cNvPr id="39" name="mdpr-text catalog-token"/>
          <p:cNvSpPr txBox="1"/>
          <p:nvPr/>
        </p:nvSpPr>
        <p:spPr>
          <a:xfrm>
            <a:off x="9043415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6A34A"/>
                </a:solidFill>
              </a:rPr>
              <a:t>theme-token driven</a:t>
            </a:r>
          </a:p>
        </p:txBody>
      </p:sp>
      <p:sp>
        <p:nvSpPr>
          <p:cNvPr id="40" name="mdpr-surface catalog-card"/>
          <p:cNvSpPr/>
          <p:nvPr/>
        </p:nvSpPr>
        <p:spPr>
          <a:xfrm>
            <a:off x="566928" y="3758184"/>
            <a:ext cx="3529584" cy="9601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dpr-decor"/>
          <p:cNvSpPr/>
          <p:nvPr/>
        </p:nvSpPr>
        <p:spPr>
          <a:xfrm>
            <a:off x="731520" y="3941064"/>
            <a:ext cx="54864" cy="5943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dpr-text catalog-title"/>
          <p:cNvSpPr txBox="1"/>
          <p:nvPr/>
        </p:nvSpPr>
        <p:spPr>
          <a:xfrm>
            <a:off x="1527048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vertical-step-rail</a:t>
            </a:r>
          </a:p>
        </p:txBody>
      </p:sp>
      <p:sp>
        <p:nvSpPr>
          <p:cNvPr id="43" name="mdpr-text catalog-body"/>
          <p:cNvSpPr txBox="1"/>
          <p:nvPr/>
        </p:nvSpPr>
        <p:spPr>
          <a:xfrm>
            <a:off x="1527048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vertical rail; node dot; wrapped text</a:t>
            </a:r>
          </a:p>
        </p:txBody>
      </p:sp>
      <p:sp>
        <p:nvSpPr>
          <p:cNvPr id="44" name="mdpr-text catalog-token"/>
          <p:cNvSpPr txBox="1"/>
          <p:nvPr/>
        </p:nvSpPr>
        <p:spPr>
          <a:xfrm>
            <a:off x="1527048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theme-token driven</a:t>
            </a:r>
          </a:p>
        </p:txBody>
      </p:sp>
      <p:sp>
        <p:nvSpPr>
          <p:cNvPr id="45" name="mdpr-surface catalog-card"/>
          <p:cNvSpPr/>
          <p:nvPr/>
        </p:nvSpPr>
        <p:spPr>
          <a:xfrm>
            <a:off x="4325112" y="3758184"/>
            <a:ext cx="3529584" cy="9601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dpr-decor"/>
          <p:cNvSpPr/>
          <p:nvPr/>
        </p:nvSpPr>
        <p:spPr>
          <a:xfrm>
            <a:off x="4489703" y="3941064"/>
            <a:ext cx="54864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dpr-text catalog-title"/>
          <p:cNvSpPr txBox="1"/>
          <p:nvPr/>
        </p:nvSpPr>
        <p:spPr>
          <a:xfrm>
            <a:off x="5285231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horizontal-step-rail</a:t>
            </a:r>
          </a:p>
        </p:txBody>
      </p:sp>
      <p:sp>
        <p:nvSpPr>
          <p:cNvPr id="48" name="mdpr-text catalog-body"/>
          <p:cNvSpPr txBox="1"/>
          <p:nvPr/>
        </p:nvSpPr>
        <p:spPr>
          <a:xfrm>
            <a:off x="5285231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horizontal rail; number nodes</a:t>
            </a:r>
          </a:p>
        </p:txBody>
      </p:sp>
      <p:sp>
        <p:nvSpPr>
          <p:cNvPr id="49" name="mdpr-text catalog-token"/>
          <p:cNvSpPr txBox="1"/>
          <p:nvPr/>
        </p:nvSpPr>
        <p:spPr>
          <a:xfrm>
            <a:off x="5285231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2563EB"/>
                </a:solidFill>
              </a:rPr>
              <a:t>theme-token driven</a:t>
            </a:r>
          </a:p>
        </p:txBody>
      </p:sp>
      <p:sp>
        <p:nvSpPr>
          <p:cNvPr id="50" name="mdpr-surface catalog-card"/>
          <p:cNvSpPr/>
          <p:nvPr/>
        </p:nvSpPr>
        <p:spPr>
          <a:xfrm>
            <a:off x="8083295" y="3758184"/>
            <a:ext cx="3529584" cy="9601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mdpr-text catalog-title"/>
          <p:cNvSpPr txBox="1"/>
          <p:nvPr/>
        </p:nvSpPr>
        <p:spPr>
          <a:xfrm>
            <a:off x="9043415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paired-contrast-edge</a:t>
            </a:r>
          </a:p>
        </p:txBody>
      </p:sp>
      <p:sp>
        <p:nvSpPr>
          <p:cNvPr id="52" name="mdpr-text catalog-body"/>
          <p:cNvSpPr txBox="1"/>
          <p:nvPr/>
        </p:nvSpPr>
        <p:spPr>
          <a:xfrm>
            <a:off x="9043415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two edge colors; split label</a:t>
            </a:r>
          </a:p>
        </p:txBody>
      </p:sp>
      <p:sp>
        <p:nvSpPr>
          <p:cNvPr id="53" name="mdpr-text catalog-token"/>
          <p:cNvSpPr txBox="1"/>
          <p:nvPr/>
        </p:nvSpPr>
        <p:spPr>
          <a:xfrm>
            <a:off x="9043415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C2410C"/>
                </a:solidFill>
              </a:rPr>
              <a:t>theme-token driven</a:t>
            </a:r>
          </a:p>
        </p:txBody>
      </p:sp>
      <p:sp>
        <p:nvSpPr>
          <p:cNvPr id="54" name="mdpr-surface catalog-card"/>
          <p:cNvSpPr/>
          <p:nvPr/>
        </p:nvSpPr>
        <p:spPr>
          <a:xfrm>
            <a:off x="566928" y="4974336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dpr-decor"/>
          <p:cNvSpPr/>
          <p:nvPr/>
        </p:nvSpPr>
        <p:spPr>
          <a:xfrm>
            <a:off x="731520" y="5157216"/>
            <a:ext cx="676656" cy="3200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dpr-text catalog-title"/>
          <p:cNvSpPr txBox="1"/>
          <p:nvPr/>
        </p:nvSpPr>
        <p:spPr>
          <a:xfrm>
            <a:off x="1527048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quote-rule-card</a:t>
            </a:r>
          </a:p>
        </p:txBody>
      </p:sp>
      <p:sp>
        <p:nvSpPr>
          <p:cNvPr id="57" name="mdpr-text catalog-body"/>
          <p:cNvSpPr txBox="1"/>
          <p:nvPr/>
        </p:nvSpPr>
        <p:spPr>
          <a:xfrm>
            <a:off x="1527048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left quote rule; body</a:t>
            </a:r>
          </a:p>
        </p:txBody>
      </p:sp>
      <p:sp>
        <p:nvSpPr>
          <p:cNvPr id="58" name="mdpr-text catalog-token"/>
          <p:cNvSpPr txBox="1"/>
          <p:nvPr/>
        </p:nvSpPr>
        <p:spPr>
          <a:xfrm>
            <a:off x="1527048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7C3AED"/>
                </a:solidFill>
              </a:rPr>
              <a:t>theme-token driven</a:t>
            </a:r>
          </a:p>
        </p:txBody>
      </p:sp>
      <p:sp>
        <p:nvSpPr>
          <p:cNvPr id="59" name="mdpr-surface catalog-card"/>
          <p:cNvSpPr/>
          <p:nvPr/>
        </p:nvSpPr>
        <p:spPr>
          <a:xfrm>
            <a:off x="4325112" y="4974336"/>
            <a:ext cx="3529584" cy="96012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mdpr-text catalog-title"/>
          <p:cNvSpPr txBox="1"/>
          <p:nvPr/>
        </p:nvSpPr>
        <p:spPr>
          <a:xfrm>
            <a:off x="5285231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metric-lead-card</a:t>
            </a:r>
          </a:p>
        </p:txBody>
      </p:sp>
      <p:sp>
        <p:nvSpPr>
          <p:cNvPr id="61" name="mdpr-text catalog-body"/>
          <p:cNvSpPr txBox="1"/>
          <p:nvPr/>
        </p:nvSpPr>
        <p:spPr>
          <a:xfrm>
            <a:off x="5285231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large number; unit; caption</a:t>
            </a:r>
          </a:p>
        </p:txBody>
      </p:sp>
      <p:sp>
        <p:nvSpPr>
          <p:cNvPr id="62" name="mdpr-text catalog-token"/>
          <p:cNvSpPr txBox="1"/>
          <p:nvPr/>
        </p:nvSpPr>
        <p:spPr>
          <a:xfrm>
            <a:off x="5285231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E11D48"/>
                </a:solidFill>
              </a:rPr>
              <a:t>theme-token driven</a:t>
            </a:r>
          </a:p>
        </p:txBody>
      </p:sp>
      <p:sp>
        <p:nvSpPr>
          <p:cNvPr id="63" name="mdpr-surface catalog-card"/>
          <p:cNvSpPr/>
          <p:nvPr/>
        </p:nvSpPr>
        <p:spPr>
          <a:xfrm>
            <a:off x="8083295" y="4974336"/>
            <a:ext cx="3529584" cy="96012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mdpr-decor"/>
          <p:cNvSpPr/>
          <p:nvPr/>
        </p:nvSpPr>
        <p:spPr>
          <a:xfrm>
            <a:off x="8302751" y="5289804"/>
            <a:ext cx="530352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mdpr-decor"/>
          <p:cNvSpPr/>
          <p:nvPr/>
        </p:nvSpPr>
        <p:spPr>
          <a:xfrm>
            <a:off x="8302751" y="5454396"/>
            <a:ext cx="530352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mdpr-decor"/>
          <p:cNvSpPr/>
          <p:nvPr/>
        </p:nvSpPr>
        <p:spPr>
          <a:xfrm>
            <a:off x="8302751" y="5618988"/>
            <a:ext cx="530352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mdpr-decor"/>
          <p:cNvSpPr/>
          <p:nvPr/>
        </p:nvSpPr>
        <p:spPr>
          <a:xfrm>
            <a:off x="8476487" y="5198364"/>
            <a:ext cx="13716" cy="51206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mdpr-decor"/>
          <p:cNvSpPr/>
          <p:nvPr/>
        </p:nvSpPr>
        <p:spPr>
          <a:xfrm>
            <a:off x="8659367" y="5198364"/>
            <a:ext cx="13716" cy="51206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mdpr-decor"/>
          <p:cNvSpPr/>
          <p:nvPr/>
        </p:nvSpPr>
        <p:spPr>
          <a:xfrm>
            <a:off x="8247887" y="5381244"/>
            <a:ext cx="676656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mdpr-decor"/>
          <p:cNvSpPr/>
          <p:nvPr/>
        </p:nvSpPr>
        <p:spPr>
          <a:xfrm>
            <a:off x="8247887" y="5527548"/>
            <a:ext cx="676656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mdpr-decor"/>
          <p:cNvSpPr/>
          <p:nvPr/>
        </p:nvSpPr>
        <p:spPr>
          <a:xfrm>
            <a:off x="8476487" y="5244084"/>
            <a:ext cx="18288" cy="42062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mdpr-decor"/>
          <p:cNvSpPr/>
          <p:nvPr/>
        </p:nvSpPr>
        <p:spPr>
          <a:xfrm>
            <a:off x="8705087" y="5244084"/>
            <a:ext cx="18288" cy="42062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mdpr-text catalog-title"/>
          <p:cNvSpPr txBox="1"/>
          <p:nvPr/>
        </p:nvSpPr>
        <p:spPr>
          <a:xfrm>
            <a:off x="9043415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checklist-grid-card</a:t>
            </a:r>
          </a:p>
        </p:txBody>
      </p:sp>
      <p:sp>
        <p:nvSpPr>
          <p:cNvPr id="74" name="mdpr-text catalog-body"/>
          <p:cNvSpPr txBox="1"/>
          <p:nvPr/>
        </p:nvSpPr>
        <p:spPr>
          <a:xfrm>
            <a:off x="9043415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check marker; two-column grid</a:t>
            </a:r>
          </a:p>
        </p:txBody>
      </p:sp>
      <p:sp>
        <p:nvSpPr>
          <p:cNvPr id="75" name="mdpr-text catalog-token"/>
          <p:cNvSpPr txBox="1"/>
          <p:nvPr/>
        </p:nvSpPr>
        <p:spPr>
          <a:xfrm>
            <a:off x="9043415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6A34A"/>
                </a:solidFill>
              </a:rPr>
              <a:t>theme-token driven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Object Shape Grammar Catalog 3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Editable preview objects generated from the 60+ structural archetype catalog.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dpr-surface catalog-card"/>
          <p:cNvSpPr/>
          <p:nvPr/>
        </p:nvSpPr>
        <p:spPr>
          <a:xfrm>
            <a:off x="566928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dpr-text-in-decor"/>
          <p:cNvSpPr txBox="1"/>
          <p:nvPr/>
        </p:nvSpPr>
        <p:spPr>
          <a:xfrm>
            <a:off x="731520" y="1586484"/>
            <a:ext cx="62179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MUST</a:t>
            </a:r>
          </a:p>
        </p:txBody>
      </p:sp>
      <p:sp>
        <p:nvSpPr>
          <p:cNvPr id="7" name="mdpr-decor constraint-line"/>
          <p:cNvSpPr/>
          <p:nvPr/>
        </p:nvSpPr>
        <p:spPr>
          <a:xfrm>
            <a:off x="896112" y="1796796"/>
            <a:ext cx="457200" cy="16459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dpr-decor constraint-line"/>
          <p:cNvSpPr/>
          <p:nvPr/>
        </p:nvSpPr>
        <p:spPr>
          <a:xfrm>
            <a:off x="896112" y="1952244"/>
            <a:ext cx="384048" cy="16459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dpr-decor constraint-indent"/>
          <p:cNvSpPr/>
          <p:nvPr/>
        </p:nvSpPr>
        <p:spPr>
          <a:xfrm>
            <a:off x="804672" y="1769364"/>
            <a:ext cx="32004" cy="25603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dpr-text catalog-title"/>
          <p:cNvSpPr txBox="1"/>
          <p:nvPr/>
        </p:nvSpPr>
        <p:spPr>
          <a:xfrm>
            <a:off x="1527048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constraint-stack-card</a:t>
            </a:r>
          </a:p>
        </p:txBody>
      </p:sp>
      <p:sp>
        <p:nvSpPr>
          <p:cNvPr id="11" name="mdpr-text catalog-body"/>
          <p:cNvSpPr txBox="1"/>
          <p:nvPr/>
        </p:nvSpPr>
        <p:spPr>
          <a:xfrm>
            <a:off x="1527048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bold label; indented description</a:t>
            </a:r>
          </a:p>
        </p:txBody>
      </p:sp>
      <p:sp>
        <p:nvSpPr>
          <p:cNvPr id="12" name="mdpr-text catalog-token"/>
          <p:cNvSpPr txBox="1"/>
          <p:nvPr/>
        </p:nvSpPr>
        <p:spPr>
          <a:xfrm>
            <a:off x="1527048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theme-token driven</a:t>
            </a:r>
          </a:p>
        </p:txBody>
      </p:sp>
      <p:sp>
        <p:nvSpPr>
          <p:cNvPr id="13" name="mdpr-surface catalog-card"/>
          <p:cNvSpPr/>
          <p:nvPr/>
        </p:nvSpPr>
        <p:spPr>
          <a:xfrm>
            <a:off x="4325112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dpr-decor"/>
          <p:cNvSpPr/>
          <p:nvPr/>
        </p:nvSpPr>
        <p:spPr>
          <a:xfrm>
            <a:off x="4489703" y="1508760"/>
            <a:ext cx="676656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dpr-text catalog-title"/>
          <p:cNvSpPr txBox="1"/>
          <p:nvPr/>
        </p:nvSpPr>
        <p:spPr>
          <a:xfrm>
            <a:off x="5285231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label-overline-card</a:t>
            </a:r>
          </a:p>
        </p:txBody>
      </p:sp>
      <p:sp>
        <p:nvSpPr>
          <p:cNvPr id="16" name="mdpr-text catalog-body"/>
          <p:cNvSpPr txBox="1"/>
          <p:nvPr/>
        </p:nvSpPr>
        <p:spPr>
          <a:xfrm>
            <a:off x="5285231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overline; title; body</a:t>
            </a:r>
          </a:p>
        </p:txBody>
      </p:sp>
      <p:sp>
        <p:nvSpPr>
          <p:cNvPr id="17" name="mdpr-text catalog-token"/>
          <p:cNvSpPr txBox="1"/>
          <p:nvPr/>
        </p:nvSpPr>
        <p:spPr>
          <a:xfrm>
            <a:off x="5285231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2563EB"/>
                </a:solidFill>
              </a:rPr>
              <a:t>theme-token driven</a:t>
            </a:r>
          </a:p>
        </p:txBody>
      </p:sp>
      <p:sp>
        <p:nvSpPr>
          <p:cNvPr id="18" name="mdpr-surface catalog-card"/>
          <p:cNvSpPr/>
          <p:nvPr/>
        </p:nvSpPr>
        <p:spPr>
          <a:xfrm>
            <a:off x="8083295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dpr-decor subtle-band"/>
          <p:cNvSpPr/>
          <p:nvPr/>
        </p:nvSpPr>
        <p:spPr>
          <a:xfrm>
            <a:off x="8247887" y="1623060"/>
            <a:ext cx="676656" cy="365760"/>
          </a:xfrm>
          <a:prstGeom prst="rect">
            <a:avLst/>
          </a:prstGeom>
          <a:solidFill>
            <a:srgbClr val="E2E8F0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dpr-decor subtle-band-line"/>
          <p:cNvSpPr/>
          <p:nvPr/>
        </p:nvSpPr>
        <p:spPr>
          <a:xfrm>
            <a:off x="8321039" y="1778508"/>
            <a:ext cx="493776" cy="16459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dpr-text catalog-title"/>
          <p:cNvSpPr txBox="1"/>
          <p:nvPr/>
        </p:nvSpPr>
        <p:spPr>
          <a:xfrm>
            <a:off x="9043415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subtle-band-card</a:t>
            </a:r>
          </a:p>
        </p:txBody>
      </p:sp>
      <p:sp>
        <p:nvSpPr>
          <p:cNvPr id="22" name="mdpr-text catalog-body"/>
          <p:cNvSpPr txBox="1"/>
          <p:nvPr/>
        </p:nvSpPr>
        <p:spPr>
          <a:xfrm>
            <a:off x="9043415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surface band; text group</a:t>
            </a:r>
          </a:p>
        </p:txBody>
      </p:sp>
      <p:sp>
        <p:nvSpPr>
          <p:cNvPr id="23" name="mdpr-text catalog-token"/>
          <p:cNvSpPr txBox="1"/>
          <p:nvPr/>
        </p:nvSpPr>
        <p:spPr>
          <a:xfrm>
            <a:off x="9043415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C2410C"/>
                </a:solidFill>
              </a:rPr>
              <a:t>theme-token driven</a:t>
            </a:r>
          </a:p>
        </p:txBody>
      </p:sp>
      <p:sp>
        <p:nvSpPr>
          <p:cNvPr id="24" name="mdpr-surface catalog-card"/>
          <p:cNvSpPr/>
          <p:nvPr/>
        </p:nvSpPr>
        <p:spPr>
          <a:xfrm>
            <a:off x="566928" y="2542032"/>
            <a:ext cx="3529584" cy="96012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dpr-decor arc-corner"/>
          <p:cNvSpPr/>
          <p:nvPr/>
        </p:nvSpPr>
        <p:spPr>
          <a:xfrm>
            <a:off x="777240" y="2802636"/>
            <a:ext cx="475488" cy="3200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dpr-decor arc-corner"/>
          <p:cNvSpPr/>
          <p:nvPr/>
        </p:nvSpPr>
        <p:spPr>
          <a:xfrm>
            <a:off x="777240" y="2802636"/>
            <a:ext cx="32004" cy="4754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dpr-decor arc-dot"/>
          <p:cNvSpPr/>
          <p:nvPr/>
        </p:nvSpPr>
        <p:spPr>
          <a:xfrm>
            <a:off x="1143000" y="3049524"/>
            <a:ext cx="201168" cy="20116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dpr-text-in-decor"/>
          <p:cNvSpPr txBox="1"/>
          <p:nvPr/>
        </p:nvSpPr>
        <p:spPr>
          <a:xfrm>
            <a:off x="749808" y="3122676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7C3AED"/>
                </a:solidFill>
              </a:rPr>
              <a:t>78%</a:t>
            </a:r>
          </a:p>
        </p:txBody>
      </p:sp>
      <p:sp>
        <p:nvSpPr>
          <p:cNvPr id="29" name="mdpr-text catalog-title"/>
          <p:cNvSpPr txBox="1"/>
          <p:nvPr/>
        </p:nvSpPr>
        <p:spPr>
          <a:xfrm>
            <a:off x="1527048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arc-corner-emphasis</a:t>
            </a:r>
          </a:p>
        </p:txBody>
      </p:sp>
      <p:sp>
        <p:nvSpPr>
          <p:cNvPr id="30" name="mdpr-text catalog-body"/>
          <p:cNvSpPr txBox="1"/>
          <p:nvPr/>
        </p:nvSpPr>
        <p:spPr>
          <a:xfrm>
            <a:off x="1527048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arc corner; label</a:t>
            </a:r>
          </a:p>
        </p:txBody>
      </p:sp>
      <p:sp>
        <p:nvSpPr>
          <p:cNvPr id="31" name="mdpr-text catalog-token"/>
          <p:cNvSpPr txBox="1"/>
          <p:nvPr/>
        </p:nvSpPr>
        <p:spPr>
          <a:xfrm>
            <a:off x="1527048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7C3AED"/>
                </a:solidFill>
              </a:rPr>
              <a:t>theme-token driven</a:t>
            </a:r>
          </a:p>
        </p:txBody>
      </p:sp>
      <p:sp>
        <p:nvSpPr>
          <p:cNvPr id="32" name="mdpr-surface catalog-card"/>
          <p:cNvSpPr/>
          <p:nvPr/>
        </p:nvSpPr>
        <p:spPr>
          <a:xfrm>
            <a:off x="4325112" y="2542032"/>
            <a:ext cx="3529584" cy="96012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dpr-decor"/>
          <p:cNvSpPr/>
          <p:nvPr/>
        </p:nvSpPr>
        <p:spPr>
          <a:xfrm>
            <a:off x="4636007" y="2820924"/>
            <a:ext cx="420624" cy="420624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dpr-decor"/>
          <p:cNvSpPr/>
          <p:nvPr/>
        </p:nvSpPr>
        <p:spPr>
          <a:xfrm>
            <a:off x="4736592" y="2921508"/>
            <a:ext cx="219456" cy="219456"/>
          </a:xfrm>
          <a:prstGeom prst="ellipse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dpr-decor chip"/>
          <p:cNvSpPr/>
          <p:nvPr/>
        </p:nvSpPr>
        <p:spPr>
          <a:xfrm>
            <a:off x="4581143" y="2903220"/>
            <a:ext cx="457200" cy="237744"/>
          </a:xfrm>
          <a:prstGeom prst="roundRect">
            <a:avLst/>
          </a:prstGeom>
          <a:solidFill>
            <a:srgbClr val="E11D48"/>
          </a:solidFill>
          <a:ln w="1016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dpr-text catalog-title"/>
          <p:cNvSpPr txBox="1"/>
          <p:nvPr/>
        </p:nvSpPr>
        <p:spPr>
          <a:xfrm>
            <a:off x="5285231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target-ring-badge</a:t>
            </a:r>
          </a:p>
        </p:txBody>
      </p:sp>
      <p:sp>
        <p:nvSpPr>
          <p:cNvPr id="37" name="mdpr-text catalog-body"/>
          <p:cNvSpPr txBox="1"/>
          <p:nvPr/>
        </p:nvSpPr>
        <p:spPr>
          <a:xfrm>
            <a:off x="5285231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ring badge; metric</a:t>
            </a:r>
          </a:p>
        </p:txBody>
      </p:sp>
      <p:sp>
        <p:nvSpPr>
          <p:cNvPr id="38" name="mdpr-text catalog-token"/>
          <p:cNvSpPr txBox="1"/>
          <p:nvPr/>
        </p:nvSpPr>
        <p:spPr>
          <a:xfrm>
            <a:off x="5285231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E11D48"/>
                </a:solidFill>
              </a:rPr>
              <a:t>theme-token driven</a:t>
            </a:r>
          </a:p>
        </p:txBody>
      </p:sp>
      <p:sp>
        <p:nvSpPr>
          <p:cNvPr id="39" name="mdpr-surface catalog-card"/>
          <p:cNvSpPr/>
          <p:nvPr/>
        </p:nvSpPr>
        <p:spPr>
          <a:xfrm>
            <a:off x="8083295" y="2542032"/>
            <a:ext cx="3529584" cy="9601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dpr-decor image-slot"/>
          <p:cNvSpPr/>
          <p:nvPr/>
        </p:nvSpPr>
        <p:spPr>
          <a:xfrm>
            <a:off x="8247887" y="2793492"/>
            <a:ext cx="420624" cy="457200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dpr-decor"/>
          <p:cNvSpPr/>
          <p:nvPr/>
        </p:nvSpPr>
        <p:spPr>
          <a:xfrm>
            <a:off x="8705087" y="2912364"/>
            <a:ext cx="219456" cy="32004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dpr-decor image-slot"/>
          <p:cNvSpPr/>
          <p:nvPr/>
        </p:nvSpPr>
        <p:spPr>
          <a:xfrm>
            <a:off x="8247887" y="2811780"/>
            <a:ext cx="566928" cy="420624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dpr-text catalog-title"/>
          <p:cNvSpPr txBox="1"/>
          <p:nvPr/>
        </p:nvSpPr>
        <p:spPr>
          <a:xfrm>
            <a:off x="9043415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image-sidecar-card</a:t>
            </a:r>
          </a:p>
        </p:txBody>
      </p:sp>
      <p:sp>
        <p:nvSpPr>
          <p:cNvPr id="44" name="mdpr-text catalog-body"/>
          <p:cNvSpPr txBox="1"/>
          <p:nvPr/>
        </p:nvSpPr>
        <p:spPr>
          <a:xfrm>
            <a:off x="9043415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reserved image sidecar; text block</a:t>
            </a:r>
          </a:p>
        </p:txBody>
      </p:sp>
      <p:sp>
        <p:nvSpPr>
          <p:cNvPr id="45" name="mdpr-text catalog-token"/>
          <p:cNvSpPr txBox="1"/>
          <p:nvPr/>
        </p:nvSpPr>
        <p:spPr>
          <a:xfrm>
            <a:off x="9043415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6A34A"/>
                </a:solidFill>
              </a:rPr>
              <a:t>theme-token driven</a:t>
            </a:r>
          </a:p>
        </p:txBody>
      </p:sp>
      <p:sp>
        <p:nvSpPr>
          <p:cNvPr id="46" name="mdpr-surface catalog-card"/>
          <p:cNvSpPr/>
          <p:nvPr/>
        </p:nvSpPr>
        <p:spPr>
          <a:xfrm>
            <a:off x="566928" y="3758184"/>
            <a:ext cx="3529584" cy="96012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dpr-decor table-summary"/>
          <p:cNvSpPr/>
          <p:nvPr/>
        </p:nvSpPr>
        <p:spPr>
          <a:xfrm>
            <a:off x="731520" y="3982212"/>
            <a:ext cx="65836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dpr-decor table-header"/>
          <p:cNvSpPr/>
          <p:nvPr/>
        </p:nvSpPr>
        <p:spPr>
          <a:xfrm>
            <a:off x="731520" y="3982212"/>
            <a:ext cx="658368" cy="7315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dpr-decor table-row"/>
          <p:cNvSpPr/>
          <p:nvPr/>
        </p:nvSpPr>
        <p:spPr>
          <a:xfrm>
            <a:off x="786384" y="4165092"/>
            <a:ext cx="548640" cy="12801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dpr-decor table-dot"/>
          <p:cNvSpPr/>
          <p:nvPr/>
        </p:nvSpPr>
        <p:spPr>
          <a:xfrm>
            <a:off x="804672" y="4133088"/>
            <a:ext cx="64008" cy="64008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mdpr-decor table-row"/>
          <p:cNvSpPr/>
          <p:nvPr/>
        </p:nvSpPr>
        <p:spPr>
          <a:xfrm>
            <a:off x="786384" y="4329684"/>
            <a:ext cx="548640" cy="12801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dpr-decor table-dot"/>
          <p:cNvSpPr/>
          <p:nvPr/>
        </p:nvSpPr>
        <p:spPr>
          <a:xfrm>
            <a:off x="804672" y="4297680"/>
            <a:ext cx="64008" cy="64008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dpr-text-in-decor"/>
          <p:cNvSpPr txBox="1"/>
          <p:nvPr/>
        </p:nvSpPr>
        <p:spPr>
          <a:xfrm>
            <a:off x="1115568" y="4137660"/>
            <a:ext cx="22860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0F766E"/>
                </a:solidFill>
              </a:rPr>
              <a:t>42</a:t>
            </a:r>
          </a:p>
        </p:txBody>
      </p:sp>
      <p:sp>
        <p:nvSpPr>
          <p:cNvPr id="54" name="mdpr-text-in-decor"/>
          <p:cNvSpPr txBox="1"/>
          <p:nvPr/>
        </p:nvSpPr>
        <p:spPr>
          <a:xfrm>
            <a:off x="1115568" y="4302252"/>
            <a:ext cx="22860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0F766E"/>
                </a:solidFill>
              </a:rPr>
              <a:t>18</a:t>
            </a:r>
          </a:p>
        </p:txBody>
      </p:sp>
      <p:sp>
        <p:nvSpPr>
          <p:cNvPr id="55" name="mdpr-text catalog-title"/>
          <p:cNvSpPr txBox="1"/>
          <p:nvPr/>
        </p:nvSpPr>
        <p:spPr>
          <a:xfrm>
            <a:off x="1527048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table-summary-card</a:t>
            </a:r>
          </a:p>
        </p:txBody>
      </p:sp>
      <p:sp>
        <p:nvSpPr>
          <p:cNvPr id="56" name="mdpr-text catalog-body"/>
          <p:cNvSpPr txBox="1"/>
          <p:nvPr/>
        </p:nvSpPr>
        <p:spPr>
          <a:xfrm>
            <a:off x="1527048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header label; two compact facts</a:t>
            </a:r>
          </a:p>
        </p:txBody>
      </p:sp>
      <p:sp>
        <p:nvSpPr>
          <p:cNvPr id="57" name="mdpr-text catalog-token"/>
          <p:cNvSpPr txBox="1"/>
          <p:nvPr/>
        </p:nvSpPr>
        <p:spPr>
          <a:xfrm>
            <a:off x="1527048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theme-token driven</a:t>
            </a:r>
          </a:p>
        </p:txBody>
      </p:sp>
      <p:sp>
        <p:nvSpPr>
          <p:cNvPr id="58" name="mdpr-surface catalog-card"/>
          <p:cNvSpPr/>
          <p:nvPr/>
        </p:nvSpPr>
        <p:spPr>
          <a:xfrm>
            <a:off x="4325112" y="3758184"/>
            <a:ext cx="3529584" cy="9601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dpr-decor"/>
          <p:cNvSpPr/>
          <p:nvPr/>
        </p:nvSpPr>
        <p:spPr>
          <a:xfrm>
            <a:off x="4535423" y="4119372"/>
            <a:ext cx="237744" cy="23774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mdpr-decor"/>
          <p:cNvSpPr/>
          <p:nvPr/>
        </p:nvSpPr>
        <p:spPr>
          <a:xfrm>
            <a:off x="4837175" y="4229100"/>
            <a:ext cx="384048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mdpr-text catalog-title"/>
          <p:cNvSpPr txBox="1"/>
          <p:nvPr/>
        </p:nvSpPr>
        <p:spPr>
          <a:xfrm>
            <a:off x="5285231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connector-dot-card</a:t>
            </a:r>
          </a:p>
        </p:txBody>
      </p:sp>
      <p:sp>
        <p:nvSpPr>
          <p:cNvPr id="62" name="mdpr-text catalog-body"/>
          <p:cNvSpPr txBox="1"/>
          <p:nvPr/>
        </p:nvSpPr>
        <p:spPr>
          <a:xfrm>
            <a:off x="5285231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edge dot; connector anchor</a:t>
            </a:r>
          </a:p>
        </p:txBody>
      </p:sp>
      <p:sp>
        <p:nvSpPr>
          <p:cNvPr id="63" name="mdpr-text catalog-token"/>
          <p:cNvSpPr txBox="1"/>
          <p:nvPr/>
        </p:nvSpPr>
        <p:spPr>
          <a:xfrm>
            <a:off x="5285231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2563EB"/>
                </a:solidFill>
              </a:rPr>
              <a:t>theme-token driven</a:t>
            </a:r>
          </a:p>
        </p:txBody>
      </p:sp>
      <p:sp>
        <p:nvSpPr>
          <p:cNvPr id="64" name="mdpr-surface catalog-card"/>
          <p:cNvSpPr/>
          <p:nvPr/>
        </p:nvSpPr>
        <p:spPr>
          <a:xfrm>
            <a:off x="8083295" y="3758184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mdpr-text catalog-title"/>
          <p:cNvSpPr txBox="1"/>
          <p:nvPr/>
        </p:nvSpPr>
        <p:spPr>
          <a:xfrm>
            <a:off x="9043415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plain-safe-card</a:t>
            </a:r>
          </a:p>
        </p:txBody>
      </p:sp>
      <p:sp>
        <p:nvSpPr>
          <p:cNvPr id="66" name="mdpr-text catalog-body"/>
          <p:cNvSpPr txBox="1"/>
          <p:nvPr/>
        </p:nvSpPr>
        <p:spPr>
          <a:xfrm>
            <a:off x="9043415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minimal padding; no ornament</a:t>
            </a:r>
          </a:p>
        </p:txBody>
      </p:sp>
      <p:sp>
        <p:nvSpPr>
          <p:cNvPr id="67" name="mdpr-text catalog-token"/>
          <p:cNvSpPr txBox="1"/>
          <p:nvPr/>
        </p:nvSpPr>
        <p:spPr>
          <a:xfrm>
            <a:off x="9043415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C2410C"/>
                </a:solidFill>
              </a:rPr>
              <a:t>theme-token driven</a:t>
            </a:r>
          </a:p>
        </p:txBody>
      </p:sp>
      <p:sp>
        <p:nvSpPr>
          <p:cNvPr id="68" name="mdpr-surface catalog-card"/>
          <p:cNvSpPr/>
          <p:nvPr/>
        </p:nvSpPr>
        <p:spPr>
          <a:xfrm>
            <a:off x="566928" y="4974336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mdpr-decor paper"/>
          <p:cNvSpPr/>
          <p:nvPr/>
        </p:nvSpPr>
        <p:spPr>
          <a:xfrm>
            <a:off x="841248" y="5234940"/>
            <a:ext cx="420624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mdpr-decor"/>
          <p:cNvSpPr/>
          <p:nvPr/>
        </p:nvSpPr>
        <p:spPr>
          <a:xfrm>
            <a:off x="896112" y="5399532"/>
            <a:ext cx="310896" cy="16459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mdpr-decor"/>
          <p:cNvSpPr/>
          <p:nvPr/>
        </p:nvSpPr>
        <p:spPr>
          <a:xfrm>
            <a:off x="658368" y="5344668"/>
            <a:ext cx="219456" cy="219456"/>
          </a:xfrm>
          <a:prstGeom prst="ellipse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mdpr-decor"/>
          <p:cNvSpPr/>
          <p:nvPr/>
        </p:nvSpPr>
        <p:spPr>
          <a:xfrm>
            <a:off x="1261872" y="5344668"/>
            <a:ext cx="219456" cy="219456"/>
          </a:xfrm>
          <a:prstGeom prst="ellipse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mdpr-text catalog-title"/>
          <p:cNvSpPr txBox="1"/>
          <p:nvPr/>
        </p:nvSpPr>
        <p:spPr>
          <a:xfrm>
            <a:off x="1527048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rounded-ticket-panel</a:t>
            </a:r>
          </a:p>
        </p:txBody>
      </p:sp>
      <p:sp>
        <p:nvSpPr>
          <p:cNvPr id="74" name="mdpr-text catalog-body"/>
          <p:cNvSpPr txBox="1"/>
          <p:nvPr/>
        </p:nvSpPr>
        <p:spPr>
          <a:xfrm>
            <a:off x="1527048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large rounded ticket; punched corner cue</a:t>
            </a:r>
          </a:p>
        </p:txBody>
      </p:sp>
      <p:sp>
        <p:nvSpPr>
          <p:cNvPr id="75" name="mdpr-text catalog-token"/>
          <p:cNvSpPr txBox="1"/>
          <p:nvPr/>
        </p:nvSpPr>
        <p:spPr>
          <a:xfrm>
            <a:off x="1527048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7C3AED"/>
                </a:solidFill>
              </a:rPr>
              <a:t>theme-token driven</a:t>
            </a:r>
          </a:p>
        </p:txBody>
      </p:sp>
      <p:sp>
        <p:nvSpPr>
          <p:cNvPr id="76" name="mdpr-surface catalog-card"/>
          <p:cNvSpPr/>
          <p:nvPr/>
        </p:nvSpPr>
        <p:spPr>
          <a:xfrm>
            <a:off x="4325112" y="4974336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mdpr-decor paper"/>
          <p:cNvSpPr/>
          <p:nvPr/>
        </p:nvSpPr>
        <p:spPr>
          <a:xfrm>
            <a:off x="4599431" y="5234940"/>
            <a:ext cx="420624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mdpr-decor"/>
          <p:cNvSpPr/>
          <p:nvPr/>
        </p:nvSpPr>
        <p:spPr>
          <a:xfrm>
            <a:off x="4654295" y="5399532"/>
            <a:ext cx="310896" cy="16459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mdpr-text catalog-title"/>
          <p:cNvSpPr txBox="1"/>
          <p:nvPr/>
        </p:nvSpPr>
        <p:spPr>
          <a:xfrm>
            <a:off x="5285231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paperclip-corner</a:t>
            </a:r>
          </a:p>
        </p:txBody>
      </p:sp>
      <p:sp>
        <p:nvSpPr>
          <p:cNvPr id="80" name="mdpr-text catalog-body"/>
          <p:cNvSpPr txBox="1"/>
          <p:nvPr/>
        </p:nvSpPr>
        <p:spPr>
          <a:xfrm>
            <a:off x="5285231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small clip mark; corner overlap</a:t>
            </a:r>
          </a:p>
        </p:txBody>
      </p:sp>
      <p:sp>
        <p:nvSpPr>
          <p:cNvPr id="81" name="mdpr-text catalog-token"/>
          <p:cNvSpPr txBox="1"/>
          <p:nvPr/>
        </p:nvSpPr>
        <p:spPr>
          <a:xfrm>
            <a:off x="5285231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E11D48"/>
                </a:solidFill>
              </a:rPr>
              <a:t>theme-token driven</a:t>
            </a:r>
          </a:p>
        </p:txBody>
      </p:sp>
      <p:sp>
        <p:nvSpPr>
          <p:cNvPr id="82" name="mdpr-surface catalog-card"/>
          <p:cNvSpPr/>
          <p:nvPr/>
        </p:nvSpPr>
        <p:spPr>
          <a:xfrm>
            <a:off x="8083295" y="4974336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mdpr-text catalog-title"/>
          <p:cNvSpPr txBox="1"/>
          <p:nvPr/>
        </p:nvSpPr>
        <p:spPr>
          <a:xfrm>
            <a:off x="9043415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binder-hole-strip</a:t>
            </a:r>
          </a:p>
        </p:txBody>
      </p:sp>
      <p:sp>
        <p:nvSpPr>
          <p:cNvPr id="84" name="mdpr-text catalog-body"/>
          <p:cNvSpPr txBox="1"/>
          <p:nvPr/>
        </p:nvSpPr>
        <p:spPr>
          <a:xfrm>
            <a:off x="9043415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hole strip; ruled background</a:t>
            </a:r>
          </a:p>
        </p:txBody>
      </p:sp>
      <p:sp>
        <p:nvSpPr>
          <p:cNvPr id="85" name="mdpr-text catalog-token"/>
          <p:cNvSpPr txBox="1"/>
          <p:nvPr/>
        </p:nvSpPr>
        <p:spPr>
          <a:xfrm>
            <a:off x="9043415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6A34A"/>
                </a:solidFill>
              </a:rPr>
              <a:t>theme-token driven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Object Shape Grammar Catalog 4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Editable preview objects generated from the 60+ structural archetype catalog.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dpr-surface catalog-card"/>
          <p:cNvSpPr/>
          <p:nvPr/>
        </p:nvSpPr>
        <p:spPr>
          <a:xfrm>
            <a:off x="566928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dpr-text catalog-title"/>
          <p:cNvSpPr txBox="1"/>
          <p:nvPr/>
        </p:nvSpPr>
        <p:spPr>
          <a:xfrm>
            <a:off x="1527048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tape-label</a:t>
            </a:r>
          </a:p>
        </p:txBody>
      </p:sp>
      <p:sp>
        <p:nvSpPr>
          <p:cNvPr id="7" name="mdpr-text catalog-body"/>
          <p:cNvSpPr txBox="1"/>
          <p:nvPr/>
        </p:nvSpPr>
        <p:spPr>
          <a:xfrm>
            <a:off x="1527048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short tape surface; caption</a:t>
            </a:r>
          </a:p>
        </p:txBody>
      </p:sp>
      <p:sp>
        <p:nvSpPr>
          <p:cNvPr id="8" name="mdpr-text catalog-token"/>
          <p:cNvSpPr txBox="1"/>
          <p:nvPr/>
        </p:nvSpPr>
        <p:spPr>
          <a:xfrm>
            <a:off x="1527048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theme-token driven</a:t>
            </a:r>
          </a:p>
        </p:txBody>
      </p:sp>
      <p:sp>
        <p:nvSpPr>
          <p:cNvPr id="9" name="mdpr-surface catalog-card"/>
          <p:cNvSpPr/>
          <p:nvPr/>
        </p:nvSpPr>
        <p:spPr>
          <a:xfrm>
            <a:off x="4325112" y="1325880"/>
            <a:ext cx="3529584" cy="96012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dpr-decor"/>
          <p:cNvSpPr/>
          <p:nvPr/>
        </p:nvSpPr>
        <p:spPr>
          <a:xfrm>
            <a:off x="4782312" y="1915668"/>
            <a:ext cx="164592" cy="164592"/>
          </a:xfrm>
          <a:prstGeom prst="ellipse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dpr-text catalog-title"/>
          <p:cNvSpPr txBox="1"/>
          <p:nvPr/>
        </p:nvSpPr>
        <p:spPr>
          <a:xfrm>
            <a:off x="5285231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speech-bubble-callout</a:t>
            </a:r>
          </a:p>
        </p:txBody>
      </p:sp>
      <p:sp>
        <p:nvSpPr>
          <p:cNvPr id="12" name="mdpr-text catalog-body"/>
          <p:cNvSpPr txBox="1"/>
          <p:nvPr/>
        </p:nvSpPr>
        <p:spPr>
          <a:xfrm>
            <a:off x="5285231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bubble; tail; short text</a:t>
            </a:r>
          </a:p>
        </p:txBody>
      </p:sp>
      <p:sp>
        <p:nvSpPr>
          <p:cNvPr id="13" name="mdpr-text catalog-token"/>
          <p:cNvSpPr txBox="1"/>
          <p:nvPr/>
        </p:nvSpPr>
        <p:spPr>
          <a:xfrm>
            <a:off x="5285231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2563EB"/>
                </a:solidFill>
              </a:rPr>
              <a:t>theme-token driven</a:t>
            </a:r>
          </a:p>
        </p:txBody>
      </p:sp>
      <p:sp>
        <p:nvSpPr>
          <p:cNvPr id="14" name="mdpr-surface catalog-card"/>
          <p:cNvSpPr/>
          <p:nvPr/>
        </p:nvSpPr>
        <p:spPr>
          <a:xfrm>
            <a:off x="8083295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dpr-text catalog-title"/>
          <p:cNvSpPr txBox="1"/>
          <p:nvPr/>
        </p:nvSpPr>
        <p:spPr>
          <a:xfrm>
            <a:off x="9043415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diagonal-sash-label</a:t>
            </a:r>
          </a:p>
        </p:txBody>
      </p:sp>
      <p:sp>
        <p:nvSpPr>
          <p:cNvPr id="16" name="mdpr-text catalog-body"/>
          <p:cNvSpPr txBox="1"/>
          <p:nvPr/>
        </p:nvSpPr>
        <p:spPr>
          <a:xfrm>
            <a:off x="9043415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diagonal sash; short word</a:t>
            </a:r>
          </a:p>
        </p:txBody>
      </p:sp>
      <p:sp>
        <p:nvSpPr>
          <p:cNvPr id="17" name="mdpr-text catalog-token"/>
          <p:cNvSpPr txBox="1"/>
          <p:nvPr/>
        </p:nvSpPr>
        <p:spPr>
          <a:xfrm>
            <a:off x="9043415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C2410C"/>
                </a:solidFill>
              </a:rPr>
              <a:t>theme-token driven</a:t>
            </a:r>
          </a:p>
        </p:txBody>
      </p:sp>
      <p:sp>
        <p:nvSpPr>
          <p:cNvPr id="18" name="mdpr-surface catalog-card"/>
          <p:cNvSpPr/>
          <p:nvPr/>
        </p:nvSpPr>
        <p:spPr>
          <a:xfrm>
            <a:off x="566928" y="2542032"/>
            <a:ext cx="3529584" cy="9601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dpr-text catalog-title"/>
          <p:cNvSpPr txBox="1"/>
          <p:nvPr/>
        </p:nvSpPr>
        <p:spPr>
          <a:xfrm>
            <a:off x="1527048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pill-step-node</a:t>
            </a:r>
          </a:p>
        </p:txBody>
      </p:sp>
      <p:sp>
        <p:nvSpPr>
          <p:cNvPr id="20" name="mdpr-text catalog-body"/>
          <p:cNvSpPr txBox="1"/>
          <p:nvPr/>
        </p:nvSpPr>
        <p:spPr>
          <a:xfrm>
            <a:off x="1527048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pill node; short label</a:t>
            </a:r>
          </a:p>
        </p:txBody>
      </p:sp>
      <p:sp>
        <p:nvSpPr>
          <p:cNvPr id="21" name="mdpr-text catalog-token"/>
          <p:cNvSpPr txBox="1"/>
          <p:nvPr/>
        </p:nvSpPr>
        <p:spPr>
          <a:xfrm>
            <a:off x="1527048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7C3AED"/>
                </a:solidFill>
              </a:rPr>
              <a:t>theme-token driven</a:t>
            </a:r>
          </a:p>
        </p:txBody>
      </p:sp>
      <p:sp>
        <p:nvSpPr>
          <p:cNvPr id="22" name="mdpr-surface catalog-card"/>
          <p:cNvSpPr/>
          <p:nvPr/>
        </p:nvSpPr>
        <p:spPr>
          <a:xfrm>
            <a:off x="4325112" y="2542032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dpr-decor paper"/>
          <p:cNvSpPr/>
          <p:nvPr/>
        </p:nvSpPr>
        <p:spPr>
          <a:xfrm>
            <a:off x="4599431" y="2802636"/>
            <a:ext cx="420624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dpr-decor"/>
          <p:cNvSpPr/>
          <p:nvPr/>
        </p:nvSpPr>
        <p:spPr>
          <a:xfrm>
            <a:off x="4654295" y="2967228"/>
            <a:ext cx="310896" cy="16459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dpr-decor notch"/>
          <p:cNvSpPr/>
          <p:nvPr/>
        </p:nvSpPr>
        <p:spPr>
          <a:xfrm>
            <a:off x="4782312" y="2839212"/>
            <a:ext cx="320040" cy="274320"/>
          </a:xfrm>
          <a:prstGeom prst="rect">
            <a:avLst/>
          </a:prstGeom>
          <a:solidFill>
            <a:srgbClr val="FDE68A"/>
          </a:solidFill>
          <a:ln w="1016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dpr-text catalog-title"/>
          <p:cNvSpPr txBox="1"/>
          <p:nvPr/>
        </p:nvSpPr>
        <p:spPr>
          <a:xfrm>
            <a:off x="5285231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folded-corner-card</a:t>
            </a:r>
          </a:p>
        </p:txBody>
      </p:sp>
      <p:sp>
        <p:nvSpPr>
          <p:cNvPr id="27" name="mdpr-text catalog-body"/>
          <p:cNvSpPr txBox="1"/>
          <p:nvPr/>
        </p:nvSpPr>
        <p:spPr>
          <a:xfrm>
            <a:off x="5285231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fold mark; body</a:t>
            </a:r>
          </a:p>
        </p:txBody>
      </p:sp>
      <p:sp>
        <p:nvSpPr>
          <p:cNvPr id="28" name="mdpr-text catalog-token"/>
          <p:cNvSpPr txBox="1"/>
          <p:nvPr/>
        </p:nvSpPr>
        <p:spPr>
          <a:xfrm>
            <a:off x="5285231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E11D48"/>
                </a:solidFill>
              </a:rPr>
              <a:t>theme-token driven</a:t>
            </a:r>
          </a:p>
        </p:txBody>
      </p:sp>
      <p:sp>
        <p:nvSpPr>
          <p:cNvPr id="29" name="mdpr-surface catalog-card"/>
          <p:cNvSpPr/>
          <p:nvPr/>
        </p:nvSpPr>
        <p:spPr>
          <a:xfrm>
            <a:off x="8083295" y="2542032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dpr-decor paper"/>
          <p:cNvSpPr/>
          <p:nvPr/>
        </p:nvSpPr>
        <p:spPr>
          <a:xfrm>
            <a:off x="8357615" y="2802636"/>
            <a:ext cx="420624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dpr-decor"/>
          <p:cNvSpPr/>
          <p:nvPr/>
        </p:nvSpPr>
        <p:spPr>
          <a:xfrm>
            <a:off x="8412479" y="2967228"/>
            <a:ext cx="310896" cy="16459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dpr-text catalog-title"/>
          <p:cNvSpPr txBox="1"/>
          <p:nvPr/>
        </p:nvSpPr>
        <p:spPr>
          <a:xfrm>
            <a:off x="9043415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stacked-paper-cards</a:t>
            </a:r>
          </a:p>
        </p:txBody>
      </p:sp>
      <p:sp>
        <p:nvSpPr>
          <p:cNvPr id="33" name="mdpr-text catalog-body"/>
          <p:cNvSpPr txBox="1"/>
          <p:nvPr/>
        </p:nvSpPr>
        <p:spPr>
          <a:xfrm>
            <a:off x="9043415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offset sheets; front card</a:t>
            </a:r>
          </a:p>
        </p:txBody>
      </p:sp>
      <p:sp>
        <p:nvSpPr>
          <p:cNvPr id="34" name="mdpr-text catalog-token"/>
          <p:cNvSpPr txBox="1"/>
          <p:nvPr/>
        </p:nvSpPr>
        <p:spPr>
          <a:xfrm>
            <a:off x="9043415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6A34A"/>
                </a:solidFill>
              </a:rPr>
              <a:t>theme-token driven</a:t>
            </a:r>
          </a:p>
        </p:txBody>
      </p:sp>
      <p:sp>
        <p:nvSpPr>
          <p:cNvPr id="35" name="mdpr-surface catalog-card"/>
          <p:cNvSpPr/>
          <p:nvPr/>
        </p:nvSpPr>
        <p:spPr>
          <a:xfrm>
            <a:off x="566928" y="3758184"/>
            <a:ext cx="3529584" cy="9601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dpr-text catalog-title"/>
          <p:cNvSpPr txBox="1"/>
          <p:nvPr/>
        </p:nvSpPr>
        <p:spPr>
          <a:xfrm>
            <a:off x="1527048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overlap-lens-diagram</a:t>
            </a:r>
          </a:p>
        </p:txBody>
      </p:sp>
      <p:sp>
        <p:nvSpPr>
          <p:cNvPr id="37" name="mdpr-text catalog-body"/>
          <p:cNvSpPr txBox="1"/>
          <p:nvPr/>
        </p:nvSpPr>
        <p:spPr>
          <a:xfrm>
            <a:off x="1527048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two translucent shapes; center label</a:t>
            </a:r>
          </a:p>
        </p:txBody>
      </p:sp>
      <p:sp>
        <p:nvSpPr>
          <p:cNvPr id="38" name="mdpr-text catalog-token"/>
          <p:cNvSpPr txBox="1"/>
          <p:nvPr/>
        </p:nvSpPr>
        <p:spPr>
          <a:xfrm>
            <a:off x="1527048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theme-token driven</a:t>
            </a:r>
          </a:p>
        </p:txBody>
      </p:sp>
      <p:sp>
        <p:nvSpPr>
          <p:cNvPr id="39" name="mdpr-surface catalog-card"/>
          <p:cNvSpPr/>
          <p:nvPr/>
        </p:nvSpPr>
        <p:spPr>
          <a:xfrm>
            <a:off x="4325112" y="3758184"/>
            <a:ext cx="3529584" cy="9601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dpr-decor"/>
          <p:cNvSpPr/>
          <p:nvPr/>
        </p:nvSpPr>
        <p:spPr>
          <a:xfrm>
            <a:off x="4809743" y="3982212"/>
            <a:ext cx="22860" cy="5120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dpr-decor"/>
          <p:cNvSpPr/>
          <p:nvPr/>
        </p:nvSpPr>
        <p:spPr>
          <a:xfrm>
            <a:off x="4562855" y="4238244"/>
            <a:ext cx="512064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dpr-text catalog-title"/>
          <p:cNvSpPr txBox="1"/>
          <p:nvPr/>
        </p:nvSpPr>
        <p:spPr>
          <a:xfrm>
            <a:off x="5285231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axis-quadrant-map</a:t>
            </a:r>
          </a:p>
        </p:txBody>
      </p:sp>
      <p:sp>
        <p:nvSpPr>
          <p:cNvPr id="43" name="mdpr-text catalog-body"/>
          <p:cNvSpPr txBox="1"/>
          <p:nvPr/>
        </p:nvSpPr>
        <p:spPr>
          <a:xfrm>
            <a:off x="5285231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cross axes; quadrant labels</a:t>
            </a:r>
          </a:p>
        </p:txBody>
      </p:sp>
      <p:sp>
        <p:nvSpPr>
          <p:cNvPr id="44" name="mdpr-text catalog-token"/>
          <p:cNvSpPr txBox="1"/>
          <p:nvPr/>
        </p:nvSpPr>
        <p:spPr>
          <a:xfrm>
            <a:off x="5285231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2563EB"/>
                </a:solidFill>
              </a:rPr>
              <a:t>theme-token driven</a:t>
            </a:r>
          </a:p>
        </p:txBody>
      </p:sp>
      <p:sp>
        <p:nvSpPr>
          <p:cNvPr id="45" name="mdpr-surface catalog-card"/>
          <p:cNvSpPr/>
          <p:nvPr/>
        </p:nvSpPr>
        <p:spPr>
          <a:xfrm>
            <a:off x="8083295" y="3758184"/>
            <a:ext cx="3529584" cy="9601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dpr-text catalog-title"/>
          <p:cNvSpPr txBox="1"/>
          <p:nvPr/>
        </p:nvSpPr>
        <p:spPr>
          <a:xfrm>
            <a:off x="9043415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ladder-step-diagram</a:t>
            </a:r>
          </a:p>
        </p:txBody>
      </p:sp>
      <p:sp>
        <p:nvSpPr>
          <p:cNvPr id="47" name="mdpr-text catalog-body"/>
          <p:cNvSpPr txBox="1"/>
          <p:nvPr/>
        </p:nvSpPr>
        <p:spPr>
          <a:xfrm>
            <a:off x="9043415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stepped blocks; ascending labels</a:t>
            </a:r>
          </a:p>
        </p:txBody>
      </p:sp>
      <p:sp>
        <p:nvSpPr>
          <p:cNvPr id="48" name="mdpr-text catalog-token"/>
          <p:cNvSpPr txBox="1"/>
          <p:nvPr/>
        </p:nvSpPr>
        <p:spPr>
          <a:xfrm>
            <a:off x="9043415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C2410C"/>
                </a:solidFill>
              </a:rPr>
              <a:t>theme-token driven</a:t>
            </a:r>
          </a:p>
        </p:txBody>
      </p:sp>
      <p:sp>
        <p:nvSpPr>
          <p:cNvPr id="49" name="mdpr-surface catalog-card"/>
          <p:cNvSpPr/>
          <p:nvPr/>
        </p:nvSpPr>
        <p:spPr>
          <a:xfrm>
            <a:off x="566928" y="4974336"/>
            <a:ext cx="3529584" cy="9601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dpr-decor"/>
          <p:cNvSpPr/>
          <p:nvPr/>
        </p:nvSpPr>
        <p:spPr>
          <a:xfrm>
            <a:off x="841248" y="5253228"/>
            <a:ext cx="146304" cy="14630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mdpr-decor"/>
          <p:cNvSpPr/>
          <p:nvPr/>
        </p:nvSpPr>
        <p:spPr>
          <a:xfrm>
            <a:off x="1152144" y="5408676"/>
            <a:ext cx="146304" cy="14630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dpr-decor"/>
          <p:cNvSpPr/>
          <p:nvPr/>
        </p:nvSpPr>
        <p:spPr>
          <a:xfrm>
            <a:off x="896112" y="5637276"/>
            <a:ext cx="146304" cy="14630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dpr-text catalog-title"/>
          <p:cNvSpPr txBox="1"/>
          <p:nvPr/>
        </p:nvSpPr>
        <p:spPr>
          <a:xfrm>
            <a:off x="1527048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loop-arrow-cycle</a:t>
            </a:r>
          </a:p>
        </p:txBody>
      </p:sp>
      <p:sp>
        <p:nvSpPr>
          <p:cNvPr id="54" name="mdpr-text catalog-body"/>
          <p:cNvSpPr txBox="1"/>
          <p:nvPr/>
        </p:nvSpPr>
        <p:spPr>
          <a:xfrm>
            <a:off x="1527048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curved arrows; nodes</a:t>
            </a:r>
          </a:p>
        </p:txBody>
      </p:sp>
      <p:sp>
        <p:nvSpPr>
          <p:cNvPr id="55" name="mdpr-text catalog-token"/>
          <p:cNvSpPr txBox="1"/>
          <p:nvPr/>
        </p:nvSpPr>
        <p:spPr>
          <a:xfrm>
            <a:off x="1527048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7C3AED"/>
                </a:solidFill>
              </a:rPr>
              <a:t>theme-token driven</a:t>
            </a:r>
          </a:p>
        </p:txBody>
      </p:sp>
      <p:sp>
        <p:nvSpPr>
          <p:cNvPr id="56" name="mdpr-surface catalog-card"/>
          <p:cNvSpPr/>
          <p:nvPr/>
        </p:nvSpPr>
        <p:spPr>
          <a:xfrm>
            <a:off x="4325112" y="4974336"/>
            <a:ext cx="3529584" cy="9601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dpr-decor"/>
          <p:cNvSpPr/>
          <p:nvPr/>
        </p:nvSpPr>
        <p:spPr>
          <a:xfrm>
            <a:off x="4718303" y="5326380"/>
            <a:ext cx="256032" cy="256032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dpr-decor"/>
          <p:cNvSpPr/>
          <p:nvPr/>
        </p:nvSpPr>
        <p:spPr>
          <a:xfrm>
            <a:off x="4581143" y="5454396"/>
            <a:ext cx="502920" cy="16459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dpr-decor"/>
          <p:cNvSpPr/>
          <p:nvPr/>
        </p:nvSpPr>
        <p:spPr>
          <a:xfrm>
            <a:off x="4837175" y="5216652"/>
            <a:ext cx="16459" cy="4754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mdpr-decor"/>
          <p:cNvSpPr/>
          <p:nvPr/>
        </p:nvSpPr>
        <p:spPr>
          <a:xfrm>
            <a:off x="4507991" y="5216652"/>
            <a:ext cx="118872" cy="118872"/>
          </a:xfrm>
          <a:prstGeom prst="ellipse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mdpr-decor"/>
          <p:cNvSpPr/>
          <p:nvPr/>
        </p:nvSpPr>
        <p:spPr>
          <a:xfrm>
            <a:off x="4965192" y="5234940"/>
            <a:ext cx="118872" cy="118872"/>
          </a:xfrm>
          <a:prstGeom prst="ellipse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mdpr-decor"/>
          <p:cNvSpPr/>
          <p:nvPr/>
        </p:nvSpPr>
        <p:spPr>
          <a:xfrm>
            <a:off x="4526279" y="5682996"/>
            <a:ext cx="118872" cy="118872"/>
          </a:xfrm>
          <a:prstGeom prst="ellipse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mdpr-decor"/>
          <p:cNvSpPr/>
          <p:nvPr/>
        </p:nvSpPr>
        <p:spPr>
          <a:xfrm>
            <a:off x="4974336" y="5655564"/>
            <a:ext cx="118872" cy="118872"/>
          </a:xfrm>
          <a:prstGeom prst="ellipse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mdpr-text catalog-title"/>
          <p:cNvSpPr txBox="1"/>
          <p:nvPr/>
        </p:nvSpPr>
        <p:spPr>
          <a:xfrm>
            <a:off x="5285231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center-hub-spokes</a:t>
            </a:r>
          </a:p>
        </p:txBody>
      </p:sp>
      <p:sp>
        <p:nvSpPr>
          <p:cNvPr id="65" name="mdpr-text catalog-body"/>
          <p:cNvSpPr txBox="1"/>
          <p:nvPr/>
        </p:nvSpPr>
        <p:spPr>
          <a:xfrm>
            <a:off x="5285231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center node; spokes; outer nodes</a:t>
            </a:r>
          </a:p>
        </p:txBody>
      </p:sp>
      <p:sp>
        <p:nvSpPr>
          <p:cNvPr id="66" name="mdpr-text catalog-token"/>
          <p:cNvSpPr txBox="1"/>
          <p:nvPr/>
        </p:nvSpPr>
        <p:spPr>
          <a:xfrm>
            <a:off x="5285231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E11D48"/>
                </a:solidFill>
              </a:rPr>
              <a:t>theme-token driven</a:t>
            </a:r>
          </a:p>
        </p:txBody>
      </p:sp>
      <p:sp>
        <p:nvSpPr>
          <p:cNvPr id="67" name="mdpr-surface catalog-card"/>
          <p:cNvSpPr/>
          <p:nvPr/>
        </p:nvSpPr>
        <p:spPr>
          <a:xfrm>
            <a:off x="8083295" y="4974336"/>
            <a:ext cx="3529584" cy="9601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mdpr-text catalog-title"/>
          <p:cNvSpPr txBox="1"/>
          <p:nvPr/>
        </p:nvSpPr>
        <p:spPr>
          <a:xfrm>
            <a:off x="9043415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timeline-marker-strip</a:t>
            </a:r>
          </a:p>
        </p:txBody>
      </p:sp>
      <p:sp>
        <p:nvSpPr>
          <p:cNvPr id="69" name="mdpr-text catalog-body"/>
          <p:cNvSpPr txBox="1"/>
          <p:nvPr/>
        </p:nvSpPr>
        <p:spPr>
          <a:xfrm>
            <a:off x="9043415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horizontal line; markers</a:t>
            </a:r>
          </a:p>
        </p:txBody>
      </p:sp>
      <p:sp>
        <p:nvSpPr>
          <p:cNvPr id="70" name="mdpr-text catalog-token"/>
          <p:cNvSpPr txBox="1"/>
          <p:nvPr/>
        </p:nvSpPr>
        <p:spPr>
          <a:xfrm>
            <a:off x="9043415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6A34A"/>
                </a:solidFill>
              </a:rPr>
              <a:t>theme-token driven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Object Shape Grammar Catalog 5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Editable preview objects generated from the 60+ structural archetype catalog.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dpr-surface catalog-card"/>
          <p:cNvSpPr/>
          <p:nvPr/>
        </p:nvSpPr>
        <p:spPr>
          <a:xfrm>
            <a:off x="566928" y="1325880"/>
            <a:ext cx="3529584" cy="9601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dpr-decor timeline-line"/>
          <p:cNvSpPr/>
          <p:nvPr/>
        </p:nvSpPr>
        <p:spPr>
          <a:xfrm>
            <a:off x="896112" y="1549908"/>
            <a:ext cx="18288" cy="51206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dpr-decor timeline-dot"/>
          <p:cNvSpPr/>
          <p:nvPr/>
        </p:nvSpPr>
        <p:spPr>
          <a:xfrm>
            <a:off x="832104" y="1632204"/>
            <a:ext cx="128016" cy="128016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dpr-decor timeline-card"/>
          <p:cNvSpPr/>
          <p:nvPr/>
        </p:nvSpPr>
        <p:spPr>
          <a:xfrm>
            <a:off x="1024128" y="1604772"/>
            <a:ext cx="310896" cy="14630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dpr-decor timeline-dot"/>
          <p:cNvSpPr/>
          <p:nvPr/>
        </p:nvSpPr>
        <p:spPr>
          <a:xfrm>
            <a:off x="832104" y="1915668"/>
            <a:ext cx="128016" cy="128016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dpr-decor timeline-card"/>
          <p:cNvSpPr/>
          <p:nvPr/>
        </p:nvSpPr>
        <p:spPr>
          <a:xfrm>
            <a:off x="1024128" y="1888236"/>
            <a:ext cx="310896" cy="14630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dpr-text catalog-title"/>
          <p:cNvSpPr txBox="1"/>
          <p:nvPr/>
        </p:nvSpPr>
        <p:spPr>
          <a:xfrm>
            <a:off x="1527048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vertical-timeline-cards</a:t>
            </a:r>
          </a:p>
        </p:txBody>
      </p:sp>
      <p:sp>
        <p:nvSpPr>
          <p:cNvPr id="12" name="mdpr-text catalog-body"/>
          <p:cNvSpPr txBox="1"/>
          <p:nvPr/>
        </p:nvSpPr>
        <p:spPr>
          <a:xfrm>
            <a:off x="1527048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vertical line; side cards</a:t>
            </a:r>
          </a:p>
        </p:txBody>
      </p:sp>
      <p:sp>
        <p:nvSpPr>
          <p:cNvPr id="13" name="mdpr-text catalog-token"/>
          <p:cNvSpPr txBox="1"/>
          <p:nvPr/>
        </p:nvSpPr>
        <p:spPr>
          <a:xfrm>
            <a:off x="1527048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theme-token driven</a:t>
            </a:r>
          </a:p>
        </p:txBody>
      </p:sp>
      <p:sp>
        <p:nvSpPr>
          <p:cNvPr id="14" name="mdpr-surface catalog-card"/>
          <p:cNvSpPr/>
          <p:nvPr/>
        </p:nvSpPr>
        <p:spPr>
          <a:xfrm>
            <a:off x="4325112" y="1325880"/>
            <a:ext cx="3529584" cy="96012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dpr-decor"/>
          <p:cNvSpPr/>
          <p:nvPr/>
        </p:nvSpPr>
        <p:spPr>
          <a:xfrm>
            <a:off x="4489703" y="1915668"/>
            <a:ext cx="676656" cy="45720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dpr-decor"/>
          <p:cNvSpPr/>
          <p:nvPr/>
        </p:nvSpPr>
        <p:spPr>
          <a:xfrm>
            <a:off x="4489703" y="1915668"/>
            <a:ext cx="460126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dpr-text catalog-title"/>
          <p:cNvSpPr txBox="1"/>
          <p:nvPr/>
        </p:nvSpPr>
        <p:spPr>
          <a:xfrm>
            <a:off x="5285231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stair-progress-meter</a:t>
            </a:r>
          </a:p>
        </p:txBody>
      </p:sp>
      <p:sp>
        <p:nvSpPr>
          <p:cNvPr id="18" name="mdpr-text catalog-body"/>
          <p:cNvSpPr txBox="1"/>
          <p:nvPr/>
        </p:nvSpPr>
        <p:spPr>
          <a:xfrm>
            <a:off x="5285231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step blocks; current highlight</a:t>
            </a:r>
          </a:p>
        </p:txBody>
      </p:sp>
      <p:sp>
        <p:nvSpPr>
          <p:cNvPr id="19" name="mdpr-text catalog-token"/>
          <p:cNvSpPr txBox="1"/>
          <p:nvPr/>
        </p:nvSpPr>
        <p:spPr>
          <a:xfrm>
            <a:off x="5285231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2563EB"/>
                </a:solidFill>
              </a:rPr>
              <a:t>theme-token driven</a:t>
            </a:r>
          </a:p>
        </p:txBody>
      </p:sp>
      <p:sp>
        <p:nvSpPr>
          <p:cNvPr id="20" name="mdpr-surface catalog-card"/>
          <p:cNvSpPr/>
          <p:nvPr/>
        </p:nvSpPr>
        <p:spPr>
          <a:xfrm>
            <a:off x="8083295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dpr-decor donut"/>
          <p:cNvSpPr/>
          <p:nvPr/>
        </p:nvSpPr>
        <p:spPr>
          <a:xfrm>
            <a:off x="8394191" y="1586484"/>
            <a:ext cx="438912" cy="438912"/>
          </a:xfrm>
          <a:prstGeom prst="ellipse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dpr-decor donut-hole"/>
          <p:cNvSpPr/>
          <p:nvPr/>
        </p:nvSpPr>
        <p:spPr>
          <a:xfrm>
            <a:off x="8503919" y="1696212"/>
            <a:ext cx="219456" cy="219456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dpr-decor donut-label"/>
          <p:cNvSpPr/>
          <p:nvPr/>
        </p:nvSpPr>
        <p:spPr>
          <a:xfrm>
            <a:off x="8266175" y="1623060"/>
            <a:ext cx="201168" cy="16459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dpr-decor donut-label"/>
          <p:cNvSpPr/>
          <p:nvPr/>
        </p:nvSpPr>
        <p:spPr>
          <a:xfrm>
            <a:off x="8741663" y="1952244"/>
            <a:ext cx="164592" cy="16459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dpr-text catalog-title"/>
          <p:cNvSpPr txBox="1"/>
          <p:nvPr/>
        </p:nvSpPr>
        <p:spPr>
          <a:xfrm>
            <a:off x="9043415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donut-label-ring</a:t>
            </a:r>
          </a:p>
        </p:txBody>
      </p:sp>
      <p:sp>
        <p:nvSpPr>
          <p:cNvPr id="26" name="mdpr-text catalog-body"/>
          <p:cNvSpPr txBox="1"/>
          <p:nvPr/>
        </p:nvSpPr>
        <p:spPr>
          <a:xfrm>
            <a:off x="9043415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donut ring; outside labels</a:t>
            </a:r>
          </a:p>
        </p:txBody>
      </p:sp>
      <p:sp>
        <p:nvSpPr>
          <p:cNvPr id="27" name="mdpr-text catalog-token"/>
          <p:cNvSpPr txBox="1"/>
          <p:nvPr/>
        </p:nvSpPr>
        <p:spPr>
          <a:xfrm>
            <a:off x="9043415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C2410C"/>
                </a:solidFill>
              </a:rPr>
              <a:t>theme-token driven</a:t>
            </a:r>
          </a:p>
        </p:txBody>
      </p:sp>
      <p:sp>
        <p:nvSpPr>
          <p:cNvPr id="28" name="mdpr-surface catalog-card"/>
          <p:cNvSpPr/>
          <p:nvPr/>
        </p:nvSpPr>
        <p:spPr>
          <a:xfrm>
            <a:off x="566928" y="2542032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dpr-decor gauge"/>
          <p:cNvSpPr/>
          <p:nvPr/>
        </p:nvSpPr>
        <p:spPr>
          <a:xfrm>
            <a:off x="877824" y="2802636"/>
            <a:ext cx="438912" cy="438912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dpr-decor gauge-hole"/>
          <p:cNvSpPr/>
          <p:nvPr/>
        </p:nvSpPr>
        <p:spPr>
          <a:xfrm>
            <a:off x="978408" y="2903220"/>
            <a:ext cx="237744" cy="23774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dpr-decor gauge-needle"/>
          <p:cNvSpPr/>
          <p:nvPr/>
        </p:nvSpPr>
        <p:spPr>
          <a:xfrm>
            <a:off x="1078992" y="3022092"/>
            <a:ext cx="219456" cy="228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dpr-text-in-decor"/>
          <p:cNvSpPr txBox="1"/>
          <p:nvPr/>
        </p:nvSpPr>
        <p:spPr>
          <a:xfrm>
            <a:off x="978408" y="2976372"/>
            <a:ext cx="2286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7C3AED"/>
                </a:solidFill>
              </a:rPr>
              <a:t>78</a:t>
            </a:r>
          </a:p>
        </p:txBody>
      </p:sp>
      <p:sp>
        <p:nvSpPr>
          <p:cNvPr id="33" name="mdpr-text catalog-title"/>
          <p:cNvSpPr txBox="1"/>
          <p:nvPr/>
        </p:nvSpPr>
        <p:spPr>
          <a:xfrm>
            <a:off x="1527048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gauge-score-card</a:t>
            </a:r>
          </a:p>
        </p:txBody>
      </p:sp>
      <p:sp>
        <p:nvSpPr>
          <p:cNvPr id="34" name="mdpr-text catalog-body"/>
          <p:cNvSpPr txBox="1"/>
          <p:nvPr/>
        </p:nvSpPr>
        <p:spPr>
          <a:xfrm>
            <a:off x="1527048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semi gauge; score; caption</a:t>
            </a:r>
          </a:p>
        </p:txBody>
      </p:sp>
      <p:sp>
        <p:nvSpPr>
          <p:cNvPr id="35" name="mdpr-text catalog-token"/>
          <p:cNvSpPr txBox="1"/>
          <p:nvPr/>
        </p:nvSpPr>
        <p:spPr>
          <a:xfrm>
            <a:off x="1527048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7C3AED"/>
                </a:solidFill>
              </a:rPr>
              <a:t>theme-token driven</a:t>
            </a:r>
          </a:p>
        </p:txBody>
      </p:sp>
      <p:sp>
        <p:nvSpPr>
          <p:cNvPr id="36" name="mdpr-surface catalog-card"/>
          <p:cNvSpPr/>
          <p:nvPr/>
        </p:nvSpPr>
        <p:spPr>
          <a:xfrm>
            <a:off x="4325112" y="2542032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dpr-decor"/>
          <p:cNvSpPr/>
          <p:nvPr/>
        </p:nvSpPr>
        <p:spPr>
          <a:xfrm>
            <a:off x="4581143" y="3076956"/>
            <a:ext cx="91440" cy="14630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dpr-decor"/>
          <p:cNvSpPr/>
          <p:nvPr/>
        </p:nvSpPr>
        <p:spPr>
          <a:xfrm>
            <a:off x="4745735" y="2930652"/>
            <a:ext cx="91440" cy="292608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dpr-decor"/>
          <p:cNvSpPr/>
          <p:nvPr/>
        </p:nvSpPr>
        <p:spPr>
          <a:xfrm>
            <a:off x="4910327" y="3003804"/>
            <a:ext cx="91440" cy="219456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dpr-text catalog-title"/>
          <p:cNvSpPr txBox="1"/>
          <p:nvPr/>
        </p:nvSpPr>
        <p:spPr>
          <a:xfrm>
            <a:off x="5285231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small-multiple-bars</a:t>
            </a:r>
          </a:p>
        </p:txBody>
      </p:sp>
      <p:sp>
        <p:nvSpPr>
          <p:cNvPr id="41" name="mdpr-text catalog-body"/>
          <p:cNvSpPr txBox="1"/>
          <p:nvPr/>
        </p:nvSpPr>
        <p:spPr>
          <a:xfrm>
            <a:off x="5285231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equal mini bars; shared labels</a:t>
            </a:r>
          </a:p>
        </p:txBody>
      </p:sp>
      <p:sp>
        <p:nvSpPr>
          <p:cNvPr id="42" name="mdpr-text catalog-token"/>
          <p:cNvSpPr txBox="1"/>
          <p:nvPr/>
        </p:nvSpPr>
        <p:spPr>
          <a:xfrm>
            <a:off x="5285231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E11D48"/>
                </a:solidFill>
              </a:rPr>
              <a:t>theme-token driven</a:t>
            </a:r>
          </a:p>
        </p:txBody>
      </p:sp>
      <p:sp>
        <p:nvSpPr>
          <p:cNvPr id="43" name="mdpr-surface catalog-card"/>
          <p:cNvSpPr/>
          <p:nvPr/>
        </p:nvSpPr>
        <p:spPr>
          <a:xfrm>
            <a:off x="8083295" y="2542032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dpr-decor trend"/>
          <p:cNvSpPr/>
          <p:nvPr/>
        </p:nvSpPr>
        <p:spPr>
          <a:xfrm>
            <a:off x="8284463" y="3150108"/>
            <a:ext cx="164592" cy="1828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dpr-decor trend"/>
          <p:cNvSpPr/>
          <p:nvPr/>
        </p:nvSpPr>
        <p:spPr>
          <a:xfrm>
            <a:off x="8449055" y="3095244"/>
            <a:ext cx="182880" cy="1828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dpr-decor trend"/>
          <p:cNvSpPr/>
          <p:nvPr/>
        </p:nvSpPr>
        <p:spPr>
          <a:xfrm>
            <a:off x="8631935" y="2994660"/>
            <a:ext cx="201168" cy="1828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dpr-text-in-decor"/>
          <p:cNvSpPr txBox="1"/>
          <p:nvPr/>
        </p:nvSpPr>
        <p:spPr>
          <a:xfrm>
            <a:off x="8302751" y="2857500"/>
            <a:ext cx="53035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BD5E1"/>
                </a:solidFill>
              </a:rPr>
              <a:t>trend</a:t>
            </a:r>
          </a:p>
        </p:txBody>
      </p:sp>
      <p:sp>
        <p:nvSpPr>
          <p:cNvPr id="48" name="mdpr-text catalog-title"/>
          <p:cNvSpPr txBox="1"/>
          <p:nvPr/>
        </p:nvSpPr>
        <p:spPr>
          <a:xfrm>
            <a:off x="9043415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trend-line-backdrop</a:t>
            </a:r>
          </a:p>
        </p:txBody>
      </p:sp>
      <p:sp>
        <p:nvSpPr>
          <p:cNvPr id="49" name="mdpr-text catalog-body"/>
          <p:cNvSpPr txBox="1"/>
          <p:nvPr/>
        </p:nvSpPr>
        <p:spPr>
          <a:xfrm>
            <a:off x="9043415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low contrast line; foreground statement</a:t>
            </a:r>
          </a:p>
        </p:txBody>
      </p:sp>
      <p:sp>
        <p:nvSpPr>
          <p:cNvPr id="50" name="mdpr-text catalog-token"/>
          <p:cNvSpPr txBox="1"/>
          <p:nvPr/>
        </p:nvSpPr>
        <p:spPr>
          <a:xfrm>
            <a:off x="9043415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6A34A"/>
                </a:solidFill>
              </a:rPr>
              <a:t>theme-token driven</a:t>
            </a:r>
          </a:p>
        </p:txBody>
      </p:sp>
      <p:sp>
        <p:nvSpPr>
          <p:cNvPr id="51" name="mdpr-surface catalog-card"/>
          <p:cNvSpPr/>
          <p:nvPr/>
        </p:nvSpPr>
        <p:spPr>
          <a:xfrm>
            <a:off x="566928" y="3758184"/>
            <a:ext cx="3529584" cy="9601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dpr-decor image-slot"/>
          <p:cNvSpPr/>
          <p:nvPr/>
        </p:nvSpPr>
        <p:spPr>
          <a:xfrm>
            <a:off x="731520" y="4009644"/>
            <a:ext cx="420624" cy="457200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dpr-decor"/>
          <p:cNvSpPr/>
          <p:nvPr/>
        </p:nvSpPr>
        <p:spPr>
          <a:xfrm>
            <a:off x="1188720" y="4128516"/>
            <a:ext cx="219456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mdpr-decor image-slot"/>
          <p:cNvSpPr/>
          <p:nvPr/>
        </p:nvSpPr>
        <p:spPr>
          <a:xfrm>
            <a:off x="731520" y="4027932"/>
            <a:ext cx="566928" cy="420624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dpr-text catalog-title"/>
          <p:cNvSpPr txBox="1"/>
          <p:nvPr/>
        </p:nvSpPr>
        <p:spPr>
          <a:xfrm>
            <a:off x="1527048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pictorial-anchor-labels</a:t>
            </a:r>
          </a:p>
        </p:txBody>
      </p:sp>
      <p:sp>
        <p:nvSpPr>
          <p:cNvPr id="56" name="mdpr-text catalog-body"/>
          <p:cNvSpPr txBox="1"/>
          <p:nvPr/>
        </p:nvSpPr>
        <p:spPr>
          <a:xfrm>
            <a:off x="1527048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image anchor; attached labels</a:t>
            </a:r>
          </a:p>
        </p:txBody>
      </p:sp>
      <p:sp>
        <p:nvSpPr>
          <p:cNvPr id="57" name="mdpr-text catalog-token"/>
          <p:cNvSpPr txBox="1"/>
          <p:nvPr/>
        </p:nvSpPr>
        <p:spPr>
          <a:xfrm>
            <a:off x="1527048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theme-token driven</a:t>
            </a:r>
          </a:p>
        </p:txBody>
      </p:sp>
      <p:sp>
        <p:nvSpPr>
          <p:cNvPr id="58" name="mdpr-surface catalog-card"/>
          <p:cNvSpPr/>
          <p:nvPr/>
        </p:nvSpPr>
        <p:spPr>
          <a:xfrm>
            <a:off x="4325112" y="3758184"/>
            <a:ext cx="3529584" cy="9601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dpr-decor image-slot"/>
          <p:cNvSpPr/>
          <p:nvPr/>
        </p:nvSpPr>
        <p:spPr>
          <a:xfrm>
            <a:off x="4489703" y="4009644"/>
            <a:ext cx="420624" cy="457200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mdpr-decor"/>
          <p:cNvSpPr/>
          <p:nvPr/>
        </p:nvSpPr>
        <p:spPr>
          <a:xfrm>
            <a:off x="4946903" y="4128516"/>
            <a:ext cx="219456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mdpr-decor image-slot"/>
          <p:cNvSpPr/>
          <p:nvPr/>
        </p:nvSpPr>
        <p:spPr>
          <a:xfrm>
            <a:off x="4489703" y="4027932"/>
            <a:ext cx="566928" cy="420624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mdpr-text catalog-title"/>
          <p:cNvSpPr txBox="1"/>
          <p:nvPr/>
        </p:nvSpPr>
        <p:spPr>
          <a:xfrm>
            <a:off x="5285231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photo-window-mask</a:t>
            </a:r>
          </a:p>
        </p:txBody>
      </p:sp>
      <p:sp>
        <p:nvSpPr>
          <p:cNvPr id="63" name="mdpr-text catalog-body"/>
          <p:cNvSpPr txBox="1"/>
          <p:nvPr/>
        </p:nvSpPr>
        <p:spPr>
          <a:xfrm>
            <a:off x="5285231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cropped window; caption</a:t>
            </a:r>
          </a:p>
        </p:txBody>
      </p:sp>
      <p:sp>
        <p:nvSpPr>
          <p:cNvPr id="64" name="mdpr-text catalog-token"/>
          <p:cNvSpPr txBox="1"/>
          <p:nvPr/>
        </p:nvSpPr>
        <p:spPr>
          <a:xfrm>
            <a:off x="5285231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2563EB"/>
                </a:solidFill>
              </a:rPr>
              <a:t>theme-token driven</a:t>
            </a:r>
          </a:p>
        </p:txBody>
      </p:sp>
      <p:sp>
        <p:nvSpPr>
          <p:cNvPr id="65" name="mdpr-surface catalog-card"/>
          <p:cNvSpPr/>
          <p:nvPr/>
        </p:nvSpPr>
        <p:spPr>
          <a:xfrm>
            <a:off x="8083295" y="3758184"/>
            <a:ext cx="3529584" cy="9601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mdpr-decor image-slot"/>
          <p:cNvSpPr/>
          <p:nvPr/>
        </p:nvSpPr>
        <p:spPr>
          <a:xfrm>
            <a:off x="8247887" y="4009644"/>
            <a:ext cx="420624" cy="457200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mdpr-decor"/>
          <p:cNvSpPr/>
          <p:nvPr/>
        </p:nvSpPr>
        <p:spPr>
          <a:xfrm>
            <a:off x="8705087" y="4128516"/>
            <a:ext cx="219456" cy="32004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mdpr-decor image-slot"/>
          <p:cNvSpPr/>
          <p:nvPr/>
        </p:nvSpPr>
        <p:spPr>
          <a:xfrm>
            <a:off x="8247887" y="4027932"/>
            <a:ext cx="566928" cy="420624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mdpr-text catalog-title"/>
          <p:cNvSpPr txBox="1"/>
          <p:nvPr/>
        </p:nvSpPr>
        <p:spPr>
          <a:xfrm>
            <a:off x="9043415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image-caption-split</a:t>
            </a:r>
          </a:p>
        </p:txBody>
      </p:sp>
      <p:sp>
        <p:nvSpPr>
          <p:cNvPr id="70" name="mdpr-text catalog-body"/>
          <p:cNvSpPr txBox="1"/>
          <p:nvPr/>
        </p:nvSpPr>
        <p:spPr>
          <a:xfrm>
            <a:off x="9043415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image region; caption rail</a:t>
            </a:r>
          </a:p>
        </p:txBody>
      </p:sp>
      <p:sp>
        <p:nvSpPr>
          <p:cNvPr id="71" name="mdpr-text catalog-token"/>
          <p:cNvSpPr txBox="1"/>
          <p:nvPr/>
        </p:nvSpPr>
        <p:spPr>
          <a:xfrm>
            <a:off x="9043415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C2410C"/>
                </a:solidFill>
              </a:rPr>
              <a:t>theme-token driven</a:t>
            </a:r>
          </a:p>
        </p:txBody>
      </p:sp>
      <p:sp>
        <p:nvSpPr>
          <p:cNvPr id="72" name="mdpr-surface catalog-card"/>
          <p:cNvSpPr/>
          <p:nvPr/>
        </p:nvSpPr>
        <p:spPr>
          <a:xfrm>
            <a:off x="566928" y="4974336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mdpr-decor tag-chip"/>
          <p:cNvSpPr/>
          <p:nvPr/>
        </p:nvSpPr>
        <p:spPr>
          <a:xfrm>
            <a:off x="749808" y="5308092"/>
            <a:ext cx="256032" cy="146304"/>
          </a:xfrm>
          <a:prstGeom prst="round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mdpr-decor tag-chip"/>
          <p:cNvSpPr/>
          <p:nvPr/>
        </p:nvSpPr>
        <p:spPr>
          <a:xfrm>
            <a:off x="1060704" y="5308092"/>
            <a:ext cx="292608" cy="146304"/>
          </a:xfrm>
          <a:prstGeom prst="roundRect">
            <a:avLst/>
          </a:prstGeom>
          <a:solidFill>
            <a:srgbClr val="CBD5E1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mdpr-decor tag-chip"/>
          <p:cNvSpPr/>
          <p:nvPr/>
        </p:nvSpPr>
        <p:spPr>
          <a:xfrm>
            <a:off x="804672" y="5564124"/>
            <a:ext cx="310896" cy="146304"/>
          </a:xfrm>
          <a:prstGeom prst="round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mdpr-decor tag-chip"/>
          <p:cNvSpPr/>
          <p:nvPr/>
        </p:nvSpPr>
        <p:spPr>
          <a:xfrm>
            <a:off x="1170432" y="5564124"/>
            <a:ext cx="219456" cy="146304"/>
          </a:xfrm>
          <a:prstGeom prst="roundRect">
            <a:avLst/>
          </a:prstGeom>
          <a:solidFill>
            <a:srgbClr val="CBD5E1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mdpr-text catalog-title"/>
          <p:cNvSpPr txBox="1"/>
          <p:nvPr/>
        </p:nvSpPr>
        <p:spPr>
          <a:xfrm>
            <a:off x="1527048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tag-cloud-strip</a:t>
            </a:r>
          </a:p>
        </p:txBody>
      </p:sp>
      <p:sp>
        <p:nvSpPr>
          <p:cNvPr id="78" name="mdpr-text catalog-body"/>
          <p:cNvSpPr txBox="1"/>
          <p:nvPr/>
        </p:nvSpPr>
        <p:spPr>
          <a:xfrm>
            <a:off x="1527048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small chips; wrap row</a:t>
            </a:r>
          </a:p>
        </p:txBody>
      </p:sp>
      <p:sp>
        <p:nvSpPr>
          <p:cNvPr id="79" name="mdpr-text catalog-token"/>
          <p:cNvSpPr txBox="1"/>
          <p:nvPr/>
        </p:nvSpPr>
        <p:spPr>
          <a:xfrm>
            <a:off x="1527048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7C3AED"/>
                </a:solidFill>
              </a:rPr>
              <a:t>theme-token driven</a:t>
            </a:r>
          </a:p>
        </p:txBody>
      </p:sp>
      <p:sp>
        <p:nvSpPr>
          <p:cNvPr id="80" name="mdpr-surface catalog-card"/>
          <p:cNvSpPr/>
          <p:nvPr/>
        </p:nvSpPr>
        <p:spPr>
          <a:xfrm>
            <a:off x="4325112" y="4974336"/>
            <a:ext cx="3529584" cy="96012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mdpr-decor status-row"/>
          <p:cNvSpPr/>
          <p:nvPr/>
        </p:nvSpPr>
        <p:spPr>
          <a:xfrm>
            <a:off x="4617719" y="5271516"/>
            <a:ext cx="475488" cy="12801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mdpr-decor status-row"/>
          <p:cNvSpPr/>
          <p:nvPr/>
        </p:nvSpPr>
        <p:spPr>
          <a:xfrm>
            <a:off x="4617719" y="5417820"/>
            <a:ext cx="475488" cy="12801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mdpr-decor status-row"/>
          <p:cNvSpPr/>
          <p:nvPr/>
        </p:nvSpPr>
        <p:spPr>
          <a:xfrm>
            <a:off x="4617719" y="5564124"/>
            <a:ext cx="475488" cy="12801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mdpr-decor status-dot"/>
          <p:cNvSpPr/>
          <p:nvPr/>
        </p:nvSpPr>
        <p:spPr>
          <a:xfrm>
            <a:off x="4507991" y="5225796"/>
            <a:ext cx="109728" cy="109728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mdpr-decor status-dot"/>
          <p:cNvSpPr/>
          <p:nvPr/>
        </p:nvSpPr>
        <p:spPr>
          <a:xfrm>
            <a:off x="4507991" y="5372100"/>
            <a:ext cx="109728" cy="109728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mdpr-text catalog-title"/>
          <p:cNvSpPr txBox="1"/>
          <p:nvPr/>
        </p:nvSpPr>
        <p:spPr>
          <a:xfrm>
            <a:off x="5285231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status-dot-table</a:t>
            </a:r>
          </a:p>
        </p:txBody>
      </p:sp>
      <p:sp>
        <p:nvSpPr>
          <p:cNvPr id="87" name="mdpr-text catalog-body"/>
          <p:cNvSpPr txBox="1"/>
          <p:nvPr/>
        </p:nvSpPr>
        <p:spPr>
          <a:xfrm>
            <a:off x="5285231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dot status column; row labels</a:t>
            </a:r>
          </a:p>
        </p:txBody>
      </p:sp>
      <p:sp>
        <p:nvSpPr>
          <p:cNvPr id="88" name="mdpr-text catalog-token"/>
          <p:cNvSpPr txBox="1"/>
          <p:nvPr/>
        </p:nvSpPr>
        <p:spPr>
          <a:xfrm>
            <a:off x="5285231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E11D48"/>
                </a:solidFill>
              </a:rPr>
              <a:t>theme-token driven</a:t>
            </a:r>
          </a:p>
        </p:txBody>
      </p:sp>
      <p:sp>
        <p:nvSpPr>
          <p:cNvPr id="89" name="mdpr-surface catalog-card"/>
          <p:cNvSpPr/>
          <p:nvPr/>
        </p:nvSpPr>
        <p:spPr>
          <a:xfrm>
            <a:off x="8083295" y="4974336"/>
            <a:ext cx="3529584" cy="96012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mdpr-decor heat-cell"/>
          <p:cNvSpPr/>
          <p:nvPr/>
        </p:nvSpPr>
        <p:spPr>
          <a:xfrm>
            <a:off x="8357615" y="5271516"/>
            <a:ext cx="164592" cy="164592"/>
          </a:xfrm>
          <a:prstGeom prst="rect">
            <a:avLst/>
          </a:prstGeom>
          <a:solidFill>
            <a:srgbClr val="DCFCE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mdpr-decor heat-cell"/>
          <p:cNvSpPr/>
          <p:nvPr/>
        </p:nvSpPr>
        <p:spPr>
          <a:xfrm>
            <a:off x="8522207" y="5271516"/>
            <a:ext cx="164592" cy="164592"/>
          </a:xfrm>
          <a:prstGeom prst="rect">
            <a:avLst/>
          </a:prstGeom>
          <a:solidFill>
            <a:srgbClr val="FEF3C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mdpr-decor heat-cell"/>
          <p:cNvSpPr/>
          <p:nvPr/>
        </p:nvSpPr>
        <p:spPr>
          <a:xfrm>
            <a:off x="8357615" y="5436108"/>
            <a:ext cx="164592" cy="164592"/>
          </a:xfrm>
          <a:prstGeom prst="rect">
            <a:avLst/>
          </a:prstGeom>
          <a:solidFill>
            <a:srgbClr val="FED7A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mdpr-decor heat-cell"/>
          <p:cNvSpPr/>
          <p:nvPr/>
        </p:nvSpPr>
        <p:spPr>
          <a:xfrm>
            <a:off x="8522207" y="5436108"/>
            <a:ext cx="164592" cy="164592"/>
          </a:xfrm>
          <a:prstGeom prst="rect">
            <a:avLst/>
          </a:prstGeom>
          <a:solidFill>
            <a:srgbClr val="FEE2E2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mdpr-decor heat-label"/>
          <p:cNvSpPr/>
          <p:nvPr/>
        </p:nvSpPr>
        <p:spPr>
          <a:xfrm>
            <a:off x="8741663" y="5344668"/>
            <a:ext cx="146304" cy="16459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mdpr-text catalog-title"/>
          <p:cNvSpPr txBox="1"/>
          <p:nvPr/>
        </p:nvSpPr>
        <p:spPr>
          <a:xfrm>
            <a:off x="9043415" y="5093208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risk-heat-grid</a:t>
            </a:r>
          </a:p>
        </p:txBody>
      </p:sp>
      <p:sp>
        <p:nvSpPr>
          <p:cNvPr id="96" name="mdpr-text catalog-body"/>
          <p:cNvSpPr txBox="1"/>
          <p:nvPr/>
        </p:nvSpPr>
        <p:spPr>
          <a:xfrm>
            <a:off x="9043415" y="5394960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grid; severity tint</a:t>
            </a:r>
          </a:p>
        </p:txBody>
      </p:sp>
      <p:sp>
        <p:nvSpPr>
          <p:cNvPr id="97" name="mdpr-text catalog-token"/>
          <p:cNvSpPr txBox="1"/>
          <p:nvPr/>
        </p:nvSpPr>
        <p:spPr>
          <a:xfrm>
            <a:off x="9043415" y="5660136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6A34A"/>
                </a:solidFill>
              </a:rPr>
              <a:t>theme-token driven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Object Shape Grammar Catalog 6</a:t>
            </a:r>
          </a:p>
        </p:txBody>
      </p:sp>
      <p:sp>
        <p:nvSpPr>
          <p:cNvPr id="3" name="mdpr-text"/>
          <p:cNvSpPr txBox="1"/>
          <p:nvPr/>
        </p:nvSpPr>
        <p:spPr>
          <a:xfrm>
            <a:off x="521207" y="768096"/>
            <a:ext cx="10241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Editable preview objects generated from the 60+ structural archetype catalog.</a:t>
            </a:r>
          </a:p>
        </p:txBody>
      </p:sp>
      <p:sp>
        <p:nvSpPr>
          <p:cNvPr id="4" name="mdpr-decor"/>
          <p:cNvSpPr/>
          <p:nvPr/>
        </p:nvSpPr>
        <p:spPr>
          <a:xfrm>
            <a:off x="530352" y="1097280"/>
            <a:ext cx="1280160" cy="320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dpr-surface catalog-card"/>
          <p:cNvSpPr/>
          <p:nvPr/>
        </p:nvSpPr>
        <p:spPr>
          <a:xfrm>
            <a:off x="566928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dpr-decor"/>
          <p:cNvSpPr/>
          <p:nvPr/>
        </p:nvSpPr>
        <p:spPr>
          <a:xfrm>
            <a:off x="731520" y="1508760"/>
            <a:ext cx="54864" cy="5943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dpr-text catalog-title"/>
          <p:cNvSpPr txBox="1"/>
          <p:nvPr/>
        </p:nvSpPr>
        <p:spPr>
          <a:xfrm>
            <a:off x="1527048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left-accent-rail</a:t>
            </a:r>
          </a:p>
        </p:txBody>
      </p:sp>
      <p:sp>
        <p:nvSpPr>
          <p:cNvPr id="8" name="mdpr-text catalog-body"/>
          <p:cNvSpPr txBox="1"/>
          <p:nvPr/>
        </p:nvSpPr>
        <p:spPr>
          <a:xfrm>
            <a:off x="1527048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vertical rail; title/body block</a:t>
            </a:r>
          </a:p>
        </p:txBody>
      </p:sp>
      <p:sp>
        <p:nvSpPr>
          <p:cNvPr id="9" name="mdpr-text catalog-token"/>
          <p:cNvSpPr txBox="1"/>
          <p:nvPr/>
        </p:nvSpPr>
        <p:spPr>
          <a:xfrm>
            <a:off x="1527048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theme-token driven</a:t>
            </a:r>
          </a:p>
        </p:txBody>
      </p:sp>
      <p:sp>
        <p:nvSpPr>
          <p:cNvPr id="10" name="mdpr-surface catalog-card"/>
          <p:cNvSpPr/>
          <p:nvPr/>
        </p:nvSpPr>
        <p:spPr>
          <a:xfrm>
            <a:off x="4325112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dpr-decor"/>
          <p:cNvSpPr/>
          <p:nvPr/>
        </p:nvSpPr>
        <p:spPr>
          <a:xfrm>
            <a:off x="4489703" y="1508760"/>
            <a:ext cx="676656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dpr-text catalog-title"/>
          <p:cNvSpPr txBox="1"/>
          <p:nvPr/>
        </p:nvSpPr>
        <p:spPr>
          <a:xfrm>
            <a:off x="5285231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top-hairline-rule</a:t>
            </a:r>
          </a:p>
        </p:txBody>
      </p:sp>
      <p:sp>
        <p:nvSpPr>
          <p:cNvPr id="13" name="mdpr-text catalog-body"/>
          <p:cNvSpPr txBox="1"/>
          <p:nvPr/>
        </p:nvSpPr>
        <p:spPr>
          <a:xfrm>
            <a:off x="5285231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hairline rule; quiet surface</a:t>
            </a:r>
          </a:p>
        </p:txBody>
      </p:sp>
      <p:sp>
        <p:nvSpPr>
          <p:cNvPr id="14" name="mdpr-text catalog-token"/>
          <p:cNvSpPr txBox="1"/>
          <p:nvPr/>
        </p:nvSpPr>
        <p:spPr>
          <a:xfrm>
            <a:off x="5285231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2563EB"/>
                </a:solidFill>
              </a:rPr>
              <a:t>theme-token driven</a:t>
            </a:r>
          </a:p>
        </p:txBody>
      </p:sp>
      <p:sp>
        <p:nvSpPr>
          <p:cNvPr id="15" name="mdpr-surface catalog-card"/>
          <p:cNvSpPr/>
          <p:nvPr/>
        </p:nvSpPr>
        <p:spPr>
          <a:xfrm>
            <a:off x="8083295" y="1325880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dpr-decor label-tab"/>
          <p:cNvSpPr/>
          <p:nvPr/>
        </p:nvSpPr>
        <p:spPr>
          <a:xfrm>
            <a:off x="8247887" y="1632204"/>
            <a:ext cx="384048" cy="347472"/>
          </a:xfrm>
          <a:prstGeom prst="roundRect">
            <a:avLst/>
          </a:prstGeom>
          <a:solidFill>
            <a:srgbClr val="C2410C"/>
          </a:solidFill>
          <a:ln w="1016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dpr-text-in-decor"/>
          <p:cNvSpPr txBox="1"/>
          <p:nvPr/>
        </p:nvSpPr>
        <p:spPr>
          <a:xfrm>
            <a:off x="8247887" y="1632204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8" name="mdpr-text catalog-title"/>
          <p:cNvSpPr txBox="1"/>
          <p:nvPr/>
        </p:nvSpPr>
        <p:spPr>
          <a:xfrm>
            <a:off x="9043415" y="1444752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number-tab</a:t>
            </a:r>
          </a:p>
        </p:txBody>
      </p:sp>
      <p:sp>
        <p:nvSpPr>
          <p:cNvPr id="19" name="mdpr-text catalog-body"/>
          <p:cNvSpPr txBox="1"/>
          <p:nvPr/>
        </p:nvSpPr>
        <p:spPr>
          <a:xfrm>
            <a:off x="9043415" y="1746504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small tab; number; aligned title</a:t>
            </a:r>
          </a:p>
        </p:txBody>
      </p:sp>
      <p:sp>
        <p:nvSpPr>
          <p:cNvPr id="20" name="mdpr-text catalog-token"/>
          <p:cNvSpPr txBox="1"/>
          <p:nvPr/>
        </p:nvSpPr>
        <p:spPr>
          <a:xfrm>
            <a:off x="9043415" y="2011680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C2410C"/>
                </a:solidFill>
              </a:rPr>
              <a:t>theme-token driven</a:t>
            </a:r>
          </a:p>
        </p:txBody>
      </p:sp>
      <p:sp>
        <p:nvSpPr>
          <p:cNvPr id="21" name="mdpr-surface catalog-card"/>
          <p:cNvSpPr/>
          <p:nvPr/>
        </p:nvSpPr>
        <p:spPr>
          <a:xfrm>
            <a:off x="566928" y="2542032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dpr-decor chip"/>
          <p:cNvSpPr/>
          <p:nvPr/>
        </p:nvSpPr>
        <p:spPr>
          <a:xfrm>
            <a:off x="822960" y="2903220"/>
            <a:ext cx="457200" cy="237744"/>
          </a:xfrm>
          <a:prstGeom prst="round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dpr-text catalog-title"/>
          <p:cNvSpPr txBox="1"/>
          <p:nvPr/>
        </p:nvSpPr>
        <p:spPr>
          <a:xfrm>
            <a:off x="1527048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corner-chip</a:t>
            </a:r>
          </a:p>
        </p:txBody>
      </p:sp>
      <p:sp>
        <p:nvSpPr>
          <p:cNvPr id="24" name="mdpr-text catalog-body"/>
          <p:cNvSpPr txBox="1"/>
          <p:nvPr/>
        </p:nvSpPr>
        <p:spPr>
          <a:xfrm>
            <a:off x="1527048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corner chip; compact label</a:t>
            </a:r>
          </a:p>
        </p:txBody>
      </p:sp>
      <p:sp>
        <p:nvSpPr>
          <p:cNvPr id="25" name="mdpr-text catalog-token"/>
          <p:cNvSpPr txBox="1"/>
          <p:nvPr/>
        </p:nvSpPr>
        <p:spPr>
          <a:xfrm>
            <a:off x="1527048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7C3AED"/>
                </a:solidFill>
              </a:rPr>
              <a:t>theme-token driven</a:t>
            </a:r>
          </a:p>
        </p:txBody>
      </p:sp>
      <p:sp>
        <p:nvSpPr>
          <p:cNvPr id="26" name="mdpr-surface catalog-card"/>
          <p:cNvSpPr/>
          <p:nvPr/>
        </p:nvSpPr>
        <p:spPr>
          <a:xfrm>
            <a:off x="4325112" y="2542032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dpr-decor"/>
          <p:cNvSpPr/>
          <p:nvPr/>
        </p:nvSpPr>
        <p:spPr>
          <a:xfrm>
            <a:off x="4489703" y="2724912"/>
            <a:ext cx="36576" cy="59436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dpr-decor"/>
          <p:cNvSpPr/>
          <p:nvPr/>
        </p:nvSpPr>
        <p:spPr>
          <a:xfrm>
            <a:off x="4489703" y="2724912"/>
            <a:ext cx="292608" cy="3200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dpr-decor"/>
          <p:cNvSpPr/>
          <p:nvPr/>
        </p:nvSpPr>
        <p:spPr>
          <a:xfrm>
            <a:off x="4489703" y="3287268"/>
            <a:ext cx="292608" cy="3200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dpr-text catalog-title"/>
          <p:cNvSpPr txBox="1"/>
          <p:nvPr/>
        </p:nvSpPr>
        <p:spPr>
          <a:xfrm>
            <a:off x="5285231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bracket-callout</a:t>
            </a:r>
          </a:p>
        </p:txBody>
      </p:sp>
      <p:sp>
        <p:nvSpPr>
          <p:cNvPr id="31" name="mdpr-text catalog-body"/>
          <p:cNvSpPr txBox="1"/>
          <p:nvPr/>
        </p:nvSpPr>
        <p:spPr>
          <a:xfrm>
            <a:off x="5285231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thin bracket; label; indented body</a:t>
            </a:r>
          </a:p>
        </p:txBody>
      </p:sp>
      <p:sp>
        <p:nvSpPr>
          <p:cNvPr id="32" name="mdpr-text catalog-token"/>
          <p:cNvSpPr txBox="1"/>
          <p:nvPr/>
        </p:nvSpPr>
        <p:spPr>
          <a:xfrm>
            <a:off x="5285231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E11D48"/>
                </a:solidFill>
              </a:rPr>
              <a:t>theme-token driven</a:t>
            </a:r>
          </a:p>
        </p:txBody>
      </p:sp>
      <p:sp>
        <p:nvSpPr>
          <p:cNvPr id="33" name="mdpr-surface catalog-card"/>
          <p:cNvSpPr/>
          <p:nvPr/>
        </p:nvSpPr>
        <p:spPr>
          <a:xfrm>
            <a:off x="8083295" y="2542032"/>
            <a:ext cx="3529584" cy="96012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dpr-decor"/>
          <p:cNvSpPr/>
          <p:nvPr/>
        </p:nvSpPr>
        <p:spPr>
          <a:xfrm>
            <a:off x="8247887" y="3131820"/>
            <a:ext cx="676656" cy="45720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dpr-decor"/>
          <p:cNvSpPr/>
          <p:nvPr/>
        </p:nvSpPr>
        <p:spPr>
          <a:xfrm>
            <a:off x="8247887" y="3131820"/>
            <a:ext cx="460126" cy="457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dpr-text catalog-title"/>
          <p:cNvSpPr txBox="1"/>
          <p:nvPr/>
        </p:nvSpPr>
        <p:spPr>
          <a:xfrm>
            <a:off x="9043415" y="2660904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bottom-meter</a:t>
            </a:r>
          </a:p>
        </p:txBody>
      </p:sp>
      <p:sp>
        <p:nvSpPr>
          <p:cNvPr id="37" name="mdpr-text catalog-body"/>
          <p:cNvSpPr txBox="1"/>
          <p:nvPr/>
        </p:nvSpPr>
        <p:spPr>
          <a:xfrm>
            <a:off x="9043415" y="2962656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bottom meter; short label</a:t>
            </a:r>
          </a:p>
        </p:txBody>
      </p:sp>
      <p:sp>
        <p:nvSpPr>
          <p:cNvPr id="38" name="mdpr-text catalog-token"/>
          <p:cNvSpPr txBox="1"/>
          <p:nvPr/>
        </p:nvSpPr>
        <p:spPr>
          <a:xfrm>
            <a:off x="9043415" y="3227832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16A34A"/>
                </a:solidFill>
              </a:rPr>
              <a:t>theme-token driven</a:t>
            </a:r>
          </a:p>
        </p:txBody>
      </p:sp>
      <p:sp>
        <p:nvSpPr>
          <p:cNvPr id="39" name="mdpr-surface catalog-card"/>
          <p:cNvSpPr/>
          <p:nvPr/>
        </p:nvSpPr>
        <p:spPr>
          <a:xfrm>
            <a:off x="566928" y="3758184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dpr-decor notch"/>
          <p:cNvSpPr/>
          <p:nvPr/>
        </p:nvSpPr>
        <p:spPr>
          <a:xfrm>
            <a:off x="1024128" y="4055364"/>
            <a:ext cx="320040" cy="274320"/>
          </a:xfrm>
          <a:prstGeom prst="rect">
            <a:avLst/>
          </a:prstGeom>
          <a:solidFill>
            <a:srgbClr val="FDE68A"/>
          </a:solidFill>
          <a:ln w="1016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dpr-text catalog-title"/>
          <p:cNvSpPr txBox="1"/>
          <p:nvPr/>
        </p:nvSpPr>
        <p:spPr>
          <a:xfrm>
            <a:off x="1527048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side-notch</a:t>
            </a:r>
          </a:p>
        </p:txBody>
      </p:sp>
      <p:sp>
        <p:nvSpPr>
          <p:cNvPr id="42" name="mdpr-text catalog-body"/>
          <p:cNvSpPr txBox="1"/>
          <p:nvPr/>
        </p:nvSpPr>
        <p:spPr>
          <a:xfrm>
            <a:off x="1527048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side notch; aligned text</a:t>
            </a:r>
          </a:p>
        </p:txBody>
      </p:sp>
      <p:sp>
        <p:nvSpPr>
          <p:cNvPr id="43" name="mdpr-text catalog-token"/>
          <p:cNvSpPr txBox="1"/>
          <p:nvPr/>
        </p:nvSpPr>
        <p:spPr>
          <a:xfrm>
            <a:off x="1527048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0F766E"/>
                </a:solidFill>
              </a:rPr>
              <a:t>theme-token driven</a:t>
            </a:r>
          </a:p>
        </p:txBody>
      </p:sp>
      <p:sp>
        <p:nvSpPr>
          <p:cNvPr id="44" name="mdpr-surface catalog-card"/>
          <p:cNvSpPr/>
          <p:nvPr/>
        </p:nvSpPr>
        <p:spPr>
          <a:xfrm>
            <a:off x="4325112" y="3758184"/>
            <a:ext cx="352958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dpr-decor label-tab"/>
          <p:cNvSpPr/>
          <p:nvPr/>
        </p:nvSpPr>
        <p:spPr>
          <a:xfrm>
            <a:off x="4489703" y="4064508"/>
            <a:ext cx="384048" cy="347472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dpr-text-in-decor"/>
          <p:cNvSpPr txBox="1"/>
          <p:nvPr/>
        </p:nvSpPr>
        <p:spPr>
          <a:xfrm>
            <a:off x="4489703" y="4064508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7" name="mdpr-text catalog-title"/>
          <p:cNvSpPr txBox="1"/>
          <p:nvPr/>
        </p:nvSpPr>
        <p:spPr>
          <a:xfrm>
            <a:off x="5285231" y="3877056"/>
            <a:ext cx="2404872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00" b="1">
                <a:solidFill>
                  <a:srgbClr val="111827"/>
                </a:solidFill>
              </a:rPr>
              <a:t>rank-ribbon</a:t>
            </a:r>
          </a:p>
        </p:txBody>
      </p:sp>
      <p:sp>
        <p:nvSpPr>
          <p:cNvPr id="48" name="mdpr-text catalog-body"/>
          <p:cNvSpPr txBox="1"/>
          <p:nvPr/>
        </p:nvSpPr>
        <p:spPr>
          <a:xfrm>
            <a:off x="5285231" y="4178808"/>
            <a:ext cx="240487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0">
                <a:solidFill>
                  <a:srgbClr val="475569"/>
                </a:solidFill>
              </a:rPr>
              <a:t>rank ribbon; large number</a:t>
            </a:r>
          </a:p>
        </p:txBody>
      </p:sp>
      <p:sp>
        <p:nvSpPr>
          <p:cNvPr id="49" name="mdpr-text catalog-token"/>
          <p:cNvSpPr txBox="1"/>
          <p:nvPr/>
        </p:nvSpPr>
        <p:spPr>
          <a:xfrm>
            <a:off x="5285231" y="4443984"/>
            <a:ext cx="2404872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00" b="1">
                <a:solidFill>
                  <a:srgbClr val="2563EB"/>
                </a:solidFill>
              </a:rPr>
              <a:t>theme-token driven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dpr-text"/>
          <p:cNvSpPr txBox="1"/>
          <p:nvPr/>
        </p:nvSpPr>
        <p:spPr>
          <a:xfrm>
            <a:off x="502920" y="310896"/>
            <a:ext cx="795527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Coverage Audit Summary</a:t>
            </a:r>
          </a:p>
        </p:txBody>
      </p:sp>
      <p:sp>
        <p:nvSpPr>
          <p:cNvPr id="3" name="mdpr-surface audit-claim"/>
          <p:cNvSpPr/>
          <p:nvPr/>
        </p:nvSpPr>
        <p:spPr>
          <a:xfrm>
            <a:off x="685800" y="1024128"/>
            <a:ext cx="10469880" cy="47548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dpr-text audit-claim"/>
          <p:cNvSpPr txBox="1"/>
          <p:nvPr/>
        </p:nvSpPr>
        <p:spPr>
          <a:xfrm>
            <a:off x="932688" y="1133856"/>
            <a:ext cx="98298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65F46"/>
                </a:solidFill>
              </a:rPr>
              <a:t>Theme feel and object diversity are verified from generated PPTX and PNG artifacts, not from documentation alone.</a:t>
            </a:r>
          </a:p>
        </p:txBody>
      </p:sp>
      <p:sp>
        <p:nvSpPr>
          <p:cNvPr id="5" name="mdpr-surface"/>
          <p:cNvSpPr/>
          <p:nvPr/>
        </p:nvSpPr>
        <p:spPr>
          <a:xfrm>
            <a:off x="685800" y="1664208"/>
            <a:ext cx="4297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dpr-text"/>
          <p:cNvSpPr txBox="1"/>
          <p:nvPr/>
        </p:nvSpPr>
        <p:spPr>
          <a:xfrm>
            <a:off x="896112" y="1737360"/>
            <a:ext cx="237744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</a:rPr>
              <a:t>Catalog patterns</a:t>
            </a:r>
          </a:p>
        </p:txBody>
      </p:sp>
      <p:sp>
        <p:nvSpPr>
          <p:cNvPr id="7" name="mdpr-text"/>
          <p:cNvSpPr txBox="1"/>
          <p:nvPr/>
        </p:nvSpPr>
        <p:spPr>
          <a:xfrm>
            <a:off x="3931920" y="1719072"/>
            <a:ext cx="64008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</a:rPr>
              <a:t>68</a:t>
            </a:r>
          </a:p>
        </p:txBody>
      </p:sp>
      <p:sp>
        <p:nvSpPr>
          <p:cNvPr id="8" name="mdpr-surface"/>
          <p:cNvSpPr/>
          <p:nvPr/>
        </p:nvSpPr>
        <p:spPr>
          <a:xfrm>
            <a:off x="685800" y="2322576"/>
            <a:ext cx="4297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dpr-text"/>
          <p:cNvSpPr txBox="1"/>
          <p:nvPr/>
        </p:nvSpPr>
        <p:spPr>
          <a:xfrm>
            <a:off x="896112" y="2395728"/>
            <a:ext cx="237744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</a:rPr>
              <a:t>Unique shape kinds</a:t>
            </a:r>
          </a:p>
        </p:txBody>
      </p:sp>
      <p:sp>
        <p:nvSpPr>
          <p:cNvPr id="10" name="mdpr-text"/>
          <p:cNvSpPr txBox="1"/>
          <p:nvPr/>
        </p:nvSpPr>
        <p:spPr>
          <a:xfrm>
            <a:off x="3931920" y="2377440"/>
            <a:ext cx="64008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</a:rPr>
              <a:t>68</a:t>
            </a:r>
          </a:p>
        </p:txBody>
      </p:sp>
      <p:sp>
        <p:nvSpPr>
          <p:cNvPr id="11" name="mdpr-surface"/>
          <p:cNvSpPr/>
          <p:nvPr/>
        </p:nvSpPr>
        <p:spPr>
          <a:xfrm>
            <a:off x="685800" y="2980944"/>
            <a:ext cx="4297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dpr-text"/>
          <p:cNvSpPr txBox="1"/>
          <p:nvPr/>
        </p:nvSpPr>
        <p:spPr>
          <a:xfrm>
            <a:off x="896112" y="3054096"/>
            <a:ext cx="237744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</a:rPr>
              <a:t>Archetypes</a:t>
            </a:r>
          </a:p>
        </p:txBody>
      </p:sp>
      <p:sp>
        <p:nvSpPr>
          <p:cNvPr id="13" name="mdpr-text"/>
          <p:cNvSpPr txBox="1"/>
          <p:nvPr/>
        </p:nvSpPr>
        <p:spPr>
          <a:xfrm>
            <a:off x="3931920" y="3035808"/>
            <a:ext cx="64008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</a:rPr>
              <a:t>68</a:t>
            </a:r>
          </a:p>
        </p:txBody>
      </p:sp>
      <p:sp>
        <p:nvSpPr>
          <p:cNvPr id="14" name="mdpr-surface"/>
          <p:cNvSpPr/>
          <p:nvPr/>
        </p:nvSpPr>
        <p:spPr>
          <a:xfrm>
            <a:off x="685800" y="3639312"/>
            <a:ext cx="4297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dpr-text"/>
          <p:cNvSpPr txBox="1"/>
          <p:nvPr/>
        </p:nvSpPr>
        <p:spPr>
          <a:xfrm>
            <a:off x="896112" y="3712464"/>
            <a:ext cx="237744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</a:rPr>
              <a:t>Theme-token ready</a:t>
            </a:r>
          </a:p>
        </p:txBody>
      </p:sp>
      <p:sp>
        <p:nvSpPr>
          <p:cNvPr id="16" name="mdpr-text"/>
          <p:cNvSpPr txBox="1"/>
          <p:nvPr/>
        </p:nvSpPr>
        <p:spPr>
          <a:xfrm>
            <a:off x="3931920" y="3694176"/>
            <a:ext cx="64008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</a:rPr>
              <a:t>68</a:t>
            </a:r>
          </a:p>
        </p:txBody>
      </p:sp>
      <p:sp>
        <p:nvSpPr>
          <p:cNvPr id="17" name="mdpr-surface"/>
          <p:cNvSpPr/>
          <p:nvPr/>
        </p:nvSpPr>
        <p:spPr>
          <a:xfrm>
            <a:off x="5532120" y="1664208"/>
            <a:ext cx="5623560" cy="20116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dpr-text"/>
          <p:cNvSpPr txBox="1"/>
          <p:nvPr/>
        </p:nvSpPr>
        <p:spPr>
          <a:xfrm>
            <a:off x="5779008" y="1874519"/>
            <a:ext cx="4846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</a:rPr>
              <a:t>Families</a:t>
            </a:r>
          </a:p>
        </p:txBody>
      </p:sp>
      <p:sp>
        <p:nvSpPr>
          <p:cNvPr id="19" name="mdpr-text"/>
          <p:cNvSpPr txBox="1"/>
          <p:nvPr/>
        </p:nvSpPr>
        <p:spPr>
          <a:xfrm>
            <a:off x="5779008" y="2185416"/>
            <a:ext cx="493776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callout, card, chart, comparison, constraint, decoration, diagram, fallback, header, icon, image, label, list, metric, quote, ranking, surface, table</a:t>
            </a:r>
          </a:p>
        </p:txBody>
      </p:sp>
      <p:sp>
        <p:nvSpPr>
          <p:cNvPr id="20" name="mdpr-text"/>
          <p:cNvSpPr txBox="1"/>
          <p:nvPr/>
        </p:nvSpPr>
        <p:spPr>
          <a:xfrm>
            <a:off x="5779008" y="3127248"/>
            <a:ext cx="4754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</a:rPr>
              <a:t>Average theme RGB distance: 206.77</a:t>
            </a:r>
          </a:p>
        </p:txBody>
      </p:sp>
      <p:sp>
        <p:nvSpPr>
          <p:cNvPr id="21" name="mdpr-surface"/>
          <p:cNvSpPr/>
          <p:nvPr/>
        </p:nvSpPr>
        <p:spPr>
          <a:xfrm>
            <a:off x="5532120" y="3995928"/>
            <a:ext cx="5623560" cy="141732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dpr-text"/>
          <p:cNvSpPr txBox="1"/>
          <p:nvPr/>
        </p:nvSpPr>
        <p:spPr>
          <a:xfrm>
            <a:off x="5779008" y="4178808"/>
            <a:ext cx="49377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9A3412"/>
                </a:solidFill>
              </a:rPr>
              <a:t>Manual visual review note</a:t>
            </a:r>
          </a:p>
        </p:txBody>
      </p:sp>
      <p:sp>
        <p:nvSpPr>
          <p:cNvPr id="23" name="mdpr-text"/>
          <p:cNvSpPr txBox="1"/>
          <p:nvPr/>
        </p:nvSpPr>
        <p:spPr>
          <a:xfrm>
            <a:off x="5779008" y="4526280"/>
            <a:ext cx="493776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3412"/>
                </a:solidFill>
              </a:rPr>
              <a:t>Diversity is now judged by 60+ structural archetypes across 18 object families, not by repeated card decoration variants.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