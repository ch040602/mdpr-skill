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5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6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7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charts/chart8.xml" ContentType="application/vnd.openxmlformats-officedocument.drawingml.chart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charts/chart9.xml" ContentType="application/vnd.openxmlformats-officedocument.drawingml.chart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charts/chart10.xml" ContentType="application/vnd.openxmlformats-officedocument.drawingml.chart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charts/chart11.xml" ContentType="application/vnd.openxmlformats-officedocument.drawingml.chart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charts/chart12.xml" ContentType="application/vnd.openxmlformats-officedocument.drawingml.chart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charts/chart13.xml" ContentType="application/vnd.openxmlformats-officedocument.drawingml.chart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charts/chart14.xml" ContentType="application/vnd.openxmlformats-officedocument.drawingml.chart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notesMasterIdLst>
    <p:notesMasterId r:id="rId10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</c:v>
                  </c:pt>
                  <c:pt idx="1">
                    <c:v>Chart</c:v>
                  </c:pt>
                  <c:pt idx="2">
                    <c:v>Text</c:v>
                  </c:pt>
                  <c:pt idx="3">
                    <c:v>Theme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92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6DC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</c:v>
                  </c:pt>
                  <c:pt idx="1">
                    <c:v>Chart</c:v>
                  </c:pt>
                  <c:pt idx="2">
                    <c:v>Text</c:v>
                  </c:pt>
                  <c:pt idx="3">
                    <c:v>Theme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92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3DD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</c:v>
                  </c:pt>
                  <c:pt idx="1">
                    <c:v>Chart</c:v>
                  </c:pt>
                  <c:pt idx="2">
                    <c:v>Text</c:v>
                  </c:pt>
                  <c:pt idx="3">
                    <c:v>Theme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92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ECC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</c:v>
                  </c:pt>
                  <c:pt idx="1">
                    <c:v>Chart</c:v>
                  </c:pt>
                  <c:pt idx="2">
                    <c:v>Text</c:v>
                  </c:pt>
                  <c:pt idx="3">
                    <c:v>Theme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92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7CF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7534E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</c:v>
                  </c:pt>
                  <c:pt idx="1">
                    <c:v>Chart</c:v>
                  </c:pt>
                  <c:pt idx="2">
                    <c:v>Text</c:v>
                  </c:pt>
                  <c:pt idx="3">
                    <c:v>Theme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92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3E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</c:v>
                  </c:pt>
                  <c:pt idx="1">
                    <c:v>Chart</c:v>
                  </c:pt>
                  <c:pt idx="2">
                    <c:v>Text</c:v>
                  </c:pt>
                  <c:pt idx="3">
                    <c:v>Theme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92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9FAFB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6445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</c:v>
                  </c:pt>
                  <c:pt idx="1">
                    <c:v>Chart</c:v>
                  </c:pt>
                  <c:pt idx="2">
                    <c:v>Text</c:v>
                  </c:pt>
                  <c:pt idx="3">
                    <c:v>Theme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92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CEFF4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9577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8DEE9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</c:v>
                  </c:pt>
                  <c:pt idx="1">
                    <c:v>Chart</c:v>
                  </c:pt>
                  <c:pt idx="2">
                    <c:v>Text</c:v>
                  </c:pt>
                  <c:pt idx="3">
                    <c:v>Theme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92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73642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A9CA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6E75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</c:v>
                  </c:pt>
                  <c:pt idx="1">
                    <c:v>Chart</c:v>
                  </c:pt>
                  <c:pt idx="2">
                    <c:v>Text</c:v>
                  </c:pt>
                  <c:pt idx="3">
                    <c:v>Theme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92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8F8F2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5D71A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6D6D2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</c:v>
                  </c:pt>
                  <c:pt idx="1">
                    <c:v>Chart</c:v>
                  </c:pt>
                  <c:pt idx="2">
                    <c:v>Text</c:v>
                  </c:pt>
                  <c:pt idx="3">
                    <c:v>Theme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92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6CB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</c:v>
                  </c:pt>
                  <c:pt idx="1">
                    <c:v>Chart</c:v>
                  </c:pt>
                  <c:pt idx="2">
                    <c:v>Text</c:v>
                  </c:pt>
                  <c:pt idx="3">
                    <c:v>Theme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92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BF1C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615D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5C4A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</c:v>
                  </c:pt>
                  <c:pt idx="1">
                    <c:v>Chart</c:v>
                  </c:pt>
                  <c:pt idx="2">
                    <c:v>Text</c:v>
                  </c:pt>
                  <c:pt idx="3">
                    <c:v>Theme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92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8F8F2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6F70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DB74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</c:v>
                  </c:pt>
                  <c:pt idx="1">
                    <c:v>Chart</c:v>
                  </c:pt>
                  <c:pt idx="2">
                    <c:v>Text</c:v>
                  </c:pt>
                  <c:pt idx="3">
                    <c:v>Theme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92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3238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1CF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46E7A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Table</c:v>
                  </c:pt>
                  <c:pt idx="1">
                    <c:v>Chart</c:v>
                  </c:pt>
                  <c:pt idx="2">
                    <c:v>Text</c:v>
                  </c:pt>
                  <c:pt idx="3">
                    <c:v>Theme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92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0CAF5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F4A7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B1D6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plain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Visual Diversification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plain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268224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309067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49910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90753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431596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plain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parsing, splitting, layout, color harmony, rendering, and validation.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optional compact semantic hints before deterministic selection.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intent, grouping, importance candidates, and ambiguity notes only.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slide splits, coordinates, typography, colors, z-order, effects, arrows, tables, charts, and PPTX objects.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plain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Purpose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quantitative signal and interpretation in one pass.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 hint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keep the explanation short enough for chart-beside-prose placement.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Rule 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chooses coordinates, theme colors, and chart objects.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plain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Rule-based behavior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weight and numeric alignment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cells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palette tokens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Minimum readable font floor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 frame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plain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Sequence 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steps, consistent arrow semantics, restrained accent.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point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metric, callout line, contrast chip, and evidence table.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 with shared baseline and matching text floors.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relief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monochrome icon slot when a prose slide would otherwise be plain.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plain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Markdown is the reusable LLM-hint version.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does not select the final theme, coordinates, variants, or object geometry.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can rebuild the same source under every design preset through --theme-gallery.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clean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Visual Diversification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clean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68224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09067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49910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90753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31596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clean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D3DDF0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D3DDF0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D3DDF0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D3DDF0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parsing, splitting, layout, color harmony, rendering, and validation.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optional compact semantic hints before deterministic selection.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intent, grouping, importance candidates, and ambiguity notes only.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slide splits, coordinates, typography, colors, z-order, effects, arrows, tables, charts, and PPTX objects.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clean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Purpose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quantitative signal and interpretation in one pass.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 hint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keep the explanation short enough for chart-beside-prose placement.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Rule 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chooses coordinates, theme colors, and chart objects.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clean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FBFCFD"/>
          </a:solidFill>
          <a:ln w="12700">
            <a:solidFill>
              <a:srgbClr val="D3DDF0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FBFCFD"/>
          </a:solidFill>
          <a:ln w="12700">
            <a:solidFill>
              <a:srgbClr val="D3DDF0">
                <a:alpha val="9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3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Rule-based behavior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weight and numeric alignment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cells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palette tokens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Minimum readable font floor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 frame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clean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D3DDF0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D3DDF0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D3DDF0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D3DDF0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Sequence 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steps, consistent arrow semantics, restrained accent.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point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metric, callout line, contrast chip, and evidence table.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 with shared baseline and matching text floors.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relief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monochrome icon slot when a prose slide would otherwise be plain.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clean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CFD"/>
          </a:solidFill>
          <a:ln w="12700">
            <a:solidFill>
              <a:srgbClr val="D3DDF0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CFD"/>
          </a:solidFill>
          <a:ln w="12700">
            <a:solidFill>
              <a:srgbClr val="D3DDF0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CFD"/>
          </a:solidFill>
          <a:ln w="12700">
            <a:solidFill>
              <a:srgbClr val="D3DDF0">
                <a:alpha val="9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Markdown is the reusable LLM-hint version.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does not select the final theme, coordinates, variants, or object geometry.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3DD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can rebuild the same source under every design preset through --theme-gallery.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executive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Visual Diversification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executive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8224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09067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49910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90753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31596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executive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BECCE2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BECCE2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BECCE2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BECCE2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BECC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parsing, splitting, layout, color harmony, rendering, and validation.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BECC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optional compact semantic hints before deterministic selection.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BECC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intent, grouping, importance candidates, and ambiguity notes only.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BECC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slide splits, coordinates, typography, colors, z-order, effects, arrows, tables, charts, and PPTX objects.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executive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Purpose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quantitative signal and interpretation in one pass.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 hint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keep the explanation short enough for chart-beside-prose placement.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Rule 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chooses coordinates, theme colors, and chart objects.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executive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FBFCFD"/>
          </a:solidFill>
          <a:ln w="12700">
            <a:solidFill>
              <a:srgbClr val="BECCE2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FBFCFD"/>
          </a:solidFill>
          <a:ln w="12700">
            <a:solidFill>
              <a:srgbClr val="BECCE2">
                <a:alpha val="9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3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Rule-based behavior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weight and numeric alignment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cells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palette tokens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D">
                        <a:alpha val="80000"/>
                      </a:srgbClr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Minimum readable font floor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 frame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executive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BECCE2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BECCE2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BECCE2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CFD"/>
          </a:solidFill>
          <a:ln w="12700">
            <a:solidFill>
              <a:srgbClr val="BECCE2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BECC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Sequence 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steps, consistent arrow semantics, restrained accent.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BECC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point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metric, callout line, contrast chip, and evidence table.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BECC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 with shared baseline and matching text floors.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BECC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relief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monochrome icon slot when a prose slide would otherwise be plain.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executive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CFD"/>
          </a:solidFill>
          <a:ln w="12700">
            <a:solidFill>
              <a:srgbClr val="BECCE2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CFD"/>
          </a:solidFill>
          <a:ln w="12700">
            <a:solidFill>
              <a:srgbClr val="BECCE2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CFD"/>
          </a:solidFill>
          <a:ln w="12700">
            <a:solidFill>
              <a:srgbClr val="BECCE2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BECC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Markdown is the reusable LLM-hint version.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BECC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does not select the final theme, coordinates, variants, or object geometry.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BECC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can rebuild the same source under every design preset through --theme-gallery.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F03A11">
              <a:alpha val="92000"/>
            </a:srgbClr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559552"/>
            <a:ext cx="37490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editorial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Visual Diversification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editorial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8224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09067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49910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90753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31596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editorial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7F2"/>
          </a:solidFill>
          <a:ln w="12700">
            <a:solidFill>
              <a:srgbClr val="D7CFCC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7F2"/>
          </a:solidFill>
          <a:ln w="12700">
            <a:solidFill>
              <a:srgbClr val="D7CFCC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7F2"/>
          </a:solidFill>
          <a:ln w="12700">
            <a:solidFill>
              <a:srgbClr val="D7CFCC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7F2"/>
          </a:solidFill>
          <a:ln w="12700">
            <a:solidFill>
              <a:srgbClr val="D7CFCC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D7CF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parsing, splitting, layout, color harmony, rendering, and validation.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D7CF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optional compact semantic hints before deterministic selection.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D7CF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intent, grouping, importance candidates, and ambiguity notes only.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D7CF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slide splits, coordinates, typography, colors, z-order, effects, arrows, tables, charts, and PPTX objects.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editorial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Purpose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quantitative signal and interpretation in one pass.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 hint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keep the explanation short enough for chart-beside-prose placement.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Rule 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chooses coordinates, theme colors, and chart objects.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editorial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FBF7F2"/>
          </a:solidFill>
          <a:ln w="12700">
            <a:solidFill>
              <a:srgbClr val="D7CFCC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FBF7F2"/>
          </a:solidFill>
          <a:ln w="12700">
            <a:solidFill>
              <a:srgbClr val="D7CFCC">
                <a:alpha val="9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3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Rule-based behavior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weight and numeric alignment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cells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palette tokens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2">
                        <a:alpha val="80000"/>
                      </a:srgbClr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Minimum readable font floor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 frame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C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editorial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7F2"/>
          </a:solidFill>
          <a:ln w="12700">
            <a:solidFill>
              <a:srgbClr val="D7CFCC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7F2"/>
          </a:solidFill>
          <a:ln w="12700">
            <a:solidFill>
              <a:srgbClr val="D7CFCC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7F2"/>
          </a:solidFill>
          <a:ln w="12700">
            <a:solidFill>
              <a:srgbClr val="D7CFCC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7F2"/>
          </a:solidFill>
          <a:ln w="12700">
            <a:solidFill>
              <a:srgbClr val="D7CFCC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D7CF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Sequence 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steps, consistent arrow semantics, restrained accent.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D7CF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point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metric, callout line, contrast chip, and evidence table.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D7CF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 with shared baseline and matching text floors.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7F3EF"/>
          </a:solidFill>
          <a:ln w="12700">
            <a:solidFill>
              <a:srgbClr val="D7CF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relief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monochrome icon slot when a prose slide would otherwise be plain.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editorial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7F2"/>
          </a:solidFill>
          <a:ln w="12700">
            <a:solidFill>
              <a:srgbClr val="D7CFCC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7F2"/>
          </a:solidFill>
          <a:ln w="12700">
            <a:solidFill>
              <a:srgbClr val="D7CFCC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7F2"/>
          </a:solidFill>
          <a:ln w="12700">
            <a:solidFill>
              <a:srgbClr val="D7CFCC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7F3EF"/>
          </a:solidFill>
          <a:ln w="12700">
            <a:solidFill>
              <a:srgbClr val="D7CF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Markdown is the reusable LLM-hint version.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7F3EF"/>
          </a:solidFill>
          <a:ln w="12700">
            <a:solidFill>
              <a:srgbClr val="D7CF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F7F3EF"/>
          </a:solidFill>
          <a:ln w="12700">
            <a:solidFill>
              <a:srgbClr val="F7F3E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does not select the final theme, coordinates, variants, or object geometry.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7F3EF"/>
          </a:solidFill>
          <a:ln w="12700">
            <a:solidFill>
              <a:srgbClr val="D7CF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can rebuild the same source under every design preset through --theme-gallery.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" y="1005840"/>
            <a:ext cx="73152" cy="4846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technical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Visual Diversification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technical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68224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09067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49910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90753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31596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technical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D"/>
          </a:solidFill>
          <a:ln w="12700">
            <a:solidFill>
              <a:srgbClr val="C3EEE5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D"/>
          </a:solidFill>
          <a:ln w="12700">
            <a:solidFill>
              <a:srgbClr val="C3EEE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D"/>
          </a:solidFill>
          <a:ln w="12700">
            <a:solidFill>
              <a:srgbClr val="C3EEE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D"/>
          </a:solidFill>
          <a:ln w="12700">
            <a:solidFill>
              <a:srgbClr val="C3EEE5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C3E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parsing, splitting, layout, color harmony, rendering, and validation.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C3E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optional compact semantic hints before deterministic selection.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C3E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intent, grouping, importance candidates, and ambiguity notes only.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C3EE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slide splits, coordinates, typography, colors, z-order, effects, arrows, tables, charts, and PPTX objects.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technical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Purpose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quantitative signal and interpretation in one pass.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 hint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keep the explanation short enough for chart-beside-prose placement.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Rule 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chooses coordinates, theme colors, and chart objects.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technical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FCFCFD"/>
          </a:solidFill>
          <a:ln w="12700">
            <a:solidFill>
              <a:srgbClr val="C3EEE5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FCFCFD"/>
          </a:solidFill>
          <a:ln w="12700">
            <a:solidFill>
              <a:srgbClr val="C3EEE5">
                <a:alpha val="9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3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Rule-based behavior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weight and numeric alignment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cells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palette tokens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Minimum readable font floor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 frame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E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technical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D"/>
          </a:solidFill>
          <a:ln w="12700">
            <a:solidFill>
              <a:srgbClr val="C3EEE5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D"/>
          </a:solidFill>
          <a:ln w="12700">
            <a:solidFill>
              <a:srgbClr val="C3EEE5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D"/>
          </a:solidFill>
          <a:ln w="12700">
            <a:solidFill>
              <a:srgbClr val="C3EEE5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D"/>
          </a:solidFill>
          <a:ln w="12700">
            <a:solidFill>
              <a:srgbClr val="C3EEE5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C3EE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Sequence 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steps, consistent arrow semantics, restrained accent.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C3E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point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metric, callout line, contrast chip, and evidence table.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C3E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 with shared baseline and matching text floors.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C3EE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relief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monochrome icon slot when a prose slide would otherwise be plain.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technical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CFCFD"/>
          </a:solidFill>
          <a:ln w="12700">
            <a:solidFill>
              <a:srgbClr val="C3EEE5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CFCFD"/>
          </a:solidFill>
          <a:ln w="12700">
            <a:solidFill>
              <a:srgbClr val="C3EEE5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CFCFD"/>
          </a:solidFill>
          <a:ln w="12700">
            <a:solidFill>
              <a:srgbClr val="C3EEE5">
                <a:alpha val="9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C3EE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Markdown is the reusable LLM-hint version.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C3E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does not select the final theme, coordinates, variants, or object geometry.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 w="12700">
            <a:solidFill>
              <a:srgbClr val="C3EE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can rebuild the same source under every design preset through --theme-gallery.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2563EB">
              <a:alpha val="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99632"/>
            <a:ext cx="16002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dark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Visual Diversification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dark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8224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09067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49910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90753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31596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7202E"/>
          </a:solidFill>
          <a:ln w="12700">
            <a:solidFill>
              <a:srgbClr val="36445D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7202E"/>
          </a:solidFill>
          <a:ln w="12700">
            <a:solidFill>
              <a:srgbClr val="36445D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7202E"/>
          </a:solidFill>
          <a:ln w="12700">
            <a:solidFill>
              <a:srgbClr val="36445D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7202E"/>
          </a:solidFill>
          <a:ln w="12700">
            <a:solidFill>
              <a:srgbClr val="36445D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36445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parsing, splitting, layout, color harmony, rendering, and validation.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36445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optional compact semantic hints before deterministic selection.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36445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intent, grouping, importance candidates, and ambiguity notes only.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36445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slide splits, coordinates, typography, colors, z-order, effects, arrows, tables, charts, and PPTX objects.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dark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Purpose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quantitative signal and interpretation in one pass.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 hint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keep the explanation short enough for chart-beside-prose placement.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Rule 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chooses coordinates, theme colors, and chart objects.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dark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17202E"/>
          </a:solidFill>
          <a:ln w="12700">
            <a:solidFill>
              <a:srgbClr val="36445D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17202E"/>
          </a:solidFill>
          <a:ln w="12700">
            <a:solidFill>
              <a:srgbClr val="36445D">
                <a:alpha val="9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3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Rule-based behavior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weight and numeric alignment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cells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palette tokens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Minimum readable font floor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 frame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644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dark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7202E"/>
          </a:solidFill>
          <a:ln w="12700">
            <a:solidFill>
              <a:srgbClr val="36445D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7202E"/>
          </a:solidFill>
          <a:ln w="12700">
            <a:solidFill>
              <a:srgbClr val="36445D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7202E"/>
          </a:solidFill>
          <a:ln w="12700">
            <a:solidFill>
              <a:srgbClr val="36445D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7202E"/>
          </a:solidFill>
          <a:ln w="12700">
            <a:solidFill>
              <a:srgbClr val="36445D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36445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Sequence 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steps, consistent arrow semantics, restrained accent.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36445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point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metric, callout line, contrast chip, and evidence table.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36445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 with shared baseline and matching text floors.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36445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relief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monochrome icon slot when a prose slide would otherwise be plain.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dark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17202E"/>
          </a:solidFill>
          <a:ln w="12700">
            <a:solidFill>
              <a:srgbClr val="36445D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17202E"/>
          </a:solidFill>
          <a:ln w="12700">
            <a:solidFill>
              <a:srgbClr val="36445D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17202E"/>
          </a:solidFill>
          <a:ln w="12700">
            <a:solidFill>
              <a:srgbClr val="36445D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644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Markdown is the reusable LLM-hint version.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644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does not select the final theme, coordinates, variants, or object geometry.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6445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can rebuild the same source under every design preset through --theme-gallery.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2563EB">
              <a:alpha val="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99632"/>
            <a:ext cx="16002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nord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Visual Diversification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E3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nord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8224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09067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49910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90753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31596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E3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nord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43A48"/>
          </a:solidFill>
          <a:ln w="12700">
            <a:solidFill>
              <a:srgbClr val="495774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43A48"/>
          </a:solidFill>
          <a:ln w="12700">
            <a:solidFill>
              <a:srgbClr val="495774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43A48"/>
          </a:solidFill>
          <a:ln w="12700">
            <a:solidFill>
              <a:srgbClr val="495774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43A48"/>
          </a:solidFill>
          <a:ln w="12700">
            <a:solidFill>
              <a:srgbClr val="495774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E3440"/>
          </a:solidFill>
          <a:ln w="12700">
            <a:solidFill>
              <a:srgbClr val="4957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parsing, splitting, layout, color harmony, rendering, and validation.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E3440"/>
          </a:solidFill>
          <a:ln w="12700">
            <a:solidFill>
              <a:srgbClr val="4957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2E3440"/>
          </a:solidFill>
          <a:ln w="12700">
            <a:solidFill>
              <a:srgbClr val="2E344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optional compact semantic hints before deterministic selection.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E3440"/>
          </a:solidFill>
          <a:ln w="12700">
            <a:solidFill>
              <a:srgbClr val="49577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intent, grouping, importance candidates, and ambiguity notes only.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E3440"/>
          </a:solidFill>
          <a:ln w="12700">
            <a:solidFill>
              <a:srgbClr val="4957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slide splits, coordinates, typography, colors, z-order, effects, arrows, tables, charts, and PPTX objects.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E3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nord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Purpose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quantitative signal and interpretation in one pass.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 hint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keep the explanation short enough for chart-beside-prose placement.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Rule 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chooses coordinates, theme colors, and chart objects.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E3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nord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343A48"/>
          </a:solidFill>
          <a:ln w="12700">
            <a:solidFill>
              <a:srgbClr val="495774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343A48"/>
          </a:solidFill>
          <a:ln w="12700">
            <a:solidFill>
              <a:srgbClr val="495774">
                <a:alpha val="9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3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Rule-based behavior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CEFF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EFF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weight and numeric alignment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EFF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cells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CEFF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EFF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palette tokens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EFF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A48">
                        <a:alpha val="80000"/>
                      </a:srgbClr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CEFF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EFF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Minimum readable font floor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CEFF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 frame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77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E3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nord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43A48"/>
          </a:solidFill>
          <a:ln w="12700">
            <a:solidFill>
              <a:srgbClr val="495774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43A48"/>
          </a:solidFill>
          <a:ln w="12700">
            <a:solidFill>
              <a:srgbClr val="495774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43A48"/>
          </a:solidFill>
          <a:ln w="12700">
            <a:solidFill>
              <a:srgbClr val="495774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43A48"/>
          </a:solidFill>
          <a:ln w="12700">
            <a:solidFill>
              <a:srgbClr val="495774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E3440"/>
          </a:solidFill>
          <a:ln w="12700">
            <a:solidFill>
              <a:srgbClr val="4957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Sequence 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steps, consistent arrow semantics, restrained accent.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E3440"/>
          </a:solidFill>
          <a:ln w="12700">
            <a:solidFill>
              <a:srgbClr val="4957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2E3440"/>
          </a:solidFill>
          <a:ln w="12700">
            <a:solidFill>
              <a:srgbClr val="2E344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point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metric, callout line, contrast chip, and evidence table.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E3440"/>
          </a:solidFill>
          <a:ln w="12700">
            <a:solidFill>
              <a:srgbClr val="49577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 with shared baseline and matching text floors.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E3440"/>
          </a:solidFill>
          <a:ln w="12700">
            <a:solidFill>
              <a:srgbClr val="4957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relief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monochrome icon slot when a prose slide would otherwise be plain.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E3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nord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343A48"/>
          </a:solidFill>
          <a:ln w="12700">
            <a:solidFill>
              <a:srgbClr val="495774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343A48"/>
          </a:solidFill>
          <a:ln w="12700">
            <a:solidFill>
              <a:srgbClr val="495774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343A48"/>
          </a:solidFill>
          <a:ln w="12700">
            <a:solidFill>
              <a:srgbClr val="495774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E3440"/>
          </a:solidFill>
          <a:ln w="12700">
            <a:solidFill>
              <a:srgbClr val="4957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Markdown is the reusable LLM-hint version.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E3440"/>
          </a:solidFill>
          <a:ln w="12700">
            <a:solidFill>
              <a:srgbClr val="49577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2E3440"/>
          </a:solidFill>
          <a:ln w="12700">
            <a:solidFill>
              <a:srgbClr val="2E3440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does not select the final theme, coordinates, variants, or object geometry.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E3440"/>
          </a:solidFill>
          <a:ln w="12700">
            <a:solidFill>
              <a:srgbClr val="49577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ECEFF4"/>
          </a:solidFill>
          <a:ln w="12700">
            <a:solidFill>
              <a:srgbClr val="ECEFF4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CEFF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can rebuild the same source under every design preset through --theme-gallery.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F03A11">
              <a:alpha val="92000"/>
            </a:srgbClr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559552"/>
            <a:ext cx="37490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solarized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Visual Diversification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solarized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8224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09067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49910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90753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31596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solarized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6F0DD"/>
          </a:solidFill>
          <a:ln w="12700">
            <a:solidFill>
              <a:srgbClr val="8A9CA7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6F0DD"/>
          </a:solidFill>
          <a:ln w="12700">
            <a:solidFill>
              <a:srgbClr val="8A9CA7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6F0DD"/>
          </a:solidFill>
          <a:ln w="12700">
            <a:solidFill>
              <a:srgbClr val="8A9CA7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6F0DD"/>
          </a:solidFill>
          <a:ln w="12700">
            <a:solidFill>
              <a:srgbClr val="8A9CA7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DF6E3"/>
          </a:solidFill>
          <a:ln w="12700">
            <a:solidFill>
              <a:srgbClr val="8A9C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parsing, splitting, layout, color harmony, rendering, and validation.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DF6E3"/>
          </a:solidFill>
          <a:ln w="12700">
            <a:solidFill>
              <a:srgbClr val="8A9C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DF6E3"/>
          </a:solidFill>
          <a:ln w="12700">
            <a:solidFill>
              <a:srgbClr val="FDF6E3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optional compact semantic hints before deterministic selection.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DF6E3"/>
          </a:solidFill>
          <a:ln w="12700">
            <a:solidFill>
              <a:srgbClr val="8A9C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intent, grouping, importance candidates, and ambiguity notes only.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DF6E3"/>
          </a:solidFill>
          <a:ln w="12700">
            <a:solidFill>
              <a:srgbClr val="8A9C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slide splits, coordinates, typography, colors, z-order, effects, arrows, tables, charts, and PPTX objects.</a:t>
            </a:r>
            <a:endParaRPr lang="en-US" sz="2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solarized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Purpose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quantitative signal and interpretation in one pass.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 hint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keep the explanation short enough for chart-beside-prose placement.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Rule 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chooses coordinates, theme colors, and chart objects.</a:t>
            </a:r>
            <a:endParaRPr lang="en-US" sz="2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solarized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F6F0DD"/>
          </a:solidFill>
          <a:ln w="12700">
            <a:solidFill>
              <a:srgbClr val="8A9CA7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F6F0DD"/>
          </a:solidFill>
          <a:ln w="12700">
            <a:solidFill>
              <a:srgbClr val="8A9CA7">
                <a:alpha val="9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3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Rule-based behavior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736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736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weight and numeric alignment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736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cells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736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736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palette tokens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736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DD">
                        <a:alpha val="80000"/>
                      </a:srgbClr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736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736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Minimum readable font floor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736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 frame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C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solarized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6F0DD"/>
          </a:solidFill>
          <a:ln w="12700">
            <a:solidFill>
              <a:srgbClr val="8A9CA7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6F0DD"/>
          </a:solidFill>
          <a:ln w="12700">
            <a:solidFill>
              <a:srgbClr val="8A9CA7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6F0DD"/>
          </a:solidFill>
          <a:ln w="12700">
            <a:solidFill>
              <a:srgbClr val="8A9CA7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6F0DD"/>
          </a:solidFill>
          <a:ln w="12700">
            <a:solidFill>
              <a:srgbClr val="8A9CA7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DF6E3"/>
          </a:solidFill>
          <a:ln w="12700">
            <a:solidFill>
              <a:srgbClr val="8A9C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Sequence 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steps, consistent arrow semantics, restrained accent.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DF6E3"/>
          </a:solidFill>
          <a:ln w="12700">
            <a:solidFill>
              <a:srgbClr val="8A9C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DF6E3"/>
          </a:solidFill>
          <a:ln w="12700">
            <a:solidFill>
              <a:srgbClr val="FDF6E3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point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metric, callout line, contrast chip, and evidence table.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DF6E3"/>
          </a:solidFill>
          <a:ln w="12700">
            <a:solidFill>
              <a:srgbClr val="8A9C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 with shared baseline and matching text floors.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DF6E3"/>
          </a:solidFill>
          <a:ln w="12700">
            <a:solidFill>
              <a:srgbClr val="8A9CA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relief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monochrome icon slot when a prose slide would otherwise be plain.</a:t>
            </a:r>
            <a:endParaRPr lang="en-US" sz="2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solarized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6F0DD"/>
          </a:solidFill>
          <a:ln w="12700">
            <a:solidFill>
              <a:srgbClr val="8A9CA7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6F0DD"/>
          </a:solidFill>
          <a:ln w="12700">
            <a:solidFill>
              <a:srgbClr val="8A9CA7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6F0DD"/>
          </a:solidFill>
          <a:ln w="12700">
            <a:solidFill>
              <a:srgbClr val="8A9CA7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DF6E3"/>
          </a:solidFill>
          <a:ln w="12700">
            <a:solidFill>
              <a:srgbClr val="8A9C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Markdown is the reusable LLM-hint version.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DF6E3"/>
          </a:solidFill>
          <a:ln w="12700">
            <a:solidFill>
              <a:srgbClr val="8A9C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FDF6E3"/>
          </a:solidFill>
          <a:ln w="12700">
            <a:solidFill>
              <a:srgbClr val="FDF6E3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does not select the final theme, coordinates, variants, or object geometry.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DF6E3"/>
          </a:solidFill>
          <a:ln w="12700">
            <a:solidFill>
              <a:srgbClr val="8A9C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073642"/>
          </a:solidFill>
          <a:ln w="12700">
            <a:solidFill>
              <a:srgbClr val="073642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736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can rebuild the same source under every design preset through --theme-gallery.</a:t>
            </a:r>
            <a:endParaRPr lang="en-US" sz="2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2563EB">
              <a:alpha val="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99632"/>
            <a:ext cx="16002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D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dracula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Visual Diversification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8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D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dracula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8224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09067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49910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90753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31596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2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8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D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dracula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53746"/>
          </a:solidFill>
          <a:ln w="12700">
            <a:solidFill>
              <a:srgbClr val="5D71A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53746"/>
          </a:solidFill>
          <a:ln w="12700">
            <a:solidFill>
              <a:srgbClr val="5D71A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53746"/>
          </a:solidFill>
          <a:ln w="12700">
            <a:solidFill>
              <a:srgbClr val="5D71AA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53746"/>
          </a:solidFill>
          <a:ln w="12700">
            <a:solidFill>
              <a:srgbClr val="5D71A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A36"/>
          </a:solidFill>
          <a:ln w="12700">
            <a:solidFill>
              <a:srgbClr val="5D71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parsing, splitting, layout, color harmony, rendering, and validation.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A36"/>
          </a:solidFill>
          <a:ln w="12700">
            <a:solidFill>
              <a:srgbClr val="5D71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282A36"/>
          </a:solidFill>
          <a:ln w="12700">
            <a:solidFill>
              <a:srgbClr val="282A3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optional compact semantic hints before deterministic selection.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A36"/>
          </a:solidFill>
          <a:ln w="12700">
            <a:solidFill>
              <a:srgbClr val="5D71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intent, grouping, importance candidates, and ambiguity notes only.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A36"/>
          </a:solidFill>
          <a:ln w="12700">
            <a:solidFill>
              <a:srgbClr val="5D71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slide splits, coordinates, typography, colors, z-order, effects, arrows, tables, charts, and PPTX objects.</a:t>
            </a:r>
            <a:endParaRPr lang="en-US" sz="2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8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D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dracula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Purpose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quantitative signal and interpretation in one pass.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 hint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keep the explanation short enough for chart-beside-prose placement.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Rule 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chooses coordinates, theme colors, and chart objects.</a:t>
            </a:r>
            <a:endParaRPr lang="en-US" sz="2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8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D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dracula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353746"/>
          </a:solidFill>
          <a:ln w="12700">
            <a:solidFill>
              <a:srgbClr val="5D71AA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353746"/>
          </a:solidFill>
          <a:ln w="12700">
            <a:solidFill>
              <a:srgbClr val="5D71AA">
                <a:alpha val="9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3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Rule-based behavior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weight and numeric alignment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cells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74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palette tokens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746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746">
                        <a:alpha val="80000"/>
                      </a:srgbClr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Minimum readable font floor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 frame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D71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8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D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dracula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53746"/>
          </a:solidFill>
          <a:ln w="12700">
            <a:solidFill>
              <a:srgbClr val="5D71A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53746"/>
          </a:solidFill>
          <a:ln w="12700">
            <a:solidFill>
              <a:srgbClr val="5D71A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53746"/>
          </a:solidFill>
          <a:ln w="12700">
            <a:solidFill>
              <a:srgbClr val="5D71AA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53746"/>
          </a:solidFill>
          <a:ln w="12700">
            <a:solidFill>
              <a:srgbClr val="5D71A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A36"/>
          </a:solidFill>
          <a:ln w="12700">
            <a:solidFill>
              <a:srgbClr val="5D71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Sequence 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steps, consistent arrow semantics, restrained accent.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A36"/>
          </a:solidFill>
          <a:ln w="12700">
            <a:solidFill>
              <a:srgbClr val="5D71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282A36"/>
          </a:solidFill>
          <a:ln w="12700">
            <a:solidFill>
              <a:srgbClr val="282A3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point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metric, callout line, contrast chip, and evidence table.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A36"/>
          </a:solidFill>
          <a:ln w="12700">
            <a:solidFill>
              <a:srgbClr val="5D71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 with shared baseline and matching text floors.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A36"/>
          </a:solidFill>
          <a:ln w="12700">
            <a:solidFill>
              <a:srgbClr val="5D71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relief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monochrome icon slot when a prose slide would otherwise be plain.</a:t>
            </a:r>
            <a:endParaRPr lang="en-US" sz="2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8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D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dracula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353746"/>
          </a:solidFill>
          <a:ln w="12700">
            <a:solidFill>
              <a:srgbClr val="5D71A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353746"/>
          </a:solidFill>
          <a:ln w="12700">
            <a:solidFill>
              <a:srgbClr val="5D71A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353746"/>
          </a:solidFill>
          <a:ln w="12700">
            <a:solidFill>
              <a:srgbClr val="5D71A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82A36"/>
          </a:solidFill>
          <a:ln w="12700">
            <a:solidFill>
              <a:srgbClr val="5D71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Markdown is the reusable LLM-hint version.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82A36"/>
          </a:solidFill>
          <a:ln w="12700">
            <a:solidFill>
              <a:srgbClr val="5D71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282A36"/>
          </a:solidFill>
          <a:ln w="12700">
            <a:solidFill>
              <a:srgbClr val="282A36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does not select the final theme, coordinates, variants, or object geometry.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82A36"/>
          </a:solidFill>
          <a:ln w="12700">
            <a:solidFill>
              <a:srgbClr val="5D71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can rebuild the same source under every design preset through --theme-gallery.</a:t>
            </a:r>
            <a:endParaRPr lang="en-US" sz="2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005840"/>
            <a:ext cx="73152" cy="4846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tableau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Visual Diversification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tableau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8224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09067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49910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90753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31596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2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tableau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parsing, splitting, layout, color harmony, rendering, and validation.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optional compact semantic hints before deterministic selection.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intent, grouping, importance candidates, and ambiguity notes only.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slide splits, coordinates, typography, colors, z-order, effects, arrows, tables, charts, and PPTX objects.</a:t>
            </a:r>
            <a:endParaRPr lang="en-US" sz="2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tableau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Purpose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quantitative signal and interpretation in one pass.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 hint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keep the explanation short enough for chart-beside-prose placement.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Rule 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chooses coordinates, theme colors, and chart objects.</a:t>
            </a:r>
            <a:endParaRPr lang="en-US" sz="2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tableau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3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Rule-based behavior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weight and numeric alignment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cells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palette tokens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>
                        <a:alpha val="80000"/>
                      </a:srgbClr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Minimum readable font floor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 frame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B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tableau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Sequence 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steps, consistent arrow semantics, restrained accent.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point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metric, callout line, contrast chip, and evidence table.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 with shared baseline and matching text floors.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relief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monochrome icon slot when a prose slide would otherwise be plain.</a:t>
            </a:r>
            <a:endParaRPr lang="en-US" sz="2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tableau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BFBFB"/>
          </a:solidFill>
          <a:ln w="12700">
            <a:solidFill>
              <a:srgbClr val="C6CBD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Markdown is the reusable LLM-hint version.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does not select the final theme, coordinates, variants, or object geometry.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6CB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can rebuild the same source under every design preset through --theme-gallery.</a:t>
            </a:r>
            <a:endParaRPr lang="en-US" sz="2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F03A11">
              <a:alpha val="92000"/>
            </a:srgbClr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5559552"/>
            <a:ext cx="37490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5C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gruvbox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Visual Diversification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5C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gruvbox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8224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09067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49910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90753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31596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2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5C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gruvbox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2F2E"/>
          </a:solidFill>
          <a:ln w="12700">
            <a:solidFill>
              <a:srgbClr val="615D60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2F2E"/>
          </a:solidFill>
          <a:ln w="12700">
            <a:solidFill>
              <a:srgbClr val="615D60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2F2E"/>
          </a:solidFill>
          <a:ln w="12700">
            <a:solidFill>
              <a:srgbClr val="615D60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2F2E"/>
          </a:solidFill>
          <a:ln w="12700">
            <a:solidFill>
              <a:srgbClr val="615D60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828"/>
          </a:solidFill>
          <a:ln w="12700">
            <a:solidFill>
              <a:srgbClr val="615D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parsing, splitting, layout, color harmony, rendering, and validation.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828"/>
          </a:solidFill>
          <a:ln w="12700">
            <a:solidFill>
              <a:srgbClr val="615D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optional compact semantic hints before deterministic selection.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828"/>
          </a:solidFill>
          <a:ln w="12700">
            <a:solidFill>
              <a:srgbClr val="615D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intent, grouping, importance candidates, and ambiguity notes only.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828"/>
          </a:solidFill>
          <a:ln w="12700">
            <a:solidFill>
              <a:srgbClr val="615D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slide splits, coordinates, typography, colors, z-order, effects, arrows, tables, charts, and PPTX objects.</a:t>
            </a:r>
            <a:endParaRPr lang="en-US" sz="2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5C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gruvbox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Purpose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quantitative signal and interpretation in one pass.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 hint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keep the explanation short enough for chart-beside-prose placement.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Rule 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chooses coordinates, theme colors, and chart objects.</a:t>
            </a:r>
            <a:endParaRPr lang="en-US" sz="2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5C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gruvbox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312F2E"/>
          </a:solidFill>
          <a:ln w="12700">
            <a:solidFill>
              <a:srgbClr val="615D60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312F2E"/>
          </a:solidFill>
          <a:ln w="12700">
            <a:solidFill>
              <a:srgbClr val="615D60">
                <a:alpha val="9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3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Rule-based behavior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BF1C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BF1C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weight and numeric alignment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BF1C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cells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BF1C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F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BF1C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palette tokens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F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BF1C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F2E">
                        <a:alpha val="80000"/>
                      </a:srgbClr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BF1C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BF1C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Minimum readable font floor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BF1C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 frame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15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5C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gruvbox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2F2E"/>
          </a:solidFill>
          <a:ln w="12700">
            <a:solidFill>
              <a:srgbClr val="615D60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2F2E"/>
          </a:solidFill>
          <a:ln w="12700">
            <a:solidFill>
              <a:srgbClr val="615D60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2F2E"/>
          </a:solidFill>
          <a:ln w="12700">
            <a:solidFill>
              <a:srgbClr val="615D60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2F2E"/>
          </a:solidFill>
          <a:ln w="12700">
            <a:solidFill>
              <a:srgbClr val="615D60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828"/>
          </a:solidFill>
          <a:ln w="12700">
            <a:solidFill>
              <a:srgbClr val="615D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Sequence 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steps, consistent arrow semantics, restrained accent.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828"/>
          </a:solidFill>
          <a:ln w="12700">
            <a:solidFill>
              <a:srgbClr val="615D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point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metric, callout line, contrast chip, and evidence table.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828"/>
          </a:solidFill>
          <a:ln w="12700">
            <a:solidFill>
              <a:srgbClr val="615D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 with shared baseline and matching text floors.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82828"/>
          </a:solidFill>
          <a:ln w="12700">
            <a:solidFill>
              <a:srgbClr val="615D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relief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monochrome icon slot when a prose slide would otherwise be plain.</a:t>
            </a:r>
            <a:endParaRPr lang="en-US" sz="2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282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5C4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gruvbox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312F2E"/>
          </a:solidFill>
          <a:ln w="12700">
            <a:solidFill>
              <a:srgbClr val="615D60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312F2E"/>
          </a:solidFill>
          <a:ln w="12700">
            <a:solidFill>
              <a:srgbClr val="615D60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312F2E"/>
          </a:solidFill>
          <a:ln w="12700">
            <a:solidFill>
              <a:srgbClr val="615D60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82828"/>
          </a:solidFill>
          <a:ln w="12700">
            <a:solidFill>
              <a:srgbClr val="615D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Markdown is the reusable LLM-hint version.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82828"/>
          </a:solidFill>
          <a:ln w="12700">
            <a:solidFill>
              <a:srgbClr val="615D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282828"/>
          </a:solidFill>
          <a:ln w="12700">
            <a:solidFill>
              <a:srgbClr val="282828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does not select the final theme, coordinates, variants, or object geometry.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82828"/>
          </a:solidFill>
          <a:ln w="12700">
            <a:solidFill>
              <a:srgbClr val="615D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FBF1C7"/>
          </a:solidFill>
          <a:ln w="12700">
            <a:solidFill>
              <a:srgbClr val="FBF1C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BF1C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can rebuild the same source under every design preset through --theme-gallery.</a:t>
            </a:r>
            <a:endParaRPr lang="en-US" sz="2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2563EB">
              <a:alpha val="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99632"/>
            <a:ext cx="16002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6D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monokai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Visual Diversification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272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6D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monokai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8224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09067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49910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90753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31596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2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272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6D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monokai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3129"/>
          </a:solidFill>
          <a:ln w="12700">
            <a:solidFill>
              <a:srgbClr val="6F7069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3129"/>
          </a:solidFill>
          <a:ln w="12700">
            <a:solidFill>
              <a:srgbClr val="6F7069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3129"/>
          </a:solidFill>
          <a:ln w="12700">
            <a:solidFill>
              <a:srgbClr val="6F7069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3129"/>
          </a:solidFill>
          <a:ln w="12700">
            <a:solidFill>
              <a:srgbClr val="6F7069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72822"/>
          </a:solidFill>
          <a:ln w="12700">
            <a:solidFill>
              <a:srgbClr val="6F7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parsing, splitting, layout, color harmony, rendering, and validation.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72822"/>
          </a:solidFill>
          <a:ln w="12700">
            <a:solidFill>
              <a:srgbClr val="6F7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272822"/>
          </a:solidFill>
          <a:ln w="12700">
            <a:solidFill>
              <a:srgbClr val="27282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optional compact semantic hints before deterministic selection.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72822"/>
          </a:solidFill>
          <a:ln w="12700">
            <a:solidFill>
              <a:srgbClr val="6F70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intent, grouping, importance candidates, and ambiguity notes only.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72822"/>
          </a:solidFill>
          <a:ln w="12700">
            <a:solidFill>
              <a:srgbClr val="6F70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slide splits, coordinates, typography, colors, z-order, effects, arrows, tables, charts, and PPTX objects.</a:t>
            </a:r>
            <a:endParaRPr lang="en-US" sz="2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272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6D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monokai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Purpose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quantitative signal and interpretation in one pass.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 hint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keep the explanation short enough for chart-beside-prose placement.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Rule 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chooses coordinates, theme colors, and chart objects.</a:t>
            </a:r>
            <a:endParaRPr lang="en-US" sz="2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272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6D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monokai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313129"/>
          </a:solidFill>
          <a:ln w="12700">
            <a:solidFill>
              <a:srgbClr val="6F7069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313129"/>
          </a:solidFill>
          <a:ln w="12700">
            <a:solidFill>
              <a:srgbClr val="6F7069">
                <a:alpha val="9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3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Rule-based behavior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weight and numeric alignment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cells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2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palette tokens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2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3129">
                        <a:alpha val="80000"/>
                      </a:srgbClr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Minimum readable font floor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8F8F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 frame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70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272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6D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monokai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3129"/>
          </a:solidFill>
          <a:ln w="12700">
            <a:solidFill>
              <a:srgbClr val="6F7069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3129"/>
          </a:solidFill>
          <a:ln w="12700">
            <a:solidFill>
              <a:srgbClr val="6F7069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3129"/>
          </a:solidFill>
          <a:ln w="12700">
            <a:solidFill>
              <a:srgbClr val="6F7069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313129"/>
          </a:solidFill>
          <a:ln w="12700">
            <a:solidFill>
              <a:srgbClr val="6F7069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72822"/>
          </a:solidFill>
          <a:ln w="12700">
            <a:solidFill>
              <a:srgbClr val="6F7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Sequence 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steps, consistent arrow semantics, restrained accent.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72822"/>
          </a:solidFill>
          <a:ln w="12700">
            <a:solidFill>
              <a:srgbClr val="6F7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272822"/>
          </a:solidFill>
          <a:ln w="12700">
            <a:solidFill>
              <a:srgbClr val="27282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point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metric, callout line, contrast chip, and evidence table.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72822"/>
          </a:solidFill>
          <a:ln w="12700">
            <a:solidFill>
              <a:srgbClr val="6F70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 with shared baseline and matching text floors.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272822"/>
          </a:solidFill>
          <a:ln w="12700">
            <a:solidFill>
              <a:srgbClr val="6F70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relief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monochrome icon slot when a prose slide would otherwise be plain.</a:t>
            </a:r>
            <a:endParaRPr lang="en-US" sz="2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272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6DB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monokai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313129"/>
          </a:solidFill>
          <a:ln w="12700">
            <a:solidFill>
              <a:srgbClr val="6F7069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313129"/>
          </a:solidFill>
          <a:ln w="12700">
            <a:solidFill>
              <a:srgbClr val="6F7069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313129"/>
          </a:solidFill>
          <a:ln w="12700">
            <a:solidFill>
              <a:srgbClr val="6F7069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72822"/>
          </a:solidFill>
          <a:ln w="12700">
            <a:solidFill>
              <a:srgbClr val="6F70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Markdown is the reusable LLM-hint version.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72822"/>
          </a:solidFill>
          <a:ln w="12700">
            <a:solidFill>
              <a:srgbClr val="6F70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272822"/>
          </a:solidFill>
          <a:ln w="12700">
            <a:solidFill>
              <a:srgbClr val="272822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does not select the final theme, coordinates, variants, or object geometry.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272822"/>
          </a:solidFill>
          <a:ln w="12700">
            <a:solidFill>
              <a:srgbClr val="6F70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F8F8F2"/>
          </a:solidFill>
          <a:ln w="12700">
            <a:solidFill>
              <a:srgbClr val="F8F8F2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8F8F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can rebuild the same source under every design preset through --theme-gallery.</a:t>
            </a:r>
            <a:endParaRPr lang="en-US" sz="2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005840"/>
            <a:ext cx="73152" cy="4846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material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Visual Diversification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material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8224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09067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49910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90753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31596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2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material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C"/>
          </a:solidFill>
          <a:ln w="12700">
            <a:solidFill>
              <a:srgbClr val="C1CFDD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C"/>
          </a:solidFill>
          <a:ln w="12700">
            <a:solidFill>
              <a:srgbClr val="C1CFDD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C"/>
          </a:solidFill>
          <a:ln w="12700">
            <a:solidFill>
              <a:srgbClr val="C1CFDD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C"/>
          </a:solidFill>
          <a:ln w="12700">
            <a:solidFill>
              <a:srgbClr val="C1CFDD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2700">
            <a:solidFill>
              <a:srgbClr val="C1CF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parsing, splitting, layout, color harmony, rendering, and validation.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2700">
            <a:solidFill>
              <a:srgbClr val="C1CF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optional compact semantic hints before deterministic selection.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2700">
            <a:solidFill>
              <a:srgbClr val="C1CF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intent, grouping, importance candidates, and ambiguity notes only.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2700">
            <a:solidFill>
              <a:srgbClr val="C1CF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slide splits, coordinates, typography, colors, z-order, effects, arrows, tables, charts, and PPTX objects.</a:t>
            </a:r>
            <a:endParaRPr lang="en-US" sz="2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material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Purpose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quantitative signal and interpretation in one pass.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 hint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keep the explanation short enough for chart-beside-prose placement.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Rule 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chooses coordinates, theme colors, and chart objects.</a:t>
            </a:r>
            <a:endParaRPr lang="en-US" sz="2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material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FCFCFC"/>
          </a:solidFill>
          <a:ln w="12700">
            <a:solidFill>
              <a:srgbClr val="C1CFDD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FCFCFC"/>
          </a:solidFill>
          <a:ln w="12700">
            <a:solidFill>
              <a:srgbClr val="C1CFDD">
                <a:alpha val="9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3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Rule-based behavior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323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323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weight and numeric alignment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323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cells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323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323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palette tokens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323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>
                        <a:alpha val="80000"/>
                      </a:srgbClr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26323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323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Minimum readable font floor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26323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 frame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material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C"/>
          </a:solidFill>
          <a:ln w="12700">
            <a:solidFill>
              <a:srgbClr val="C1CFDD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C"/>
          </a:solidFill>
          <a:ln w="12700">
            <a:solidFill>
              <a:srgbClr val="C1CFDD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C"/>
          </a:solidFill>
          <a:ln w="12700">
            <a:solidFill>
              <a:srgbClr val="C1CFDD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FCFCFC"/>
          </a:solidFill>
          <a:ln w="12700">
            <a:solidFill>
              <a:srgbClr val="C1CFDD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2700">
            <a:solidFill>
              <a:srgbClr val="C1CF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Sequence 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steps, consistent arrow semantics, restrained accent.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2700">
            <a:solidFill>
              <a:srgbClr val="C1CF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point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metric, callout line, contrast chip, and evidence table.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2700">
            <a:solidFill>
              <a:srgbClr val="C1CF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 with shared baseline and matching text floors.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AFAFA"/>
          </a:solidFill>
          <a:ln w="12700">
            <a:solidFill>
              <a:srgbClr val="C1CF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relief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monochrome icon slot when a prose slide would otherwise be plain.</a:t>
            </a:r>
            <a:endParaRPr lang="en-US" sz="2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material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CFCFC"/>
          </a:solidFill>
          <a:ln w="12700">
            <a:solidFill>
              <a:srgbClr val="C1CFDD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CFCFC"/>
          </a:solidFill>
          <a:ln w="12700">
            <a:solidFill>
              <a:srgbClr val="C1CFDD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FCFCFC"/>
          </a:solidFill>
          <a:ln w="12700">
            <a:solidFill>
              <a:srgbClr val="C1CFDD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C1CF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Markdown is the reusable LLM-hint version.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C1CF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does not select the final theme, coordinates, variants, or object geometry.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C1CF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6323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can rebuild the same source under every design preset through --theme-gallery.</a:t>
            </a:r>
            <a:endParaRPr lang="en-US" sz="2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2563EB">
              <a:alpha val="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99632"/>
            <a:ext cx="16002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tokyo-night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Visual Diversification</a:t>
            </a:r>
            <a:endParaRPr lang="en-US" sz="48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tokyo-night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682240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090672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499104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907536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315968"/>
            <a:ext cx="1009497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2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tokyo-night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F212F"/>
          </a:solidFill>
          <a:ln w="12700">
            <a:solidFill>
              <a:srgbClr val="3F4A72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F212F"/>
          </a:solidFill>
          <a:ln w="12700">
            <a:solidFill>
              <a:srgbClr val="3F4A72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F212F"/>
          </a:solidFill>
          <a:ln w="12700">
            <a:solidFill>
              <a:srgbClr val="3F4A72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F212F"/>
          </a:solidFill>
          <a:ln w="12700">
            <a:solidFill>
              <a:srgbClr val="3F4A72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A1B26"/>
          </a:solidFill>
          <a:ln w="12700">
            <a:solidFill>
              <a:srgbClr val="3F4A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deterministic parsing, splitting, layout, color harmony, rendering, and validation.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A1B26"/>
          </a:solidFill>
          <a:ln w="12700">
            <a:solidFill>
              <a:srgbClr val="3F4A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1A1B26"/>
          </a:solidFill>
          <a:ln w="12700">
            <a:solidFill>
              <a:srgbClr val="1A1B2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optional compact semantic hints before deterministic selection.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A1B26"/>
          </a:solidFill>
          <a:ln w="12700">
            <a:solidFill>
              <a:srgbClr val="3F4A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intent, grouping, importance candidates, and ambiguity notes only.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A1B26"/>
          </a:solidFill>
          <a:ln w="12700">
            <a:solidFill>
              <a:srgbClr val="3F4A7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scope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slide splits, coordinates, typography, colors, z-order, effects, arrows, tables, charts, and PPTX objects.</a:t>
            </a:r>
            <a:endParaRPr lang="en-US" sz="2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tokyo-night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Evidence Beside Reading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Purpose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quantitative signal and interpretation in one pass.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Layout hint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keep the explanation short enough for chart-beside-prose placement.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Rule boundary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chooses coordinates, theme colors, and chart objects.</a:t>
            </a:r>
            <a:endParaRPr lang="en-US" sz="2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tokyo-night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4617720" cy="3429000"/>
          </a:xfrm>
          <a:prstGeom prst="roundRect">
            <a:avLst>
              <a:gd name="adj" fmla="val 1600"/>
            </a:avLst>
          </a:prstGeom>
          <a:solidFill>
            <a:srgbClr val="1F212F"/>
          </a:solidFill>
          <a:ln w="12700">
            <a:solidFill>
              <a:srgbClr val="3F4A72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1572768"/>
            <a:ext cx="5532120" cy="2999232"/>
          </a:xfrm>
          <a:prstGeom prst="roundRect">
            <a:avLst>
              <a:gd name="adj" fmla="val 1829"/>
            </a:avLst>
          </a:prstGeom>
          <a:solidFill>
            <a:srgbClr val="1F212F"/>
          </a:solidFill>
          <a:ln w="12700">
            <a:solidFill>
              <a:srgbClr val="3F4A72">
                <a:alpha val="9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Parallel Table And Graph</a:t>
            </a:r>
            <a:endParaRPr lang="en-US" sz="3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877824" y="1655064"/>
          <a:ext cx="4361688" cy="3136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72768"/>
          <a:ext cx="5532120" cy="2999232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Rule-based behavior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Validation signal</a:t>
                      </a:r>
                      <a:endParaRPr lang="en-US" sz="17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C0CAF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0CAF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weight and numeric alignment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0CAF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cells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C0CAF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2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0CAF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Theme-bound palette tokens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2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0CAF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chart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12F">
                        <a:alpha val="80000"/>
                      </a:srgbClr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C0CAF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0CAF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Minimum readable font floor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C0CAF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bounded frame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A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tokyo-night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F212F"/>
          </a:solidFill>
          <a:ln w="12700">
            <a:solidFill>
              <a:srgbClr val="3F4A72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463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F212F"/>
          </a:solidFill>
          <a:ln w="12700">
            <a:solidFill>
              <a:srgbClr val="3F4A72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F212F"/>
          </a:solidFill>
          <a:ln w="12700">
            <a:solidFill>
              <a:srgbClr val="3F4A72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749040"/>
            <a:ext cx="5029200" cy="1920240"/>
          </a:xfrm>
          <a:prstGeom prst="roundRect">
            <a:avLst>
              <a:gd name="adj" fmla="val 2857"/>
            </a:avLst>
          </a:prstGeom>
          <a:solidFill>
            <a:srgbClr val="1F212F"/>
          </a:solidFill>
          <a:ln w="12700">
            <a:solidFill>
              <a:srgbClr val="3F4A72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Families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A1B26"/>
          </a:solidFill>
          <a:ln w="12700">
            <a:solidFill>
              <a:srgbClr val="3F4A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722" y="2378918"/>
            <a:ext cx="63203" cy="63203"/>
          </a:xfrm>
          <a:prstGeom prst="ellipse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0808" y="2378918"/>
            <a:ext cx="63203" cy="63203"/>
          </a:xfrm>
          <a:prstGeom prst="ellipse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0894" y="2378918"/>
            <a:ext cx="63203" cy="63203"/>
          </a:xfrm>
          <a:prstGeom prst="ellipse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3925" y="2407359"/>
            <a:ext cx="69524" cy="14221"/>
          </a:xfrm>
          <a:prstGeom prst="rect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94011" y="2407359"/>
            <a:ext cx="69524" cy="14221"/>
          </a:xfrm>
          <a:prstGeom prst="rect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Sequence rail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steps, consistent arrow semantics, restrained accent.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A1B26"/>
          </a:solidFill>
          <a:ln w="12700">
            <a:solidFill>
              <a:srgbClr val="3F4A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6635044" y="2284113"/>
            <a:ext cx="240173" cy="265454"/>
          </a:xfrm>
          <a:prstGeom prst="pentagon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100000">
            <a:off x="6739329" y="2353636"/>
            <a:ext cx="34762" cy="120086"/>
          </a:xfrm>
          <a:prstGeom prst="rect">
            <a:avLst/>
          </a:prstGeom>
          <a:solidFill>
            <a:srgbClr val="1A1B26"/>
          </a:solidFill>
          <a:ln w="12700">
            <a:solidFill>
              <a:srgbClr val="1A1B2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Proof point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metric, callout line, contrast chip, and evidence table.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A1B26"/>
          </a:solidFill>
          <a:ln w="12700">
            <a:solidFill>
              <a:srgbClr val="3F4A7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9206" y="4551152"/>
            <a:ext cx="101125" cy="101125"/>
          </a:xfrm>
          <a:prstGeom prst="diamond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26523" y="4693359"/>
            <a:ext cx="63203" cy="63203"/>
          </a:xfrm>
          <a:prstGeom prst="diamond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6652" y="4724961"/>
            <a:ext cx="69524" cy="69524"/>
          </a:xfrm>
          <a:prstGeom prst="diamond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two balanced regions with shared baseline and matching text floors.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A1B26"/>
          </a:solidFill>
          <a:ln w="12700">
            <a:solidFill>
              <a:srgbClr val="3F4A7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47684" y="4687039"/>
            <a:ext cx="41082" cy="110606"/>
          </a:xfrm>
          <a:prstGeom prst="rect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6689" y="4601714"/>
            <a:ext cx="41082" cy="195930"/>
          </a:xfrm>
          <a:prstGeom prst="rect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5693" y="4645957"/>
            <a:ext cx="41082" cy="151688"/>
          </a:xfrm>
          <a:prstGeom prst="rect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relief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one quiet monochrome icon slot when a prose slide would otherwise be plain.</a:t>
            </a:r>
            <a:endParaRPr lang="en-US" sz="2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C7F015"/>
          </a:solidFill>
          <a:ln w="12700">
            <a:solidFill>
              <a:srgbClr val="C7F01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F03A11"/>
          </a:solidFill>
          <a:ln w="12700">
            <a:solidFill>
              <a:srgbClr val="F03A1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59975" y="6510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tokyo-night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417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1F212F"/>
          </a:solidFill>
          <a:ln w="12700">
            <a:solidFill>
              <a:srgbClr val="3F4A72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60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1F212F"/>
          </a:solidFill>
          <a:ln w="12700">
            <a:solidFill>
              <a:srgbClr val="3F4A72">
                <a:alpha val="9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703320"/>
            <a:ext cx="10241280" cy="868680"/>
          </a:xfrm>
          <a:prstGeom prst="roundRect">
            <a:avLst>
              <a:gd name="adj" fmla="val 6316"/>
            </a:avLst>
          </a:prstGeom>
          <a:solidFill>
            <a:srgbClr val="1F212F"/>
          </a:solidFill>
          <a:ln w="12700">
            <a:solidFill>
              <a:srgbClr val="3F4A72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Reuse Contract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A1B26"/>
          </a:solidFill>
          <a:ln w="12700">
            <a:solidFill>
              <a:srgbClr val="3F4A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3957" y="1820322"/>
            <a:ext cx="44769" cy="44769"/>
          </a:xfrm>
          <a:prstGeom prst="ellipse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99019" y="1820322"/>
            <a:ext cx="44769" cy="44769"/>
          </a:xfrm>
          <a:prstGeom prst="ellipse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4080" y="1820322"/>
            <a:ext cx="44769" cy="44769"/>
          </a:xfrm>
          <a:prstGeom prst="ellipse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8726" y="1840468"/>
            <a:ext cx="49246" cy="10073"/>
          </a:xfrm>
          <a:prstGeom prst="rect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3788" y="1840468"/>
            <a:ext cx="49246" cy="10073"/>
          </a:xfrm>
          <a:prstGeom prst="rect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82496" y="1647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This Markdown is the reusable LLM-hint version.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A1B26"/>
          </a:solidFill>
          <a:ln w="12700">
            <a:solidFill>
              <a:srgbClr val="3F4A7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0800000">
            <a:off x="1240819" y="2896168"/>
            <a:ext cx="170122" cy="188030"/>
          </a:xfrm>
          <a:prstGeom prst="pentagon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100000">
            <a:off x="1314688" y="2945414"/>
            <a:ext cx="24623" cy="85061"/>
          </a:xfrm>
          <a:prstGeom prst="rect">
            <a:avLst/>
          </a:prstGeom>
          <a:solidFill>
            <a:srgbClr val="1A1B26"/>
          </a:solidFill>
          <a:ln w="12700">
            <a:solidFill>
              <a:srgbClr val="1A1B26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82496" y="2790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LLM does not select the final theme, coordinates, variants, or object geometry.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A1B26"/>
          </a:solidFill>
          <a:ln w="12700">
            <a:solidFill>
              <a:srgbClr val="3F4A7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76634" y="4025737"/>
            <a:ext cx="71630" cy="71630"/>
          </a:xfrm>
          <a:prstGeom prst="diamond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25150" y="4126468"/>
            <a:ext cx="44769" cy="44769"/>
          </a:xfrm>
          <a:prstGeom prst="diamond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52741" y="4148852"/>
            <a:ext cx="49246" cy="49246"/>
          </a:xfrm>
          <a:prstGeom prst="diamond">
            <a:avLst/>
          </a:prstGeom>
          <a:solidFill>
            <a:srgbClr val="C0CAF5"/>
          </a:solidFill>
          <a:ln w="12700">
            <a:solidFill>
              <a:srgbClr val="C0CAF5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82496" y="3933444"/>
            <a:ext cx="9272016" cy="40843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0CA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can rebuild the same source under every design preset through --theme-gallery.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FFFFF"/>
      </a:lt1>
      <a:dk2>
        <a:srgbClr val="4B5563"/>
      </a:dk2>
      <a:lt2>
        <a:srgbClr val="FFFFFF"/>
      </a:lt2>
      <a:accent1>
        <a:srgbClr val="2563EB"/>
      </a:accent1>
      <a:accent2>
        <a:srgbClr val="F03A11"/>
      </a:accent2>
      <a:accent3>
        <a:srgbClr val="C7F015"/>
      </a:accent3>
      <a:accent4>
        <a:srgbClr val="3ACAEB"/>
      </a:accent4>
      <a:accent5>
        <a:srgbClr val="3E18E4"/>
      </a:accent5>
      <a:accent6>
        <a:srgbClr val="0A3CAA"/>
      </a:accent6>
      <a:hlink>
        <a:srgbClr val="2563EB"/>
      </a:hlink>
      <a:folHlink>
        <a:srgbClr val="F03A11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Visual Diversification</dc:title>
  <dc:subject>Generated from Markdown through Presentation IR and Layout IR</dc:subject>
  <dc:creator>mdpresent</dc:creator>
  <cp:lastModifiedBy>mdpresent</cp:lastModifiedBy>
  <cp:revision>1</cp:revision>
  <dcterms:created xsi:type="dcterms:W3CDTF">2026-06-19T17:16:44Z</dcterms:created>
  <dcterms:modified xsi:type="dcterms:W3CDTF">2026-06-19T17:16:44Z</dcterms:modified>
</cp:coreProperties>
</file>