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Renderer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</c:v>
                </c:pt>
                <c:pt idx="1">
                  <c:v>87</c:v>
                </c:pt>
                <c:pt idx="2">
                  <c:v>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</c:v>
                  </c:pt>
                  <c:pt idx="1">
                    <c:v>Refined</c:v>
                  </c:pt>
                  <c:pt idx="2">
                    <c:v>Validated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84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Text</c:v>
                  </c:pt>
                  <c:pt idx="1">
                    <c:v>Table</c:v>
                  </c:pt>
                  <c:pt idx="2">
                    <c:v>Chart</c:v>
                  </c:pt>
                  <c:pt idx="3">
                    <c:v>Image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</c:v>
                </c:pt>
                <c:pt idx="1">
                  <c:v>92</c:v>
                </c:pt>
                <c:pt idx="2">
                  <c:v>95</c:v>
                </c:pt>
                <c:pt idx="3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Object Catalog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Family Index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024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Objects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6771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Card Layouts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1518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Cards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6265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List Cards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1012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 Cards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65760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Pentagon Object Set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0507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Object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35254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Bar Chart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0001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04748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Plus Table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39496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574243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608990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643737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Ranked Bars Proof Object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678484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Dots Proof Object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713232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Object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747979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Callout Object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782726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Window Object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817473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Icon Aside Object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852220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Focus Object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886968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Beside Text Object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921715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Objects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Family Index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Family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Usable objects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Rendered as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cover, title, paragraph, list, quote, code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 text boxes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Cards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single card, comparison, vertical list, 2x2 grid, 3x2 grid, radial pentagon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rounded regions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table, native bar chart, chart beside prose, chart plus table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PPT table/chart plus text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Proof charts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arc ring, gauge, connected strip, ranked bars, metric dots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 shapes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Media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 focus, image beside text, image stack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 image objects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Decoration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backgrounds, surfaces, badges, accent rails, icon markers, proof callouts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shapes/icons</a:t>
                      </a:r>
                      <a:endParaRPr lang="en-US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Objects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Cover/title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large hierarchy entry point.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Paragraph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bounded body text with readable minimum size.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Ordered list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 badges and stable row spacing.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Unordered list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small icon badges when rendered as item cards.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Objects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Quote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key-message callout surface.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Code object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monospace code window.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Card Layouts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Single-card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emphasized takeaway.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Vertical-list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three or more row cards.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 2x2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four peer cards.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Card Layouts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Grid 3x2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six compact peer cards.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Pentagon/radial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five related cards around a center rhythm.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Cards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Baseline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Markdown is source.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deterministic layout.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List Cards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semantic Markdown.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 and objects.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recipe and variant.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 and coherence.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 Cards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071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079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088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9391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1400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0934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Title/body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58907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2100000">
            <a:off x="469335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978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Quote/key message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60076" y="2265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7393" y="2407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67522" y="2438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5022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focus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127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6027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3928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60934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proof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82753" y="4608035"/>
            <a:ext cx="252813" cy="20225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01714" y="4664918"/>
            <a:ext cx="214891" cy="14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01714" y="4721801"/>
            <a:ext cx="214891" cy="1422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90199" y="4620675"/>
            <a:ext cx="14221" cy="1706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2978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focus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96873" y="4601714"/>
            <a:ext cx="265454" cy="214891"/>
          </a:xfrm>
          <a:prstGeom prst="roundRect">
            <a:avLst>
              <a:gd name="adj" fmla="val 12766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67522" y="4633316"/>
            <a:ext cx="37922" cy="3792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41115" y="4702840"/>
            <a:ext cx="158008" cy="69524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022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focus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3440" y="128016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2560320"/>
            <a:ext cx="73152" cy="10972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92240" y="457200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4572000"/>
            <a:ext cx="73152" cy="10972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256032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1828800"/>
            <a:ext cx="3017520" cy="1280160"/>
          </a:xfrm>
          <a:prstGeom prst="line">
            <a:avLst/>
          </a:prstGeom>
          <a:noFill/>
          <a:ln w="12700">
            <a:solidFill>
              <a:srgbClr val="F03A11">
                <a:alpha val="8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5120640"/>
            <a:ext cx="1188720" cy="0"/>
          </a:xfrm>
          <a:prstGeom prst="line">
            <a:avLst/>
          </a:prstGeom>
          <a:noFill/>
          <a:ln w="12700">
            <a:solidFill>
              <a:srgbClr val="F03A11">
                <a:alpha val="8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5120640"/>
            <a:ext cx="3566160" cy="0"/>
          </a:xfrm>
          <a:prstGeom prst="line">
            <a:avLst/>
          </a:prstGeom>
          <a:noFill/>
          <a:ln w="12700">
            <a:solidFill>
              <a:srgbClr val="F03A11">
                <a:alpha val="8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3108960"/>
            <a:ext cx="1188720" cy="2011680"/>
          </a:xfrm>
          <a:prstGeom prst="line">
            <a:avLst/>
          </a:prstGeom>
          <a:noFill/>
          <a:ln w="12700">
            <a:solidFill>
              <a:srgbClr val="F03A11">
                <a:alpha val="8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828800"/>
            <a:ext cx="0" cy="1280160"/>
          </a:xfrm>
          <a:prstGeom prst="line">
            <a:avLst/>
          </a:prstGeom>
          <a:noFill/>
          <a:ln w="12700">
            <a:solidFill>
              <a:srgbClr val="F03A11">
                <a:alpha val="8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28016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373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Pentagon Object Set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4736592" y="158008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58902" y="1793406"/>
            <a:ext cx="50563" cy="5056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54971" y="1793406"/>
            <a:ext cx="50563" cy="5056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51040" y="1793406"/>
            <a:ext cx="50563" cy="5056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09465" y="1816159"/>
            <a:ext cx="55619" cy="11377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05534" y="1816159"/>
            <a:ext cx="55619" cy="11377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62042" y="162458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extraction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754112" y="286024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7906760" y="2997722"/>
            <a:ext cx="192138" cy="21236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2100000">
            <a:off x="7990188" y="3053341"/>
            <a:ext cx="27809" cy="9606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79562" y="290474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Recipe selection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565392" y="487192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58490" y="4994233"/>
            <a:ext cx="80900" cy="8090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00343" y="5107999"/>
            <a:ext cx="50563" cy="5056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44446" y="5133281"/>
            <a:ext cx="55619" cy="5561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0842" y="491642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harmony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2999232" y="487192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61992" y="5102943"/>
            <a:ext cx="32866" cy="88485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25196" y="5034683"/>
            <a:ext cx="32866" cy="15674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88399" y="5070077"/>
            <a:ext cx="32866" cy="12135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24682" y="491642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Region composition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810512" y="286024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8103" y="3028060"/>
            <a:ext cx="202251" cy="16180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73272" y="3073566"/>
            <a:ext cx="171913" cy="113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73272" y="3119073"/>
            <a:ext cx="171913" cy="113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44060" y="3038172"/>
            <a:ext cx="11377" cy="13651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435962" y="290474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pass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Object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 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row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bold and readable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Numeric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right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label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trimmed spacing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Body cell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stable minimum font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Bar Chart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042416" y="1563624"/>
          <a:ext cx="9985248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Beside Prose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interpretation text beside quantitative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Owner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selects body/chart geometry and typography.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stays compact so the chart keeps visual priority.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Plus Table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59984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interpretation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left or lower support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precise values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aligned cells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proof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colors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98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evidence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aspect ratio preserved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Gauge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103120" y="3835908"/>
            <a:ext cx="7863840" cy="256032"/>
          </a:xfrm>
          <a:prstGeom prst="roundRect">
            <a:avLst>
              <a:gd name="adj" fmla="val 28571"/>
            </a:avLst>
          </a:prstGeom>
          <a:solidFill>
            <a:srgbClr val="C6CBDA">
              <a:alpha val="85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835908"/>
            <a:ext cx="6526987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0107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83803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0" y="3744468"/>
            <a:ext cx="0" cy="438912"/>
          </a:xfrm>
          <a:prstGeom prst="line">
            <a:avLst/>
          </a:prstGeom>
          <a:noFill/>
          <a:ln w="12700">
            <a:solidFill>
              <a:srgbClr val="C6CBDA">
                <a:alpha val="9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9549" y="2217420"/>
            <a:ext cx="2830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45308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733702" y="1895094"/>
            <a:ext cx="3387852" cy="3387852"/>
          </a:xfrm>
          <a:prstGeom prst="ellipse">
            <a:avLst/>
          </a:prstGeom>
          <a:solidFill>
            <a:srgbClr val="C6CBDA">
              <a:alpha val="8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24357" y="203907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900000">
            <a:off x="3601399" y="208871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800000">
            <a:off x="3952745" y="223424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700000">
            <a:off x="4254454" y="246575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3600000">
            <a:off x="4485963" y="276746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4500000">
            <a:off x="4631495" y="3118813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681134" y="3495854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6300000">
            <a:off x="4631495" y="387289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7200000">
            <a:off x="4485963" y="422424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8100000">
            <a:off x="4254454" y="4525951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9000000">
            <a:off x="3952745" y="475745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9900000">
            <a:off x="3601399" y="490299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3224357" y="4952630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1700000">
            <a:off x="2847316" y="490299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600000">
            <a:off x="2495969" y="475745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3500000">
            <a:off x="2194261" y="4525951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4400000">
            <a:off x="1962752" y="4224242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5300000">
            <a:off x="1817219" y="387289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1767581" y="3495854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7100000">
            <a:off x="1817219" y="3118813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8000000">
            <a:off x="1962752" y="276746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8900000">
            <a:off x="2194261" y="2465758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9800000">
            <a:off x="2495969" y="2234249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20700000">
            <a:off x="2847316" y="2088716"/>
            <a:ext cx="406542" cy="186332"/>
          </a:xfrm>
          <a:prstGeom prst="roundRect">
            <a:avLst>
              <a:gd name="adj" fmla="val 14722"/>
            </a:avLst>
          </a:prstGeom>
          <a:solidFill>
            <a:srgbClr val="C6CBDA">
              <a:alpha val="9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1916" y="3847487"/>
            <a:ext cx="237150" cy="237150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77394" y="2538786"/>
            <a:ext cx="2100468" cy="21004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479030" y="3013085"/>
            <a:ext cx="1897197" cy="813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72%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2343516" y="3860048"/>
            <a:ext cx="2168225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838444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67044" y="2416302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72%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38444" y="3006090"/>
            <a:ext cx="137160" cy="137160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67044" y="2855214"/>
            <a:ext cx="48143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28%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Connected Strip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78992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4293108"/>
            <a:ext cx="581108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61872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01896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3064" y="4293108"/>
            <a:ext cx="1975767" cy="128016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4776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84776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924800" y="2446020"/>
            <a:ext cx="3075432" cy="2286000"/>
          </a:xfrm>
          <a:prstGeom prst="roundRect">
            <a:avLst>
              <a:gd name="adj" fmla="val 2000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25968" y="4293108"/>
            <a:ext cx="2673096" cy="128016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07680" y="2628900"/>
            <a:ext cx="2709672" cy="86868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107680" y="3543300"/>
            <a:ext cx="2709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92%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136136" y="3589020"/>
            <a:ext cx="384048" cy="0"/>
          </a:xfrm>
          <a:prstGeom prst="line">
            <a:avLst/>
          </a:prstGeom>
          <a:noFill/>
          <a:ln w="12700">
            <a:solidFill>
              <a:srgbClr val="C7F015">
                <a:alpha val="9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59040" y="3589020"/>
            <a:ext cx="384048" cy="0"/>
          </a:xfrm>
          <a:prstGeom prst="line">
            <a:avLst/>
          </a:prstGeom>
          <a:noFill/>
          <a:ln w="12700">
            <a:solidFill>
              <a:srgbClr val="C7F015">
                <a:alpha val="92000"/>
              </a:srgbClr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Ranked Bars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207008" y="2779776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27632" y="2651760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511296" y="2844516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11296" y="2844516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25912" y="265176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07008" y="3433572"/>
            <a:ext cx="310896" cy="310896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07008" y="34335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305556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11296" y="3498312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11296" y="3498312"/>
            <a:ext cx="6913545" cy="181417"/>
          </a:xfrm>
          <a:prstGeom prst="roundRect">
            <a:avLst>
              <a:gd name="adj" fmla="val 25202"/>
            </a:avLst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25912" y="3305556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207008" y="4087368"/>
            <a:ext cx="310896" cy="310896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3959352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511296" y="4152108"/>
            <a:ext cx="7141464" cy="181417"/>
          </a:xfrm>
          <a:prstGeom prst="roundRect">
            <a:avLst>
              <a:gd name="adj" fmla="val 25202"/>
            </a:avLst>
          </a:prstGeom>
          <a:solidFill>
            <a:srgbClr val="C6CBDA">
              <a:alpha val="78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11296" y="4152108"/>
            <a:ext cx="6609653" cy="181417"/>
          </a:xfrm>
          <a:prstGeom prst="roundRect">
            <a:avLst>
              <a:gd name="adj" fmla="val 25202"/>
            </a:avLst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725912" y="3959352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Metric Dots Proof Object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3876142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37330" y="2459736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37330" y="272600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7330" y="2992283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7330" y="3258556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7330" y="352482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9294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949294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17820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79008" y="2459736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79008" y="2726009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79008" y="2992283"/>
            <a:ext cx="512064" cy="512064"/>
          </a:xfrm>
          <a:prstGeom prst="ellipse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79008" y="3258556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79008" y="3524829"/>
            <a:ext cx="512064" cy="512064"/>
          </a:xfrm>
          <a:prstGeom prst="ellipse">
            <a:avLst/>
          </a:prstGeom>
          <a:solidFill>
            <a:srgbClr val="C6CBDA">
              <a:alpha val="72000"/>
            </a:srgbClr>
          </a:solidFill>
          <a:ln w="12700">
            <a:solidFill>
              <a:srgbClr val="C6CBD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90972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90972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03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959498" y="2350008"/>
            <a:ext cx="1234440" cy="2519172"/>
          </a:xfrm>
          <a:prstGeom prst="roundRect">
            <a:avLst>
              <a:gd name="adj" fmla="val 4444"/>
            </a:avLst>
          </a:prstGeom>
          <a:solidFill>
            <a:srgbClr val="FBFBFB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20686" y="2459736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20686" y="2726009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0686" y="2992283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0686" y="3258556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20686" y="3524829"/>
            <a:ext cx="512064" cy="512064"/>
          </a:xfrm>
          <a:prstGeom prst="ellipse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32650" y="389305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Ship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032650" y="4327398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7F01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92%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Object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BF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047744" y="3095244"/>
            <a:ext cx="365760" cy="0"/>
          </a:xfrm>
          <a:prstGeom prst="line">
            <a:avLst/>
          </a:prstGeom>
          <a:noFill/>
          <a:ln w="12700">
            <a:solidFill>
              <a:srgbClr val="C7F01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3736" y="3095244"/>
            <a:ext cx="365760" cy="0"/>
          </a:xfrm>
          <a:prstGeom prst="line">
            <a:avLst/>
          </a:prstGeom>
          <a:noFill/>
          <a:ln w="12700">
            <a:solidFill>
              <a:srgbClr val="C7F015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53028"/>
            <a:ext cx="0" cy="365760"/>
          </a:xfrm>
          <a:prstGeom prst="line">
            <a:avLst/>
          </a:prstGeom>
          <a:noFill/>
          <a:ln w="12700">
            <a:solidFill>
              <a:srgbClr val="C7F01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93736" y="4576572"/>
            <a:ext cx="365760" cy="0"/>
          </a:xfrm>
          <a:prstGeom prst="line">
            <a:avLst/>
          </a:prstGeom>
          <a:noFill/>
          <a:ln w="12700">
            <a:solidFill>
              <a:srgbClr val="C7F015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47744" y="4576572"/>
            <a:ext cx="365760" cy="0"/>
          </a:xfrm>
          <a:prstGeom prst="line">
            <a:avLst/>
          </a:prstGeom>
          <a:noFill/>
          <a:ln w="12700">
            <a:solidFill>
              <a:srgbClr val="C7F015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BFBFB"/>
          </a:solidFill>
          <a:ln w="12700">
            <a:solidFill>
              <a:srgbClr val="C6CBDA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Callout Object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graph or diagram block must stay on one slide.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79933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callout surface is editable.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0776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quote keeps a stronger hierarchy than support text.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61619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Supporting text remains bounded below the proof point.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Window Object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deck = parseMarkdown(source);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layout = planLayout(deck, config);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renderPptx({ presentation: deck, layout }, options);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Icon Aside Object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monochrome icon.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icon is centered in its slot and stays secondary.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must not fill empty space as a large decorative object.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Focus Object</a:t>
            </a:r>
            <a:endParaRPr lang="en-US" sz="3400" dirty="0"/>
          </a:p>
        </p:txBody>
      </p:sp>
      <p:pic>
        <p:nvPicPr>
          <p:cNvPr id="6" name="Image 0" descr="artifacts/design-showcase/assets/mixed_object_re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1024128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Beside Text Object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113532"/>
            <a:ext cx="54772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Image-aware layouts keep body text and image objects in separate regions.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521964"/>
            <a:ext cx="54772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renderer must preserve aspect ratio and avoid covering text.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30396"/>
            <a:ext cx="54772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catalog keeps the icon/image role restrained rather than filling blank space.</a:t>
            </a:r>
            <a:endParaRPr lang="en-US" sz="2200" dirty="0"/>
          </a:p>
        </p:txBody>
      </p:sp>
      <p:pic>
        <p:nvPicPr>
          <p:cNvPr id="10" name="Image 0" descr="artifacts/design-showcase/assets/mixed_object_re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Objects</a:t>
            </a:r>
            <a:endParaRPr lang="en-US" sz="3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Decoration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Purpose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 guard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 background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 identity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low contrast behind content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Region surface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grouping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radius grammar per slide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rail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reading order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same-role rails share color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Number badge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ordered item marker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centered to item text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Icon badge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unordered item marker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small monochrome marker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Proof callout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emphasis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color used sparingly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 colors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deck-level palette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accent1-accent6 registered in PPT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Template asset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brand support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decorative only, body recalculated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FFFFF"/>
      </a:lt1>
      <a:dk2>
        <a:srgbClr val="4B5563"/>
      </a:dk2>
      <a:lt2>
        <a:srgbClr val="FBFBFB"/>
      </a:lt2>
      <a:accent1>
        <a:srgbClr val="2563EB"/>
      </a:accent1>
      <a:accent2>
        <a:srgbClr val="F03A11"/>
      </a:accent2>
      <a:accent3>
        <a:srgbClr val="C7F015"/>
      </a:accent3>
      <a:accent4>
        <a:srgbClr val="3ACAEB"/>
      </a:accent4>
      <a:accent5>
        <a:srgbClr val="3E18E4"/>
      </a:accent5>
      <a:accent6>
        <a:srgbClr val="0A3CAA"/>
      </a:accent6>
      <a:hlink>
        <a:srgbClr val="2563EB"/>
      </a:hlink>
      <a:folHlink>
        <a:srgbClr val="F03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Object Catalog</dc:title>
  <dc:subject>Generated from Markdown through Presentation IR and Layout IR</dc:subject>
  <dc:creator>mdpresent</dc:creator>
  <cp:lastModifiedBy>mdpresent</cp:lastModifiedBy>
  <cp:revision>1</cp:revision>
  <dcterms:created xsi:type="dcterms:W3CDTF">2026-06-19T16:14:55Z</dcterms:created>
  <dcterms:modified xsi:type="dcterms:W3CDTF">2026-06-19T16:14:55Z</dcterms:modified>
</cp:coreProperties>
</file>