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Renderer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87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6C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Refined</c:v>
                  </c:pt>
                  <c:pt idx="2">
                    <c:v>Validated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84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6C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</c:v>
                  </c:pt>
                  <c:pt idx="1">
                    <c:v>Table</c:v>
                  </c:pt>
                  <c:pt idx="2">
                    <c:v>Chart</c:v>
                  </c:pt>
                  <c:pt idx="3">
                    <c:v>Image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92</c:v>
                </c:pt>
                <c:pt idx="2">
                  <c:v>95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6C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Object Catalog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Family Index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920240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Objects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267712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Layouts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615184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 Cards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962656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Vertical List Cards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31012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 Cards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657600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Pentagon Object Set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005072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Object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352544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Bar Chart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4700016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Beside Prose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504748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Plus Table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5394960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Gauge Proof Object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5742432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 Object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6089904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Connected Strip Proof Object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6437376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Ranked Bars Proof Object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678484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Dots Proof Object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7132320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 Object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7479792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Quote Callout Object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7827264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Window Object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8174736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Icon Aside Object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852220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Focus Object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8869680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Beside Text Object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9217152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Objects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9564624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A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9912096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B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10259568"/>
            <a:ext cx="10094976" cy="3474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C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Family Index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Family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Usable objects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Rendered as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cover, title, paragraph, list, quote, code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PPT text boxes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single card, comparison, vertical list, 2x2 grid, 3x2 grid, radial pentagon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rounded regions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table, native bar chart, chart beside prose, chart plus table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PPT table/chart plus text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Proof charts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arc ring, gauge, connected strip, ranked bars, metric dots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PPT shapes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Media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 focus, image beside text, image stack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 image objects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Decoration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backgrounds, surfaces, badges, accent rails, icon markers, proof callouts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shapes/icons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Objects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Cover/title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large hierarchy entry point.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Paragraph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bounded body text with readable minimum size.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Ordered list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 badges and stable row spacing.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Unordered list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small icon badges when rendered as item cards.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Objects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Quote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key-message callout surface.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Code object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monospace code window.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Layouts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Single-card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emphasized takeaway.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Vertical-list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three or more row cards.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 2x2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four peer cards.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Layouts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Grid 3x2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six compact peer cards.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Pentagon/radial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five related cards around a center rhythm.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 Cards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Baseline contract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Markdown is source.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Runtime contract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deterministic layout.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Vertical List Cards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2218944"/>
            <a:ext cx="3961638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semantic Markdown.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2218944"/>
            <a:ext cx="3961638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 and objects.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4504944"/>
            <a:ext cx="3961638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 recipe and variant.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4504944"/>
            <a:ext cx="3961638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 and coherence.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63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63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463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49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3749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74904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 Cards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9611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071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79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7088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391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400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09344" y="2257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Title/body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41655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58907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100000">
            <a:off x="469335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9784" y="2257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Quote/key message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93699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0076" y="2265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7393" y="2407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7522" y="2438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50224" y="2257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focus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9611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127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027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3928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09344" y="4543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proof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41655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2753" y="4608035"/>
            <a:ext cx="252813" cy="20225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1714" y="4664918"/>
            <a:ext cx="214891" cy="14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1714" y="4721801"/>
            <a:ext cx="214891" cy="14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199" y="4620675"/>
            <a:ext cx="14221" cy="1706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29784" y="4543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focus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93699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6873" y="4601714"/>
            <a:ext cx="265454" cy="214891"/>
          </a:xfrm>
          <a:prstGeom prst="roundRect">
            <a:avLst>
              <a:gd name="adj" fmla="val 12766"/>
            </a:avLst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7522" y="4633316"/>
            <a:ext cx="37922" cy="379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41115" y="4702840"/>
            <a:ext cx="158008" cy="69524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650224" y="4543044"/>
            <a:ext cx="2258568" cy="3322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focus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560320"/>
            <a:ext cx="73152" cy="10972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457200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4572000"/>
            <a:ext cx="73152" cy="10972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5603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828800"/>
            <a:ext cx="3017520" cy="1280160"/>
          </a:xfrm>
          <a:prstGeom prst="line">
            <a:avLst/>
          </a:prstGeom>
          <a:noFill/>
          <a:ln w="12700">
            <a:solidFill>
              <a:srgbClr val="F03A11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5120640"/>
            <a:ext cx="1188720" cy="0"/>
          </a:xfrm>
          <a:prstGeom prst="line">
            <a:avLst/>
          </a:prstGeom>
          <a:noFill/>
          <a:ln w="12700">
            <a:solidFill>
              <a:srgbClr val="F03A11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5120640"/>
            <a:ext cx="3566160" cy="0"/>
          </a:xfrm>
          <a:prstGeom prst="line">
            <a:avLst/>
          </a:prstGeom>
          <a:noFill/>
          <a:ln w="12700">
            <a:solidFill>
              <a:srgbClr val="F03A11">
                <a:alpha val="8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108960"/>
            <a:ext cx="1188720" cy="2011680"/>
          </a:xfrm>
          <a:prstGeom prst="line">
            <a:avLst/>
          </a:prstGeom>
          <a:noFill/>
          <a:ln w="12700">
            <a:solidFill>
              <a:srgbClr val="F03A11">
                <a:alpha val="8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828800"/>
            <a:ext cx="0" cy="1280160"/>
          </a:xfrm>
          <a:prstGeom prst="line">
            <a:avLst/>
          </a:prstGeom>
          <a:noFill/>
          <a:ln w="12700">
            <a:solidFill>
              <a:srgbClr val="F03A11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801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5603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5720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45720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256032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Pentagon Object Set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4736592" y="1580083"/>
            <a:ext cx="497434" cy="49743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58902" y="1793406"/>
            <a:ext cx="50563" cy="5056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4971" y="1793406"/>
            <a:ext cx="50563" cy="5056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1040" y="1793406"/>
            <a:ext cx="50563" cy="5056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9465" y="1816159"/>
            <a:ext cx="55619" cy="11377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5534" y="1816159"/>
            <a:ext cx="55619" cy="11377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62042" y="1624584"/>
            <a:ext cx="1843430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754112" y="2860243"/>
            <a:ext cx="497434" cy="49743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7906760" y="2997722"/>
            <a:ext cx="192138" cy="212363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100000">
            <a:off x="7990188" y="3053341"/>
            <a:ext cx="27809" cy="9606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9562" y="2904744"/>
            <a:ext cx="1843430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Recipe selection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565392" y="4871923"/>
            <a:ext cx="497434" cy="49743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8490" y="4994233"/>
            <a:ext cx="80900" cy="8090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00343" y="5107999"/>
            <a:ext cx="50563" cy="5056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4446" y="5133281"/>
            <a:ext cx="55619" cy="5561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90842" y="4916424"/>
            <a:ext cx="1843430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harmony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999232" y="4871923"/>
            <a:ext cx="497434" cy="49743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61992" y="5102943"/>
            <a:ext cx="32866" cy="8848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5196" y="5034683"/>
            <a:ext cx="32866" cy="1567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88399" y="5070077"/>
            <a:ext cx="32866" cy="12135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24682" y="4916424"/>
            <a:ext cx="1843430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Region composition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810512" y="2860243"/>
            <a:ext cx="497434" cy="49743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58103" y="3028060"/>
            <a:ext cx="202251" cy="16180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73272" y="3073566"/>
            <a:ext cx="171913" cy="113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73272" y="3119073"/>
            <a:ext cx="171913" cy="113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44060" y="3038172"/>
            <a:ext cx="11377" cy="1365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435962" y="2904744"/>
            <a:ext cx="1843430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pass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Object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 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row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bold and readable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Numeric cell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right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Long label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trimmed spacing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Body cell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stable minimum font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 Bar Chart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42416" y="1563624"/>
          <a:ext cx="9985248" cy="405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6048" y="1426464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Beside Prose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interpretation text beside quantitative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Owner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selects body/chart geometry and typography.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 stays compact so the chart keeps visual priority.</a:t>
            </a:r>
            <a:endParaRPr lang="en-US" sz="2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Plus Table</a:t>
            </a:r>
            <a:endParaRPr lang="en-US" sz="3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5998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interpretation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left or lower support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precise values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aligned cells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proof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colors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evidence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aspect ratio preserved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Gauge Proof Object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03120" y="3835908"/>
            <a:ext cx="7863840" cy="256032"/>
          </a:xfrm>
          <a:prstGeom prst="roundRect">
            <a:avLst>
              <a:gd name="adj" fmla="val 28571"/>
            </a:avLst>
          </a:prstGeom>
          <a:solidFill>
            <a:srgbClr val="C6CBDA">
              <a:alpha val="85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835908"/>
            <a:ext cx="6526987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0107" y="3433572"/>
            <a:ext cx="0" cy="96926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3803" y="38176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744468"/>
            <a:ext cx="0" cy="438912"/>
          </a:xfrm>
          <a:prstGeom prst="line">
            <a:avLst/>
          </a:prstGeom>
          <a:noFill/>
          <a:ln w="12700">
            <a:solidFill>
              <a:srgbClr val="C6CBDA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3744468"/>
            <a:ext cx="0" cy="438912"/>
          </a:xfrm>
          <a:prstGeom prst="line">
            <a:avLst/>
          </a:prstGeom>
          <a:noFill/>
          <a:ln w="12700">
            <a:solidFill>
              <a:srgbClr val="C6CBDA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9549" y="2217420"/>
            <a:ext cx="2830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5308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 Object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733702" y="1895094"/>
            <a:ext cx="3387852" cy="3387852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6CBDA">
              <a:alpha val="8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3702" y="1895094"/>
            <a:ext cx="3387852" cy="3387852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3702" y="1895094"/>
            <a:ext cx="3387852" cy="3387852"/>
          </a:xfrm>
          <a:prstGeom prst="blockArc">
            <a:avLst>
              <a:gd name="adj1" fmla="val 0"/>
              <a:gd name="adj2" fmla="val 101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81624" y="3761378"/>
            <a:ext cx="237150" cy="237150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394" y="2538786"/>
            <a:ext cx="2100468" cy="21004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79030" y="3013085"/>
            <a:ext cx="1897197" cy="813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343516" y="3860048"/>
            <a:ext cx="2168225" cy="60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38444" y="2567178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7044" y="2416302"/>
            <a:ext cx="4814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72%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38444" y="3006090"/>
            <a:ext cx="137160" cy="137160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67044" y="2855214"/>
            <a:ext cx="48143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28%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Connected Strip Proof Object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4293108"/>
            <a:ext cx="581108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1872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01896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3064" y="4293108"/>
            <a:ext cx="1975767" cy="128016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4776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84776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3A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924800" y="2446020"/>
            <a:ext cx="3075432" cy="2286000"/>
          </a:xfrm>
          <a:prstGeom prst="roundRect">
            <a:avLst>
              <a:gd name="adj" fmla="val 2000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5968" y="4293108"/>
            <a:ext cx="2673096" cy="128016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07680" y="2628900"/>
            <a:ext cx="2709672" cy="86868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07680" y="3543300"/>
            <a:ext cx="2709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7F0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136136" y="3589020"/>
            <a:ext cx="384048" cy="0"/>
          </a:xfrm>
          <a:prstGeom prst="line">
            <a:avLst/>
          </a:prstGeom>
          <a:noFill/>
          <a:ln w="12700">
            <a:solidFill>
              <a:srgbClr val="C7F015">
                <a:alpha val="9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59040" y="3589020"/>
            <a:ext cx="384048" cy="0"/>
          </a:xfrm>
          <a:prstGeom prst="line">
            <a:avLst/>
          </a:prstGeom>
          <a:noFill/>
          <a:ln w="12700">
            <a:solidFill>
              <a:srgbClr val="C7F015">
                <a:alpha val="92000"/>
              </a:srgbClr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Ranked Bars Proof Object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207008" y="277977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65176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11296" y="2844516"/>
            <a:ext cx="7141464" cy="181417"/>
          </a:xfrm>
          <a:prstGeom prst="roundRect">
            <a:avLst>
              <a:gd name="adj" fmla="val 25202"/>
            </a:avLst>
          </a:prstGeom>
          <a:solidFill>
            <a:srgbClr val="C6CBDA">
              <a:alpha val="78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844516"/>
            <a:ext cx="7141464" cy="181417"/>
          </a:xfrm>
          <a:prstGeom prst="roundRect">
            <a:avLst>
              <a:gd name="adj" fmla="val 2520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25912" y="265176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7008" y="3433572"/>
            <a:ext cx="310896" cy="310896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3433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3055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11296" y="3498312"/>
            <a:ext cx="7141464" cy="181417"/>
          </a:xfrm>
          <a:prstGeom prst="roundRect">
            <a:avLst>
              <a:gd name="adj" fmla="val 25202"/>
            </a:avLst>
          </a:prstGeom>
          <a:solidFill>
            <a:srgbClr val="C6CBDA">
              <a:alpha val="78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11296" y="3498312"/>
            <a:ext cx="6913545" cy="181417"/>
          </a:xfrm>
          <a:prstGeom prst="roundRect">
            <a:avLst>
              <a:gd name="adj" fmla="val 25202"/>
            </a:avLst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25912" y="3305556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03A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7008" y="4087368"/>
            <a:ext cx="310896" cy="310896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7008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627632" y="395935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511296" y="4152108"/>
            <a:ext cx="7141464" cy="181417"/>
          </a:xfrm>
          <a:prstGeom prst="roundRect">
            <a:avLst>
              <a:gd name="adj" fmla="val 25202"/>
            </a:avLst>
          </a:prstGeom>
          <a:solidFill>
            <a:srgbClr val="C6CBDA">
              <a:alpha val="78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11296" y="4152108"/>
            <a:ext cx="6609653" cy="181417"/>
          </a:xfrm>
          <a:prstGeom prst="roundRect">
            <a:avLst>
              <a:gd name="adj" fmla="val 25202"/>
            </a:avLst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725912" y="3959352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7F0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Dots Proof Object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876142" y="2350008"/>
            <a:ext cx="1234440" cy="2519172"/>
          </a:xfrm>
          <a:prstGeom prst="roundRect">
            <a:avLst>
              <a:gd name="adj" fmla="val 4444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37330" y="2459736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37330" y="2726009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7330" y="2992283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7330" y="3258556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7330" y="3524829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9294" y="389305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49294" y="432739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17820" y="2350008"/>
            <a:ext cx="1234440" cy="2519172"/>
          </a:xfrm>
          <a:prstGeom prst="roundRect">
            <a:avLst>
              <a:gd name="adj" fmla="val 4444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9008" y="2459736"/>
            <a:ext cx="512064" cy="512064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9008" y="2726009"/>
            <a:ext cx="512064" cy="512064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79008" y="2992283"/>
            <a:ext cx="512064" cy="512064"/>
          </a:xfrm>
          <a:prstGeom prst="ellipse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3258556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3524829"/>
            <a:ext cx="512064" cy="512064"/>
          </a:xfrm>
          <a:prstGeom prst="ellipse">
            <a:avLst/>
          </a:prstGeom>
          <a:solidFill>
            <a:srgbClr val="C6CBDA">
              <a:alpha val="72000"/>
            </a:srgbClr>
          </a:solidFill>
          <a:ln w="12700">
            <a:solidFill>
              <a:srgbClr val="C6CBD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90972" y="389305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90972" y="432739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03A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59498" y="2350008"/>
            <a:ext cx="1234440" cy="2519172"/>
          </a:xfrm>
          <a:prstGeom prst="roundRect">
            <a:avLst>
              <a:gd name="adj" fmla="val 4444"/>
            </a:avLst>
          </a:prstGeom>
          <a:solidFill>
            <a:srgbClr val="FBFBFB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20686" y="2459736"/>
            <a:ext cx="512064" cy="512064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0686" y="2726009"/>
            <a:ext cx="512064" cy="512064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0686" y="2992283"/>
            <a:ext cx="512064" cy="512064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0686" y="3258556"/>
            <a:ext cx="512064" cy="512064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0686" y="3524829"/>
            <a:ext cx="512064" cy="512064"/>
          </a:xfrm>
          <a:prstGeom prst="ellipse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32650" y="389305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Ship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32650" y="432739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7F0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 Object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C7F01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C7F01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C7F01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C7F015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C7F015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B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BFBFB"/>
          </a:solidFill>
          <a:ln w="12700">
            <a:solidFill>
              <a:srgbClr val="C6CBDA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Quote Callout Object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graph or diagram block must stay on one slide.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79933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callout surface is editable.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20776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quote keeps a stronger hierarchy than support text.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61619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Supporting text remains bounded below the proof point.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0652760" cy="4800600"/>
          </a:xfrm>
          <a:prstGeom prst="roundRect">
            <a:avLst>
              <a:gd name="adj" fmla="val 1143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Window Object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563624"/>
            <a:ext cx="10323576" cy="45079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deck = parseMarkdown(source);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layout = planLayout(deck, config);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renderPptx({ presentation: deck, layout }, options);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Icon Aside Object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Text-only slides may receive one quiet monochrome icon.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icon is centered in its slot and stays secondary.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must not fill empty space as a large decorative object.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Focus Object</a:t>
            </a:r>
            <a:endParaRPr lang="en-US" sz="3400" dirty="0"/>
          </a:p>
        </p:txBody>
      </p:sp>
      <p:pic>
        <p:nvPicPr>
          <p:cNvPr id="6" name="Image 0" descr="artifacts/design-showcase/assets/mixed_object_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024128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Beside Text Object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13532"/>
            <a:ext cx="547725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Image-aware layouts keep body text and image objects in separate regions.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521964"/>
            <a:ext cx="547725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renderer must preserve aspect ratio and avoid covering text.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30396"/>
            <a:ext cx="547725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catalog keeps the icon/image role restrained rather than filling blank space.</a:t>
            </a:r>
            <a:endParaRPr lang="en-US" sz="2200" dirty="0"/>
          </a:p>
        </p:txBody>
      </p:sp>
      <p:pic>
        <p:nvPicPr>
          <p:cNvPr id="10" name="Image 0" descr="artifacts/design-showcase/assets/mixed_object_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Objects</a:t>
            </a:r>
            <a:endParaRPr lang="en-US" sz="3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497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Decoration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Purpose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 guard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Preset background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 identity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low contrast behind content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Region surface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grouping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radius grammar per slide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rail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 order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same-role rails share color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Number badge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ordered item marker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centered to item text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Icon badge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unordered item marker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small monochrome marker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Proof callout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emphasis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color used sparingly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 colors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deck-level palette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accent1-accent6 registered in PPT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Template asset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brand support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decorative only, body recalculated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A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left-accent-rail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plain lists with a stable vertical rail.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top-hairline-rule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cards with a thin top rule.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number-tab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cards with a compact number tab.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corner-chip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high-importance labels.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A (Cont. 2/3)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bracket-callout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proof or constraint labels with an indented description.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dot-marker-row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plain list rows with a small centered dot.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split-tone-row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comparison rows with a restrained label zone.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proof-chip-inline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validation metric chip.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A (Cont. 3/3)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thin-outline-card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cards with only a surface outline.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bottom-meter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progress or score cards with data-bound meter.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side-notch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cards with a compact side notch.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B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floating-label-pin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cards with a small readable pin.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caption-underlay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cards with a caption band.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rank-ribbon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ranked metric cards.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micro-icon-marker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monotone semantic marker.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B (Cont. 2/3)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double-rule-header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sectioned lists with paired hairlines.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soft-shadow-lift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lead card with shallow depth.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inset-label-bar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category cards with a compact bar.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vertical-step-rail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long-text sequence cards.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B (Cont. 3/3)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horizontal-step-rail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short-text sequence cards.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paired-contrast-edge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true before/after or opposing comparison.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quote-rule-card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quotation or takeaway cards.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C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metric-lead-card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importance-five numeric lead.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checklist-grid-card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many short checklist items.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constraint-stack-card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label line plus indented description.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label-overline-card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category label over title/body.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C (Cont. 2/3)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subtle-band-card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medium density support band.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arc-corner-emphasis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small arc cue for ratio/progress.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target-ring-badge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goal or benchmark badge.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image-sidecar-card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small image beside text.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Decoration Styles C (Cont. 3/3)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table-summary-card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table-adjacent summary.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connector-dot-card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flow/dependency anchor.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plain-safe-card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high-density text where decoration would hurt readability.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4B5563"/>
      </a:dk2>
      <a:lt2>
        <a:srgbClr val="FBFBFB"/>
      </a:lt2>
      <a:accent1>
        <a:srgbClr val="2563EB"/>
      </a:accent1>
      <a:accent2>
        <a:srgbClr val="F03A11"/>
      </a:accent2>
      <a:accent3>
        <a:srgbClr val="C7F015"/>
      </a:accent3>
      <a:accent4>
        <a:srgbClr val="3ACAEB"/>
      </a:accent4>
      <a:accent5>
        <a:srgbClr val="3E18E4"/>
      </a:accent5>
      <a:accent6>
        <a:srgbClr val="0A3CAA"/>
      </a:accent6>
      <a:hlink>
        <a:srgbClr val="2563EB"/>
      </a:hlink>
      <a:folHlink>
        <a:srgbClr val="F03A11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Object Catalog</dc:title>
  <dc:subject>Generated from Markdown through Presentation IR and Layout IR</dc:subject>
  <dc:creator>mdpresent</dc:creator>
  <cp:lastModifiedBy>mdpresent</cp:lastModifiedBy>
  <cp:revision>1</cp:revision>
  <dcterms:created xsi:type="dcterms:W3CDTF">2026-06-19T17:16:45Z</dcterms:created>
  <dcterms:modified xsi:type="dcterms:W3CDTF">2026-06-19T17:16:45Z</dcterms:modified>
</cp:coreProperties>
</file>